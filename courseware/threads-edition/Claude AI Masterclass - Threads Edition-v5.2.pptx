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509760" y="-1463040"/>
            <a:ext cx="4206240" cy="420624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4023360"/>
            <a:ext cx="3108960" cy="3108960"/>
          </a:xfrm>
          <a:prstGeom prst="ellipse">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7772400" cy="365760"/>
          </a:xfrm>
          <a:prstGeom prst="rect">
            <a:avLst/>
          </a:prstGeom>
          <a:noFill/>
        </p:spPr>
        <p:txBody>
          <a:bodyPr wrap="square" anchor="t" lIns="0" rIns="0" tIns="0" bIns="0">
            <a:spAutoFit/>
          </a:bodyPr>
          <a:lstStyle/>
          <a:p>
            <a:pPr algn="l">
              <a:spcAft>
                <a:spcPts val="400"/>
              </a:spcAft>
            </a:pPr>
            <a:r>
              <a:rPr sz="1400" b="1">
                <a:solidFill>
                  <a:srgbClr val="D97757"/>
                </a:solidFill>
                <a:latin typeface="Calibri"/>
              </a:rPr>
              <a:t>NON-WSQ COURSE  •  C1382</a:t>
            </a:r>
          </a:p>
        </p:txBody>
      </p:sp>
      <p:sp>
        <p:nvSpPr>
          <p:cNvPr id="6" name="TextBox 5"/>
          <p:cNvSpPr txBox="1"/>
          <p:nvPr/>
        </p:nvSpPr>
        <p:spPr>
          <a:xfrm>
            <a:off x="822960" y="1755648"/>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Version v5.2  ·  27 October 2026</a:t>
            </a:r>
          </a:p>
        </p:txBody>
      </p:sp>
      <p:sp>
        <p:nvSpPr>
          <p:cNvPr id="7" name="TextBox 6"/>
          <p:cNvSpPr txBox="1"/>
          <p:nvPr/>
        </p:nvSpPr>
        <p:spPr>
          <a:xfrm>
            <a:off x="777240" y="2240280"/>
            <a:ext cx="8778240" cy="1737360"/>
          </a:xfrm>
          <a:prstGeom prst="rect">
            <a:avLst/>
          </a:prstGeom>
          <a:noFill/>
        </p:spPr>
        <p:txBody>
          <a:bodyPr wrap="square" anchor="ctr" lIns="0" rIns="0" tIns="0" bIns="0">
            <a:spAutoFit/>
          </a:bodyPr>
          <a:lstStyle/>
          <a:p>
            <a:pPr algn="l">
              <a:spcAft>
                <a:spcPts val="400"/>
              </a:spcAft>
            </a:pPr>
            <a:r>
              <a:rPr sz="5200" b="1">
                <a:solidFill>
                  <a:srgbClr val="FFFFFF"/>
                </a:solidFill>
                <a:latin typeface="Cambria"/>
              </a:rPr>
              <a:t>Claude AI Masterclass</a:t>
            </a:r>
          </a:p>
        </p:txBody>
      </p:sp>
      <p:sp>
        <p:nvSpPr>
          <p:cNvPr id="8" name="TextBox 7"/>
          <p:cNvSpPr txBox="1"/>
          <p:nvPr/>
        </p:nvSpPr>
        <p:spPr>
          <a:xfrm>
            <a:off x="822960" y="3931920"/>
            <a:ext cx="8229600" cy="457200"/>
          </a:xfrm>
          <a:prstGeom prst="rect">
            <a:avLst/>
          </a:prstGeom>
          <a:noFill/>
        </p:spPr>
        <p:txBody>
          <a:bodyPr wrap="square" anchor="t" lIns="0" rIns="0" tIns="0" bIns="0">
            <a:spAutoFit/>
          </a:bodyPr>
          <a:lstStyle/>
          <a:p>
            <a:pPr algn="l">
              <a:spcAft>
                <a:spcPts val="400"/>
              </a:spcAft>
            </a:pPr>
            <a:r>
              <a:rPr sz="2200" b="1">
                <a:solidFill>
                  <a:srgbClr val="D97757"/>
                </a:solidFill>
                <a:latin typeface="Cambria"/>
              </a:rPr>
              <a:t>Threads Edition</a:t>
            </a:r>
          </a:p>
        </p:txBody>
      </p:sp>
      <p:sp>
        <p:nvSpPr>
          <p:cNvPr id="9" name="TextBox 8"/>
          <p:cNvSpPr txBox="1"/>
          <p:nvPr/>
        </p:nvSpPr>
        <p:spPr>
          <a:xfrm>
            <a:off x="822960" y="4434840"/>
            <a:ext cx="8229600" cy="457200"/>
          </a:xfrm>
          <a:prstGeom prst="rect">
            <a:avLst/>
          </a:prstGeom>
          <a:noFill/>
        </p:spPr>
        <p:txBody>
          <a:bodyPr wrap="square" anchor="t" lIns="0" rIns="0" tIns="0" bIns="0">
            <a:spAutoFit/>
          </a:bodyPr>
          <a:lstStyle/>
          <a:p>
            <a:pPr algn="l">
              <a:spcAft>
                <a:spcPts val="400"/>
              </a:spcAft>
            </a:pPr>
            <a:r>
              <a:rPr sz="1600" b="0">
                <a:solidFill>
                  <a:srgbClr val="B9B4A9"/>
                </a:solidFill>
                <a:latin typeface="Calibri"/>
              </a:rPr>
              <a:t>Projects, threads, artefacts, connectors, skills and content — for marketing teams</a:t>
            </a:r>
          </a:p>
        </p:txBody>
      </p:sp>
      <p:sp>
        <p:nvSpPr>
          <p:cNvPr id="10" name="TextBox 9"/>
          <p:cNvSpPr txBox="1"/>
          <p:nvPr/>
        </p:nvSpPr>
        <p:spPr>
          <a:xfrm>
            <a:off x="822960" y="5212080"/>
            <a:ext cx="10058400" cy="640080"/>
          </a:xfrm>
          <a:prstGeom prst="rect">
            <a:avLst/>
          </a:prstGeom>
          <a:noFill/>
        </p:spPr>
        <p:txBody>
          <a:bodyPr wrap="square" anchor="t" lIns="0" rIns="0" tIns="0" bIns="0">
            <a:spAutoFit/>
          </a:bodyPr>
          <a:lstStyle/>
          <a:p>
            <a:pPr algn="l">
              <a:spcAft>
                <a:spcPts val="300"/>
              </a:spcAft>
            </a:pPr>
            <a:r>
              <a:rPr sz="1500" b="1">
                <a:solidFill>
                  <a:srgbClr val="FFFFFF"/>
                </a:solidFill>
                <a:latin typeface="Calibri"/>
              </a:rPr>
              <a:t>Tertiary Infotech Academy Pte Ltd</a:t>
            </a:r>
          </a:p>
          <a:p>
            <a:pPr algn="l">
              <a:spcAft>
                <a:spcPts val="300"/>
              </a:spcAft>
            </a:pPr>
            <a:r>
              <a:rPr sz="1300" b="0">
                <a:solidFill>
                  <a:srgbClr val="B9B4A9"/>
                </a:solidFill>
                <a:latin typeface="Calibri"/>
              </a:rPr>
              <a:t>UEN: 201200696W</a:t>
            </a:r>
          </a:p>
        </p:txBody>
      </p:sp>
      <p:sp>
        <p:nvSpPr>
          <p:cNvPr id="11" name="TextBox 10"/>
          <p:cNvSpPr txBox="1"/>
          <p:nvPr/>
        </p:nvSpPr>
        <p:spPr>
          <a:xfrm>
            <a:off x="822960" y="6172200"/>
            <a:ext cx="7772400" cy="320040"/>
          </a:xfrm>
          <a:prstGeom prst="rect">
            <a:avLst/>
          </a:prstGeom>
          <a:noFill/>
        </p:spPr>
        <p:txBody>
          <a:bodyPr wrap="square" anchor="t" lIns="0" rIns="0" tIns="0" bIns="0">
            <a:spAutoFit/>
          </a:bodyPr>
          <a:lstStyle/>
          <a:p>
            <a:pPr algn="l">
              <a:spcAft>
                <a:spcPts val="400"/>
              </a:spcAft>
            </a:pPr>
            <a:r>
              <a:rPr sz="1200" b="0">
                <a:solidFill>
                  <a:srgbClr val="B9B4A9"/>
                </a:solidFill>
                <a:latin typeface="Calibri"/>
              </a:rPr>
              <a:t>www.tertiarycourses.com.sg   |   enquiry@tertiaryinfotech.com   |   +65 6100 0613</a:t>
            </a:r>
          </a:p>
        </p:txBody>
      </p:sp>
      <p:sp>
        <p:nvSpPr>
          <p:cNvPr id="12" name="TextBox 11"/>
          <p:cNvSpPr txBox="1"/>
          <p:nvPr/>
        </p:nvSpPr>
        <p:spPr>
          <a:xfrm>
            <a:off x="822960" y="6492240"/>
            <a:ext cx="5486400" cy="274320"/>
          </a:xfrm>
          <a:prstGeom prst="rect">
            <a:avLst/>
          </a:prstGeom>
          <a:noFill/>
        </p:spPr>
        <p:txBody>
          <a:bodyPr wrap="square" anchor="t" lIns="0" rIns="0" tIns="0" bIns="0">
            <a:spAutoFit/>
          </a:bodyPr>
          <a:lstStyle/>
          <a:p>
            <a:pPr algn="l">
              <a:spcAft>
                <a:spcPts val="400"/>
              </a:spcAft>
            </a:pPr>
            <a:r>
              <a:rPr sz="900" b="0">
                <a:solidFill>
                  <a:srgbClr val="8A867D"/>
                </a:solidFill>
                <a:latin typeface="Calibri"/>
              </a:rPr>
              <a:t>© Tertiary Infotech Academy Pte Ltd</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COURSE ADMINISTRATION</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Welcome</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Introductions</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Ground rules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Course outline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How today runs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2</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ICE-BREAKER</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Let's Know Each Other</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Take a minute to introduce yourself to the class.</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name and role</a:t>
            </a:r>
          </a:p>
          <a:p>
            <a:pPr algn="l">
              <a:spcAft>
                <a:spcPts val="300"/>
              </a:spcAft>
            </a:pPr>
            <a:r>
              <a:rPr sz="1150" b="0">
                <a:solidFill>
                  <a:srgbClr val="6B6862"/>
                </a:solidFill>
                <a:latin typeface="Calibri"/>
              </a:rPr>
              <a:t>Which team you sit in and what you are responsible for.</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marketing work</a:t>
            </a:r>
          </a:p>
          <a:p>
            <a:pPr algn="l">
              <a:spcAft>
                <a:spcPts val="300"/>
              </a:spcAft>
            </a:pPr>
            <a:r>
              <a:rPr sz="1150" b="0">
                <a:solidFill>
                  <a:srgbClr val="6B6862"/>
                </a:solidFill>
                <a:latin typeface="Calibri"/>
              </a:rPr>
              <a:t>One piece of content or report you produce again and again.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channels</a:t>
            </a:r>
          </a:p>
          <a:p>
            <a:pPr algn="l">
              <a:spcAft>
                <a:spcPts val="300"/>
              </a:spcAft>
            </a:pPr>
            <a:r>
              <a:rPr sz="1150" b="0">
                <a:solidFill>
                  <a:srgbClr val="6B6862"/>
                </a:solidFill>
                <a:latin typeface="Calibri"/>
              </a:rPr>
              <a:t>Which social platforms and tools your team actually uses.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goal today</a:t>
            </a:r>
          </a:p>
          <a:p>
            <a:pPr algn="l">
              <a:spcAft>
                <a:spcPts val="300"/>
              </a:spcAft>
            </a:pPr>
            <a:r>
              <a:rPr sz="1150" b="0">
                <a:solidFill>
                  <a:srgbClr val="6B6862"/>
                </a:solidFill>
                <a:latin typeface="Calibri"/>
              </a:rPr>
              <a:t>What you would most like Claude to take off your plate.</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2918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TN</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 Trainer Name ]</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 Title / Role ]</a:t>
            </a:r>
          </a:p>
        </p:txBody>
      </p:sp>
      <p:sp>
        <p:nvSpPr>
          <p:cNvPr id="10" name="Rectangle 9"/>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2" name="TextBox 11"/>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Qualifications:  ____________________________________________</a:t>
            </a:r>
          </a:p>
        </p:txBody>
      </p:sp>
      <p:sp>
        <p:nvSpPr>
          <p:cNvPr id="13" name="Rectangle 12"/>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5" name="TextBox 14"/>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Expertise:  _________________________________________________</a:t>
            </a:r>
          </a:p>
        </p:txBody>
      </p:sp>
      <p:sp>
        <p:nvSpPr>
          <p:cNvPr id="16" name="Rectangle 15"/>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8" name="TextBox 17"/>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Experience:  ________________________________________________</a:t>
            </a:r>
          </a:p>
        </p:txBody>
      </p:sp>
      <p:sp>
        <p:nvSpPr>
          <p:cNvPr id="19" name="Rectangle 18"/>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1" name="TextBox 20"/>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Contact / Profile:  __________________________________________</a:t>
            </a:r>
          </a:p>
        </p:txBody>
      </p:sp>
      <p:sp>
        <p:nvSpPr>
          <p:cNvPr id="22" name="TextBox 2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3" name="TextBox 2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4" name="TextBox 2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INTRODUCTION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About the Trainer</a:t>
            </a:r>
          </a:p>
        </p:txBody>
      </p:sp>
      <p:sp>
        <p:nvSpPr>
          <p:cNvPr id="5" name="Rectangle 4"/>
          <p:cNvSpPr/>
          <p:nvPr/>
        </p:nvSpPr>
        <p:spPr>
          <a:xfrm>
            <a:off x="548640" y="1737360"/>
            <a:ext cx="3291840" cy="361188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874520" y="210312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874520" y="2103120"/>
            <a:ext cx="640080" cy="640080"/>
          </a:xfrm>
          <a:prstGeom prst="rect">
            <a:avLst/>
          </a:prstGeom>
          <a:noFill/>
        </p:spPr>
        <p:txBody>
          <a:bodyPr wrap="square" anchor="ctr" lIns="0" rIns="0" tIns="0" bIns="0">
            <a:spAutoFit/>
          </a:bodyPr>
          <a:lstStyle/>
          <a:p>
            <a:pPr algn="ctr">
              <a:spcAft>
                <a:spcPts val="400"/>
              </a:spcAft>
            </a:pPr>
            <a:r>
              <a:rPr sz="2400" b="1">
                <a:solidFill>
                  <a:srgbClr val="FFFFFF"/>
                </a:solidFill>
                <a:latin typeface="Cambria"/>
              </a:rPr>
              <a:t>AC</a:t>
            </a:r>
          </a:p>
        </p:txBody>
      </p:sp>
      <p:sp>
        <p:nvSpPr>
          <p:cNvPr id="8" name="TextBox 7"/>
          <p:cNvSpPr txBox="1"/>
          <p:nvPr/>
        </p:nvSpPr>
        <p:spPr>
          <a:xfrm>
            <a:off x="548640" y="2926080"/>
            <a:ext cx="3291840" cy="548640"/>
          </a:xfrm>
          <a:prstGeom prst="rect">
            <a:avLst/>
          </a:prstGeom>
          <a:noFill/>
        </p:spPr>
        <p:txBody>
          <a:bodyPr wrap="square" anchor="ctr" lIns="0" rIns="0" tIns="0" bIns="0">
            <a:spAutoFit/>
          </a:bodyPr>
          <a:lstStyle/>
          <a:p>
            <a:pPr algn="ctr">
              <a:spcAft>
                <a:spcPts val="400"/>
              </a:spcAft>
            </a:pPr>
            <a:r>
              <a:rPr sz="2100" b="1">
                <a:solidFill>
                  <a:srgbClr val="FFFFFF"/>
                </a:solidFill>
                <a:latin typeface="Cambria"/>
              </a:rPr>
              <a:t>Dr. Alfred Ang</a:t>
            </a:r>
          </a:p>
        </p:txBody>
      </p:sp>
      <p:sp>
        <p:nvSpPr>
          <p:cNvPr id="9" name="TextBox 8"/>
          <p:cNvSpPr txBox="1"/>
          <p:nvPr/>
        </p:nvSpPr>
        <p:spPr>
          <a:xfrm>
            <a:off x="548640" y="3474720"/>
            <a:ext cx="3291840" cy="365760"/>
          </a:xfrm>
          <a:prstGeom prst="rect">
            <a:avLst/>
          </a:prstGeom>
          <a:noFill/>
        </p:spPr>
        <p:txBody>
          <a:bodyPr wrap="square" anchor="t" lIns="0" rIns="0" tIns="0" bIns="0">
            <a:spAutoFit/>
          </a:bodyPr>
          <a:lstStyle/>
          <a:p>
            <a:pPr algn="ctr">
              <a:spcAft>
                <a:spcPts val="400"/>
              </a:spcAft>
            </a:pPr>
            <a:r>
              <a:rPr sz="1300" b="0">
                <a:solidFill>
                  <a:srgbClr val="B9B4A9"/>
                </a:solidFill>
                <a:latin typeface="Calibri"/>
              </a:rPr>
              <a:t>AI Trainer &amp; Engineer</a:t>
            </a:r>
          </a:p>
        </p:txBody>
      </p:sp>
      <p:pic>
        <p:nvPicPr>
          <p:cNvPr id="10" name="Picture 9" descr="Claude Certified Associate"/>
          <p:cNvPicPr>
            <a:picLocks noChangeAspect="1"/>
          </p:cNvPicPr>
          <p:nvPr/>
        </p:nvPicPr>
        <p:blipFill>
          <a:blip r:embed="rId2"/>
          <a:stretch>
            <a:fillRect/>
          </a:stretch>
        </p:blipFill>
        <p:spPr>
          <a:xfrm>
            <a:off x="1691640" y="4005072"/>
            <a:ext cx="1005840" cy="1005840"/>
          </a:xfrm>
          <a:prstGeom prst="rect">
            <a:avLst/>
          </a:prstGeom>
        </p:spPr>
      </p:pic>
      <p:sp>
        <p:nvSpPr>
          <p:cNvPr id="11" name="Rectangle 10"/>
          <p:cNvSpPr/>
          <p:nvPr/>
        </p:nvSpPr>
        <p:spPr>
          <a:xfrm>
            <a:off x="4206240" y="1828800"/>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0" y="1828800"/>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3" name="TextBox 12"/>
          <p:cNvSpPr txBox="1"/>
          <p:nvPr/>
        </p:nvSpPr>
        <p:spPr>
          <a:xfrm>
            <a:off x="4892040" y="1783080"/>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PhD-qualified trainer specialising in AI, software engineering and developer tooling.</a:t>
            </a:r>
          </a:p>
        </p:txBody>
      </p:sp>
      <p:sp>
        <p:nvSpPr>
          <p:cNvPr id="14" name="Rectangle 13"/>
          <p:cNvSpPr/>
          <p:nvPr/>
        </p:nvSpPr>
        <p:spPr>
          <a:xfrm>
            <a:off x="4206240" y="2670048"/>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2670048"/>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6" name="TextBox 15"/>
          <p:cNvSpPr txBox="1"/>
          <p:nvPr/>
        </p:nvSpPr>
        <p:spPr>
          <a:xfrm>
            <a:off x="4892040" y="2624328"/>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Hands-on experience building agentic AI applications and automations with Claude.</a:t>
            </a:r>
          </a:p>
        </p:txBody>
      </p:sp>
      <p:sp>
        <p:nvSpPr>
          <p:cNvPr id="17" name="Rectangle 16"/>
          <p:cNvSpPr/>
          <p:nvPr/>
        </p:nvSpPr>
        <p:spPr>
          <a:xfrm>
            <a:off x="4206240" y="3511296"/>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06240" y="3511296"/>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19" name="TextBox 18"/>
          <p:cNvSpPr txBox="1"/>
          <p:nvPr/>
        </p:nvSpPr>
        <p:spPr>
          <a:xfrm>
            <a:off x="4892040" y="3465576"/>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Trains professionals across Singapore on practical, project-based AI skills.</a:t>
            </a:r>
          </a:p>
        </p:txBody>
      </p:sp>
      <p:sp>
        <p:nvSpPr>
          <p:cNvPr id="20" name="Rectangle 19"/>
          <p:cNvSpPr/>
          <p:nvPr/>
        </p:nvSpPr>
        <p:spPr>
          <a:xfrm>
            <a:off x="4206240" y="4352544"/>
            <a:ext cx="502920" cy="502920"/>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4352544"/>
            <a:ext cx="502920" cy="502920"/>
          </a:xfrm>
          <a:prstGeom prst="rect">
            <a:avLst/>
          </a:prstGeom>
          <a:noFill/>
        </p:spPr>
        <p:txBody>
          <a:bodyPr wrap="square" anchor="ctr" lIns="0" rIns="0" tIns="0" bIns="0">
            <a:spAutoFit/>
          </a:bodyPr>
          <a:lstStyle/>
          <a:p>
            <a:pPr algn="ctr">
              <a:spcAft>
                <a:spcPts val="400"/>
              </a:spcAft>
            </a:pPr>
            <a:r>
              <a:rPr sz="1600" b="1">
                <a:solidFill>
                  <a:srgbClr val="FFFFFF"/>
                </a:solidFill>
                <a:latin typeface="Calibri"/>
              </a:rPr>
              <a:t>✓</a:t>
            </a:r>
          </a:p>
        </p:txBody>
      </p:sp>
      <p:sp>
        <p:nvSpPr>
          <p:cNvPr id="22" name="TextBox 21"/>
          <p:cNvSpPr txBox="1"/>
          <p:nvPr/>
        </p:nvSpPr>
        <p:spPr>
          <a:xfrm>
            <a:off x="4892040" y="4306824"/>
            <a:ext cx="6766560" cy="640080"/>
          </a:xfrm>
          <a:prstGeom prst="rect">
            <a:avLst/>
          </a:prstGeom>
          <a:noFill/>
        </p:spPr>
        <p:txBody>
          <a:bodyPr wrap="square" anchor="ctr" lIns="0" rIns="0" tIns="0" bIns="0">
            <a:spAutoFit/>
          </a:bodyPr>
          <a:lstStyle/>
          <a:p>
            <a:pPr algn="l">
              <a:spcAft>
                <a:spcPts val="400"/>
              </a:spcAft>
            </a:pPr>
            <a:r>
              <a:rPr sz="1400" b="0">
                <a:solidFill>
                  <a:srgbClr val="21201C"/>
                </a:solidFill>
                <a:latin typeface="Calibri"/>
              </a:rPr>
              <a:t>Certifications: Claude Certified Associate (Foundations), PMP, AWS, Microsoft, CompTIA, CKA, CKAD.</a:t>
            </a:r>
          </a:p>
        </p:txBody>
      </p:sp>
      <p:sp>
        <p:nvSpPr>
          <p:cNvPr id="23" name="Rectangle 22"/>
          <p:cNvSpPr/>
          <p:nvPr/>
        </p:nvSpPr>
        <p:spPr>
          <a:xfrm>
            <a:off x="420624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0624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5" name="TextBox 24"/>
          <p:cNvSpPr txBox="1"/>
          <p:nvPr/>
        </p:nvSpPr>
        <p:spPr>
          <a:xfrm>
            <a:off x="489204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linkedin.com/in/angchewhoe</a:t>
            </a:r>
          </a:p>
        </p:txBody>
      </p:sp>
      <p:sp>
        <p:nvSpPr>
          <p:cNvPr id="26" name="Rectangle 25"/>
          <p:cNvSpPr/>
          <p:nvPr/>
        </p:nvSpPr>
        <p:spPr>
          <a:xfrm>
            <a:off x="8229600" y="5093208"/>
            <a:ext cx="502920" cy="5029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0" y="5093208"/>
            <a:ext cx="502920" cy="502920"/>
          </a:xfrm>
          <a:prstGeom prst="rect">
            <a:avLst/>
          </a:prstGeom>
          <a:noFill/>
        </p:spPr>
        <p:txBody>
          <a:bodyPr wrap="square" anchor="ctr" lIns="0" rIns="0" tIns="0" bIns="0">
            <a:spAutoFit/>
          </a:bodyPr>
          <a:lstStyle/>
          <a:p>
            <a:pPr algn="ctr">
              <a:spcAft>
                <a:spcPts val="400"/>
              </a:spcAft>
            </a:pPr>
            <a:r>
              <a:rPr sz="1400" b="1">
                <a:solidFill>
                  <a:srgbClr val="FFFFFF"/>
                </a:solidFill>
                <a:latin typeface="Calibri"/>
              </a:rPr>
              <a:t>●</a:t>
            </a:r>
          </a:p>
        </p:txBody>
      </p:sp>
      <p:sp>
        <p:nvSpPr>
          <p:cNvPr id="28" name="TextBox 27"/>
          <p:cNvSpPr txBox="1"/>
          <p:nvPr/>
        </p:nvSpPr>
        <p:spPr>
          <a:xfrm>
            <a:off x="8915400" y="5093208"/>
            <a:ext cx="3291840" cy="502920"/>
          </a:xfrm>
          <a:prstGeom prst="rect">
            <a:avLst/>
          </a:prstGeom>
          <a:noFill/>
        </p:spPr>
        <p:txBody>
          <a:bodyPr wrap="square" anchor="ctr" lIns="0" rIns="0" tIns="0" bIns="0">
            <a:spAutoFit/>
          </a:bodyPr>
          <a:lstStyle/>
          <a:p>
            <a:pPr algn="l">
              <a:spcAft>
                <a:spcPts val="400"/>
              </a:spcAft>
            </a:pPr>
            <a:r>
              <a:rPr sz="1300" b="0">
                <a:solidFill>
                  <a:srgbClr val="6B6862"/>
                </a:solidFill>
                <a:latin typeface="Calibri"/>
              </a:rPr>
              <a:t>github.com/alfredang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HOUSEKEEPING</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Ground Rules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Phones on silent</a:t>
            </a:r>
          </a:p>
          <a:p>
            <a:pPr algn="l">
              <a:spcAft>
                <a:spcPts val="300"/>
              </a:spcAft>
            </a:pPr>
            <a:r>
              <a:rPr sz="1150" b="0">
                <a:solidFill>
                  <a:srgbClr val="6B6862"/>
                </a:solidFill>
                <a:latin typeface="Calibri"/>
              </a:rPr>
              <a:t>Step out quietly if you need to take a call.</a:t>
            </a:r>
          </a:p>
        </p:txBody>
      </p:sp>
      <p:sp>
        <p:nvSpPr>
          <p:cNvPr id="8" name="Rectangle 7"/>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37376" y="1892808"/>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Ask as you go</a:t>
            </a:r>
          </a:p>
          <a:p>
            <a:pPr algn="l">
              <a:spcAft>
                <a:spcPts val="300"/>
              </a:spcAft>
            </a:pPr>
            <a:r>
              <a:rPr sz="1150" b="0">
                <a:solidFill>
                  <a:srgbClr val="6B6862"/>
                </a:solidFill>
                <a:latin typeface="Calibri"/>
              </a:rPr>
              <a:t>No question is too small — others usually have the same one.</a:t>
            </a:r>
          </a:p>
        </p:txBody>
      </p:sp>
      <p:sp>
        <p:nvSpPr>
          <p:cNvPr id="11" name="Rectangle 10"/>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Learn by doing</a:t>
            </a:r>
          </a:p>
          <a:p>
            <a:pPr algn="l">
              <a:spcAft>
                <a:spcPts val="300"/>
              </a:spcAft>
            </a:pPr>
            <a:r>
              <a:rPr sz="1150" b="0">
                <a:solidFill>
                  <a:srgbClr val="6B6862"/>
                </a:solidFill>
                <a:latin typeface="Calibri"/>
              </a:rPr>
              <a:t>Every block of theory is followed by a lab you build yourself.</a:t>
            </a:r>
          </a:p>
        </p:txBody>
      </p:sp>
      <p:sp>
        <p:nvSpPr>
          <p:cNvPr id="14" name="Rectangle 13"/>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37376" y="3319272"/>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the mock data</a:t>
            </a:r>
          </a:p>
          <a:p>
            <a:pPr algn="l">
              <a:spcAft>
                <a:spcPts val="300"/>
              </a:spcAft>
            </a:pPr>
            <a:r>
              <a:rPr sz="1150" b="0">
                <a:solidFill>
                  <a:srgbClr val="6B6862"/>
                </a:solidFill>
                <a:latin typeface="Calibri"/>
              </a:rPr>
              <a:t>Never bring real customer or personal data into a training exercise.</a:t>
            </a:r>
          </a:p>
        </p:txBody>
      </p:sp>
      <p:sp>
        <p:nvSpPr>
          <p:cNvPr id="17" name="Rectangle 16"/>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before you publish</a:t>
            </a:r>
          </a:p>
          <a:p>
            <a:pPr algn="l">
              <a:spcAft>
                <a:spcPts val="300"/>
              </a:spcAft>
            </a:pPr>
            <a:r>
              <a:rPr sz="1150" b="0">
                <a:solidFill>
                  <a:srgbClr val="6B6862"/>
                </a:solidFill>
                <a:latin typeface="Calibri"/>
              </a:rPr>
              <a:t>Approve every post and email against the source facts.</a:t>
            </a:r>
          </a:p>
        </p:txBody>
      </p:sp>
      <p:sp>
        <p:nvSpPr>
          <p:cNvPr id="20" name="Rectangle 1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37376" y="4745736"/>
            <a:ext cx="4946904"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Mutual respect</a:t>
            </a:r>
          </a:p>
          <a:p>
            <a:pPr algn="l">
              <a:spcAft>
                <a:spcPts val="300"/>
              </a:spcAft>
            </a:pPr>
            <a:r>
              <a:rPr sz="1150" b="0">
                <a:solidFill>
                  <a:srgbClr val="6B6862"/>
                </a:solidFill>
                <a:latin typeface="Calibri"/>
              </a:rPr>
              <a:t>One conversation at a time; agree to disagree.</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ROADMAP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Course Outline</a:t>
            </a:r>
          </a:p>
        </p:txBody>
      </p:sp>
      <p:sp>
        <p:nvSpPr>
          <p:cNvPr id="5" name="Rectangle 4"/>
          <p:cNvSpPr/>
          <p:nvPr/>
        </p:nvSpPr>
        <p:spPr>
          <a:xfrm>
            <a:off x="548640"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22960"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1</a:t>
            </a:r>
          </a:p>
        </p:txBody>
      </p:sp>
      <p:sp>
        <p:nvSpPr>
          <p:cNvPr id="8" name="TextBox 7"/>
          <p:cNvSpPr txBox="1"/>
          <p:nvPr/>
        </p:nvSpPr>
        <p:spPr>
          <a:xfrm>
            <a:off x="822960"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Claude Projects and Market Research</a:t>
            </a:r>
          </a:p>
        </p:txBody>
      </p:sp>
      <p:sp>
        <p:nvSpPr>
          <p:cNvPr id="9" name="TextBox 8"/>
          <p:cNvSpPr txBox="1"/>
          <p:nvPr/>
        </p:nvSpPr>
        <p:spPr>
          <a:xfrm>
            <a:off x="868680"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The Claude family and setup</a:t>
            </a:r>
          </a:p>
          <a:p>
            <a:pPr algn="l">
              <a:spcAft>
                <a:spcPts val="800"/>
              </a:spcAft>
            </a:pPr>
            <a:r>
              <a:rPr sz="1200" b="0">
                <a:solidFill>
                  <a:srgbClr val="6B6862"/>
                </a:solidFill>
                <a:latin typeface="Calibri"/>
              </a:rPr>
              <a:t>•  Projects: goal, instructions, context, memory</a:t>
            </a:r>
          </a:p>
          <a:p>
            <a:pPr algn="l">
              <a:spcAft>
                <a:spcPts val="800"/>
              </a:spcAft>
            </a:pPr>
            <a:r>
              <a:rPr sz="1200" b="0">
                <a:solidFill>
                  <a:srgbClr val="6B6862"/>
                </a:solidFill>
                <a:latin typeface="Calibri"/>
              </a:rPr>
              <a:t>•  Lead agent and parallel threads</a:t>
            </a:r>
          </a:p>
          <a:p>
            <a:pPr algn="l">
              <a:spcAft>
                <a:spcPts val="800"/>
              </a:spcAft>
            </a:pPr>
            <a:r>
              <a:rPr sz="1200" b="0">
                <a:solidFill>
                  <a:srgbClr val="6B6862"/>
                </a:solidFill>
                <a:latin typeface="Calibri"/>
              </a:rPr>
              <a:t>•  Market research and Live Artefacts</a:t>
            </a:r>
          </a:p>
        </p:txBody>
      </p:sp>
      <p:sp>
        <p:nvSpPr>
          <p:cNvPr id="10" name="Rectangle 9"/>
          <p:cNvSpPr/>
          <p:nvPr/>
        </p:nvSpPr>
        <p:spPr>
          <a:xfrm>
            <a:off x="4325112"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99432"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9432"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2</a:t>
            </a:r>
          </a:p>
        </p:txBody>
      </p:sp>
      <p:sp>
        <p:nvSpPr>
          <p:cNvPr id="13" name="TextBox 12"/>
          <p:cNvSpPr txBox="1"/>
          <p:nvPr/>
        </p:nvSpPr>
        <p:spPr>
          <a:xfrm>
            <a:off x="4599432"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Connectors, Skills and Plugins</a:t>
            </a:r>
          </a:p>
        </p:txBody>
      </p:sp>
      <p:sp>
        <p:nvSpPr>
          <p:cNvPr id="14" name="TextBox 13"/>
          <p:cNvSpPr txBox="1"/>
          <p:nvPr/>
        </p:nvSpPr>
        <p:spPr>
          <a:xfrm>
            <a:off x="4645152"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Connectors: Drive and Gmail</a:t>
            </a:r>
          </a:p>
          <a:p>
            <a:pPr algn="l">
              <a:spcAft>
                <a:spcPts val="800"/>
              </a:spcAft>
            </a:pPr>
            <a:r>
              <a:rPr sz="1200" b="0">
                <a:solidFill>
                  <a:srgbClr val="6B6862"/>
                </a:solidFill>
                <a:latin typeface="Calibri"/>
              </a:rPr>
              <a:t>•  Context window housekeeping</a:t>
            </a:r>
          </a:p>
          <a:p>
            <a:pPr algn="l">
              <a:spcAft>
                <a:spcPts val="800"/>
              </a:spcAft>
            </a:pPr>
            <a:r>
              <a:rPr sz="1200" b="0">
                <a:solidFill>
                  <a:srgbClr val="6B6862"/>
                </a:solidFill>
                <a:latin typeface="Calibri"/>
              </a:rPr>
              <a:t>•  Slides, Docs and built-in skills</a:t>
            </a:r>
          </a:p>
          <a:p>
            <a:pPr algn="l">
              <a:spcAft>
                <a:spcPts val="800"/>
              </a:spcAft>
            </a:pPr>
            <a:r>
              <a:rPr sz="1200" b="0">
                <a:solidFill>
                  <a:srgbClr val="6B6862"/>
                </a:solidFill>
                <a:latin typeface="Calibri"/>
              </a:rPr>
              <a:t>•  Agent Skills, plugins and mods</a:t>
            </a:r>
          </a:p>
        </p:txBody>
      </p:sp>
      <p:sp>
        <p:nvSpPr>
          <p:cNvPr id="15" name="Rectangle 14"/>
          <p:cNvSpPr/>
          <p:nvPr/>
        </p:nvSpPr>
        <p:spPr>
          <a:xfrm>
            <a:off x="8101584" y="1737360"/>
            <a:ext cx="3593592" cy="4206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75904" y="2011680"/>
            <a:ext cx="731520" cy="73152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75904" y="2011680"/>
            <a:ext cx="731520" cy="731520"/>
          </a:xfrm>
          <a:prstGeom prst="rect">
            <a:avLst/>
          </a:prstGeom>
          <a:noFill/>
        </p:spPr>
        <p:txBody>
          <a:bodyPr wrap="square" anchor="ctr" lIns="0" rIns="0" tIns="0" bIns="0">
            <a:spAutoFit/>
          </a:bodyPr>
          <a:lstStyle/>
          <a:p>
            <a:pPr algn="ctr">
              <a:spcAft>
                <a:spcPts val="400"/>
              </a:spcAft>
            </a:pPr>
            <a:r>
              <a:rPr sz="3000" b="1">
                <a:solidFill>
                  <a:srgbClr val="FFFFFF"/>
                </a:solidFill>
                <a:latin typeface="Cambria"/>
              </a:rPr>
              <a:t>3</a:t>
            </a:r>
          </a:p>
        </p:txBody>
      </p:sp>
      <p:sp>
        <p:nvSpPr>
          <p:cNvPr id="18" name="TextBox 17"/>
          <p:cNvSpPr txBox="1"/>
          <p:nvPr/>
        </p:nvSpPr>
        <p:spPr>
          <a:xfrm>
            <a:off x="8375904" y="2880360"/>
            <a:ext cx="3044952" cy="73152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Content Production and Scheduled Work</a:t>
            </a:r>
          </a:p>
        </p:txBody>
      </p:sp>
      <p:sp>
        <p:nvSpPr>
          <p:cNvPr id="19" name="TextBox 18"/>
          <p:cNvSpPr txBox="1"/>
          <p:nvPr/>
        </p:nvSpPr>
        <p:spPr>
          <a:xfrm>
            <a:off x="8421624" y="3657600"/>
            <a:ext cx="2999232" cy="2103120"/>
          </a:xfrm>
          <a:prstGeom prst="rect">
            <a:avLst/>
          </a:prstGeom>
          <a:noFill/>
        </p:spPr>
        <p:txBody>
          <a:bodyPr wrap="square" anchor="t" lIns="0" rIns="0" tIns="0" bIns="0">
            <a:spAutoFit/>
          </a:bodyPr>
          <a:lstStyle/>
          <a:p>
            <a:pPr algn="l">
              <a:spcAft>
                <a:spcPts val="800"/>
              </a:spcAft>
            </a:pPr>
            <a:r>
              <a:rPr sz="1200" b="0">
                <a:solidFill>
                  <a:srgbClr val="6B6862"/>
                </a:solidFill>
                <a:latin typeface="Calibri"/>
              </a:rPr>
              <a:t>•  One thread per channel</a:t>
            </a:r>
          </a:p>
          <a:p>
            <a:pPr algn="l">
              <a:spcAft>
                <a:spcPts val="800"/>
              </a:spcAft>
            </a:pPr>
            <a:r>
              <a:rPr sz="1200" b="0">
                <a:solidFill>
                  <a:srgbClr val="6B6862"/>
                </a:solidFill>
                <a:latin typeface="Calibri"/>
              </a:rPr>
              <a:t>•  Social post specs and brand checks</a:t>
            </a:r>
          </a:p>
          <a:p>
            <a:pPr algn="l">
              <a:spcAft>
                <a:spcPts val="800"/>
              </a:spcAft>
            </a:pPr>
            <a:r>
              <a:rPr sz="1200" b="0">
                <a:solidFill>
                  <a:srgbClr val="6B6862"/>
                </a:solidFill>
                <a:latin typeface="Calibri"/>
              </a:rPr>
              <a:t>•  Script, storyboard, render: the video pipeline</a:t>
            </a:r>
          </a:p>
          <a:p>
            <a:pPr algn="l">
              <a:spcAft>
                <a:spcPts val="800"/>
              </a:spcAft>
            </a:pPr>
            <a:r>
              <a:rPr sz="1200" b="0">
                <a:solidFill>
                  <a:srgbClr val="6B6862"/>
                </a:solidFill>
                <a:latin typeface="Calibri"/>
              </a:rPr>
              <a:t>•  Scheduled tasks, memory and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WHAT YOU'LL ACHIEVE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Learning Outcomes</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SCHEDULE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Lesson Plan — One Day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9:00am – 6:00pm, with a one-hour lunch and two tea breaks.</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Morning</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9:00  Welcome</a:t>
            </a:r>
          </a:p>
          <a:p>
            <a:pPr algn="l">
              <a:spcAft>
                <a:spcPts val="300"/>
              </a:spcAft>
            </a:pPr>
            <a:r>
              <a:rPr sz="950" b="0">
                <a:solidFill>
                  <a:srgbClr val="21201C"/>
                </a:solidFill>
                <a:latin typeface="Calibri"/>
              </a:rPr>
              <a:t>•  9:20  Topic 1 — Claude Projects and Market Research</a:t>
            </a:r>
          </a:p>
          <a:p>
            <a:pPr algn="l">
              <a:spcAft>
                <a:spcPts val="300"/>
              </a:spcAft>
            </a:pPr>
            <a:r>
              <a:rPr sz="950" b="0">
                <a:solidFill>
                  <a:srgbClr val="21201C"/>
                </a:solidFill>
                <a:latin typeface="Calibri"/>
              </a:rPr>
              <a:t>•  9:55  Hands-on: Lab 1</a:t>
            </a:r>
          </a:p>
          <a:p>
            <a:pPr algn="l">
              <a:spcAft>
                <a:spcPts val="300"/>
              </a:spcAft>
            </a:pPr>
            <a:r>
              <a:rPr sz="950" b="0">
                <a:solidFill>
                  <a:srgbClr val="21201C"/>
                </a:solidFill>
                <a:latin typeface="Calibri"/>
              </a:rPr>
              <a:t>•  10:20  Tea break</a:t>
            </a:r>
          </a:p>
          <a:p>
            <a:pPr algn="l">
              <a:spcAft>
                <a:spcPts val="300"/>
              </a:spcAft>
            </a:pPr>
            <a:r>
              <a:rPr sz="950" b="0">
                <a:solidFill>
                  <a:srgbClr val="21201C"/>
                </a:solidFill>
                <a:latin typeface="Calibri"/>
              </a:rPr>
              <a:t>•  10:35  Hands-on: Lab 2</a:t>
            </a:r>
          </a:p>
          <a:p>
            <a:pPr algn="l">
              <a:spcAft>
                <a:spcPts val="300"/>
              </a:spcAft>
            </a:pPr>
            <a:r>
              <a:rPr sz="950" b="0">
                <a:solidFill>
                  <a:srgbClr val="21201C"/>
                </a:solidFill>
                <a:latin typeface="Calibri"/>
              </a:rPr>
              <a:t>•  11:15  Topic 1 — Live Artefacts</a:t>
            </a:r>
          </a:p>
          <a:p>
            <a:pPr algn="l">
              <a:spcAft>
                <a:spcPts val="300"/>
              </a:spcAft>
            </a:pPr>
            <a:r>
              <a:rPr sz="950" b="0">
                <a:solidFill>
                  <a:srgbClr val="21201C"/>
                </a:solidFill>
                <a:latin typeface="Calibri"/>
              </a:rPr>
              <a:t>•  11:25  Hands-on: Lab 3</a:t>
            </a:r>
          </a:p>
          <a:p>
            <a:pPr algn="l">
              <a:spcAft>
                <a:spcPts val="300"/>
              </a:spcAft>
            </a:pPr>
            <a:r>
              <a:rPr sz="950" b="0">
                <a:solidFill>
                  <a:srgbClr val="21201C"/>
                </a:solidFill>
                <a:latin typeface="Calibri"/>
              </a:rPr>
              <a:t>•  12:05  Topic 2 — Connectors, Skills and Plugins</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Afternoon</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300"/>
              </a:spcAft>
            </a:pPr>
            <a:r>
              <a:rPr sz="950" b="0">
                <a:solidFill>
                  <a:srgbClr val="21201C"/>
                </a:solidFill>
                <a:latin typeface="Calibri"/>
              </a:rPr>
              <a:t>•  12:30  Lunch break</a:t>
            </a:r>
          </a:p>
          <a:p>
            <a:pPr algn="l">
              <a:spcAft>
                <a:spcPts val="300"/>
              </a:spcAft>
            </a:pPr>
            <a:r>
              <a:rPr sz="950" b="0">
                <a:solidFill>
                  <a:srgbClr val="21201C"/>
                </a:solidFill>
                <a:latin typeface="Calibri"/>
              </a:rPr>
              <a:t>•  13:30  Hands-on: Lab 4</a:t>
            </a:r>
          </a:p>
          <a:p>
            <a:pPr algn="l">
              <a:spcAft>
                <a:spcPts val="300"/>
              </a:spcAft>
            </a:pPr>
            <a:r>
              <a:rPr sz="950" b="0">
                <a:solidFill>
                  <a:srgbClr val="21201C"/>
                </a:solidFill>
                <a:latin typeface="Calibri"/>
              </a:rPr>
              <a:t>•  14:05  Topic 2 — Slides, Docs and Agent Skills</a:t>
            </a:r>
          </a:p>
          <a:p>
            <a:pPr algn="l">
              <a:spcAft>
                <a:spcPts val="300"/>
              </a:spcAft>
            </a:pPr>
            <a:r>
              <a:rPr sz="950" b="0">
                <a:solidFill>
                  <a:srgbClr val="21201C"/>
                </a:solidFill>
                <a:latin typeface="Calibri"/>
              </a:rPr>
              <a:t>•  14:15  Hands-on: Lab 5</a:t>
            </a:r>
          </a:p>
          <a:p>
            <a:pPr algn="l">
              <a:spcAft>
                <a:spcPts val="300"/>
              </a:spcAft>
            </a:pPr>
            <a:r>
              <a:rPr sz="950" b="0">
                <a:solidFill>
                  <a:srgbClr val="21201C"/>
                </a:solidFill>
                <a:latin typeface="Calibri"/>
              </a:rPr>
              <a:t>•  14:45  Hands-on: Lab 6</a:t>
            </a:r>
          </a:p>
          <a:p>
            <a:pPr algn="l">
              <a:spcAft>
                <a:spcPts val="300"/>
              </a:spcAft>
            </a:pPr>
            <a:r>
              <a:rPr sz="950" b="0">
                <a:solidFill>
                  <a:srgbClr val="21201C"/>
                </a:solidFill>
                <a:latin typeface="Calibri"/>
              </a:rPr>
              <a:t>•  15:15  Tea break</a:t>
            </a:r>
          </a:p>
          <a:p>
            <a:pPr algn="l">
              <a:spcAft>
                <a:spcPts val="300"/>
              </a:spcAft>
            </a:pPr>
            <a:r>
              <a:rPr sz="950" b="0">
                <a:solidFill>
                  <a:srgbClr val="21201C"/>
                </a:solidFill>
                <a:latin typeface="Calibri"/>
              </a:rPr>
              <a:t>•  15:30  Topic 2 — Plugins and mods</a:t>
            </a:r>
          </a:p>
          <a:p>
            <a:pPr algn="l">
              <a:spcAft>
                <a:spcPts val="300"/>
              </a:spcAft>
            </a:pPr>
            <a:r>
              <a:rPr sz="950" b="0">
                <a:solidFill>
                  <a:srgbClr val="21201C"/>
                </a:solidFill>
                <a:latin typeface="Calibri"/>
              </a:rPr>
              <a:t>•  15:40  Hands-on: Lab 7</a:t>
            </a:r>
          </a:p>
          <a:p>
            <a:pPr algn="l">
              <a:spcAft>
                <a:spcPts val="300"/>
              </a:spcAft>
            </a:pPr>
            <a:r>
              <a:rPr sz="950" b="0">
                <a:solidFill>
                  <a:srgbClr val="21201C"/>
                </a:solidFill>
                <a:latin typeface="Calibri"/>
              </a:rPr>
              <a:t>•  16:05  Topic 3 — Content Production and Scheduled Work</a:t>
            </a:r>
          </a:p>
          <a:p>
            <a:pPr algn="l">
              <a:spcAft>
                <a:spcPts val="300"/>
              </a:spcAft>
            </a:pPr>
            <a:r>
              <a:rPr sz="950" b="0">
                <a:solidFill>
                  <a:srgbClr val="21201C"/>
                </a:solidFill>
                <a:latin typeface="Calibri"/>
              </a:rPr>
              <a:t>•  16:15  Hands-on: Lab 8</a:t>
            </a:r>
          </a:p>
          <a:p>
            <a:pPr algn="l">
              <a:spcAft>
                <a:spcPts val="300"/>
              </a:spcAft>
            </a:pPr>
            <a:r>
              <a:rPr sz="950" b="0">
                <a:solidFill>
                  <a:srgbClr val="21201C"/>
                </a:solidFill>
                <a:latin typeface="Calibri"/>
              </a:rPr>
              <a:t>•  16:55  Hands-on: Lab 9</a:t>
            </a:r>
          </a:p>
          <a:p>
            <a:pPr algn="l">
              <a:spcAft>
                <a:spcPts val="300"/>
              </a:spcAft>
            </a:pPr>
            <a:r>
              <a:rPr sz="950" b="0">
                <a:solidFill>
                  <a:srgbClr val="21201C"/>
                </a:solidFill>
                <a:latin typeface="Calibri"/>
              </a:rPr>
              <a:t>•  17:25  Hands-on: Lab 10</a:t>
            </a:r>
          </a:p>
          <a:p>
            <a:pPr algn="l">
              <a:spcAft>
                <a:spcPts val="300"/>
              </a:spcAft>
            </a:pPr>
            <a:r>
              <a:rPr sz="950" b="0">
                <a:solidFill>
                  <a:srgbClr val="21201C"/>
                </a:solidFill>
                <a:latin typeface="Calibri"/>
              </a:rPr>
              <a:t>•  17:45  Recap</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APPROACH</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How You'll Learn</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Watch</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trainer demonstrates the technique live.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Build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build it yourself in the hands-on lab.</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Verify your output against the lab's check step.</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Discuss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We troubleshoot together as a class.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Reuse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Take the artefact and the prompt back to your own work.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Ten labs, one continuous scenario — each lab builds on the one before 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BEFORE WE START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Your Course Materials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Open the prompts page now — you will paste from it in every lab.</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Copy-ready prompts</a:t>
            </a:r>
          </a:p>
          <a:p>
            <a:pPr algn="l">
              <a:spcAft>
                <a:spcPts val="300"/>
              </a:spcAft>
            </a:pPr>
            <a:r>
              <a:rPr sz="1150" b="0">
                <a:solidFill>
                  <a:srgbClr val="6B6862"/>
                </a:solidFill>
                <a:latin typeface="Calibri"/>
              </a:rPr>
              <a:t>https://tertiarycourses.github.io/C1382-Claude-AI-Masterclass/prompts/threads/ — every lab's prompt with a copy button. Keep it open in a browser tab all day.</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files and data</a:t>
            </a:r>
          </a:p>
          <a:p>
            <a:pPr algn="l">
              <a:spcAft>
                <a:spcPts val="300"/>
              </a:spcAft>
            </a:pPr>
            <a:r>
              <a:rPr sz="1150" b="0">
                <a:solidFill>
                  <a:srgbClr val="6B6862"/>
                </a:solidFill>
                <a:latin typeface="Calibri"/>
              </a:rPr>
              <a:t>https://github.com/tertiarycourses/C1382-Claude-AI-Masterclass — each lab folder holds its prompt PDF and, where needed, a data folder of mock files.</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Learner Guide</a:t>
            </a:r>
          </a:p>
          <a:p>
            <a:pPr algn="l">
              <a:spcAft>
                <a:spcPts val="300"/>
              </a:spcAft>
            </a:pPr>
            <a:r>
              <a:rPr sz="1150" b="0">
                <a:solidFill>
                  <a:srgbClr val="6B6862"/>
                </a:solidFill>
                <a:latin typeface="Calibri"/>
              </a:rPr>
              <a:t>The full step-by-step for every lab, the reason for each step, and the check to run at the end.</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THE SCENARIO</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The Lumo Cold Kopi launch</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It is late October 2026. Lumo Kopi Co. launches Lumo Cold Kopi, its first ready-to-drink canned kopi, in Singapore on 1 December — six weeks away — and in Kuala Lumpur in January. The marketing team is small, the budget is S$60,000, and nothing has been produced yet: no research, no deck, no posts, no video.</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12</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THE SCENARIO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Brand, Ten Labs, One Project</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892808"/>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role</a:t>
            </a:r>
          </a:p>
          <a:p>
            <a:pPr algn="l">
              <a:spcAft>
                <a:spcPts val="300"/>
              </a:spcAft>
            </a:pPr>
            <a:r>
              <a:rPr sz="1150" b="0">
                <a:solidFill>
                  <a:srgbClr val="6B6862"/>
                </a:solidFill>
                <a:latin typeface="Calibri"/>
              </a:rPr>
              <a:t>You are the Lumo marketing team. Instead of juggling a dozen separate chats, you run the whole launch from one Claude Project. Its lead agent plans each job, starts parallel threads for the pieces, and brings the results back for you to check and approve.</a:t>
            </a:r>
          </a:p>
        </p:txBody>
      </p:sp>
      <p:sp>
        <p:nvSpPr>
          <p:cNvPr id="8" name="Rectangle 7"/>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319272"/>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Your mission</a:t>
            </a:r>
          </a:p>
          <a:p>
            <a:pPr algn="l">
              <a:spcAft>
                <a:spcPts val="300"/>
              </a:spcAft>
            </a:pPr>
            <a:r>
              <a:rPr sz="1150" b="0">
                <a:solidFill>
                  <a:srgbClr val="6B6862"/>
                </a:solidFill>
                <a:latin typeface="Calibri"/>
              </a:rPr>
              <a:t>By the end of the day the project holds everything the launch needs — verified market research, a dashboard, a deck and brief, a brand-voice skill, two weeks of social posts, a launch video — and scheduled tasks that keep it moving while you are away.</a:t>
            </a:r>
          </a:p>
        </p:txBody>
      </p:sp>
      <p:sp>
        <p:nvSpPr>
          <p:cNvPr id="11" name="Rectangle 10"/>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45736"/>
            <a:ext cx="1056132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Synthetic data only</a:t>
            </a:r>
          </a:p>
          <a:p>
            <a:pPr algn="l">
              <a:spcAft>
                <a:spcPts val="300"/>
              </a:spcAft>
            </a:pPr>
            <a:r>
              <a:rPr sz="1150" b="0">
                <a:solidFill>
                  <a:srgbClr val="6B6862"/>
                </a:solidFill>
                <a:latin typeface="Calibri"/>
              </a:rPr>
              <a:t>All brands, figures, survey answers and documents in this course are synthetic and used for training only.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01</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Claude Projects and Market Research</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The Claude family and setup</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Projects: goal, instructions, context, memory</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Lead agent and parallel threads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Market research and Live Artefacts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14</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Claude Product Family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Anthropic offers several Claude products — here's how they differ so you know which is which.</a:t>
            </a:r>
          </a:p>
        </p:txBody>
      </p:sp>
      <p:sp>
        <p:nvSpPr>
          <p:cNvPr id="6" name="Rectangle 5"/>
          <p:cNvSpPr/>
          <p:nvPr/>
        </p:nvSpPr>
        <p:spPr>
          <a:xfrm>
            <a:off x="54864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9" name="TextBox 8"/>
          <p:cNvSpPr txBox="1"/>
          <p:nvPr/>
        </p:nvSpPr>
        <p:spPr>
          <a:xfrm>
            <a:off x="82296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(Chat + Cowork)</a:t>
            </a:r>
          </a:p>
        </p:txBody>
      </p:sp>
      <p:sp>
        <p:nvSpPr>
          <p:cNvPr id="10" name="TextBox 9"/>
          <p:cNvSpPr txBox="1"/>
          <p:nvPr/>
        </p:nvSpPr>
        <p:spPr>
          <a:xfrm>
            <a:off x="82296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Chat + Cowork in one app — web, desktop &amp; mobile.</a:t>
            </a:r>
          </a:p>
        </p:txBody>
      </p:sp>
      <p:sp>
        <p:nvSpPr>
          <p:cNvPr id="11" name="Rectangle 10"/>
          <p:cNvSpPr/>
          <p:nvPr/>
        </p:nvSpPr>
        <p:spPr>
          <a:xfrm>
            <a:off x="429768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247802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Co</a:t>
            </a:r>
          </a:p>
        </p:txBody>
      </p:sp>
      <p:sp>
        <p:nvSpPr>
          <p:cNvPr id="14" name="TextBox 13"/>
          <p:cNvSpPr txBox="1"/>
          <p:nvPr/>
        </p:nvSpPr>
        <p:spPr>
          <a:xfrm>
            <a:off x="457200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Code</a:t>
            </a:r>
          </a:p>
        </p:txBody>
      </p:sp>
      <p:sp>
        <p:nvSpPr>
          <p:cNvPr id="15" name="TextBox 14"/>
          <p:cNvSpPr txBox="1"/>
          <p:nvPr/>
        </p:nvSpPr>
        <p:spPr>
          <a:xfrm>
            <a:off x="457200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The agentic tool for building — terminal, IDE &amp; web.</a:t>
            </a:r>
          </a:p>
        </p:txBody>
      </p:sp>
      <p:sp>
        <p:nvSpPr>
          <p:cNvPr id="16" name="Rectangle 15"/>
          <p:cNvSpPr/>
          <p:nvPr/>
        </p:nvSpPr>
        <p:spPr>
          <a:xfrm>
            <a:off x="8046720" y="228600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21040" y="247802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21040" y="247802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D</a:t>
            </a:r>
          </a:p>
        </p:txBody>
      </p:sp>
      <p:sp>
        <p:nvSpPr>
          <p:cNvPr id="19" name="TextBox 18"/>
          <p:cNvSpPr txBox="1"/>
          <p:nvPr/>
        </p:nvSpPr>
        <p:spPr>
          <a:xfrm>
            <a:off x="8321040" y="300837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Design</a:t>
            </a:r>
          </a:p>
        </p:txBody>
      </p:sp>
      <p:sp>
        <p:nvSpPr>
          <p:cNvPr id="20" name="TextBox 19"/>
          <p:cNvSpPr txBox="1"/>
          <p:nvPr/>
        </p:nvSpPr>
        <p:spPr>
          <a:xfrm>
            <a:off x="8321040" y="334670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Polished UI, prototypes &amp; front-end designs.</a:t>
            </a:r>
          </a:p>
        </p:txBody>
      </p:sp>
      <p:sp>
        <p:nvSpPr>
          <p:cNvPr id="21" name="Rectangle 20"/>
          <p:cNvSpPr/>
          <p:nvPr/>
        </p:nvSpPr>
        <p:spPr>
          <a:xfrm>
            <a:off x="54864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M</a:t>
            </a:r>
          </a:p>
        </p:txBody>
      </p:sp>
      <p:sp>
        <p:nvSpPr>
          <p:cNvPr id="24" name="TextBox 23"/>
          <p:cNvSpPr txBox="1"/>
          <p:nvPr/>
        </p:nvSpPr>
        <p:spPr>
          <a:xfrm>
            <a:off x="82296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Microsoft</a:t>
            </a:r>
          </a:p>
        </p:txBody>
      </p:sp>
      <p:sp>
        <p:nvSpPr>
          <p:cNvPr id="25" name="TextBox 24"/>
          <p:cNvSpPr txBox="1"/>
          <p:nvPr/>
        </p:nvSpPr>
        <p:spPr>
          <a:xfrm>
            <a:off x="82296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Claude inside Excel, PowerPoint, Word &amp; Outlook.</a:t>
            </a:r>
          </a:p>
        </p:txBody>
      </p:sp>
      <p:sp>
        <p:nvSpPr>
          <p:cNvPr id="26" name="Rectangle 25"/>
          <p:cNvSpPr/>
          <p:nvPr/>
        </p:nvSpPr>
        <p:spPr>
          <a:xfrm>
            <a:off x="429768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0" y="4169664"/>
            <a:ext cx="484632" cy="484632"/>
          </a:xfrm>
          <a:prstGeom prst="rect">
            <a:avLst/>
          </a:prstGeom>
          <a:noFill/>
        </p:spPr>
        <p:txBody>
          <a:bodyPr wrap="square" anchor="ctr" lIns="0" rIns="0" tIns="0" bIns="0">
            <a:spAutoFit/>
          </a:bodyPr>
          <a:lstStyle/>
          <a:p>
            <a:pPr algn="ctr">
              <a:spcAft>
                <a:spcPts val="400"/>
              </a:spcAft>
            </a:pPr>
            <a:r>
              <a:rPr sz="1600" b="1">
                <a:solidFill>
                  <a:srgbClr val="FFFFFF"/>
                </a:solidFill>
                <a:latin typeface="Cambria"/>
              </a:rPr>
              <a:t>Ch</a:t>
            </a:r>
          </a:p>
        </p:txBody>
      </p:sp>
      <p:sp>
        <p:nvSpPr>
          <p:cNvPr id="29" name="TextBox 28"/>
          <p:cNvSpPr txBox="1"/>
          <p:nvPr/>
        </p:nvSpPr>
        <p:spPr>
          <a:xfrm>
            <a:off x="457200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Chrome</a:t>
            </a:r>
          </a:p>
        </p:txBody>
      </p:sp>
      <p:sp>
        <p:nvSpPr>
          <p:cNvPr id="30" name="TextBox 29"/>
          <p:cNvSpPr txBox="1"/>
          <p:nvPr/>
        </p:nvSpPr>
        <p:spPr>
          <a:xfrm>
            <a:off x="457200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Browser agent that clicks &amp; fills forms in Chrome.</a:t>
            </a:r>
          </a:p>
        </p:txBody>
      </p:sp>
      <p:sp>
        <p:nvSpPr>
          <p:cNvPr id="31" name="Rectangle 30"/>
          <p:cNvSpPr/>
          <p:nvPr/>
        </p:nvSpPr>
        <p:spPr>
          <a:xfrm>
            <a:off x="8046720" y="3977640"/>
            <a:ext cx="3566160" cy="1508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321040" y="4169664"/>
            <a:ext cx="484632" cy="4846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21040" y="4169664"/>
            <a:ext cx="484632" cy="4846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S</a:t>
            </a:r>
          </a:p>
        </p:txBody>
      </p:sp>
      <p:sp>
        <p:nvSpPr>
          <p:cNvPr id="34" name="TextBox 33"/>
          <p:cNvSpPr txBox="1"/>
          <p:nvPr/>
        </p:nvSpPr>
        <p:spPr>
          <a:xfrm>
            <a:off x="8321040" y="4700016"/>
            <a:ext cx="3108960" cy="347472"/>
          </a:xfrm>
          <a:prstGeom prst="rect">
            <a:avLst/>
          </a:prstGeom>
          <a:noFill/>
        </p:spPr>
        <p:txBody>
          <a:bodyPr wrap="square" anchor="t" lIns="0" rIns="0" tIns="0" bIns="0">
            <a:spAutoFit/>
          </a:bodyPr>
          <a:lstStyle/>
          <a:p>
            <a:pPr algn="l">
              <a:spcAft>
                <a:spcPts val="400"/>
              </a:spcAft>
            </a:pPr>
            <a:r>
              <a:rPr sz="1300" b="1">
                <a:solidFill>
                  <a:srgbClr val="21201C"/>
                </a:solidFill>
                <a:latin typeface="Cambria"/>
              </a:rPr>
              <a:t>Claude for Science</a:t>
            </a:r>
          </a:p>
        </p:txBody>
      </p:sp>
      <p:sp>
        <p:nvSpPr>
          <p:cNvPr id="35" name="TextBox 34"/>
          <p:cNvSpPr txBox="1"/>
          <p:nvPr/>
        </p:nvSpPr>
        <p:spPr>
          <a:xfrm>
            <a:off x="8321040" y="5038344"/>
            <a:ext cx="3108960" cy="484632"/>
          </a:xfrm>
          <a:prstGeom prst="rect">
            <a:avLst/>
          </a:prstGeom>
          <a:noFill/>
        </p:spPr>
        <p:txBody>
          <a:bodyPr wrap="square" anchor="t" lIns="0" rIns="0" tIns="0" bIns="0">
            <a:spAutoFit/>
          </a:bodyPr>
          <a:lstStyle/>
          <a:p>
            <a:pPr algn="l">
              <a:spcAft>
                <a:spcPts val="400"/>
              </a:spcAft>
            </a:pPr>
            <a:r>
              <a:rPr sz="1050" b="0">
                <a:solidFill>
                  <a:srgbClr val="6B6862"/>
                </a:solidFill>
                <a:latin typeface="Calibri"/>
              </a:rPr>
              <a:t>Speeds up research workflows for scientists and labs.</a:t>
            </a:r>
          </a:p>
        </p:txBody>
      </p:sp>
      <p:sp>
        <p:nvSpPr>
          <p:cNvPr id="36" name="TextBox 35"/>
          <p:cNvSpPr txBox="1"/>
          <p:nvPr/>
        </p:nvSpPr>
        <p:spPr>
          <a:xfrm>
            <a:off x="548640" y="5641848"/>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All are powered by the same Claude models — they differ in where they run and who they're for. Projects span Claude and Claude Code.</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(Chat + Cowork) and Claude Code</a:t>
            </a:r>
          </a:p>
        </p:txBody>
      </p:sp>
      <p:sp>
        <p:nvSpPr>
          <p:cNvPr id="5" name="Oval 4"/>
          <p:cNvSpPr/>
          <p:nvPr/>
        </p:nvSpPr>
        <p:spPr>
          <a:xfrm>
            <a:off x="285521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5521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a:t>
            </a:r>
          </a:p>
        </p:txBody>
      </p:sp>
      <p:sp>
        <p:nvSpPr>
          <p:cNvPr id="7" name="TextBox 6"/>
          <p:cNvSpPr txBox="1"/>
          <p:nvPr/>
        </p:nvSpPr>
        <p:spPr>
          <a:xfrm>
            <a:off x="54864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(Chat + Cowork)</a:t>
            </a:r>
          </a:p>
        </p:txBody>
      </p:sp>
      <p:sp>
        <p:nvSpPr>
          <p:cNvPr id="8" name="TextBox 7"/>
          <p:cNvSpPr txBox="1"/>
          <p:nvPr/>
        </p:nvSpPr>
        <p:spPr>
          <a:xfrm>
            <a:off x="54864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“Thinking and work partner — this course”</a:t>
            </a:r>
          </a:p>
        </p:txBody>
      </p:sp>
      <p:sp>
        <p:nvSpPr>
          <p:cNvPr id="9" name="Rectangle 8"/>
          <p:cNvSpPr/>
          <p:nvPr/>
        </p:nvSpPr>
        <p:spPr>
          <a:xfrm>
            <a:off x="320268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268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0268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5745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45745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15" name="TextBox 14"/>
          <p:cNvSpPr txBox="1"/>
          <p:nvPr/>
        </p:nvSpPr>
        <p:spPr>
          <a:xfrm>
            <a:off x="82296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Chat: ask, draft, analyse and research with web search</a:t>
            </a:r>
          </a:p>
          <a:p>
            <a:pPr algn="l">
              <a:spcAft>
                <a:spcPts val="700"/>
              </a:spcAft>
            </a:pPr>
            <a:r>
              <a:rPr sz="1250" b="0">
                <a:solidFill>
                  <a:srgbClr val="21201C"/>
                </a:solidFill>
                <a:latin typeface="Calibri"/>
              </a:rPr>
              <a:t>•  Cowork: plans and runs multi-step tasks on your files</a:t>
            </a:r>
          </a:p>
          <a:p>
            <a:pPr algn="l">
              <a:spcAft>
                <a:spcPts val="700"/>
              </a:spcAft>
            </a:pPr>
            <a:r>
              <a:rPr sz="1250" b="0">
                <a:solidFill>
                  <a:srgbClr val="21201C"/>
                </a:solidFill>
                <a:latin typeface="Calibri"/>
              </a:rPr>
              <a:t>•  Projects, connectors and skills: Drive, Gmail, Calendar</a:t>
            </a:r>
          </a:p>
          <a:p>
            <a:pPr algn="l">
              <a:spcAft>
                <a:spcPts val="700"/>
              </a:spcAft>
            </a:pPr>
            <a:r>
              <a:rPr sz="1250" b="0">
                <a:solidFill>
                  <a:srgbClr val="21201C"/>
                </a:solidFill>
                <a:latin typeface="Calibri"/>
              </a:rPr>
              <a:t>•  For everyone — web, desktop and mobile apps</a:t>
            </a:r>
          </a:p>
        </p:txBody>
      </p:sp>
      <p:sp>
        <p:nvSpPr>
          <p:cNvPr id="16" name="Oval 15"/>
          <p:cNvSpPr/>
          <p:nvPr/>
        </p:nvSpPr>
        <p:spPr>
          <a:xfrm>
            <a:off x="8593074" y="1783080"/>
            <a:ext cx="713232" cy="71323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3074" y="1783080"/>
            <a:ext cx="713232" cy="713232"/>
          </a:xfrm>
          <a:prstGeom prst="rect">
            <a:avLst/>
          </a:prstGeom>
          <a:noFill/>
        </p:spPr>
        <p:txBody>
          <a:bodyPr wrap="square" anchor="ctr" lIns="0" rIns="0" tIns="0" bIns="0">
            <a:spAutoFit/>
          </a:bodyPr>
          <a:lstStyle/>
          <a:p>
            <a:pPr algn="ctr">
              <a:spcAft>
                <a:spcPts val="400"/>
              </a:spcAft>
            </a:pPr>
            <a:r>
              <a:rPr sz="2000" b="1">
                <a:solidFill>
                  <a:srgbClr val="FFFFFF"/>
                </a:solidFill>
                <a:latin typeface="Cambria"/>
              </a:rPr>
              <a:t>Co</a:t>
            </a:r>
          </a:p>
        </p:txBody>
      </p:sp>
      <p:sp>
        <p:nvSpPr>
          <p:cNvPr id="18" name="TextBox 17"/>
          <p:cNvSpPr txBox="1"/>
          <p:nvPr/>
        </p:nvSpPr>
        <p:spPr>
          <a:xfrm>
            <a:off x="6286500" y="2633472"/>
            <a:ext cx="5326380" cy="365760"/>
          </a:xfrm>
          <a:prstGeom prst="rect">
            <a:avLst/>
          </a:prstGeom>
          <a:noFill/>
        </p:spPr>
        <p:txBody>
          <a:bodyPr wrap="square" anchor="t" lIns="0" rIns="0" tIns="0" bIns="0">
            <a:spAutoFit/>
          </a:bodyPr>
          <a:lstStyle/>
          <a:p>
            <a:pPr algn="ctr">
              <a:spcAft>
                <a:spcPts val="400"/>
              </a:spcAft>
            </a:pPr>
            <a:r>
              <a:rPr sz="1900" b="1">
                <a:solidFill>
                  <a:srgbClr val="21201C"/>
                </a:solidFill>
                <a:latin typeface="Cambria"/>
              </a:rPr>
              <a:t>Claude Code</a:t>
            </a:r>
          </a:p>
        </p:txBody>
      </p:sp>
      <p:sp>
        <p:nvSpPr>
          <p:cNvPr id="19" name="TextBox 18"/>
          <p:cNvSpPr txBox="1"/>
          <p:nvPr/>
        </p:nvSpPr>
        <p:spPr>
          <a:xfrm>
            <a:off x="6286500" y="3017520"/>
            <a:ext cx="5326380" cy="310896"/>
          </a:xfrm>
          <a:prstGeom prst="rect">
            <a:avLst/>
          </a:prstGeom>
          <a:noFill/>
        </p:spPr>
        <p:txBody>
          <a:bodyPr wrap="square" anchor="t" lIns="0" rIns="0" tIns="0" bIns="0">
            <a:spAutoFit/>
          </a:bodyPr>
          <a:lstStyle/>
          <a:p>
            <a:pPr algn="ctr">
              <a:spcAft>
                <a:spcPts val="400"/>
              </a:spcAft>
            </a:pPr>
            <a:r>
              <a:rPr sz="1400" b="0">
                <a:solidFill>
                  <a:srgbClr val="6B6862"/>
                </a:solidFill>
                <a:latin typeface="Calibri"/>
              </a:rPr>
              <a:t>“Build partner”</a:t>
            </a:r>
          </a:p>
        </p:txBody>
      </p:sp>
      <p:sp>
        <p:nvSpPr>
          <p:cNvPr id="20" name="Rectangle 19"/>
          <p:cNvSpPr/>
          <p:nvPr/>
        </p:nvSpPr>
        <p:spPr>
          <a:xfrm>
            <a:off x="8940546" y="3456432"/>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40546" y="3584448"/>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40546" y="3712464"/>
            <a:ext cx="18288" cy="64008"/>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86500" y="4069080"/>
            <a:ext cx="5326380" cy="169164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95310" y="3877056"/>
            <a:ext cx="1508760" cy="384048"/>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95310" y="3877056"/>
            <a:ext cx="1508760" cy="384048"/>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Best for</a:t>
            </a:r>
          </a:p>
        </p:txBody>
      </p:sp>
      <p:sp>
        <p:nvSpPr>
          <p:cNvPr id="26" name="TextBox 25"/>
          <p:cNvSpPr txBox="1"/>
          <p:nvPr/>
        </p:nvSpPr>
        <p:spPr>
          <a:xfrm>
            <a:off x="6560820" y="4379976"/>
            <a:ext cx="4869180" cy="1234440"/>
          </a:xfrm>
          <a:prstGeom prst="rect">
            <a:avLst/>
          </a:prstGeom>
          <a:noFill/>
        </p:spPr>
        <p:txBody>
          <a:bodyPr wrap="square" anchor="t" lIns="0" rIns="0" tIns="0" bIns="0">
            <a:spAutoFit/>
          </a:bodyPr>
          <a:lstStyle/>
          <a:p>
            <a:pPr algn="l">
              <a:spcAft>
                <a:spcPts val="700"/>
              </a:spcAft>
            </a:pPr>
            <a:r>
              <a:rPr sz="1250" b="0">
                <a:solidFill>
                  <a:srgbClr val="21201C"/>
                </a:solidFill>
                <a:latin typeface="Calibri"/>
              </a:rPr>
              <a:t>•  Builds software, sites and automations</a:t>
            </a:r>
          </a:p>
          <a:p>
            <a:pPr algn="l">
              <a:spcAft>
                <a:spcPts val="700"/>
              </a:spcAft>
            </a:pPr>
            <a:r>
              <a:rPr sz="1250" b="0">
                <a:solidFill>
                  <a:srgbClr val="21201C"/>
                </a:solidFill>
                <a:latin typeface="Calibri"/>
              </a:rPr>
              <a:t>•  Runs in the terminal, VS Code, desktop app and web</a:t>
            </a:r>
          </a:p>
          <a:p>
            <a:pPr algn="l">
              <a:spcAft>
                <a:spcPts val="700"/>
              </a:spcAft>
            </a:pPr>
            <a:r>
              <a:rPr sz="1250" b="0">
                <a:solidFill>
                  <a:srgbClr val="21201C"/>
                </a:solidFill>
                <a:latin typeface="Calibri"/>
              </a:rPr>
              <a:t>•  Edits files, runs commands and calls MCP tools</a:t>
            </a:r>
          </a:p>
          <a:p>
            <a:pPr algn="l">
              <a:spcAft>
                <a:spcPts val="700"/>
              </a:spcAft>
            </a:pPr>
            <a:r>
              <a:rPr sz="1250" b="0">
                <a:solidFill>
                  <a:srgbClr val="21201C"/>
                </a:solidFill>
                <a:latin typeface="Calibri"/>
              </a:rPr>
              <a:t>•  Extended with CLAUDE.md, skills, sub agents and hooks</a:t>
            </a:r>
          </a:p>
        </p:txBody>
      </p:sp>
      <p:sp>
        <p:nvSpPr>
          <p:cNvPr id="27" name="TextBox 26"/>
          <p:cNvSpPr txBox="1"/>
          <p:nvPr/>
        </p:nvSpPr>
        <p:spPr>
          <a:xfrm>
            <a:off x="548640" y="5989320"/>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Chat and Cowork are now one app: Claude. A marketing team works there — and a Project ties the work together around one goal.</a:t>
            </a:r>
          </a:p>
        </p:txBody>
      </p:sp>
      <p:sp>
        <p:nvSpPr>
          <p:cNvPr id="28" name="TextBox 2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9" name="TextBox 2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0" name="TextBox 2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16</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Brief History of AI, 2023–2026</a:t>
            </a:r>
          </a:p>
        </p:txBody>
      </p:sp>
      <p:sp>
        <p:nvSpPr>
          <p:cNvPr id="5" name="Rectangle 4"/>
          <p:cNvSpPr/>
          <p:nvPr/>
        </p:nvSpPr>
        <p:spPr>
          <a:xfrm>
            <a:off x="1371600" y="3657600"/>
            <a:ext cx="9418320"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Prompt Engineering</a:t>
            </a:r>
          </a:p>
        </p:txBody>
      </p:sp>
      <p:sp>
        <p:nvSpPr>
          <p:cNvPr id="7" name="Oval 6"/>
          <p:cNvSpPr/>
          <p:nvPr/>
        </p:nvSpPr>
        <p:spPr>
          <a:xfrm>
            <a:off x="169164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9164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2023</a:t>
            </a:r>
          </a:p>
        </p:txBody>
      </p:sp>
      <p:sp>
        <p:nvSpPr>
          <p:cNvPr id="9" name="TextBox 8"/>
          <p:cNvSpPr txBox="1"/>
          <p:nvPr/>
        </p:nvSpPr>
        <p:spPr>
          <a:xfrm>
            <a:off x="68580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ChatGPT goes mainstream; results depend on the prompt wording.</a:t>
            </a:r>
          </a:p>
        </p:txBody>
      </p:sp>
      <p:sp>
        <p:nvSpPr>
          <p:cNvPr id="10" name="TextBox 9"/>
          <p:cNvSpPr txBox="1"/>
          <p:nvPr/>
        </p:nvSpPr>
        <p:spPr>
          <a:xfrm>
            <a:off x="356616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Context Engineering</a:t>
            </a:r>
          </a:p>
        </p:txBody>
      </p:sp>
      <p:sp>
        <p:nvSpPr>
          <p:cNvPr id="11" name="Oval 10"/>
          <p:cNvSpPr/>
          <p:nvPr/>
        </p:nvSpPr>
        <p:spPr>
          <a:xfrm>
            <a:off x="452628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2024</a:t>
            </a:r>
          </a:p>
        </p:txBody>
      </p:sp>
      <p:sp>
        <p:nvSpPr>
          <p:cNvPr id="13" name="TextBox 12"/>
          <p:cNvSpPr txBox="1"/>
          <p:nvPr/>
        </p:nvSpPr>
        <p:spPr>
          <a:xfrm>
            <a:off x="352044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Models call tools and MCP launches; results depend on context.</a:t>
            </a:r>
          </a:p>
        </p:txBody>
      </p:sp>
      <p:sp>
        <p:nvSpPr>
          <p:cNvPr id="14" name="TextBox 13"/>
          <p:cNvSpPr txBox="1"/>
          <p:nvPr/>
        </p:nvSpPr>
        <p:spPr>
          <a:xfrm>
            <a:off x="640080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Harness Engineering</a:t>
            </a:r>
          </a:p>
        </p:txBody>
      </p:sp>
      <p:sp>
        <p:nvSpPr>
          <p:cNvPr id="15" name="Oval 14"/>
          <p:cNvSpPr/>
          <p:nvPr/>
        </p:nvSpPr>
        <p:spPr>
          <a:xfrm>
            <a:off x="736092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092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2025</a:t>
            </a:r>
          </a:p>
        </p:txBody>
      </p:sp>
      <p:sp>
        <p:nvSpPr>
          <p:cNvPr id="17" name="TextBox 16"/>
          <p:cNvSpPr txBox="1"/>
          <p:nvPr/>
        </p:nvSpPr>
        <p:spPr>
          <a:xfrm>
            <a:off x="635508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Claude Code &amp; Codex: systems that plan, act and check their work.</a:t>
            </a:r>
          </a:p>
        </p:txBody>
      </p:sp>
      <p:sp>
        <p:nvSpPr>
          <p:cNvPr id="18" name="TextBox 17"/>
          <p:cNvSpPr txBox="1"/>
          <p:nvPr/>
        </p:nvSpPr>
        <p:spPr>
          <a:xfrm>
            <a:off x="9235440" y="2148840"/>
            <a:ext cx="2743200" cy="640080"/>
          </a:xfrm>
          <a:prstGeom prst="rect">
            <a:avLst/>
          </a:prstGeom>
          <a:noFill/>
        </p:spPr>
        <p:txBody>
          <a:bodyPr wrap="square" anchor="ctr" lIns="0" rIns="0" tIns="0" bIns="0">
            <a:spAutoFit/>
          </a:bodyPr>
          <a:lstStyle/>
          <a:p>
            <a:pPr algn="ctr">
              <a:spcAft>
                <a:spcPts val="400"/>
              </a:spcAft>
            </a:pPr>
            <a:r>
              <a:rPr sz="1700" b="1">
                <a:solidFill>
                  <a:srgbClr val="21201C"/>
                </a:solidFill>
                <a:latin typeface="Cambria"/>
              </a:rPr>
              <a:t>AI Agents</a:t>
            </a:r>
          </a:p>
        </p:txBody>
      </p:sp>
      <p:sp>
        <p:nvSpPr>
          <p:cNvPr id="19" name="Oval 18"/>
          <p:cNvSpPr/>
          <p:nvPr/>
        </p:nvSpPr>
        <p:spPr>
          <a:xfrm>
            <a:off x="10195560" y="3246120"/>
            <a:ext cx="822960" cy="8229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95560" y="3246120"/>
            <a:ext cx="822960" cy="822960"/>
          </a:xfrm>
          <a:prstGeom prst="rect">
            <a:avLst/>
          </a:prstGeom>
          <a:noFill/>
        </p:spPr>
        <p:txBody>
          <a:bodyPr wrap="square" anchor="ctr" lIns="0" rIns="0" tIns="0" bIns="0">
            <a:spAutoFit/>
          </a:bodyPr>
          <a:lstStyle/>
          <a:p>
            <a:pPr algn="ctr">
              <a:spcAft>
                <a:spcPts val="400"/>
              </a:spcAft>
            </a:pPr>
            <a:r>
              <a:rPr sz="1500" b="1">
                <a:solidFill>
                  <a:srgbClr val="FFFFFF"/>
                </a:solidFill>
                <a:latin typeface="Calibri"/>
              </a:rPr>
              <a:t>2026</a:t>
            </a:r>
          </a:p>
        </p:txBody>
      </p:sp>
      <p:sp>
        <p:nvSpPr>
          <p:cNvPr id="21" name="TextBox 20"/>
          <p:cNvSpPr txBox="1"/>
          <p:nvPr/>
        </p:nvSpPr>
        <p:spPr>
          <a:xfrm>
            <a:off x="9189720" y="4251960"/>
            <a:ext cx="2834640" cy="118872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Always-on agents work 24/7 — OpenClaw, Hermes Agent, agent teams.</a:t>
            </a:r>
          </a:p>
        </p:txBody>
      </p:sp>
      <p:sp>
        <p:nvSpPr>
          <p:cNvPr id="22" name="TextBox 21"/>
          <p:cNvSpPr txBox="1"/>
          <p:nvPr/>
        </p:nvSpPr>
        <p:spPr>
          <a:xfrm>
            <a:off x="548640" y="58978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From wording one prompt → curating context → engineering the harness → AI agents that work around the clock.</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17</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OVERVIEW</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Cowork Mode Adds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Five things a chat window cannot do.</a:t>
            </a:r>
          </a:p>
        </p:txBody>
      </p:sp>
      <p:sp>
        <p:nvSpPr>
          <p:cNvPr id="6" name="Rectangle 5"/>
          <p:cNvSpPr/>
          <p:nvPr/>
        </p:nvSpPr>
        <p:spPr>
          <a:xfrm>
            <a:off x="548640"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Access local files</a:t>
            </a:r>
          </a:p>
          <a:p>
            <a:pPr algn="l">
              <a:spcAft>
                <a:spcPts val="300"/>
              </a:spcAft>
            </a:pPr>
            <a:r>
              <a:rPr sz="1150" b="0">
                <a:solidFill>
                  <a:srgbClr val="6B6862"/>
                </a:solidFill>
                <a:latin typeface="Calibri"/>
              </a:rPr>
              <a:t>Read, write and reorganise the folders on your computer.</a:t>
            </a:r>
          </a:p>
        </p:txBody>
      </p:sp>
      <p:sp>
        <p:nvSpPr>
          <p:cNvPr id="11" name="Rectangle 10"/>
          <p:cNvSpPr/>
          <p:nvPr/>
        </p:nvSpPr>
        <p:spPr>
          <a:xfrm>
            <a:off x="6163056" y="2148840"/>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4841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4841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Write &amp; run code</a:t>
            </a:r>
          </a:p>
          <a:p>
            <a:pPr algn="l">
              <a:spcAft>
                <a:spcPts val="300"/>
              </a:spcAft>
            </a:pPr>
            <a:r>
              <a:rPr sz="1150" b="0">
                <a:solidFill>
                  <a:srgbClr val="6B6862"/>
                </a:solidFill>
                <a:latin typeface="Calibri"/>
              </a:rPr>
              <a:t>It writes the code a task needs — a chart, a video — and runs it for you.</a:t>
            </a:r>
          </a:p>
        </p:txBody>
      </p:sp>
      <p:sp>
        <p:nvSpPr>
          <p:cNvPr id="16" name="Rectangle 15"/>
          <p:cNvSpPr/>
          <p:nvPr/>
        </p:nvSpPr>
        <p:spPr>
          <a:xfrm>
            <a:off x="548640"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 to tools</a:t>
            </a:r>
          </a:p>
          <a:p>
            <a:pPr algn="l">
              <a:spcAft>
                <a:spcPts val="300"/>
              </a:spcAft>
            </a:pPr>
            <a:r>
              <a:rPr sz="1150" b="0">
                <a:solidFill>
                  <a:srgbClr val="6B6862"/>
                </a:solidFill>
                <a:latin typeface="Calibri"/>
              </a:rPr>
              <a:t>Reach Google Drive, Gmail and Calendar through connectors.</a:t>
            </a:r>
          </a:p>
        </p:txBody>
      </p:sp>
      <p:sp>
        <p:nvSpPr>
          <p:cNvPr id="21" name="Rectangle 20"/>
          <p:cNvSpPr/>
          <p:nvPr/>
        </p:nvSpPr>
        <p:spPr>
          <a:xfrm>
            <a:off x="6163056" y="3331464"/>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331464"/>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441192"/>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Skills &amp; plugins</a:t>
            </a:r>
          </a:p>
          <a:p>
            <a:pPr algn="l">
              <a:spcAft>
                <a:spcPts val="300"/>
              </a:spcAft>
            </a:pPr>
            <a:r>
              <a:rPr sz="1150" b="0">
                <a:solidFill>
                  <a:srgbClr val="6B6862"/>
                </a:solidFill>
                <a:latin typeface="Calibri"/>
              </a:rPr>
              <a:t>Reusable instructions it loads on demand, shareable with your team.</a:t>
            </a:r>
          </a:p>
        </p:txBody>
      </p:sp>
      <p:sp>
        <p:nvSpPr>
          <p:cNvPr id="26" name="Rectangle 25"/>
          <p:cNvSpPr/>
          <p:nvPr/>
        </p:nvSpPr>
        <p:spPr>
          <a:xfrm>
            <a:off x="548640" y="4514088"/>
            <a:ext cx="5449824" cy="1018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514088"/>
            <a:ext cx="54864" cy="101803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48493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48493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623816"/>
            <a:ext cx="4434840" cy="79857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loop</a:t>
            </a:r>
          </a:p>
          <a:p>
            <a:pPr algn="l">
              <a:spcAft>
                <a:spcPts val="300"/>
              </a:spcAft>
            </a:pPr>
            <a:r>
              <a:rPr sz="1150" b="0">
                <a:solidFill>
                  <a:srgbClr val="6B6862"/>
                </a:solidFill>
                <a:latin typeface="Calibri"/>
              </a:rPr>
              <a:t>Plan, act, check, correct — it keeps working until the task is done.</a:t>
            </a:r>
          </a:p>
        </p:txBody>
      </p:sp>
      <p:sp>
        <p:nvSpPr>
          <p:cNvPr id="31" name="TextBox 30"/>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Together these are why Claude finishes a task instead of describing how to do it.</a:t>
            </a:r>
          </a:p>
        </p:txBody>
      </p:sp>
      <p:sp>
        <p:nvSpPr>
          <p:cNvPr id="32" name="TextBox 3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3" name="TextBox 3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4" name="TextBox 3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18</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Plans and Pricing</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Free lets you try Claude; Cowork, scheduled tasks and full Projects need Pro or Max.</a:t>
            </a:r>
          </a:p>
        </p:txBody>
      </p:sp>
      <p:sp>
        <p:nvSpPr>
          <p:cNvPr id="6" name="Rectangle 5"/>
          <p:cNvSpPr/>
          <p:nvPr/>
        </p:nvSpPr>
        <p:spPr>
          <a:xfrm>
            <a:off x="54864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F</a:t>
            </a:r>
          </a:p>
        </p:txBody>
      </p:sp>
      <p:sp>
        <p:nvSpPr>
          <p:cNvPr id="9" name="TextBox 8"/>
          <p:cNvSpPr txBox="1"/>
          <p:nvPr/>
        </p:nvSpPr>
        <p:spPr>
          <a:xfrm>
            <a:off x="82296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Free</a:t>
            </a:r>
          </a:p>
        </p:txBody>
      </p:sp>
      <p:sp>
        <p:nvSpPr>
          <p:cNvPr id="10" name="TextBox 9"/>
          <p:cNvSpPr txBox="1"/>
          <p:nvPr/>
        </p:nvSpPr>
        <p:spPr>
          <a:xfrm>
            <a:off x="82296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$0. Chat, Slides, Docs, connectors and skills, up to five projects. Sonnet and Haiku.</a:t>
            </a:r>
          </a:p>
        </p:txBody>
      </p:sp>
      <p:sp>
        <p:nvSpPr>
          <p:cNvPr id="11" name="Rectangle 10"/>
          <p:cNvSpPr/>
          <p:nvPr/>
        </p:nvSpPr>
        <p:spPr>
          <a:xfrm>
            <a:off x="336042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3474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474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P</a:t>
            </a:r>
          </a:p>
        </p:txBody>
      </p:sp>
      <p:sp>
        <p:nvSpPr>
          <p:cNvPr id="14" name="TextBox 13"/>
          <p:cNvSpPr txBox="1"/>
          <p:nvPr/>
        </p:nvSpPr>
        <p:spPr>
          <a:xfrm>
            <a:off x="363474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Pro</a:t>
            </a:r>
          </a:p>
        </p:txBody>
      </p:sp>
      <p:sp>
        <p:nvSpPr>
          <p:cNvPr id="15" name="TextBox 14"/>
          <p:cNvSpPr txBox="1"/>
          <p:nvPr/>
        </p:nvSpPr>
        <p:spPr>
          <a:xfrm>
            <a:off x="363474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$17/mo billed annually · $20 monthly. Cowork, scheduled tasks, the new Projects (beta), Opus.</a:t>
            </a:r>
          </a:p>
        </p:txBody>
      </p:sp>
      <p:sp>
        <p:nvSpPr>
          <p:cNvPr id="16" name="Rectangle 15"/>
          <p:cNvSpPr/>
          <p:nvPr/>
        </p:nvSpPr>
        <p:spPr>
          <a:xfrm>
            <a:off x="617220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4652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M</a:t>
            </a:r>
          </a:p>
        </p:txBody>
      </p:sp>
      <p:sp>
        <p:nvSpPr>
          <p:cNvPr id="19" name="TextBox 18"/>
          <p:cNvSpPr txBox="1"/>
          <p:nvPr/>
        </p:nvSpPr>
        <p:spPr>
          <a:xfrm>
            <a:off x="644652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Max</a:t>
            </a:r>
          </a:p>
        </p:txBody>
      </p:sp>
      <p:sp>
        <p:nvSpPr>
          <p:cNvPr id="20" name="TextBox 19"/>
          <p:cNvSpPr txBox="1"/>
          <p:nvPr/>
        </p:nvSpPr>
        <p:spPr>
          <a:xfrm>
            <a:off x="644652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From $100/mo — 5× or 20× Pro's usage, priority at busy times, $100–$200/mo API credits.</a:t>
            </a:r>
          </a:p>
        </p:txBody>
      </p:sp>
      <p:sp>
        <p:nvSpPr>
          <p:cNvPr id="21" name="Rectangle 20"/>
          <p:cNvSpPr/>
          <p:nvPr/>
        </p:nvSpPr>
        <p:spPr>
          <a:xfrm>
            <a:off x="8983980" y="2194560"/>
            <a:ext cx="2628900" cy="2514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58300" y="2468880"/>
            <a:ext cx="566928" cy="566928"/>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58300" y="2468880"/>
            <a:ext cx="566928" cy="566928"/>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T</a:t>
            </a:r>
          </a:p>
        </p:txBody>
      </p:sp>
      <p:sp>
        <p:nvSpPr>
          <p:cNvPr id="24" name="TextBox 23"/>
          <p:cNvSpPr txBox="1"/>
          <p:nvPr/>
        </p:nvSpPr>
        <p:spPr>
          <a:xfrm>
            <a:off x="9258300" y="3154680"/>
            <a:ext cx="2125980" cy="457200"/>
          </a:xfrm>
          <a:prstGeom prst="rect">
            <a:avLst/>
          </a:prstGeom>
          <a:noFill/>
        </p:spPr>
        <p:txBody>
          <a:bodyPr wrap="square" anchor="t" lIns="0" rIns="0" tIns="0" bIns="0">
            <a:spAutoFit/>
          </a:bodyPr>
          <a:lstStyle/>
          <a:p>
            <a:pPr algn="l">
              <a:spcAft>
                <a:spcPts val="400"/>
              </a:spcAft>
            </a:pPr>
            <a:r>
              <a:rPr sz="1900" b="1">
                <a:solidFill>
                  <a:srgbClr val="21201C"/>
                </a:solidFill>
                <a:latin typeface="Cambria"/>
              </a:rPr>
              <a:t>Team · Enterprise</a:t>
            </a:r>
          </a:p>
        </p:txBody>
      </p:sp>
      <p:sp>
        <p:nvSpPr>
          <p:cNvPr id="25" name="TextBox 24"/>
          <p:cNvSpPr txBox="1"/>
          <p:nvPr/>
        </p:nvSpPr>
        <p:spPr>
          <a:xfrm>
            <a:off x="9258300" y="3639312"/>
            <a:ext cx="2125980" cy="978408"/>
          </a:xfrm>
          <a:prstGeom prst="rect">
            <a:avLst/>
          </a:prstGeom>
          <a:noFill/>
        </p:spPr>
        <p:txBody>
          <a:bodyPr wrap="square" anchor="t" lIns="0" rIns="0" tIns="0" bIns="0">
            <a:spAutoFit/>
          </a:bodyPr>
          <a:lstStyle/>
          <a:p>
            <a:pPr algn="l">
              <a:spcAft>
                <a:spcPts val="400"/>
              </a:spcAft>
            </a:pPr>
            <a:r>
              <a:rPr sz="1250" b="0">
                <a:solidFill>
                  <a:srgbClr val="6B6862"/>
                </a:solidFill>
                <a:latin typeface="Calibri"/>
              </a:rPr>
              <a:t>Team $20/seat annual ($25 monthly), premium seats $100. Enterprise $20/seat + usage.</a:t>
            </a:r>
          </a:p>
        </p:txBody>
      </p:sp>
      <p:sp>
        <p:nvSpPr>
          <p:cNvPr id="26" name="Rectangle 25"/>
          <p:cNvSpPr/>
          <p:nvPr/>
        </p:nvSpPr>
        <p:spPr>
          <a:xfrm>
            <a:off x="548640" y="4892040"/>
            <a:ext cx="11064240" cy="77724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892040"/>
            <a:ext cx="10515600" cy="777240"/>
          </a:xfrm>
          <a:prstGeom prst="rect">
            <a:avLst/>
          </a:prstGeom>
          <a:noFill/>
        </p:spPr>
        <p:txBody>
          <a:bodyPr wrap="square" anchor="ctr" lIns="0" rIns="0" tIns="0" bIns="0">
            <a:spAutoFit/>
          </a:bodyPr>
          <a:lstStyle/>
          <a:p>
            <a:pPr algn="l">
              <a:spcAft>
                <a:spcPts val="400"/>
              </a:spcAft>
            </a:pPr>
            <a:r>
              <a:rPr sz="1300" b="0">
                <a:solidFill>
                  <a:srgbClr val="B9B4A9"/>
                </a:solidFill>
                <a:latin typeface="Calibri"/>
              </a:rPr>
              <a:t>Parallel threads multiply usage: four threads cost roughly four times one chat. Watch Project settings → Usage.</a:t>
            </a:r>
          </a:p>
        </p:txBody>
      </p:sp>
      <p:sp>
        <p:nvSpPr>
          <p:cNvPr id="28" name="TextBox 27"/>
          <p:cNvSpPr txBox="1"/>
          <p:nvPr/>
        </p:nvSpPr>
        <p:spPr>
          <a:xfrm>
            <a:off x="548640" y="5806440"/>
            <a:ext cx="11064240" cy="32004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TIP  </a:t>
            </a:r>
            <a:r>
              <a:rPr sz="1300" b="0">
                <a:solidFill>
                  <a:srgbClr val="6B6862"/>
                </a:solidFill>
                <a:latin typeface="Calibri"/>
              </a:rPr>
              <a:t>Usage resets every five hours, with weekly limits on paid plans. US$ prices as of 27 October 2026 — verify at claude.com/pricing.</a:t>
            </a:r>
          </a:p>
        </p:txBody>
      </p:sp>
      <p:sp>
        <p:nvSpPr>
          <p:cNvPr id="29" name="TextBox 2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0" name="TextBox 2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1" name="TextBox 3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19</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Your Plan and Usage</a:t>
            </a:r>
          </a:p>
        </p:txBody>
      </p:sp>
      <p:sp>
        <p:nvSpPr>
          <p:cNvPr id="5" name="Rectangle 4"/>
          <p:cNvSpPr/>
          <p:nvPr/>
        </p:nvSpPr>
        <p:spPr>
          <a:xfrm>
            <a:off x="1438864" y="1600200"/>
            <a:ext cx="5123271" cy="4297679"/>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38864" y="1600200"/>
            <a:ext cx="512327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ccount-menu.png"/>
          <p:cNvPicPr>
            <a:picLocks noChangeAspect="1"/>
          </p:cNvPicPr>
          <p:nvPr/>
        </p:nvPicPr>
        <p:blipFill>
          <a:blip r:embed="rId2"/>
          <a:stretch>
            <a:fillRect/>
          </a:stretch>
        </p:blipFill>
        <p:spPr>
          <a:xfrm>
            <a:off x="1548592" y="1709928"/>
            <a:ext cx="4903815" cy="4078223"/>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Usage</a:t>
            </a:r>
          </a:p>
          <a:p>
            <a:pPr algn="l">
              <a:spcAft>
                <a:spcPts val="300"/>
              </a:spcAft>
            </a:pPr>
            <a:r>
              <a:rPr sz="1250" b="0">
                <a:solidFill>
                  <a:srgbClr val="6B6862"/>
                </a:solidFill>
                <a:latin typeface="Calibri"/>
              </a:rPr>
              <a:t>How much of your five-hour and weekly limits you have used.</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View all plans</a:t>
            </a:r>
          </a:p>
          <a:p>
            <a:pPr algn="l">
              <a:spcAft>
                <a:spcPts val="300"/>
              </a:spcAft>
            </a:pPr>
            <a:r>
              <a:rPr sz="1250" b="0">
                <a:solidFill>
                  <a:srgbClr val="6B6862"/>
                </a:solidFill>
                <a:latin typeface="Calibri"/>
              </a:rPr>
              <a:t>Compare Free, Pro, Max, Team and Enterprise, and upgrade.</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Settings</a:t>
            </a:r>
          </a:p>
          <a:p>
            <a:pPr algn="l">
              <a:spcAft>
                <a:spcPts val="300"/>
              </a:spcAft>
            </a:pPr>
            <a:r>
              <a:rPr sz="1250" b="0">
                <a:solidFill>
                  <a:srgbClr val="6B6862"/>
                </a:solidFill>
                <a:latin typeface="Calibri"/>
              </a:rPr>
              <a:t>Your profile, connectors and capabilities. Shortcut: Ctrl + comma.</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Click your name at the bottom of the sidebar — the plan shows beside it (here, Max).</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20</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Claude Models: Haiku, Sonnet, Opus and Fable</a:t>
            </a:r>
          </a:p>
        </p:txBody>
      </p:sp>
      <p:sp>
        <p:nvSpPr>
          <p:cNvPr id="5" name="TextBox 4"/>
          <p:cNvSpPr txBox="1"/>
          <p:nvPr/>
        </p:nvSpPr>
        <p:spPr>
          <a:xfrm>
            <a:off x="548640" y="1691640"/>
            <a:ext cx="11064240" cy="7315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families, smallest to most capable; all read up to 1M tokens. API prices are US$ per million tokens, input · output.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Model</a:t>
            </a:r>
          </a:p>
        </p:txBody>
      </p:sp>
      <p:sp>
        <p:nvSpPr>
          <p:cNvPr id="7" name="TextBox 6"/>
          <p:cNvSpPr txBox="1"/>
          <p:nvPr/>
        </p:nvSpPr>
        <p:spPr>
          <a:xfrm>
            <a:off x="3154680" y="2194560"/>
            <a:ext cx="244381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it is</a:t>
            </a:r>
          </a:p>
        </p:txBody>
      </p:sp>
      <p:sp>
        <p:nvSpPr>
          <p:cNvPr id="8" name="TextBox 7"/>
          <p:cNvSpPr txBox="1"/>
          <p:nvPr/>
        </p:nvSpPr>
        <p:spPr>
          <a:xfrm>
            <a:off x="5827098" y="2194560"/>
            <a:ext cx="283260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Use it for</a:t>
            </a:r>
          </a:p>
        </p:txBody>
      </p:sp>
      <p:sp>
        <p:nvSpPr>
          <p:cNvPr id="9" name="TextBox 8"/>
          <p:cNvSpPr txBox="1"/>
          <p:nvPr/>
        </p:nvSpPr>
        <p:spPr>
          <a:xfrm>
            <a:off x="8888306" y="2194560"/>
            <a:ext cx="77757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API price</a:t>
            </a:r>
          </a:p>
        </p:txBody>
      </p:sp>
      <p:sp>
        <p:nvSpPr>
          <p:cNvPr id="10" name="TextBox 9"/>
          <p:cNvSpPr txBox="1"/>
          <p:nvPr/>
        </p:nvSpPr>
        <p:spPr>
          <a:xfrm>
            <a:off x="9894484" y="2194560"/>
            <a:ext cx="144407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On plans</a:t>
            </a:r>
          </a:p>
        </p:txBody>
      </p:sp>
      <p:sp>
        <p:nvSpPr>
          <p:cNvPr id="11" name="Rectangle 10"/>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65176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Haiku 5.5</a:t>
            </a:r>
          </a:p>
        </p:txBody>
      </p:sp>
      <p:sp>
        <p:nvSpPr>
          <p:cNvPr id="13" name="TextBox 12"/>
          <p:cNvSpPr txBox="1"/>
          <p:nvPr/>
        </p:nvSpPr>
        <p:spPr>
          <a:xfrm>
            <a:off x="3154680" y="265176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Fastest, most cost-efficient</a:t>
            </a:r>
          </a:p>
        </p:txBody>
      </p:sp>
      <p:sp>
        <p:nvSpPr>
          <p:cNvPr id="14" name="TextBox 13"/>
          <p:cNvSpPr txBox="1"/>
          <p:nvPr/>
        </p:nvSpPr>
        <p:spPr>
          <a:xfrm>
            <a:off x="5827098" y="265176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Quick, high-volume jobs: tagging, short replies</a:t>
            </a:r>
          </a:p>
        </p:txBody>
      </p:sp>
      <p:sp>
        <p:nvSpPr>
          <p:cNvPr id="15" name="TextBox 14"/>
          <p:cNvSpPr txBox="1"/>
          <p:nvPr/>
        </p:nvSpPr>
        <p:spPr>
          <a:xfrm>
            <a:off x="8888306" y="265176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$0.10 / $0.50</a:t>
            </a:r>
          </a:p>
        </p:txBody>
      </p:sp>
      <p:sp>
        <p:nvSpPr>
          <p:cNvPr id="16" name="TextBox 15"/>
          <p:cNvSpPr txBox="1"/>
          <p:nvPr/>
        </p:nvSpPr>
        <p:spPr>
          <a:xfrm>
            <a:off x="9894484" y="265176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All plans</a:t>
            </a:r>
          </a:p>
        </p:txBody>
      </p:sp>
      <p:sp>
        <p:nvSpPr>
          <p:cNvPr id="17" name="Rectangle 16"/>
          <p:cNvSpPr/>
          <p:nvPr/>
        </p:nvSpPr>
        <p:spPr>
          <a:xfrm>
            <a:off x="822960" y="339471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39471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Sonnet 5.5</a:t>
            </a:r>
          </a:p>
        </p:txBody>
      </p:sp>
      <p:sp>
        <p:nvSpPr>
          <p:cNvPr id="19" name="TextBox 18"/>
          <p:cNvSpPr txBox="1"/>
          <p:nvPr/>
        </p:nvSpPr>
        <p:spPr>
          <a:xfrm>
            <a:off x="3154680" y="339471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High performance for coding and agents</a:t>
            </a:r>
          </a:p>
        </p:txBody>
      </p:sp>
      <p:sp>
        <p:nvSpPr>
          <p:cNvPr id="20" name="TextBox 19"/>
          <p:cNvSpPr txBox="1"/>
          <p:nvPr/>
        </p:nvSpPr>
        <p:spPr>
          <a:xfrm>
            <a:off x="5827098" y="339471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Everyday drafting, research and analysis</a:t>
            </a:r>
          </a:p>
        </p:txBody>
      </p:sp>
      <p:sp>
        <p:nvSpPr>
          <p:cNvPr id="21" name="TextBox 20"/>
          <p:cNvSpPr txBox="1"/>
          <p:nvPr/>
        </p:nvSpPr>
        <p:spPr>
          <a:xfrm>
            <a:off x="8888306" y="339471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$2 / $10</a:t>
            </a:r>
          </a:p>
        </p:txBody>
      </p:sp>
      <p:sp>
        <p:nvSpPr>
          <p:cNvPr id="22" name="TextBox 21"/>
          <p:cNvSpPr txBox="1"/>
          <p:nvPr/>
        </p:nvSpPr>
        <p:spPr>
          <a:xfrm>
            <a:off x="9894484" y="339471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All plans</a:t>
            </a:r>
          </a:p>
        </p:txBody>
      </p:sp>
      <p:sp>
        <p:nvSpPr>
          <p:cNvPr id="23" name="Rectangle 22"/>
          <p:cNvSpPr/>
          <p:nvPr/>
        </p:nvSpPr>
        <p:spPr>
          <a:xfrm>
            <a:off x="822960" y="413766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13766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Opus 5.5</a:t>
            </a:r>
          </a:p>
        </p:txBody>
      </p:sp>
      <p:sp>
        <p:nvSpPr>
          <p:cNvPr id="25" name="TextBox 24"/>
          <p:cNvSpPr txBox="1"/>
          <p:nvPr/>
        </p:nvSpPr>
        <p:spPr>
          <a:xfrm>
            <a:off x="3154680" y="413766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Daily driver for agentic and enterprise work</a:t>
            </a:r>
          </a:p>
        </p:txBody>
      </p:sp>
      <p:sp>
        <p:nvSpPr>
          <p:cNvPr id="26" name="TextBox 25"/>
          <p:cNvSpPr txBox="1"/>
          <p:nvPr/>
        </p:nvSpPr>
        <p:spPr>
          <a:xfrm>
            <a:off x="5827098" y="413766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Multi-step projects, parallel work, careful reviews</a:t>
            </a:r>
          </a:p>
        </p:txBody>
      </p:sp>
      <p:sp>
        <p:nvSpPr>
          <p:cNvPr id="27" name="TextBox 26"/>
          <p:cNvSpPr txBox="1"/>
          <p:nvPr/>
        </p:nvSpPr>
        <p:spPr>
          <a:xfrm>
            <a:off x="8888306" y="413766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$4 / $20</a:t>
            </a:r>
          </a:p>
        </p:txBody>
      </p:sp>
      <p:sp>
        <p:nvSpPr>
          <p:cNvPr id="28" name="TextBox 27"/>
          <p:cNvSpPr txBox="1"/>
          <p:nvPr/>
        </p:nvSpPr>
        <p:spPr>
          <a:xfrm>
            <a:off x="9894484" y="413766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Pro and above</a:t>
            </a:r>
          </a:p>
        </p:txBody>
      </p:sp>
      <p:sp>
        <p:nvSpPr>
          <p:cNvPr id="29" name="Rectangle 28"/>
          <p:cNvSpPr/>
          <p:nvPr/>
        </p:nvSpPr>
        <p:spPr>
          <a:xfrm>
            <a:off x="822960" y="488061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880610"/>
            <a:ext cx="2103120" cy="742950"/>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Fable 5.1</a:t>
            </a:r>
          </a:p>
        </p:txBody>
      </p:sp>
      <p:sp>
        <p:nvSpPr>
          <p:cNvPr id="31" name="TextBox 30"/>
          <p:cNvSpPr txBox="1"/>
          <p:nvPr/>
        </p:nvSpPr>
        <p:spPr>
          <a:xfrm>
            <a:off x="3154680" y="4880610"/>
            <a:ext cx="244381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Most capable, for long-running agents</a:t>
            </a:r>
          </a:p>
        </p:txBody>
      </p:sp>
      <p:sp>
        <p:nvSpPr>
          <p:cNvPr id="32" name="TextBox 31"/>
          <p:cNvSpPr txBox="1"/>
          <p:nvPr/>
        </p:nvSpPr>
        <p:spPr>
          <a:xfrm>
            <a:off x="5827098" y="4880610"/>
            <a:ext cx="283260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hardest, longest jobs</a:t>
            </a:r>
          </a:p>
        </p:txBody>
      </p:sp>
      <p:sp>
        <p:nvSpPr>
          <p:cNvPr id="33" name="TextBox 32"/>
          <p:cNvSpPr txBox="1"/>
          <p:nvPr/>
        </p:nvSpPr>
        <p:spPr>
          <a:xfrm>
            <a:off x="8888306" y="4880610"/>
            <a:ext cx="777578"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$10 / $50</a:t>
            </a:r>
          </a:p>
        </p:txBody>
      </p:sp>
      <p:sp>
        <p:nvSpPr>
          <p:cNvPr id="34" name="TextBox 33"/>
          <p:cNvSpPr txBox="1"/>
          <p:nvPr/>
        </p:nvSpPr>
        <p:spPr>
          <a:xfrm>
            <a:off x="9894484" y="4880610"/>
            <a:ext cx="1444074" cy="742950"/>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Max; Pro via usage credits</a:t>
            </a:r>
          </a:p>
        </p:txBody>
      </p:sp>
      <p:sp>
        <p:nvSpPr>
          <p:cNvPr id="35" name="Rectangle 34"/>
          <p:cNvSpPr/>
          <p:nvPr/>
        </p:nvSpPr>
        <p:spPr>
          <a:xfrm>
            <a:off x="822960" y="562356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Pick the model from the model menu. Bigger models think harder and use more of your plan — save Fable for the jobs that need it.</a:t>
            </a:r>
          </a:p>
        </p:txBody>
      </p:sp>
      <p:sp>
        <p:nvSpPr>
          <p:cNvPr id="37" name="TextBox 3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8" name="TextBox 3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9" name="TextBox 3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21</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Pick a Model in the App</a:t>
            </a:r>
          </a:p>
        </p:txBody>
      </p:sp>
      <p:sp>
        <p:nvSpPr>
          <p:cNvPr id="5" name="Rectangle 4"/>
          <p:cNvSpPr/>
          <p:nvPr/>
        </p:nvSpPr>
        <p:spPr>
          <a:xfrm>
            <a:off x="548640" y="1811137"/>
            <a:ext cx="6903720" cy="3875805"/>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11137"/>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model-menu.png"/>
          <p:cNvPicPr>
            <a:picLocks noChangeAspect="1"/>
          </p:cNvPicPr>
          <p:nvPr/>
        </p:nvPicPr>
        <p:blipFill>
          <a:blip r:embed="rId2"/>
          <a:stretch>
            <a:fillRect/>
          </a:stretch>
        </p:blipFill>
        <p:spPr>
          <a:xfrm>
            <a:off x="658368" y="1920865"/>
            <a:ext cx="6684264" cy="3656349"/>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Fable 5.1</a:t>
            </a:r>
          </a:p>
          <a:p>
            <a:pPr algn="l">
              <a:spcAft>
                <a:spcPts val="300"/>
              </a:spcAft>
            </a:pPr>
            <a:r>
              <a:rPr sz="1250" b="0">
                <a:solidFill>
                  <a:srgbClr val="6B6862"/>
                </a:solidFill>
                <a:latin typeface="Calibri"/>
              </a:rPr>
              <a:t>For your toughest challenges — uses the most of your plan.</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Opus 5.5</a:t>
            </a:r>
          </a:p>
          <a:p>
            <a:pPr algn="l">
              <a:spcAft>
                <a:spcPts val="300"/>
              </a:spcAft>
            </a:pPr>
            <a:r>
              <a:rPr sz="1250" b="0">
                <a:solidFill>
                  <a:srgbClr val="6B6862"/>
                </a:solidFill>
                <a:latin typeface="Calibri"/>
              </a:rPr>
              <a:t>Complex work and everyday tasks.</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Sonnet 5.5</a:t>
            </a:r>
          </a:p>
          <a:p>
            <a:pPr algn="l">
              <a:spcAft>
                <a:spcPts val="300"/>
              </a:spcAft>
            </a:pPr>
            <a:r>
              <a:rPr sz="1250" b="0">
                <a:solidFill>
                  <a:srgbClr val="6B6862"/>
                </a:solidFill>
                <a:latin typeface="Calibri"/>
              </a:rPr>
              <a:t>Efficient for most jobs — a sensible default.</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Haiku 5.5</a:t>
            </a:r>
          </a:p>
          <a:p>
            <a:pPr algn="l">
              <a:spcAft>
                <a:spcPts val="300"/>
              </a:spcAft>
            </a:pPr>
            <a:r>
              <a:rPr sz="1250" b="0">
                <a:solidFill>
                  <a:srgbClr val="6B6862"/>
                </a:solidFill>
                <a:latin typeface="Calibri"/>
              </a:rPr>
              <a:t>Fastest, for quick answers.</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model menu sits under the message box of every new session.</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22</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Effort: How Hard Claude Thinks</a:t>
            </a:r>
          </a:p>
        </p:txBody>
      </p:sp>
      <p:sp>
        <p:nvSpPr>
          <p:cNvPr id="5" name="Rectangle 4"/>
          <p:cNvSpPr/>
          <p:nvPr/>
        </p:nvSpPr>
        <p:spPr>
          <a:xfrm>
            <a:off x="548640" y="1624329"/>
            <a:ext cx="6903720" cy="4249422"/>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24329"/>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effort-menu.png"/>
          <p:cNvPicPr>
            <a:picLocks noChangeAspect="1"/>
          </p:cNvPicPr>
          <p:nvPr/>
        </p:nvPicPr>
        <p:blipFill>
          <a:blip r:embed="rId2"/>
          <a:stretch>
            <a:fillRect/>
          </a:stretch>
        </p:blipFill>
        <p:spPr>
          <a:xfrm>
            <a:off x="658368" y="1734057"/>
            <a:ext cx="6684264" cy="4029966"/>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Low · Medium</a:t>
            </a:r>
          </a:p>
          <a:p>
            <a:pPr algn="l">
              <a:spcAft>
                <a:spcPts val="300"/>
              </a:spcAft>
            </a:pPr>
            <a:r>
              <a:rPr sz="1250" b="0">
                <a:solidFill>
                  <a:srgbClr val="6B6862"/>
                </a:solidFill>
                <a:latin typeface="Calibri"/>
              </a:rPr>
              <a:t>Quick, everyday work. Medium is the recommended default.</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High · Extra</a:t>
            </a:r>
          </a:p>
          <a:p>
            <a:pPr algn="l">
              <a:spcAft>
                <a:spcPts val="300"/>
              </a:spcAft>
            </a:pPr>
            <a:r>
              <a:rPr sz="1250" b="0">
                <a:solidFill>
                  <a:srgbClr val="6B6862"/>
                </a:solidFill>
                <a:latin typeface="Calibri"/>
              </a:rPr>
              <a:t>Harder problems: more thorough, but slower and uses your limits faster.</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Max</a:t>
            </a:r>
          </a:p>
          <a:p>
            <a:pPr algn="l">
              <a:spcAft>
                <a:spcPts val="300"/>
              </a:spcAft>
            </a:pPr>
            <a:r>
              <a:rPr sz="1250" b="0">
                <a:solidFill>
                  <a:srgbClr val="6B6862"/>
                </a:solidFill>
                <a:latin typeface="Calibri"/>
              </a:rPr>
              <a:t>Five times or more the usage — save it for the hardest job.</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Model menu → Effort. Medium is recommended for most work.</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23</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SETUP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Claude</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Projects, Cowork mode and Live Artefacts run in the Claude desktop app on a paid plan.</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Install the desktop app</a:t>
            </a:r>
          </a:p>
          <a:p>
            <a:pPr algn="l">
              <a:spcAft>
                <a:spcPts val="300"/>
              </a:spcAft>
            </a:pPr>
            <a:r>
              <a:rPr sz="1150" b="0">
                <a:solidFill>
                  <a:srgbClr val="6B6862"/>
                </a:solidFill>
                <a:latin typeface="Calibri"/>
              </a:rPr>
              <a:t>Download Claude for Mac or Windows from claude.ai/download — Projects, Cowork and Live Artefacts all run there.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Sign in on a paid plan</a:t>
            </a:r>
          </a:p>
          <a:p>
            <a:pPr algn="l">
              <a:spcAft>
                <a:spcPts val="300"/>
              </a:spcAft>
            </a:pPr>
            <a:r>
              <a:rPr sz="1150" b="0">
                <a:solidFill>
                  <a:srgbClr val="6B6862"/>
                </a:solidFill>
                <a:latin typeface="Calibri"/>
              </a:rPr>
              <a:t>Use the account that has your Pro or Max subscription — the new Projects are in beta on those plans.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Find Projects</a:t>
            </a:r>
          </a:p>
          <a:p>
            <a:pPr algn="l">
              <a:spcAft>
                <a:spcPts val="300"/>
              </a:spcAft>
            </a:pPr>
            <a:r>
              <a:rPr sz="1150" b="0">
                <a:solidFill>
                  <a:srgbClr val="6B6862"/>
                </a:solidFill>
                <a:latin typeface="Calibri"/>
              </a:rPr>
              <a:t>Open Projects from the sidebar. If you cannot see it yet, the beta has not reached your account — use Cowork mode instead.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Download the lab files</a:t>
            </a:r>
          </a:p>
          <a:p>
            <a:pPr algn="l">
              <a:spcAft>
                <a:spcPts val="300"/>
              </a:spcAft>
            </a:pPr>
            <a:r>
              <a:rPr sz="1150" b="0">
                <a:solidFill>
                  <a:srgbClr val="6B6862"/>
                </a:solidFill>
                <a:latin typeface="Calibri"/>
              </a:rPr>
              <a:t>Get the course labs from the GitHub repository; each lab has a prompt PDF and a data folder.</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Enable what it needs</a:t>
            </a:r>
          </a:p>
          <a:p>
            <a:pPr algn="l">
              <a:spcAft>
                <a:spcPts val="300"/>
              </a:spcAft>
            </a:pPr>
            <a:r>
              <a:rPr sz="1150" b="0">
                <a:solidFill>
                  <a:srgbClr val="6B6862"/>
                </a:solidFill>
                <a:latin typeface="Calibri"/>
              </a:rPr>
              <a:t>Turn on only the connectors a lab needs, from the + menu.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app open</a:t>
            </a:r>
          </a:p>
          <a:p>
            <a:pPr algn="l">
              <a:spcAft>
                <a:spcPts val="300"/>
              </a:spcAft>
            </a:pPr>
            <a:r>
              <a:rPr sz="1150" b="0">
                <a:solidFill>
                  <a:srgbClr val="6B6862"/>
                </a:solidFill>
                <a:latin typeface="Calibri"/>
              </a:rPr>
              <a:t>Local work stops when the app closes. Cloud environments keep going — covered in Topic 3.</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24</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Permission Mode: Manual or Auto</a:t>
            </a:r>
          </a:p>
        </p:txBody>
      </p:sp>
      <p:sp>
        <p:nvSpPr>
          <p:cNvPr id="5" name="Rectangle 4"/>
          <p:cNvSpPr/>
          <p:nvPr/>
        </p:nvSpPr>
        <p:spPr>
          <a:xfrm>
            <a:off x="1206371" y="1600200"/>
            <a:ext cx="5588257"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206371" y="1600200"/>
            <a:ext cx="5588257"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ermission-mode.png"/>
          <p:cNvPicPr>
            <a:picLocks noChangeAspect="1"/>
          </p:cNvPicPr>
          <p:nvPr/>
        </p:nvPicPr>
        <p:blipFill>
          <a:blip r:embed="rId2"/>
          <a:stretch>
            <a:fillRect/>
          </a:stretch>
        </p:blipFill>
        <p:spPr>
          <a:xfrm>
            <a:off x="1316099" y="1709928"/>
            <a:ext cx="5368801"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Manual</a:t>
            </a:r>
          </a:p>
          <a:p>
            <a:pPr algn="l">
              <a:spcAft>
                <a:spcPts val="300"/>
              </a:spcAft>
            </a:pPr>
            <a:r>
              <a:rPr sz="1250" b="0">
                <a:solidFill>
                  <a:srgbClr val="6B6862"/>
                </a:solidFill>
                <a:latin typeface="Calibri"/>
              </a:rPr>
              <a:t>Claude asks before it uses a new tool or opens a new site.</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Auto</a:t>
            </a:r>
          </a:p>
          <a:p>
            <a:pPr algn="l">
              <a:spcAft>
                <a:spcPts val="300"/>
              </a:spcAft>
            </a:pPr>
            <a:r>
              <a:rPr sz="1250" b="0">
                <a:solidFill>
                  <a:srgbClr val="6B6862"/>
                </a:solidFill>
                <a:latin typeface="Calibri"/>
              </a:rPr>
              <a:t>Claude runs on its own and pauses to ask only if something looks unsafe.</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Which to use</a:t>
            </a:r>
          </a:p>
          <a:p>
            <a:pPr algn="l">
              <a:spcAft>
                <a:spcPts val="300"/>
              </a:spcAft>
            </a:pPr>
            <a:r>
              <a:rPr sz="1250" b="0">
                <a:solidFill>
                  <a:srgbClr val="6B6862"/>
                </a:solidFill>
                <a:latin typeface="Calibri"/>
              </a:rPr>
              <a:t>Manual while you learn a new connector; Auto once you trust the job.</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menu beside the model sets how freely Claude acts in a session.</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25</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New Claude Projects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You stop managing chats and start briefing a team.</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Before — one chat per job</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chat for copy, one for visuals, one for competitors.</a:t>
            </a:r>
          </a:p>
          <a:p>
            <a:pPr algn="l">
              <a:spcAft>
                <a:spcPts val="900"/>
              </a:spcAft>
            </a:pPr>
            <a:r>
              <a:rPr sz="1250" b="0">
                <a:solidFill>
                  <a:srgbClr val="21201C"/>
                </a:solidFill>
                <a:latin typeface="Calibri"/>
              </a:rPr>
              <a:t>•  Re-explain the brand in every new chat.</a:t>
            </a:r>
          </a:p>
          <a:p>
            <a:pPr algn="l">
              <a:spcAft>
                <a:spcPts val="900"/>
              </a:spcAft>
            </a:pPr>
            <a:r>
              <a:rPr sz="1250" b="0">
                <a:solidFill>
                  <a:srgbClr val="21201C"/>
                </a:solidFill>
                <a:latin typeface="Calibri"/>
              </a:rPr>
              <a:t>•  Copy and paste results between chats yourself.</a:t>
            </a:r>
          </a:p>
          <a:p>
            <a:pPr algn="l">
              <a:spcAft>
                <a:spcPts val="900"/>
              </a:spcAft>
            </a:pPr>
            <a:r>
              <a:rPr sz="1250" b="0">
                <a:solidFill>
                  <a:srgbClr val="21201C"/>
                </a:solidFill>
                <a:latin typeface="Calibri"/>
              </a:rPr>
              <a:t>•  Nothing happens while your laptop is closed.</a:t>
            </a:r>
          </a:p>
          <a:p>
            <a:pPr algn="l">
              <a:spcAft>
                <a:spcPts val="900"/>
              </a:spcAft>
            </a:pPr>
            <a:r>
              <a:rPr sz="1250" b="0">
                <a:solidFill>
                  <a:srgbClr val="21201C"/>
                </a:solidFill>
                <a:latin typeface="Calibri"/>
              </a:rPr>
              <a:t>•  You are the project manager.</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Now — a Project with a lead agent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state the goal once, to the lead agent.</a:t>
            </a:r>
          </a:p>
          <a:p>
            <a:pPr algn="l">
              <a:spcAft>
                <a:spcPts val="900"/>
              </a:spcAft>
            </a:pPr>
            <a:r>
              <a:rPr sz="1250" b="0">
                <a:solidFill>
                  <a:srgbClr val="21201C"/>
                </a:solidFill>
                <a:latin typeface="Calibri"/>
              </a:rPr>
              <a:t>•  It splits the work and starts parallel threads.</a:t>
            </a:r>
          </a:p>
          <a:p>
            <a:pPr algn="l">
              <a:spcAft>
                <a:spcPts val="900"/>
              </a:spcAft>
            </a:pPr>
            <a:r>
              <a:rPr sz="1250" b="0">
                <a:solidFill>
                  <a:srgbClr val="21201C"/>
                </a:solidFill>
                <a:latin typeface="Calibri"/>
              </a:rPr>
              <a:t>•  Each thread reports back; the lead merges the results.</a:t>
            </a:r>
          </a:p>
          <a:p>
            <a:pPr algn="l">
              <a:spcAft>
                <a:spcPts val="900"/>
              </a:spcAft>
            </a:pPr>
            <a:r>
              <a:rPr sz="1250" b="0">
                <a:solidFill>
                  <a:srgbClr val="21201C"/>
                </a:solidFill>
                <a:latin typeface="Calibri"/>
              </a:rPr>
              <a:t>•  Goal, memory and context persist across every thread.</a:t>
            </a:r>
          </a:p>
          <a:p>
            <a:pPr algn="l">
              <a:spcAft>
                <a:spcPts val="900"/>
              </a:spcAft>
            </a:pPr>
            <a:r>
              <a:rPr sz="1250" b="0">
                <a:solidFill>
                  <a:srgbClr val="21201C"/>
                </a:solidFill>
                <a:latin typeface="Calibri"/>
              </a:rPr>
              <a:t>•  It only comes back to you when it needs a decision.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26</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vs Session</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project is the room; a session is one working day in it.</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session — one piece of work</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One conversation with Claude: a chat, or a thread the lead agent starts.</a:t>
            </a:r>
          </a:p>
          <a:p>
            <a:pPr algn="l">
              <a:spcAft>
                <a:spcPts val="900"/>
              </a:spcAft>
            </a:pPr>
            <a:r>
              <a:rPr sz="1250" b="0">
                <a:solidFill>
                  <a:srgbClr val="21201C"/>
                </a:solidFill>
                <a:latin typeface="Calibri"/>
              </a:rPr>
              <a:t>•  Has its own context window, which fills up as you work.</a:t>
            </a:r>
          </a:p>
          <a:p>
            <a:pPr algn="l">
              <a:spcAft>
                <a:spcPts val="900"/>
              </a:spcAft>
            </a:pPr>
            <a:r>
              <a:rPr sz="1250" b="0">
                <a:solidFill>
                  <a:srgbClr val="21201C"/>
                </a:solidFill>
                <a:latin typeface="Calibri"/>
              </a:rPr>
              <a:t>•  Ends when the job is done; the next session starts blank.</a:t>
            </a:r>
          </a:p>
          <a:p>
            <a:pPr algn="l">
              <a:spcAft>
                <a:spcPts val="900"/>
              </a:spcAft>
            </a:pPr>
            <a:r>
              <a:rPr sz="1250" b="0">
                <a:solidFill>
                  <a:srgbClr val="21201C"/>
                </a:solidFill>
                <a:latin typeface="Calibri"/>
              </a:rPr>
              <a:t>•  Remembers only what was said inside it.</a:t>
            </a:r>
          </a:p>
          <a:p>
            <a:pPr algn="l">
              <a:spcAft>
                <a:spcPts val="900"/>
              </a:spcAft>
            </a:pPr>
            <a:r>
              <a:rPr sz="1250" b="0">
                <a:solidFill>
                  <a:srgbClr val="21201C"/>
                </a:solidFill>
                <a:latin typeface="Calibri"/>
              </a:rPr>
              <a:t>•  Lumo: “Draft the Instagram launch post.”</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project — the whole goal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lasting workspace that holds many sessions.</a:t>
            </a:r>
          </a:p>
          <a:p>
            <a:pPr algn="l">
              <a:spcAft>
                <a:spcPts val="900"/>
              </a:spcAft>
            </a:pPr>
            <a:r>
              <a:rPr sz="1250" b="0">
                <a:solidFill>
                  <a:srgbClr val="21201C"/>
                </a:solidFill>
                <a:latin typeface="Calibri"/>
              </a:rPr>
              <a:t>•  Its goal, instructions, context and memory load into every session.</a:t>
            </a:r>
          </a:p>
          <a:p>
            <a:pPr algn="l">
              <a:spcAft>
                <a:spcPts val="900"/>
              </a:spcAft>
            </a:pPr>
            <a:r>
              <a:rPr sz="1250" b="0">
                <a:solidFill>
                  <a:srgbClr val="21201C"/>
                </a:solidFill>
                <a:latin typeface="Calibri"/>
              </a:rPr>
              <a:t>•  Stays until you delete it — for weeks or months.</a:t>
            </a:r>
          </a:p>
          <a:p>
            <a:pPr algn="l">
              <a:spcAft>
                <a:spcPts val="900"/>
              </a:spcAft>
            </a:pPr>
            <a:r>
              <a:rPr sz="1250" b="0">
                <a:solidFill>
                  <a:srgbClr val="21201C"/>
                </a:solidFill>
                <a:latin typeface="Calibri"/>
              </a:rPr>
              <a:t>•  What one session learns, the next can use, through memory.</a:t>
            </a:r>
          </a:p>
          <a:p>
            <a:pPr algn="l">
              <a:spcAft>
                <a:spcPts val="900"/>
              </a:spcAft>
            </a:pPr>
            <a:r>
              <a:rPr sz="1250" b="0">
                <a:solidFill>
                  <a:srgbClr val="21201C"/>
                </a:solidFill>
                <a:latin typeface="Calibri"/>
              </a:rPr>
              <a:t>•  Lumo: “Lumo Cold Kopi Launch.”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27</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Session, Thread and Agent</a:t>
            </a:r>
          </a:p>
        </p:txBody>
      </p:sp>
      <p:sp>
        <p:nvSpPr>
          <p:cNvPr id="5" name="Rectangle 4"/>
          <p:cNvSpPr/>
          <p:nvPr/>
        </p:nvSpPr>
        <p:spPr>
          <a:xfrm>
            <a:off x="548640" y="2057400"/>
            <a:ext cx="11091672"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31436"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31436"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Rectangle 7"/>
          <p:cNvSpPr/>
          <p:nvPr/>
        </p:nvSpPr>
        <p:spPr>
          <a:xfrm>
            <a:off x="914400" y="2560320"/>
            <a:ext cx="2103120" cy="914400"/>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078992" y="2386584"/>
            <a:ext cx="57150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8992" y="2386584"/>
            <a:ext cx="57150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You</a:t>
            </a:r>
          </a:p>
        </p:txBody>
      </p:sp>
      <p:sp>
        <p:nvSpPr>
          <p:cNvPr id="11" name="TextBox 10"/>
          <p:cNvSpPr txBox="1"/>
          <p:nvPr/>
        </p:nvSpPr>
        <p:spPr>
          <a:xfrm>
            <a:off x="1024128" y="2706624"/>
            <a:ext cx="1883664"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Brief the goal;</a:t>
            </a:r>
          </a:p>
          <a:p>
            <a:pPr algn="ctr">
              <a:spcAft>
                <a:spcPts val="100"/>
              </a:spcAft>
            </a:pPr>
            <a:r>
              <a:rPr sz="1150" b="0">
                <a:solidFill>
                  <a:srgbClr val="21201C"/>
                </a:solidFill>
                <a:latin typeface="Courier New"/>
              </a:rPr>
              <a:t>approve decisions</a:t>
            </a:r>
          </a:p>
        </p:txBody>
      </p:sp>
      <p:sp>
        <p:nvSpPr>
          <p:cNvPr id="12" name="TextBox 11"/>
          <p:cNvSpPr txBox="1"/>
          <p:nvPr/>
        </p:nvSpPr>
        <p:spPr>
          <a:xfrm>
            <a:off x="3017520" y="2834640"/>
            <a:ext cx="548640" cy="365760"/>
          </a:xfrm>
          <a:prstGeom prst="rect">
            <a:avLst/>
          </a:prstGeom>
          <a:noFill/>
        </p:spPr>
        <p:txBody>
          <a:bodyPr wrap="square" anchor="ctr" lIns="0" rIns="0" tIns="0" bIns="0">
            <a:spAutoFit/>
          </a:bodyPr>
          <a:lstStyle/>
          <a:p>
            <a:pPr algn="ctr">
              <a:spcAft>
                <a:spcPts val="400"/>
              </a:spcAft>
            </a:pPr>
            <a:r>
              <a:rPr sz="1200" b="1">
                <a:solidFill>
                  <a:srgbClr val="D97757"/>
                </a:solidFill>
                <a:latin typeface="Calibri"/>
              </a:rPr>
              <a:t>◀ ▶</a:t>
            </a:r>
          </a:p>
        </p:txBody>
      </p:sp>
      <p:sp>
        <p:nvSpPr>
          <p:cNvPr id="13" name="Rectangle 12"/>
          <p:cNvSpPr/>
          <p:nvPr/>
        </p:nvSpPr>
        <p:spPr>
          <a:xfrm>
            <a:off x="3566160" y="2560320"/>
            <a:ext cx="3291840" cy="914400"/>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730752" y="2386584"/>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30752" y="2386584"/>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Lead agent</a:t>
            </a:r>
          </a:p>
        </p:txBody>
      </p:sp>
      <p:sp>
        <p:nvSpPr>
          <p:cNvPr id="16" name="TextBox 15"/>
          <p:cNvSpPr txBox="1"/>
          <p:nvPr/>
        </p:nvSpPr>
        <p:spPr>
          <a:xfrm>
            <a:off x="3675888" y="2706624"/>
            <a:ext cx="3072384"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Your session: it plans,</a:t>
            </a:r>
          </a:p>
          <a:p>
            <a:pPr algn="ctr">
              <a:spcAft>
                <a:spcPts val="100"/>
              </a:spcAft>
            </a:pPr>
            <a:r>
              <a:rPr sz="1150" b="0">
                <a:solidFill>
                  <a:srgbClr val="21201C"/>
                </a:solidFill>
                <a:latin typeface="Courier New"/>
              </a:rPr>
              <a:t>splits and merges</a:t>
            </a:r>
          </a:p>
        </p:txBody>
      </p:sp>
      <p:sp>
        <p:nvSpPr>
          <p:cNvPr id="17" name="Rectangle 16"/>
          <p:cNvSpPr/>
          <p:nvPr/>
        </p:nvSpPr>
        <p:spPr>
          <a:xfrm>
            <a:off x="7223760" y="2560320"/>
            <a:ext cx="4050792" cy="914400"/>
          </a:xfrm>
          <a:prstGeom prst="rect">
            <a:avLst/>
          </a:prstGeom>
          <a:solidFill>
            <a:srgbClr val="D6E6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88352" y="2386584"/>
            <a:ext cx="57150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88352" y="2386584"/>
            <a:ext cx="57150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Key</a:t>
            </a:r>
          </a:p>
        </p:txBody>
      </p:sp>
      <p:sp>
        <p:nvSpPr>
          <p:cNvPr id="20" name="TextBox 19"/>
          <p:cNvSpPr txBox="1"/>
          <p:nvPr/>
        </p:nvSpPr>
        <p:spPr>
          <a:xfrm>
            <a:off x="7333488" y="2706624"/>
            <a:ext cx="3831336" cy="69494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Session = one conversation</a:t>
            </a:r>
          </a:p>
          <a:p>
            <a:pPr algn="ctr">
              <a:spcAft>
                <a:spcPts val="100"/>
              </a:spcAft>
            </a:pPr>
            <a:r>
              <a:rPr sz="1150" b="0">
                <a:solidFill>
                  <a:srgbClr val="21201C"/>
                </a:solidFill>
                <a:latin typeface="Courier New"/>
              </a:rPr>
              <a:t>Thread = a session for one job</a:t>
            </a:r>
          </a:p>
          <a:p>
            <a:pPr algn="ctr">
              <a:spcAft>
                <a:spcPts val="100"/>
              </a:spcAft>
            </a:pPr>
            <a:r>
              <a:rPr sz="1150" b="0">
                <a:solidFill>
                  <a:srgbClr val="21201C"/>
                </a:solidFill>
                <a:latin typeface="Courier New"/>
              </a:rPr>
              <a:t>Agent = the Claude doing it</a:t>
            </a:r>
          </a:p>
        </p:txBody>
      </p:sp>
      <p:sp>
        <p:nvSpPr>
          <p:cNvPr id="21" name="Rectangle 20"/>
          <p:cNvSpPr/>
          <p:nvPr/>
        </p:nvSpPr>
        <p:spPr>
          <a:xfrm>
            <a:off x="5200650" y="3474720"/>
            <a:ext cx="22860" cy="20116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106549" y="3675887"/>
            <a:ext cx="7975854" cy="2286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095119"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78992"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78992"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1</a:t>
            </a:r>
          </a:p>
        </p:txBody>
      </p:sp>
      <p:sp>
        <p:nvSpPr>
          <p:cNvPr id="27" name="TextBox 26"/>
          <p:cNvSpPr txBox="1"/>
          <p:nvPr/>
        </p:nvSpPr>
        <p:spPr>
          <a:xfrm>
            <a:off x="1024128"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Competitors</a:t>
            </a:r>
          </a:p>
          <a:p>
            <a:pPr algn="ctr">
              <a:spcAft>
                <a:spcPts val="100"/>
              </a:spcAft>
            </a:pPr>
            <a:r>
              <a:rPr sz="1150" b="0">
                <a:solidFill>
                  <a:srgbClr val="21201C"/>
                </a:solidFill>
                <a:latin typeface="Courier New"/>
              </a:rPr>
              <a:t>agent · own session</a:t>
            </a:r>
          </a:p>
        </p:txBody>
      </p:sp>
      <p:sp>
        <p:nvSpPr>
          <p:cNvPr id="28" name="Rectangle 27"/>
          <p:cNvSpPr/>
          <p:nvPr/>
        </p:nvSpPr>
        <p:spPr>
          <a:xfrm>
            <a:off x="4753737"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573018"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737610"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37610"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2</a:t>
            </a:r>
          </a:p>
        </p:txBody>
      </p:sp>
      <p:sp>
        <p:nvSpPr>
          <p:cNvPr id="32" name="TextBox 31"/>
          <p:cNvSpPr txBox="1"/>
          <p:nvPr/>
        </p:nvSpPr>
        <p:spPr>
          <a:xfrm>
            <a:off x="3682746"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Customer survey</a:t>
            </a:r>
          </a:p>
          <a:p>
            <a:pPr algn="ctr">
              <a:spcAft>
                <a:spcPts val="100"/>
              </a:spcAft>
            </a:pPr>
            <a:r>
              <a:rPr sz="1150" b="0">
                <a:solidFill>
                  <a:srgbClr val="21201C"/>
                </a:solidFill>
                <a:latin typeface="Courier New"/>
              </a:rPr>
              <a:t>agent · own session</a:t>
            </a:r>
          </a:p>
        </p:txBody>
      </p:sp>
      <p:sp>
        <p:nvSpPr>
          <p:cNvPr id="33" name="Rectangle 32"/>
          <p:cNvSpPr/>
          <p:nvPr/>
        </p:nvSpPr>
        <p:spPr>
          <a:xfrm>
            <a:off x="7412355"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31636"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96228"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96228"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3</a:t>
            </a:r>
          </a:p>
        </p:txBody>
      </p:sp>
      <p:sp>
        <p:nvSpPr>
          <p:cNvPr id="37" name="TextBox 36"/>
          <p:cNvSpPr txBox="1"/>
          <p:nvPr/>
        </p:nvSpPr>
        <p:spPr>
          <a:xfrm>
            <a:off x="6341364"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Pricing</a:t>
            </a:r>
          </a:p>
          <a:p>
            <a:pPr algn="ctr">
              <a:spcAft>
                <a:spcPts val="100"/>
              </a:spcAft>
            </a:pPr>
            <a:r>
              <a:rPr sz="1150" b="0">
                <a:solidFill>
                  <a:srgbClr val="21201C"/>
                </a:solidFill>
                <a:latin typeface="Courier New"/>
              </a:rPr>
              <a:t>agent · own session</a:t>
            </a:r>
          </a:p>
        </p:txBody>
      </p:sp>
      <p:sp>
        <p:nvSpPr>
          <p:cNvPr id="38" name="Rectangle 37"/>
          <p:cNvSpPr/>
          <p:nvPr/>
        </p:nvSpPr>
        <p:spPr>
          <a:xfrm>
            <a:off x="10070973" y="3675887"/>
            <a:ext cx="22860" cy="173737"/>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890254" y="4023360"/>
            <a:ext cx="2384298" cy="868680"/>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54846" y="384962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54846" y="384962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4</a:t>
            </a:r>
          </a:p>
        </p:txBody>
      </p:sp>
      <p:sp>
        <p:nvSpPr>
          <p:cNvPr id="42" name="TextBox 41"/>
          <p:cNvSpPr txBox="1"/>
          <p:nvPr/>
        </p:nvSpPr>
        <p:spPr>
          <a:xfrm>
            <a:off x="8999982" y="4169664"/>
            <a:ext cx="2164842" cy="649224"/>
          </a:xfrm>
          <a:prstGeom prst="rect">
            <a:avLst/>
          </a:prstGeom>
          <a:noFill/>
        </p:spPr>
        <p:txBody>
          <a:bodyPr wrap="square" anchor="ctr" lIns="0" rIns="0" tIns="0" bIns="0">
            <a:spAutoFit/>
          </a:bodyPr>
          <a:lstStyle/>
          <a:p>
            <a:pPr algn="ctr">
              <a:spcAft>
                <a:spcPts val="100"/>
              </a:spcAft>
            </a:pPr>
            <a:r>
              <a:rPr sz="1150" b="0">
                <a:solidFill>
                  <a:srgbClr val="21201C"/>
                </a:solidFill>
                <a:latin typeface="Courier New"/>
              </a:rPr>
              <a:t>Social trends</a:t>
            </a:r>
          </a:p>
          <a:p>
            <a:pPr algn="ctr">
              <a:spcAft>
                <a:spcPts val="100"/>
              </a:spcAft>
            </a:pPr>
            <a:r>
              <a:rPr sz="1150" b="0">
                <a:solidFill>
                  <a:srgbClr val="21201C"/>
                </a:solidFill>
                <a:latin typeface="Courier New"/>
              </a:rPr>
              <a:t>agent · own session</a:t>
            </a:r>
          </a:p>
        </p:txBody>
      </p:sp>
      <p:sp>
        <p:nvSpPr>
          <p:cNvPr id="43" name="Rectangle 42"/>
          <p:cNvSpPr/>
          <p:nvPr/>
        </p:nvSpPr>
        <p:spPr>
          <a:xfrm>
            <a:off x="914400" y="5074920"/>
            <a:ext cx="10360152" cy="411480"/>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14400" y="5074920"/>
            <a:ext cx="10360152" cy="411480"/>
          </a:xfrm>
          <a:prstGeom prst="rect">
            <a:avLst/>
          </a:prstGeom>
          <a:noFill/>
        </p:spPr>
        <p:txBody>
          <a:bodyPr wrap="square" anchor="ctr" lIns="0" rIns="0" tIns="0" bIns="0">
            <a:spAutoFit/>
          </a:bodyPr>
          <a:lstStyle/>
          <a:p>
            <a:pPr algn="ctr">
              <a:spcAft>
                <a:spcPts val="400"/>
              </a:spcAft>
            </a:pPr>
            <a:r>
              <a:rPr sz="1200" b="1">
                <a:solidFill>
                  <a:srgbClr val="21201C"/>
                </a:solidFill>
                <a:latin typeface="Courier New"/>
              </a:rPr>
              <a:t>Shared by every session: goal · instructions · context · memory</a:t>
            </a:r>
          </a:p>
        </p:txBody>
      </p:sp>
      <p:sp>
        <p:nvSpPr>
          <p:cNvPr id="45" name="TextBox 44"/>
          <p:cNvSpPr txBox="1"/>
          <p:nvPr/>
        </p:nvSpPr>
        <p:spPr>
          <a:xfrm>
            <a:off x="548640" y="58338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Each thread has its own agent and context window. The lead agent merges what they return into one answer for you.</a:t>
            </a:r>
          </a:p>
        </p:txBody>
      </p:sp>
      <p:sp>
        <p:nvSpPr>
          <p:cNvPr id="46" name="TextBox 4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7" name="TextBox 4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8" name="TextBox 4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28</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LEAD AGENT AND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Project Is a Team</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Claude Project</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One goal, one lead agent, many threads</a:t>
            </a:r>
          </a:p>
        </p:txBody>
      </p:sp>
      <p:sp>
        <p:nvSpPr>
          <p:cNvPr id="9" name="Rectangle 8"/>
          <p:cNvSpPr/>
          <p:nvPr/>
        </p:nvSpPr>
        <p:spPr>
          <a:xfrm>
            <a:off x="1417320" y="2926080"/>
            <a:ext cx="2926080" cy="996696"/>
          </a:xfrm>
          <a:prstGeom prst="rect">
            <a:avLst/>
          </a:prstGeom>
          <a:solidFill>
            <a:srgbClr val="F7DAC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130759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130759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Lead agent</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Plans, splits</a:t>
            </a:r>
          </a:p>
          <a:p>
            <a:pPr algn="ctr">
              <a:spcAft>
                <a:spcPts val="200"/>
              </a:spcAft>
            </a:pPr>
            <a:r>
              <a:rPr sz="1200" b="0">
                <a:solidFill>
                  <a:srgbClr val="21201C"/>
                </a:solidFill>
                <a:latin typeface="Courier New"/>
              </a:rPr>
              <a:t>and merges</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1</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Competitors</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2</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Customer</a:t>
            </a:r>
          </a:p>
          <a:p>
            <a:pPr algn="ctr">
              <a:spcAft>
                <a:spcPts val="200"/>
              </a:spcAft>
            </a:pPr>
            <a:r>
              <a:rPr sz="1200" b="0">
                <a:solidFill>
                  <a:srgbClr val="21201C"/>
                </a:solidFill>
                <a:latin typeface="Courier New"/>
              </a:rPr>
              <a:t>survey</a:t>
            </a:r>
          </a:p>
        </p:txBody>
      </p:sp>
      <p:sp>
        <p:nvSpPr>
          <p:cNvPr id="21" name="Rectangle 20"/>
          <p:cNvSpPr/>
          <p:nvPr/>
        </p:nvSpPr>
        <p:spPr>
          <a:xfrm>
            <a:off x="14173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3</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Pricing</a:t>
            </a:r>
          </a:p>
        </p:txBody>
      </p:sp>
      <p:sp>
        <p:nvSpPr>
          <p:cNvPr id="25" name="Rectangle 24"/>
          <p:cNvSpPr/>
          <p:nvPr/>
        </p:nvSpPr>
        <p:spPr>
          <a:xfrm>
            <a:off x="4617720" y="4398264"/>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Thread 4</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Social</a:t>
            </a:r>
          </a:p>
          <a:p>
            <a:pPr algn="ctr">
              <a:spcAft>
                <a:spcPts val="200"/>
              </a:spcAft>
            </a:pPr>
            <a:r>
              <a:rPr sz="1200" b="0">
                <a:solidFill>
                  <a:srgbClr val="21201C"/>
                </a:solidFill>
                <a:latin typeface="Courier New"/>
              </a:rPr>
              <a:t>trends</a:t>
            </a:r>
          </a:p>
        </p:txBody>
      </p:sp>
      <p:sp>
        <p:nvSpPr>
          <p:cNvPr id="29" name="Rectangle 28"/>
          <p:cNvSpPr/>
          <p:nvPr/>
        </p:nvSpPr>
        <p:spPr>
          <a:xfrm>
            <a:off x="78181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Memory</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Shared by</a:t>
            </a:r>
          </a:p>
          <a:p>
            <a:pPr algn="ctr">
              <a:spcAft>
                <a:spcPts val="200"/>
              </a:spcAft>
            </a:pPr>
            <a:r>
              <a:rPr sz="1200" b="0">
                <a:solidFill>
                  <a:srgbClr val="21201C"/>
                </a:solidFill>
                <a:latin typeface="Courier New"/>
              </a:rPr>
              <a:t>every thread</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talk to the lead agent. It decides how many threads a job needs, gives each a focused brief, and brings one merged answer back to you.</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29</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Project Answers Four Questions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Set these up once and every session in the project starts from them.</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How Claude must work: brand voice, prices in S$, ask before sending — rules every session follows.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What Claude needs to know: brand guidelines, product sheet, launch brief — read, never edited.</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Where Claude works and saves: the project files on your computer, or a cloud environment.</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When work runs without you: Monday 9am the week's post drafts, Friday the weekly report.</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goal says WHY; memory keeps what each session learns for the next.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30</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Project Page in the App</a:t>
            </a:r>
          </a:p>
        </p:txBody>
      </p:sp>
      <p:sp>
        <p:nvSpPr>
          <p:cNvPr id="5" name="Rectangle 4"/>
          <p:cNvSpPr/>
          <p:nvPr/>
        </p:nvSpPr>
        <p:spPr>
          <a:xfrm>
            <a:off x="2951468" y="1600200"/>
            <a:ext cx="6258584"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951468" y="1600200"/>
            <a:ext cx="625858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dd-folder.png"/>
          <p:cNvPicPr>
            <a:picLocks noChangeAspect="1"/>
          </p:cNvPicPr>
          <p:nvPr/>
        </p:nvPicPr>
        <p:blipFill>
          <a:blip r:embed="rId2"/>
          <a:stretch>
            <a:fillRect/>
          </a:stretch>
        </p:blipFill>
        <p:spPr>
          <a:xfrm>
            <a:off x="3061196" y="1709928"/>
            <a:ext cx="6039128"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Instructions · Context</a:t>
            </a:r>
          </a:p>
          <a:p>
            <a:pPr algn="l">
              <a:spcAft>
                <a:spcPts val="300"/>
              </a:spcAft>
            </a:pPr>
            <a:r>
              <a:rPr sz="1250" b="0">
                <a:solidFill>
                  <a:srgbClr val="6B6862"/>
                </a:solidFill>
                <a:latin typeface="Calibri"/>
              </a:rPr>
              <a:t>HOW and WHAT — click Add to write the rules or attach reference files.</a:t>
            </a:r>
          </a:p>
        </p:txBody>
      </p:sp>
      <p:sp>
        <p:nvSpPr>
          <p:cNvPr id="11" name="Oval 10"/>
          <p:cNvSpPr/>
          <p:nvPr/>
        </p:nvSpPr>
        <p:spPr>
          <a:xfrm>
            <a:off x="33832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384048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Add folder</a:t>
            </a:r>
          </a:p>
          <a:p>
            <a:pPr algn="l">
              <a:spcAft>
                <a:spcPts val="300"/>
              </a:spcAft>
            </a:pPr>
            <a:r>
              <a:rPr sz="1250" b="0">
                <a:solidFill>
                  <a:srgbClr val="6B6862"/>
                </a:solidFill>
                <a:latin typeface="Calibri"/>
              </a:rPr>
              <a:t>WHERE — under the message box, pick the folder Claude reads from and saves to.</a:t>
            </a:r>
          </a:p>
        </p:txBody>
      </p:sp>
      <p:sp>
        <p:nvSpPr>
          <p:cNvPr id="14" name="Oval 13"/>
          <p:cNvSpPr/>
          <p:nvPr/>
        </p:nvSpPr>
        <p:spPr>
          <a:xfrm>
            <a:off x="621792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667512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Memory · Scheduled</a:t>
            </a:r>
          </a:p>
          <a:p>
            <a:pPr algn="l">
              <a:spcAft>
                <a:spcPts val="300"/>
              </a:spcAft>
            </a:pPr>
            <a:r>
              <a:rPr sz="1250" b="0">
                <a:solidFill>
                  <a:srgbClr val="6B6862"/>
                </a:solidFill>
                <a:latin typeface="Calibri"/>
              </a:rPr>
              <a:t>What Claude has learned about the project, and WHEN tasks run on their own.</a:t>
            </a:r>
          </a:p>
        </p:txBody>
      </p:sp>
      <p:sp>
        <p:nvSpPr>
          <p:cNvPr id="17" name="Oval 16"/>
          <p:cNvSpPr/>
          <p:nvPr/>
        </p:nvSpPr>
        <p:spPr>
          <a:xfrm>
            <a:off x="90525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525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9509760" y="4544568"/>
            <a:ext cx="210312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New session</a:t>
            </a:r>
          </a:p>
          <a:p>
            <a:pPr algn="l">
              <a:spcAft>
                <a:spcPts val="300"/>
              </a:spcAft>
            </a:pPr>
            <a:r>
              <a:rPr sz="1250" b="0">
                <a:solidFill>
                  <a:srgbClr val="6B6862"/>
                </a:solidFill>
                <a:latin typeface="Calibri"/>
              </a:rPr>
              <a:t>Type in the box to start a session; earlier sessions are listed beneath it.</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project from the class: the goal under its name, the project's panels on the right.</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31</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 Menu: What a Session Can Use</a:t>
            </a:r>
          </a:p>
        </p:txBody>
      </p:sp>
      <p:sp>
        <p:nvSpPr>
          <p:cNvPr id="5" name="Rectangle 4"/>
          <p:cNvSpPr/>
          <p:nvPr/>
        </p:nvSpPr>
        <p:spPr>
          <a:xfrm>
            <a:off x="548640" y="1855436"/>
            <a:ext cx="6903720" cy="3787208"/>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55436"/>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lus-menu.png"/>
          <p:cNvPicPr>
            <a:picLocks noChangeAspect="1"/>
          </p:cNvPicPr>
          <p:nvPr/>
        </p:nvPicPr>
        <p:blipFill>
          <a:blip r:embed="rId2"/>
          <a:stretch>
            <a:fillRect/>
          </a:stretch>
        </p:blipFill>
        <p:spPr>
          <a:xfrm>
            <a:off x="658368" y="1965164"/>
            <a:ext cx="6684264" cy="3567752"/>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Files and folders</a:t>
            </a:r>
          </a:p>
          <a:p>
            <a:pPr algn="l">
              <a:spcAft>
                <a:spcPts val="300"/>
              </a:spcAft>
            </a:pPr>
            <a:r>
              <a:rPr sz="1250" b="0">
                <a:solidFill>
                  <a:srgbClr val="6B6862"/>
                </a:solidFill>
                <a:latin typeface="Calibri"/>
              </a:rPr>
              <a:t>Upload a file, or add a folder, for this session.</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Skills · Connectors · Plugins</a:t>
            </a:r>
          </a:p>
          <a:p>
            <a:pPr algn="l">
              <a:spcAft>
                <a:spcPts val="300"/>
              </a:spcAft>
            </a:pPr>
            <a:r>
              <a:rPr sz="1250" b="0">
                <a:solidFill>
                  <a:srgbClr val="6B6862"/>
                </a:solidFill>
                <a:latin typeface="Calibri"/>
              </a:rPr>
              <a:t>Choose what the session may use — the brand-voice skill, Gmail, a plugin.</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Record a skill</a:t>
            </a:r>
          </a:p>
          <a:p>
            <a:pPr algn="l">
              <a:spcAft>
                <a:spcPts val="300"/>
              </a:spcAft>
            </a:pPr>
            <a:r>
              <a:rPr sz="1250" b="0">
                <a:solidFill>
                  <a:srgbClr val="6B6862"/>
                </a:solidFill>
                <a:latin typeface="Calibri"/>
              </a:rPr>
              <a:t>Capture a routine you show Claude as a new skill.</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Research · Memory</a:t>
            </a:r>
          </a:p>
          <a:p>
            <a:pPr algn="l">
              <a:spcAft>
                <a:spcPts val="300"/>
              </a:spcAft>
            </a:pPr>
            <a:r>
              <a:rPr sz="1250" b="0">
                <a:solidFill>
                  <a:srgbClr val="6B6862"/>
                </a:solidFill>
                <a:latin typeface="Calibri"/>
              </a:rPr>
              <a:t>Deeper web research; the tick shows the session uses project memory.</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Click + in the message box to bring files and tools into the session.</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32</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When to Use a Project</a:t>
            </a:r>
          </a:p>
        </p:txBody>
      </p:sp>
      <p:sp>
        <p:nvSpPr>
          <p:cNvPr id="5" name="Rectangle 4"/>
          <p:cNvSpPr/>
          <p:nvPr/>
        </p:nvSpPr>
        <p:spPr>
          <a:xfrm>
            <a:off x="548640"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long-running goal</a:t>
            </a:r>
          </a:p>
          <a:p>
            <a:pPr algn="l">
              <a:spcAft>
                <a:spcPts val="300"/>
              </a:spcAft>
            </a:pPr>
            <a:r>
              <a:rPr sz="1150" b="0">
                <a:solidFill>
                  <a:srgbClr val="6B6862"/>
                </a:solidFill>
                <a:latin typeface="Calibri"/>
              </a:rPr>
              <a:t>Work keeps arriving for weeks — a product launch, a channel, an app.</a:t>
            </a:r>
          </a:p>
        </p:txBody>
      </p:sp>
      <p:sp>
        <p:nvSpPr>
          <p:cNvPr id="10" name="Rectangle 9"/>
          <p:cNvSpPr/>
          <p:nvPr/>
        </p:nvSpPr>
        <p:spPr>
          <a:xfrm>
            <a:off x="6163056" y="178308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50545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50545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job that splits</a:t>
            </a:r>
          </a:p>
          <a:p>
            <a:pPr algn="l">
              <a:spcAft>
                <a:spcPts val="300"/>
              </a:spcAft>
            </a:pPr>
            <a:r>
              <a:rPr sz="1150" b="0">
                <a:solidFill>
                  <a:srgbClr val="6B6862"/>
                </a:solidFill>
                <a:latin typeface="Calibri"/>
              </a:rPr>
              <a:t>One big job breaks into pieces that can run at once — assets, ads, competitors, email.</a:t>
            </a:r>
          </a:p>
        </p:txBody>
      </p:sp>
      <p:sp>
        <p:nvSpPr>
          <p:cNvPr id="15" name="Rectangle 14"/>
          <p:cNvSpPr/>
          <p:nvPr/>
        </p:nvSpPr>
        <p:spPr>
          <a:xfrm>
            <a:off x="548640"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Lots of research</a:t>
            </a:r>
          </a:p>
          <a:p>
            <a:pPr algn="l">
              <a:spcAft>
                <a:spcPts val="300"/>
              </a:spcAft>
            </a:pPr>
            <a:r>
              <a:rPr sz="1150" b="0">
                <a:solidFill>
                  <a:srgbClr val="6B6862"/>
                </a:solidFill>
                <a:latin typeface="Calibri"/>
              </a:rPr>
              <a:t>Many subjects to look into — one thread per competitor, market or segment.</a:t>
            </a:r>
          </a:p>
        </p:txBody>
      </p:sp>
      <p:sp>
        <p:nvSpPr>
          <p:cNvPr id="20" name="Rectangle 19"/>
          <p:cNvSpPr/>
          <p:nvPr/>
        </p:nvSpPr>
        <p:spPr>
          <a:xfrm>
            <a:off x="6163056" y="373989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73989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44622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4622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84962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Regular check-ins</a:t>
            </a:r>
          </a:p>
          <a:p>
            <a:pPr algn="l">
              <a:spcAft>
                <a:spcPts val="300"/>
              </a:spcAft>
            </a:pPr>
            <a:r>
              <a:rPr sz="1150" b="0">
                <a:solidFill>
                  <a:srgbClr val="6B6862"/>
                </a:solidFill>
                <a:latin typeface="Calibri"/>
              </a:rPr>
              <a:t>You want to review each workstream's progress, not one long chat.</a:t>
            </a:r>
          </a:p>
        </p:txBody>
      </p:sp>
      <p:sp>
        <p:nvSpPr>
          <p:cNvPr id="25" name="TextBox 24"/>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one-off question that is done in one reply? Use an ordinary chat.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33</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Six parts — the first four you set up in Lab 1, the last two run the work.</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What the project must achieve. The lead agent steers every decision toward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a:t>
            </a:r>
          </a:p>
          <a:p>
            <a:pPr algn="l">
              <a:spcAft>
                <a:spcPts val="300"/>
              </a:spcAft>
            </a:pPr>
            <a:r>
              <a:rPr sz="1150" b="0">
                <a:solidFill>
                  <a:srgbClr val="6B6862"/>
                </a:solidFill>
                <a:latin typeface="Calibri"/>
              </a:rPr>
              <a:t>Standing rules you write: brand voice, currency, never publish without approval.</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a:t>
            </a:r>
          </a:p>
          <a:p>
            <a:pPr algn="l">
              <a:spcAft>
                <a:spcPts val="300"/>
              </a:spcAft>
            </a:pPr>
            <a:r>
              <a:rPr sz="1150" b="0">
                <a:solidFill>
                  <a:srgbClr val="6B6862"/>
                </a:solidFill>
                <a:latin typeface="Calibri"/>
              </a:rPr>
              <a:t>What Claude reads: files, folders, a Google Drive folder or a GitHub repository.</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Memory</a:t>
            </a:r>
          </a:p>
          <a:p>
            <a:pPr algn="l">
              <a:spcAft>
                <a:spcPts val="300"/>
              </a:spcAft>
            </a:pPr>
            <a:r>
              <a:rPr sz="1150" b="0">
                <a:solidFill>
                  <a:srgbClr val="6B6862"/>
                </a:solidFill>
                <a:latin typeface="Calibri"/>
              </a:rPr>
              <a:t>What the project learns and keeps between threads. Open the memory files to edit them.</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The parallel workers the lead agent starts for each piece of a job.</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a:t>
            </a:r>
          </a:p>
          <a:p>
            <a:pPr algn="l">
              <a:spcAft>
                <a:spcPts val="300"/>
              </a:spcAft>
            </a:pPr>
            <a:r>
              <a:rPr sz="1150" b="0">
                <a:solidFill>
                  <a:srgbClr val="6B6862"/>
                </a:solidFill>
                <a:latin typeface="Calibri"/>
              </a:rPr>
              <a:t>Tasks that run on a timetable inside the project — the daily post, the weekly report.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34</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a Project, Field by Field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New project opens the Create a project dialog.</a:t>
            </a:r>
          </a:p>
        </p:txBody>
      </p:sp>
      <p:sp>
        <p:nvSpPr>
          <p:cNvPr id="6" name="Rectangle 5"/>
          <p:cNvSpPr/>
          <p:nvPr/>
        </p:nvSpPr>
        <p:spPr>
          <a:xfrm>
            <a:off x="548640" y="2148840"/>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34315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34315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Name</a:t>
            </a:r>
          </a:p>
          <a:p>
            <a:pPr algn="l">
              <a:spcAft>
                <a:spcPts val="500"/>
              </a:spcAft>
            </a:pPr>
            <a:r>
              <a:rPr sz="1250" b="0">
                <a:solidFill>
                  <a:srgbClr val="6B6862"/>
                </a:solidFill>
                <a:latin typeface="Calibri"/>
              </a:rPr>
              <a:t>What you are working on — Lumo Cold Kopi Launch. This is how you find it in the sidebar.</a:t>
            </a:r>
          </a:p>
        </p:txBody>
      </p:sp>
      <p:sp>
        <p:nvSpPr>
          <p:cNvPr id="10" name="Rectangle 9"/>
          <p:cNvSpPr/>
          <p:nvPr/>
        </p:nvSpPr>
        <p:spPr>
          <a:xfrm>
            <a:off x="548640" y="3049524"/>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24383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24383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049524"/>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Goal</a:t>
            </a:r>
          </a:p>
          <a:p>
            <a:pPr algn="l">
              <a:spcAft>
                <a:spcPts val="500"/>
              </a:spcAft>
            </a:pPr>
            <a:r>
              <a:rPr sz="1250" b="0">
                <a:solidFill>
                  <a:srgbClr val="6B6862"/>
                </a:solidFill>
                <a:latin typeface="Calibri"/>
              </a:rPr>
              <a:t>What the project must achieve, in two or three sentences. You can type it or dictate it.</a:t>
            </a:r>
          </a:p>
        </p:txBody>
      </p:sp>
      <p:sp>
        <p:nvSpPr>
          <p:cNvPr id="14" name="Rectangle 13"/>
          <p:cNvSpPr/>
          <p:nvPr/>
        </p:nvSpPr>
        <p:spPr>
          <a:xfrm>
            <a:off x="548640" y="3950208"/>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14451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14451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950208"/>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Context</a:t>
            </a:r>
          </a:p>
          <a:p>
            <a:pPr algn="l">
              <a:spcAft>
                <a:spcPts val="500"/>
              </a:spcAft>
            </a:pPr>
            <a:r>
              <a:rPr sz="1250" b="0">
                <a:solidFill>
                  <a:srgbClr val="6B6862"/>
                </a:solidFill>
                <a:latin typeface="Calibri"/>
              </a:rPr>
              <a:t>Add the brand kit files now, or a folder or Drive folder. You can skip and add them later.</a:t>
            </a:r>
          </a:p>
        </p:txBody>
      </p:sp>
      <p:sp>
        <p:nvSpPr>
          <p:cNvPr id="18" name="Rectangle 17"/>
          <p:cNvSpPr/>
          <p:nvPr/>
        </p:nvSpPr>
        <p:spPr>
          <a:xfrm>
            <a:off x="548640" y="4850892"/>
            <a:ext cx="11064240" cy="77266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504520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504520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850892"/>
            <a:ext cx="9692640" cy="772668"/>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Create project</a:t>
            </a:r>
          </a:p>
          <a:p>
            <a:pPr algn="l">
              <a:spcAft>
                <a:spcPts val="500"/>
              </a:spcAft>
            </a:pPr>
            <a:r>
              <a:rPr sz="1250" b="0">
                <a:solidFill>
                  <a:srgbClr val="6B6862"/>
                </a:solidFill>
                <a:latin typeface="Calibri"/>
              </a:rPr>
              <a:t>The lead agent opens, reads the goal and context, and is ready for its first job.</a:t>
            </a:r>
          </a:p>
        </p:txBody>
      </p:sp>
      <p:sp>
        <p:nvSpPr>
          <p:cNvPr id="22" name="TextBox 2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New project is at the top right of the Projects page. Instructions and memory are edited afterwards, in Project settings.</a:t>
            </a:r>
          </a:p>
        </p:txBody>
      </p:sp>
      <p:sp>
        <p:nvSpPr>
          <p:cNvPr id="23" name="TextBox 2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4" name="TextBox 2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5" name="TextBox 2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35</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Project Settings</a:t>
            </a:r>
          </a:p>
        </p:txBody>
      </p:sp>
      <p:sp>
        <p:nvSpPr>
          <p:cNvPr id="5" name="Rectangle 4"/>
          <p:cNvSpPr/>
          <p:nvPr/>
        </p:nvSpPr>
        <p:spPr>
          <a:xfrm>
            <a:off x="548640" y="182880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196504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6504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8" name="TextBox 7"/>
          <p:cNvSpPr txBox="1"/>
          <p:nvPr/>
        </p:nvSpPr>
        <p:spPr>
          <a:xfrm>
            <a:off x="1508760" y="182880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General</a:t>
            </a:r>
          </a:p>
          <a:p>
            <a:pPr algn="l">
              <a:spcAft>
                <a:spcPts val="500"/>
              </a:spcAft>
            </a:pPr>
            <a:r>
              <a:rPr sz="1250" b="0">
                <a:solidFill>
                  <a:srgbClr val="6B6862"/>
                </a:solidFill>
                <a:latin typeface="Calibri"/>
              </a:rPr>
              <a:t>The project name, the goal, and the models and effort for the lead agent and the threads.</a:t>
            </a:r>
          </a:p>
        </p:txBody>
      </p:sp>
      <p:sp>
        <p:nvSpPr>
          <p:cNvPr id="9" name="Rectangle 8"/>
          <p:cNvSpPr/>
          <p:nvPr/>
        </p:nvSpPr>
        <p:spPr>
          <a:xfrm>
            <a:off x="548640" y="261335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274960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74960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2" name="TextBox 11"/>
          <p:cNvSpPr txBox="1"/>
          <p:nvPr/>
        </p:nvSpPr>
        <p:spPr>
          <a:xfrm>
            <a:off x="1508760" y="261335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Memory</a:t>
            </a:r>
          </a:p>
          <a:p>
            <a:pPr algn="l">
              <a:spcAft>
                <a:spcPts val="500"/>
              </a:spcAft>
            </a:pPr>
            <a:r>
              <a:rPr sz="1250" b="0">
                <a:solidFill>
                  <a:srgbClr val="6B6862"/>
                </a:solidFill>
                <a:latin typeface="Calibri"/>
              </a:rPr>
              <a:t>The project instructions and the memory files the project has written — open one to edit it.</a:t>
            </a:r>
          </a:p>
        </p:txBody>
      </p:sp>
      <p:sp>
        <p:nvSpPr>
          <p:cNvPr id="13" name="Rectangle 12"/>
          <p:cNvSpPr/>
          <p:nvPr/>
        </p:nvSpPr>
        <p:spPr>
          <a:xfrm>
            <a:off x="548640" y="339791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68680" y="353415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53415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6" name="TextBox 15"/>
          <p:cNvSpPr txBox="1"/>
          <p:nvPr/>
        </p:nvSpPr>
        <p:spPr>
          <a:xfrm>
            <a:off x="1508760" y="339791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Environment</a:t>
            </a:r>
          </a:p>
          <a:p>
            <a:pPr algn="l">
              <a:spcAft>
                <a:spcPts val="500"/>
              </a:spcAft>
            </a:pPr>
            <a:r>
              <a:rPr sz="1250" b="0">
                <a:solidFill>
                  <a:srgbClr val="6B6862"/>
                </a:solidFill>
                <a:latin typeface="Calibri"/>
              </a:rPr>
              <a:t>Local, or a cloud environment so threads keep working with your laptop closed.</a:t>
            </a:r>
          </a:p>
        </p:txBody>
      </p:sp>
      <p:sp>
        <p:nvSpPr>
          <p:cNvPr id="17" name="Rectangle 16"/>
          <p:cNvSpPr/>
          <p:nvPr/>
        </p:nvSpPr>
        <p:spPr>
          <a:xfrm>
            <a:off x="548640" y="4182465"/>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68680" y="4318710"/>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4318710"/>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0" name="TextBox 19"/>
          <p:cNvSpPr txBox="1"/>
          <p:nvPr/>
        </p:nvSpPr>
        <p:spPr>
          <a:xfrm>
            <a:off x="1508760" y="4182465"/>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Usage</a:t>
            </a:r>
          </a:p>
          <a:p>
            <a:pPr algn="l">
              <a:spcAft>
                <a:spcPts val="500"/>
              </a:spcAft>
            </a:pPr>
            <a:r>
              <a:rPr sz="1250" b="0">
                <a:solidFill>
                  <a:srgbClr val="6B6862"/>
                </a:solidFill>
                <a:latin typeface="Calibri"/>
              </a:rPr>
              <a:t>Input and output tokens, for the lead agent and for each thread separately.</a:t>
            </a:r>
          </a:p>
        </p:txBody>
      </p:sp>
      <p:sp>
        <p:nvSpPr>
          <p:cNvPr id="21" name="Rectangle 20"/>
          <p:cNvSpPr/>
          <p:nvPr/>
        </p:nvSpPr>
        <p:spPr>
          <a:xfrm>
            <a:off x="548640" y="4967020"/>
            <a:ext cx="11064240" cy="656539"/>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510326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510326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4" name="TextBox 23"/>
          <p:cNvSpPr txBox="1"/>
          <p:nvPr/>
        </p:nvSpPr>
        <p:spPr>
          <a:xfrm>
            <a:off x="1508760" y="4967020"/>
            <a:ext cx="9692640" cy="656539"/>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Debug access</a:t>
            </a:r>
          </a:p>
          <a:p>
            <a:pPr algn="l">
              <a:spcAft>
                <a:spcPts val="500"/>
              </a:spcAft>
            </a:pPr>
            <a:r>
              <a:rPr sz="1250" b="0">
                <a:solidFill>
                  <a:srgbClr val="6B6862"/>
                </a:solidFill>
                <a:latin typeface="Calibri"/>
              </a:rPr>
              <a:t>Let another project read this one's conversations, read-only, to help diagnose a problem.</a:t>
            </a:r>
          </a:p>
        </p:txBody>
      </p:sp>
      <p:sp>
        <p:nvSpPr>
          <p:cNvPr id="25" name="TextBox 24"/>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Open Project settings from the gear icon at the top right of the project.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36</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 SETTINGS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Models and Effort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lead agent and the threads each have their own model and effort.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Role</a:t>
            </a:r>
          </a:p>
        </p:txBody>
      </p:sp>
      <p:sp>
        <p:nvSpPr>
          <p:cNvPr id="7" name="TextBox 6"/>
          <p:cNvSpPr txBox="1"/>
          <p:nvPr/>
        </p:nvSpPr>
        <p:spPr>
          <a:xfrm>
            <a:off x="3154680" y="2194560"/>
            <a:ext cx="128778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Typical default</a:t>
            </a:r>
          </a:p>
        </p:txBody>
      </p:sp>
      <p:sp>
        <p:nvSpPr>
          <p:cNvPr id="8" name="TextBox 7"/>
          <p:cNvSpPr txBox="1"/>
          <p:nvPr/>
        </p:nvSpPr>
        <p:spPr>
          <a:xfrm>
            <a:off x="4671060" y="2194560"/>
            <a:ext cx="163118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Effort</a:t>
            </a:r>
          </a:p>
        </p:txBody>
      </p:sp>
      <p:sp>
        <p:nvSpPr>
          <p:cNvPr id="9" name="TextBox 8"/>
          <p:cNvSpPr txBox="1"/>
          <p:nvPr/>
        </p:nvSpPr>
        <p:spPr>
          <a:xfrm>
            <a:off x="6530848" y="2194560"/>
            <a:ext cx="4807712"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Change it when</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Lead agent</a:t>
            </a:r>
          </a:p>
        </p:txBody>
      </p:sp>
      <p:sp>
        <p:nvSpPr>
          <p:cNvPr id="12" name="TextBox 11"/>
          <p:cNvSpPr txBox="1"/>
          <p:nvPr/>
        </p:nvSpPr>
        <p:spPr>
          <a:xfrm>
            <a:off x="3154680" y="2651760"/>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3" name="TextBox 12"/>
          <p:cNvSpPr txBox="1"/>
          <p:nvPr/>
        </p:nvSpPr>
        <p:spPr>
          <a:xfrm>
            <a:off x="4671060" y="2651760"/>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a:t>
            </a:r>
          </a:p>
        </p:txBody>
      </p:sp>
      <p:sp>
        <p:nvSpPr>
          <p:cNvPr id="14" name="TextBox 13"/>
          <p:cNvSpPr txBox="1"/>
          <p:nvPr/>
        </p:nvSpPr>
        <p:spPr>
          <a:xfrm>
            <a:off x="6530848" y="2651760"/>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It misreads your requests — raise to Medium.</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Threads</a:t>
            </a:r>
          </a:p>
        </p:txBody>
      </p:sp>
      <p:sp>
        <p:nvSpPr>
          <p:cNvPr id="17" name="TextBox 16"/>
          <p:cNvSpPr txBox="1"/>
          <p:nvPr/>
        </p:nvSpPr>
        <p:spPr>
          <a:xfrm>
            <a:off x="3154680" y="3387852"/>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Opus 5.5</a:t>
            </a:r>
          </a:p>
        </p:txBody>
      </p:sp>
      <p:sp>
        <p:nvSpPr>
          <p:cNvPr id="18" name="TextBox 17"/>
          <p:cNvSpPr txBox="1"/>
          <p:nvPr/>
        </p:nvSpPr>
        <p:spPr>
          <a:xfrm>
            <a:off x="4671060" y="3387852"/>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Medium</a:t>
            </a:r>
          </a:p>
        </p:txBody>
      </p:sp>
      <p:sp>
        <p:nvSpPr>
          <p:cNvPr id="19" name="TextBox 18"/>
          <p:cNvSpPr txBox="1"/>
          <p:nvPr/>
        </p:nvSpPr>
        <p:spPr>
          <a:xfrm>
            <a:off x="6530848" y="3387852"/>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Research is shallow — raise; drafts are simple — lower.</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Effort</a:t>
            </a:r>
          </a:p>
        </p:txBody>
      </p:sp>
      <p:sp>
        <p:nvSpPr>
          <p:cNvPr id="22" name="TextBox 21"/>
          <p:cNvSpPr txBox="1"/>
          <p:nvPr/>
        </p:nvSpPr>
        <p:spPr>
          <a:xfrm>
            <a:off x="3154680" y="4123944"/>
            <a:ext cx="1287780"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t>
            </a:r>
          </a:p>
        </p:txBody>
      </p:sp>
      <p:sp>
        <p:nvSpPr>
          <p:cNvPr id="23" name="TextBox 22"/>
          <p:cNvSpPr txBox="1"/>
          <p:nvPr/>
        </p:nvSpPr>
        <p:spPr>
          <a:xfrm>
            <a:off x="4671060" y="4123944"/>
            <a:ext cx="163118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Low · Medium · High</a:t>
            </a:r>
          </a:p>
        </p:txBody>
      </p:sp>
      <p:sp>
        <p:nvSpPr>
          <p:cNvPr id="24" name="TextBox 23"/>
          <p:cNvSpPr txBox="1"/>
          <p:nvPr/>
        </p:nvSpPr>
        <p:spPr>
          <a:xfrm>
            <a:off x="6530848" y="4123944"/>
            <a:ext cx="4807712"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Higher effort thinks harder and uses more of your limit.</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Defaults vary by account and change over time — read yours in Project settings → General → Models.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37</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vs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Quick test: a sentence that starts Always, Never or Write in… is an instruction. A document is context.</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Instructions — how to behave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Short standing rules you write yourself.</a:t>
            </a:r>
          </a:p>
          <a:p>
            <a:pPr algn="l">
              <a:spcAft>
                <a:spcPts val="900"/>
              </a:spcAft>
            </a:pPr>
            <a:r>
              <a:rPr sz="1250" b="0">
                <a:solidFill>
                  <a:srgbClr val="21201C"/>
                </a:solidFill>
                <a:latin typeface="Calibri"/>
              </a:rPr>
              <a:t>•  Followed by every session in the project.</a:t>
            </a:r>
          </a:p>
          <a:p>
            <a:pPr algn="l">
              <a:spcAft>
                <a:spcPts val="900"/>
              </a:spcAft>
            </a:pPr>
            <a:r>
              <a:rPr sz="1250" b="0">
                <a:solidFill>
                  <a:srgbClr val="21201C"/>
                </a:solidFill>
                <a:latin typeface="Calibri"/>
              </a:rPr>
              <a:t>•  Like the house rules pinned on the office wall.</a:t>
            </a:r>
          </a:p>
          <a:p>
            <a:pPr algn="l">
              <a:spcAft>
                <a:spcPts val="900"/>
              </a:spcAft>
            </a:pPr>
            <a:r>
              <a:rPr sz="1250" b="0">
                <a:solidFill>
                  <a:srgbClr val="21201C"/>
                </a:solidFill>
                <a:latin typeface="Calibri"/>
              </a:rPr>
              <a:t>•  Keep them short: they are loaded into every session.</a:t>
            </a:r>
          </a:p>
          <a:p>
            <a:pPr algn="l">
              <a:spcAft>
                <a:spcPts val="900"/>
              </a:spcAft>
            </a:pPr>
            <a:r>
              <a:rPr sz="1250" b="0">
                <a:solidFill>
                  <a:srgbClr val="21201C"/>
                </a:solidFill>
                <a:latin typeface="Calibri"/>
              </a:rPr>
              <a:t>•  Lumo: “Prices in S$. No health claims. Ask before sending.”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Context — what to know</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Reference material Claude reads but never edits.</a:t>
            </a:r>
          </a:p>
          <a:p>
            <a:pPr algn="l">
              <a:spcAft>
                <a:spcPts val="900"/>
              </a:spcAft>
            </a:pPr>
            <a:r>
              <a:rPr sz="1250" b="0">
                <a:solidFill>
                  <a:srgbClr val="21201C"/>
                </a:solidFill>
                <a:latin typeface="Calibri"/>
              </a:rPr>
              <a:t>•  Files, a folder, a Google Drive folder or a GitHub repository.</a:t>
            </a:r>
          </a:p>
          <a:p>
            <a:pPr algn="l">
              <a:spcAft>
                <a:spcPts val="900"/>
              </a:spcAft>
            </a:pPr>
            <a:r>
              <a:rPr sz="1250" b="0">
                <a:solidFill>
                  <a:srgbClr val="21201C"/>
                </a:solidFill>
                <a:latin typeface="Calibri"/>
              </a:rPr>
              <a:t>•  Like the reference binders on the office shelf.</a:t>
            </a:r>
          </a:p>
          <a:p>
            <a:pPr algn="l">
              <a:spcAft>
                <a:spcPts val="900"/>
              </a:spcAft>
            </a:pPr>
            <a:r>
              <a:rPr sz="1250" b="0">
                <a:solidFill>
                  <a:srgbClr val="21201C"/>
                </a:solidFill>
                <a:latin typeface="Calibri"/>
              </a:rPr>
              <a:t>•  Add it once; you never re-attach it again.</a:t>
            </a:r>
          </a:p>
          <a:p>
            <a:pPr algn="l">
              <a:spcAft>
                <a:spcPts val="900"/>
              </a:spcAft>
            </a:pPr>
            <a:r>
              <a:rPr sz="1250" b="0">
                <a:solidFill>
                  <a:srgbClr val="21201C"/>
                </a:solidFill>
                <a:latin typeface="Calibri"/>
              </a:rPr>
              <a:t>•  Lumo: brand guidelines, product sheet, launch brief.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38</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Instructions, Context or Memory?</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When the output is wrong, this tells you which one to edit.</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Instructions</a:t>
            </a:r>
          </a:p>
        </p:txBody>
      </p:sp>
      <p:sp>
        <p:nvSpPr>
          <p:cNvPr id="8" name="TextBox 7"/>
          <p:cNvSpPr txBox="1"/>
          <p:nvPr/>
        </p:nvSpPr>
        <p:spPr>
          <a:xfrm>
            <a:off x="5823284"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Context</a:t>
            </a:r>
          </a:p>
        </p:txBody>
      </p:sp>
      <p:sp>
        <p:nvSpPr>
          <p:cNvPr id="9" name="TextBox 8"/>
          <p:cNvSpPr txBox="1"/>
          <p:nvPr/>
        </p:nvSpPr>
        <p:spPr>
          <a:xfrm>
            <a:off x="8491888" y="2194560"/>
            <a:ext cx="2846671"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Memory</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Who writes it</a:t>
            </a:r>
          </a:p>
        </p:txBody>
      </p:sp>
      <p:sp>
        <p:nvSpPr>
          <p:cNvPr id="12" name="TextBox 11"/>
          <p:cNvSpPr txBox="1"/>
          <p:nvPr/>
        </p:nvSpPr>
        <p:spPr>
          <a:xfrm>
            <a:off x="3154680"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a:t>
            </a:r>
          </a:p>
        </p:txBody>
      </p:sp>
      <p:sp>
        <p:nvSpPr>
          <p:cNvPr id="13" name="TextBox 12"/>
          <p:cNvSpPr txBox="1"/>
          <p:nvPr/>
        </p:nvSpPr>
        <p:spPr>
          <a:xfrm>
            <a:off x="5823284" y="2651760"/>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You add it</a:t>
            </a:r>
          </a:p>
        </p:txBody>
      </p:sp>
      <p:sp>
        <p:nvSpPr>
          <p:cNvPr id="14" name="TextBox 13"/>
          <p:cNvSpPr txBox="1"/>
          <p:nvPr/>
        </p:nvSpPr>
        <p:spPr>
          <a:xfrm>
            <a:off x="8491888" y="2651760"/>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project, as it works</a:t>
            </a:r>
          </a:p>
        </p:txBody>
      </p:sp>
      <p:sp>
        <p:nvSpPr>
          <p:cNvPr id="15" name="Rectangle 14"/>
          <p:cNvSpPr/>
          <p:nvPr/>
        </p:nvSpPr>
        <p:spPr>
          <a:xfrm>
            <a:off x="822960" y="331927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19272"/>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What it holds</a:t>
            </a:r>
          </a:p>
        </p:txBody>
      </p:sp>
      <p:sp>
        <p:nvSpPr>
          <p:cNvPr id="17" name="TextBox 16"/>
          <p:cNvSpPr txBox="1"/>
          <p:nvPr/>
        </p:nvSpPr>
        <p:spPr>
          <a:xfrm>
            <a:off x="3154680"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Rules and style</a:t>
            </a:r>
          </a:p>
        </p:txBody>
      </p:sp>
      <p:sp>
        <p:nvSpPr>
          <p:cNvPr id="18" name="TextBox 17"/>
          <p:cNvSpPr txBox="1"/>
          <p:nvPr/>
        </p:nvSpPr>
        <p:spPr>
          <a:xfrm>
            <a:off x="5823284" y="3319272"/>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Files and folders to read</a:t>
            </a:r>
          </a:p>
        </p:txBody>
      </p:sp>
      <p:sp>
        <p:nvSpPr>
          <p:cNvPr id="19" name="TextBox 18"/>
          <p:cNvSpPr txBox="1"/>
          <p:nvPr/>
        </p:nvSpPr>
        <p:spPr>
          <a:xfrm>
            <a:off x="8491888" y="3319272"/>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Facts and decisions learned</a:t>
            </a:r>
          </a:p>
        </p:txBody>
      </p:sp>
      <p:sp>
        <p:nvSpPr>
          <p:cNvPr id="20" name="Rectangle 19"/>
          <p:cNvSpPr/>
          <p:nvPr/>
        </p:nvSpPr>
        <p:spPr>
          <a:xfrm>
            <a:off x="822960" y="398678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986784"/>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2" name="TextBox 21"/>
          <p:cNvSpPr txBox="1"/>
          <p:nvPr/>
        </p:nvSpPr>
        <p:spPr>
          <a:xfrm>
            <a:off x="3154680"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23" name="TextBox 22"/>
          <p:cNvSpPr txBox="1"/>
          <p:nvPr/>
        </p:nvSpPr>
        <p:spPr>
          <a:xfrm>
            <a:off x="5823284" y="3986784"/>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launch brief</a:t>
            </a:r>
          </a:p>
        </p:txBody>
      </p:sp>
      <p:sp>
        <p:nvSpPr>
          <p:cNvPr id="24" name="TextBox 23"/>
          <p:cNvSpPr txBox="1"/>
          <p:nvPr/>
        </p:nvSpPr>
        <p:spPr>
          <a:xfrm>
            <a:off x="8491888" y="3986784"/>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date moved; IG performs best</a:t>
            </a:r>
          </a:p>
        </p:txBody>
      </p:sp>
      <p:sp>
        <p:nvSpPr>
          <p:cNvPr id="25" name="Rectangle 24"/>
          <p:cNvSpPr/>
          <p:nvPr/>
        </p:nvSpPr>
        <p:spPr>
          <a:xfrm>
            <a:off x="822960" y="465429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654296"/>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Edit it in</a:t>
            </a:r>
          </a:p>
        </p:txBody>
      </p:sp>
      <p:sp>
        <p:nvSpPr>
          <p:cNvPr id="27" name="TextBox 26"/>
          <p:cNvSpPr txBox="1"/>
          <p:nvPr/>
        </p:nvSpPr>
        <p:spPr>
          <a:xfrm>
            <a:off x="3154680"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a:t>
            </a:r>
          </a:p>
        </p:txBody>
      </p:sp>
      <p:sp>
        <p:nvSpPr>
          <p:cNvPr id="28" name="TextBox 27"/>
          <p:cNvSpPr txBox="1"/>
          <p:nvPr/>
        </p:nvSpPr>
        <p:spPr>
          <a:xfrm>
            <a:off x="5823284" y="4654296"/>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Context panel</a:t>
            </a:r>
          </a:p>
        </p:txBody>
      </p:sp>
      <p:sp>
        <p:nvSpPr>
          <p:cNvPr id="29" name="TextBox 28"/>
          <p:cNvSpPr txBox="1"/>
          <p:nvPr/>
        </p:nvSpPr>
        <p:spPr>
          <a:xfrm>
            <a:off x="8491888" y="4654296"/>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Settings → Memory → memory files</a:t>
            </a:r>
          </a:p>
        </p:txBody>
      </p:sp>
      <p:sp>
        <p:nvSpPr>
          <p:cNvPr id="30" name="Rectangle 29"/>
          <p:cNvSpPr/>
          <p:nvPr/>
        </p:nvSpPr>
        <p:spPr>
          <a:xfrm>
            <a:off x="822960" y="532180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21808"/>
            <a:ext cx="2103120" cy="66751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When output is wrong</a:t>
            </a:r>
          </a:p>
        </p:txBody>
      </p:sp>
      <p:sp>
        <p:nvSpPr>
          <p:cNvPr id="32" name="TextBox 31"/>
          <p:cNvSpPr txBox="1"/>
          <p:nvPr/>
        </p:nvSpPr>
        <p:spPr>
          <a:xfrm>
            <a:off x="3154680"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Tighten the rule</a:t>
            </a:r>
          </a:p>
        </p:txBody>
      </p:sp>
      <p:sp>
        <p:nvSpPr>
          <p:cNvPr id="33" name="TextBox 32"/>
          <p:cNvSpPr txBox="1"/>
          <p:nvPr/>
        </p:nvSpPr>
        <p:spPr>
          <a:xfrm>
            <a:off x="5823284" y="5321808"/>
            <a:ext cx="2440004"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Add the missing file</a:t>
            </a:r>
          </a:p>
        </p:txBody>
      </p:sp>
      <p:sp>
        <p:nvSpPr>
          <p:cNvPr id="34" name="TextBox 33"/>
          <p:cNvSpPr txBox="1"/>
          <p:nvPr/>
        </p:nvSpPr>
        <p:spPr>
          <a:xfrm>
            <a:off x="8491888" y="5321808"/>
            <a:ext cx="2846671" cy="66751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Correct or delete the fact</a:t>
            </a:r>
          </a:p>
        </p:txBody>
      </p:sp>
      <p:sp>
        <p:nvSpPr>
          <p:cNvPr id="35" name="Rectangle 34"/>
          <p:cNvSpPr/>
          <p:nvPr/>
        </p:nvSpPr>
        <p:spPr>
          <a:xfrm>
            <a:off x="822960" y="598932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39</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 Analogy: The Project Room</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Picture the project as a room your team works in for the whole launch.</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In Claude</a:t>
            </a:r>
          </a:p>
        </p:txBody>
      </p:sp>
      <p:sp>
        <p:nvSpPr>
          <p:cNvPr id="7" name="TextBox 6"/>
          <p:cNvSpPr txBox="1"/>
          <p:nvPr/>
        </p:nvSpPr>
        <p:spPr>
          <a:xfrm>
            <a:off x="3154680" y="2194560"/>
            <a:ext cx="2263370"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In the office</a:t>
            </a:r>
          </a:p>
        </p:txBody>
      </p:sp>
      <p:sp>
        <p:nvSpPr>
          <p:cNvPr id="8" name="TextBox 7"/>
          <p:cNvSpPr txBox="1"/>
          <p:nvPr/>
        </p:nvSpPr>
        <p:spPr>
          <a:xfrm>
            <a:off x="5646650" y="2194560"/>
            <a:ext cx="2965796"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What it means</a:t>
            </a:r>
          </a:p>
        </p:txBody>
      </p:sp>
      <p:sp>
        <p:nvSpPr>
          <p:cNvPr id="9" name="TextBox 8"/>
          <p:cNvSpPr txBox="1"/>
          <p:nvPr/>
        </p:nvSpPr>
        <p:spPr>
          <a:xfrm>
            <a:off x="8841046" y="2194560"/>
            <a:ext cx="2497512"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Lumo example</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Project</a:t>
            </a:r>
          </a:p>
        </p:txBody>
      </p:sp>
      <p:sp>
        <p:nvSpPr>
          <p:cNvPr id="12" name="TextBox 11"/>
          <p:cNvSpPr txBox="1"/>
          <p:nvPr/>
        </p:nvSpPr>
        <p:spPr>
          <a:xfrm>
            <a:off x="3154680" y="2651760"/>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project room</a:t>
            </a:r>
          </a:p>
        </p:txBody>
      </p:sp>
      <p:sp>
        <p:nvSpPr>
          <p:cNvPr id="13" name="TextBox 12"/>
          <p:cNvSpPr txBox="1"/>
          <p:nvPr/>
        </p:nvSpPr>
        <p:spPr>
          <a:xfrm>
            <a:off x="5646650" y="2651760"/>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Stays set up for weeks</a:t>
            </a:r>
          </a:p>
        </p:txBody>
      </p:sp>
      <p:sp>
        <p:nvSpPr>
          <p:cNvPr id="14" name="TextBox 13"/>
          <p:cNvSpPr txBox="1"/>
          <p:nvPr/>
        </p:nvSpPr>
        <p:spPr>
          <a:xfrm>
            <a:off x="8841046" y="2651760"/>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 Cold Kopi Launch</a:t>
            </a:r>
          </a:p>
        </p:txBody>
      </p:sp>
      <p:sp>
        <p:nvSpPr>
          <p:cNvPr id="15" name="Rectangle 14"/>
          <p:cNvSpPr/>
          <p:nvPr/>
        </p:nvSpPr>
        <p:spPr>
          <a:xfrm>
            <a:off x="822960" y="31285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128554"/>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Session</a:t>
            </a:r>
          </a:p>
        </p:txBody>
      </p:sp>
      <p:sp>
        <p:nvSpPr>
          <p:cNvPr id="17" name="TextBox 16"/>
          <p:cNvSpPr txBox="1"/>
          <p:nvPr/>
        </p:nvSpPr>
        <p:spPr>
          <a:xfrm>
            <a:off x="3154680" y="3128554"/>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working day in the room</a:t>
            </a:r>
          </a:p>
        </p:txBody>
      </p:sp>
      <p:sp>
        <p:nvSpPr>
          <p:cNvPr id="18" name="TextBox 17"/>
          <p:cNvSpPr txBox="1"/>
          <p:nvPr/>
        </p:nvSpPr>
        <p:spPr>
          <a:xfrm>
            <a:off x="5646650" y="3128554"/>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Starts fresh; the room is still set up</a:t>
            </a:r>
          </a:p>
        </p:txBody>
      </p:sp>
      <p:sp>
        <p:nvSpPr>
          <p:cNvPr id="19" name="TextBox 18"/>
          <p:cNvSpPr txBox="1"/>
          <p:nvPr/>
        </p:nvSpPr>
        <p:spPr>
          <a:xfrm>
            <a:off x="8841046" y="3128554"/>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Draft the Instagram post</a:t>
            </a:r>
          </a:p>
        </p:txBody>
      </p:sp>
      <p:sp>
        <p:nvSpPr>
          <p:cNvPr id="20" name="Rectangle 19"/>
          <p:cNvSpPr/>
          <p:nvPr/>
        </p:nvSpPr>
        <p:spPr>
          <a:xfrm>
            <a:off x="822960" y="360534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3605348"/>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Lead agent</a:t>
            </a:r>
          </a:p>
        </p:txBody>
      </p:sp>
      <p:sp>
        <p:nvSpPr>
          <p:cNvPr id="22" name="TextBox 21"/>
          <p:cNvSpPr txBox="1"/>
          <p:nvPr/>
        </p:nvSpPr>
        <p:spPr>
          <a:xfrm>
            <a:off x="3154680" y="3605348"/>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team lead</a:t>
            </a:r>
          </a:p>
        </p:txBody>
      </p:sp>
      <p:sp>
        <p:nvSpPr>
          <p:cNvPr id="23" name="TextBox 22"/>
          <p:cNvSpPr txBox="1"/>
          <p:nvPr/>
        </p:nvSpPr>
        <p:spPr>
          <a:xfrm>
            <a:off x="5646650" y="3605348"/>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Splits the job, merges the results</a:t>
            </a:r>
          </a:p>
        </p:txBody>
      </p:sp>
      <p:sp>
        <p:nvSpPr>
          <p:cNvPr id="24" name="TextBox 23"/>
          <p:cNvSpPr txBox="1"/>
          <p:nvPr/>
        </p:nvSpPr>
        <p:spPr>
          <a:xfrm>
            <a:off x="8841046" y="3605348"/>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Four research threads, one brief</a:t>
            </a:r>
          </a:p>
        </p:txBody>
      </p:sp>
      <p:sp>
        <p:nvSpPr>
          <p:cNvPr id="25" name="Rectangle 24"/>
          <p:cNvSpPr/>
          <p:nvPr/>
        </p:nvSpPr>
        <p:spPr>
          <a:xfrm>
            <a:off x="822960" y="408214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082142"/>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Instructions</a:t>
            </a:r>
          </a:p>
        </p:txBody>
      </p:sp>
      <p:sp>
        <p:nvSpPr>
          <p:cNvPr id="27" name="TextBox 26"/>
          <p:cNvSpPr txBox="1"/>
          <p:nvPr/>
        </p:nvSpPr>
        <p:spPr>
          <a:xfrm>
            <a:off x="3154680" y="4082142"/>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House rules on the wall</a:t>
            </a:r>
          </a:p>
        </p:txBody>
      </p:sp>
      <p:sp>
        <p:nvSpPr>
          <p:cNvPr id="28" name="TextBox 27"/>
          <p:cNvSpPr txBox="1"/>
          <p:nvPr/>
        </p:nvSpPr>
        <p:spPr>
          <a:xfrm>
            <a:off x="5646650" y="4082142"/>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every session must behave</a:t>
            </a:r>
          </a:p>
        </p:txBody>
      </p:sp>
      <p:sp>
        <p:nvSpPr>
          <p:cNvPr id="29" name="TextBox 28"/>
          <p:cNvSpPr txBox="1"/>
          <p:nvPr/>
        </p:nvSpPr>
        <p:spPr>
          <a:xfrm>
            <a:off x="8841046" y="4082142"/>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Prices in S$; no health claims</a:t>
            </a:r>
          </a:p>
        </p:txBody>
      </p:sp>
      <p:sp>
        <p:nvSpPr>
          <p:cNvPr id="30" name="Rectangle 29"/>
          <p:cNvSpPr/>
          <p:nvPr/>
        </p:nvSpPr>
        <p:spPr>
          <a:xfrm>
            <a:off x="822960" y="45589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4558936"/>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Context</a:t>
            </a:r>
          </a:p>
        </p:txBody>
      </p:sp>
      <p:sp>
        <p:nvSpPr>
          <p:cNvPr id="32" name="TextBox 31"/>
          <p:cNvSpPr txBox="1"/>
          <p:nvPr/>
        </p:nvSpPr>
        <p:spPr>
          <a:xfrm>
            <a:off x="3154680" y="4558936"/>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Binders on the shelf</a:t>
            </a:r>
          </a:p>
        </p:txBody>
      </p:sp>
      <p:sp>
        <p:nvSpPr>
          <p:cNvPr id="33" name="TextBox 32"/>
          <p:cNvSpPr txBox="1"/>
          <p:nvPr/>
        </p:nvSpPr>
        <p:spPr>
          <a:xfrm>
            <a:off x="5646650" y="4558936"/>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What Claude reads, never edits</a:t>
            </a:r>
          </a:p>
        </p:txBody>
      </p:sp>
      <p:sp>
        <p:nvSpPr>
          <p:cNvPr id="34" name="TextBox 33"/>
          <p:cNvSpPr txBox="1"/>
          <p:nvPr/>
        </p:nvSpPr>
        <p:spPr>
          <a:xfrm>
            <a:off x="8841046" y="4558936"/>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Brand guidelines, product sheet</a:t>
            </a:r>
          </a:p>
        </p:txBody>
      </p:sp>
      <p:sp>
        <p:nvSpPr>
          <p:cNvPr id="35" name="Rectangle 34"/>
          <p:cNvSpPr/>
          <p:nvPr/>
        </p:nvSpPr>
        <p:spPr>
          <a:xfrm>
            <a:off x="822960" y="503573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60" y="5035730"/>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Memory</a:t>
            </a:r>
          </a:p>
        </p:txBody>
      </p:sp>
      <p:sp>
        <p:nvSpPr>
          <p:cNvPr id="37" name="TextBox 36"/>
          <p:cNvSpPr txBox="1"/>
          <p:nvPr/>
        </p:nvSpPr>
        <p:spPr>
          <a:xfrm>
            <a:off x="3154680" y="5035730"/>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team logbook</a:t>
            </a:r>
          </a:p>
        </p:txBody>
      </p:sp>
      <p:sp>
        <p:nvSpPr>
          <p:cNvPr id="38" name="TextBox 37"/>
          <p:cNvSpPr txBox="1"/>
          <p:nvPr/>
        </p:nvSpPr>
        <p:spPr>
          <a:xfrm>
            <a:off x="5646650" y="5035730"/>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Decisions kept between sessions</a:t>
            </a:r>
          </a:p>
        </p:txBody>
      </p:sp>
      <p:sp>
        <p:nvSpPr>
          <p:cNvPr id="39" name="TextBox 38"/>
          <p:cNvSpPr txBox="1"/>
          <p:nvPr/>
        </p:nvSpPr>
        <p:spPr>
          <a:xfrm>
            <a:off x="8841046" y="5035730"/>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Launch price confirmed at S$3.90</a:t>
            </a:r>
          </a:p>
        </p:txBody>
      </p:sp>
      <p:sp>
        <p:nvSpPr>
          <p:cNvPr id="40" name="Rectangle 39"/>
          <p:cNvSpPr/>
          <p:nvPr/>
        </p:nvSpPr>
        <p:spPr>
          <a:xfrm>
            <a:off x="822960" y="551252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 y="5512524"/>
            <a:ext cx="2103120" cy="476794"/>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Scheduled</a:t>
            </a:r>
          </a:p>
        </p:txBody>
      </p:sp>
      <p:sp>
        <p:nvSpPr>
          <p:cNvPr id="42" name="TextBox 41"/>
          <p:cNvSpPr txBox="1"/>
          <p:nvPr/>
        </p:nvSpPr>
        <p:spPr>
          <a:xfrm>
            <a:off x="3154680" y="5512524"/>
            <a:ext cx="2263370"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The room's recurring calendar</a:t>
            </a:r>
          </a:p>
        </p:txBody>
      </p:sp>
      <p:sp>
        <p:nvSpPr>
          <p:cNvPr id="43" name="TextBox 42"/>
          <p:cNvSpPr txBox="1"/>
          <p:nvPr/>
        </p:nvSpPr>
        <p:spPr>
          <a:xfrm>
            <a:off x="5646650" y="5512524"/>
            <a:ext cx="2965796"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Work that runs on a timetable</a:t>
            </a:r>
          </a:p>
        </p:txBody>
      </p:sp>
      <p:sp>
        <p:nvSpPr>
          <p:cNvPr id="44" name="TextBox 43"/>
          <p:cNvSpPr txBox="1"/>
          <p:nvPr/>
        </p:nvSpPr>
        <p:spPr>
          <a:xfrm>
            <a:off x="8841046" y="5512524"/>
            <a:ext cx="2497512" cy="476794"/>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Monday 9am: the week's posts</a:t>
            </a:r>
          </a:p>
        </p:txBody>
      </p:sp>
      <p:sp>
        <p:nvSpPr>
          <p:cNvPr id="45" name="Rectangle 44"/>
          <p:cNvSpPr/>
          <p:nvPr/>
        </p:nvSpPr>
        <p:spPr>
          <a:xfrm>
            <a:off x="822960" y="59893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7" name="TextBox 4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8" name="TextBox 4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40</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PROJECTS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dedicated place for ongoing work, where context builds over time.</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Working in one-off chats</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re-attach the brand kit every session.</a:t>
            </a:r>
          </a:p>
          <a:p>
            <a:pPr algn="l">
              <a:spcAft>
                <a:spcPts val="900"/>
              </a:spcAft>
            </a:pPr>
            <a:r>
              <a:rPr sz="1250" b="0">
                <a:solidFill>
                  <a:srgbClr val="21201C"/>
                </a:solidFill>
                <a:latin typeface="Calibri"/>
              </a:rPr>
              <a:t>•  Rules are restated from memory each time.</a:t>
            </a:r>
          </a:p>
          <a:p>
            <a:pPr algn="l">
              <a:spcAft>
                <a:spcPts val="900"/>
              </a:spcAft>
            </a:pPr>
            <a:r>
              <a:rPr sz="1250" b="0">
                <a:solidFill>
                  <a:srgbClr val="21201C"/>
                </a:solidFill>
                <a:latin typeface="Calibri"/>
              </a:rPr>
              <a:t>•  Research, posts and artefacts are scattered.</a:t>
            </a:r>
          </a:p>
          <a:p>
            <a:pPr algn="l">
              <a:spcAft>
                <a:spcPts val="900"/>
              </a:spcAft>
            </a:pPr>
            <a:r>
              <a:rPr sz="1250" b="0">
                <a:solidFill>
                  <a:srgbClr val="21201C"/>
                </a:solidFill>
                <a:latin typeface="Calibri"/>
              </a:rPr>
              <a:t>•  A colleague has to be told how you set it up.</a:t>
            </a:r>
          </a:p>
          <a:p>
            <a:pPr algn="l">
              <a:spcAft>
                <a:spcPts val="900"/>
              </a:spcAft>
            </a:pPr>
            <a:r>
              <a:rPr sz="1250" b="0">
                <a:solidFill>
                  <a:srgbClr val="21201C"/>
                </a:solidFill>
                <a:latin typeface="Calibri"/>
              </a:rPr>
              <a:t>•  Work stops when you stop typing.</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Working in a Claude Project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Context is added once and read by every thread.</a:t>
            </a:r>
          </a:p>
          <a:p>
            <a:pPr algn="l">
              <a:spcAft>
                <a:spcPts val="900"/>
              </a:spcAft>
            </a:pPr>
            <a:r>
              <a:rPr sz="1250" b="0">
                <a:solidFill>
                  <a:srgbClr val="21201C"/>
                </a:solidFill>
                <a:latin typeface="Calibri"/>
              </a:rPr>
              <a:t>•  Instructions apply to every job in the project.</a:t>
            </a:r>
          </a:p>
          <a:p>
            <a:pPr algn="l">
              <a:spcAft>
                <a:spcPts val="900"/>
              </a:spcAft>
            </a:pPr>
            <a:r>
              <a:rPr sz="1250" b="0">
                <a:solidFill>
                  <a:srgbClr val="21201C"/>
                </a:solidFill>
                <a:latin typeface="Calibri"/>
              </a:rPr>
              <a:t>•  Artefacts, skills and outputs live together.</a:t>
            </a:r>
          </a:p>
          <a:p>
            <a:pPr algn="l">
              <a:spcAft>
                <a:spcPts val="900"/>
              </a:spcAft>
            </a:pPr>
            <a:r>
              <a:rPr sz="1250" b="0">
                <a:solidFill>
                  <a:srgbClr val="21201C"/>
                </a:solidFill>
                <a:latin typeface="Calibri"/>
              </a:rPr>
              <a:t>•  A colleague opens the project and is ready.</a:t>
            </a:r>
          </a:p>
          <a:p>
            <a:pPr algn="l">
              <a:spcAft>
                <a:spcPts val="900"/>
              </a:spcAft>
            </a:pPr>
            <a:r>
              <a:rPr sz="1250" b="0">
                <a:solidFill>
                  <a:srgbClr val="21201C"/>
                </a:solidFill>
                <a:latin typeface="Calibri"/>
              </a:rPr>
              <a:t>•  Scheduled tasks run while you are away.</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41</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Claude Projects and Market Research</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Claude Project</a:t>
            </a:r>
          </a:p>
          <a:p>
            <a:pPr algn="l">
              <a:spcAft>
                <a:spcPts val="300"/>
              </a:spcAft>
            </a:pPr>
            <a:r>
              <a:rPr sz="1150" b="0">
                <a:solidFill>
                  <a:srgbClr val="6B6862"/>
                </a:solidFill>
                <a:latin typeface="Calibri"/>
              </a:rPr>
              <a:t>A home for a long-running goal. Context, memory and work build up over time instead of resetting each chat.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Lead agent</a:t>
            </a:r>
          </a:p>
          <a:p>
            <a:pPr algn="l">
              <a:spcAft>
                <a:spcPts val="300"/>
              </a:spcAft>
            </a:pPr>
            <a:r>
              <a:rPr sz="1150" b="0">
                <a:solidFill>
                  <a:srgbClr val="6B6862"/>
                </a:solidFill>
                <a:latin typeface="Calibri"/>
              </a:rPr>
              <a:t>The project's coordinator. You tell it the goal; it plans, splits the work and reports back.</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Threads</a:t>
            </a:r>
          </a:p>
          <a:p>
            <a:pPr algn="l">
              <a:spcAft>
                <a:spcPts val="300"/>
              </a:spcAft>
            </a:pPr>
            <a:r>
              <a:rPr sz="1150" b="0">
                <a:solidFill>
                  <a:srgbClr val="6B6862"/>
                </a:solidFill>
                <a:latin typeface="Calibri"/>
              </a:rPr>
              <a:t>Parallel workers the lead agent starts — one per subject — each with its own focused context.</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Goal</a:t>
            </a:r>
          </a:p>
          <a:p>
            <a:pPr algn="l">
              <a:spcAft>
                <a:spcPts val="300"/>
              </a:spcAft>
            </a:pPr>
            <a:r>
              <a:rPr sz="1150" b="0">
                <a:solidFill>
                  <a:srgbClr val="6B6862"/>
                </a:solidFill>
                <a:latin typeface="Calibri"/>
              </a:rPr>
              <a:t>One clear statement of what the project must achieve. Every decision the lead agent makes points at it.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vs memory</a:t>
            </a:r>
          </a:p>
          <a:p>
            <a:pPr algn="l">
              <a:spcAft>
                <a:spcPts val="300"/>
              </a:spcAft>
            </a:pPr>
            <a:r>
              <a:rPr sz="1150" b="0">
                <a:solidFill>
                  <a:srgbClr val="6B6862"/>
                </a:solidFill>
                <a:latin typeface="Calibri"/>
              </a:rPr>
              <a:t>Instructions are the rules you write. Memory is what the project learns and keeps — and you can edit it.</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Live Artefacts</a:t>
            </a:r>
          </a:p>
          <a:p>
            <a:pPr algn="l">
              <a:spcAft>
                <a:spcPts val="300"/>
              </a:spcAft>
            </a:pPr>
            <a:r>
              <a:rPr sz="1150" b="0">
                <a:solidFill>
                  <a:srgbClr val="6B6862"/>
                </a:solidFill>
                <a:latin typeface="Calibri"/>
              </a:rPr>
              <a:t>Interactive tools — dashboards, trackers — that persist in your workspace instead of scrolling away in chat.</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42</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01</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Create a Claude Project with a goal, instructions, context and memory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Lumo Kopi Co. launches Lumo Cold Kopi in six weeks, and the marketing work will keep coming until launch day — exactly what a Claude Project is for. You create the Lumo Cold Kopi Launch project, give it a goal, add the brand kit as context, write its standing instructions, and check that its lead agent understood all three. Every later lab runs inside this project.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Lumo Cold Kopi Launch project, with a goal, instructions, three context files and a first memory entry.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desktop app, Claude Projects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43</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01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Set up: paste Block 2 into Project settings → Memory — S$ prices, brand guidelines, no health claims, approval first.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Set up: add the brand kit — guidelines, product sheet and launch brief.</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Outputs are saved in the project. Local by default; Topic 3 adds a cloud environment.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yet — Lab 8 adds the first scheduled task.</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44</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GOAL</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Launch Lumo Cold Kopi in Singapore on 1 December 2026.</a:t>
            </a:r>
          </a:p>
          <a:p>
            <a:pPr algn="l">
              <a:spcAft>
                <a:spcPts val="200"/>
              </a:spcAft>
            </a:pPr>
            <a:r>
              <a:rPr sz="1500" b="0">
                <a:solidFill>
                  <a:srgbClr val="21201C"/>
                </a:solidFill>
                <a:latin typeface="Calibri"/>
              </a:rPr>
              <a:t>Produce the market research, a launch deck, a campaign brief,</a:t>
            </a:r>
          </a:p>
          <a:p>
            <a:pPr algn="l">
              <a:spcAft>
                <a:spcPts val="200"/>
              </a:spcAft>
            </a:pPr>
            <a:r>
              <a:rPr sz="1500" b="0">
                <a:solidFill>
                  <a:srgbClr val="21201C"/>
                </a:solidFill>
                <a:latin typeface="Calibri"/>
              </a:rPr>
              <a:t>two weeks of social media posts and a 15-second launch video,</a:t>
            </a:r>
          </a:p>
          <a:p>
            <a:pPr algn="l">
              <a:spcAft>
                <a:spcPts val="200"/>
              </a:spcAft>
            </a:pPr>
            <a:r>
              <a:rPr sz="1500" b="0">
                <a:solidFill>
                  <a:srgbClr val="21201C"/>
                </a:solidFill>
                <a:latin typeface="Calibri"/>
              </a:rPr>
              <a:t>within a S$60,000 budget, so that 25-34 year-olds on Instagram</a:t>
            </a:r>
          </a:p>
          <a:p>
            <a:pPr algn="l">
              <a:spcAft>
                <a:spcPts val="200"/>
              </a:spcAft>
            </a:pPr>
            <a:r>
              <a:rPr sz="1500" b="0">
                <a:solidFill>
                  <a:srgbClr val="21201C"/>
                </a:solidFill>
                <a:latin typeface="Calibri"/>
              </a:rPr>
              <a:t>and TikTok know the product exists by launch day.</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Name: Lumo Cold Kopi Launch. Add the three brand-kit files as Context.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45</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5</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INSTRUCTIONS</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You are the marketing team for Lumo Kopi Co.</a:t>
            </a:r>
          </a:p>
          <a:p>
            <a:pPr algn="l">
              <a:spcAft>
                <a:spcPts val="200"/>
              </a:spcAft>
            </a:pPr>
            <a:r>
              <a:rPr sz="1500" b="0">
                <a:solidFill>
                  <a:srgbClr val="21201C"/>
                </a:solidFill>
                <a:latin typeface="Calibri"/>
              </a:rPr>
              <a:t>- Prices are in Singapore dollars: S$3.90 per can, S$42.00 per</a:t>
            </a:r>
          </a:p>
          <a:p>
            <a:pPr algn="l">
              <a:spcAft>
                <a:spcPts val="200"/>
              </a:spcAft>
            </a:pPr>
            <a:r>
              <a:rPr sz="1500" b="0">
                <a:solidFill>
                  <a:srgbClr val="21201C"/>
                </a:solidFill>
                <a:latin typeface="Calibri"/>
              </a:rPr>
              <a:t>  12-pack. Always two decimals.</a:t>
            </a:r>
          </a:p>
          <a:p>
            <a:pPr algn="l">
              <a:spcAft>
                <a:spcPts val="200"/>
              </a:spcAft>
            </a:pPr>
            <a:r>
              <a:rPr sz="1500" b="0">
                <a:solidFill>
                  <a:srgbClr val="21201C"/>
                </a:solidFill>
                <a:latin typeface="Calibri"/>
              </a:rPr>
              <a:t>- Follow lumo-brand-guidelines.md for anything customer-facing.</a:t>
            </a:r>
          </a:p>
          <a:p>
            <a:pPr algn="l">
              <a:spcAft>
                <a:spcPts val="200"/>
              </a:spcAft>
            </a:pPr>
            <a:r>
              <a:rPr sz="1500" b="0">
                <a:solidFill>
                  <a:srgbClr val="21201C"/>
                </a:solidFill>
                <a:latin typeface="Calibri"/>
              </a:rPr>
              <a:t>- Never describe the product as healthy. You may say 5 g sugar.</a:t>
            </a:r>
          </a:p>
          <a:p>
            <a:pPr algn="l">
              <a:spcAft>
                <a:spcPts val="200"/>
              </a:spcAft>
            </a:pPr>
            <a:r>
              <a:rPr sz="1500" b="0">
                <a:solidFill>
                  <a:srgbClr val="21201C"/>
                </a:solidFill>
                <a:latin typeface="Calibri"/>
              </a:rPr>
              <a:t>- Never send an email or publish a post without my approval.</a:t>
            </a:r>
          </a:p>
          <a:p>
            <a:pPr algn="l">
              <a:spcAft>
                <a:spcPts val="200"/>
              </a:spcAft>
            </a:pPr>
            <a:r>
              <a:rPr sz="1500" b="0">
                <a:solidFill>
                  <a:srgbClr val="21201C"/>
                </a:solidFill>
                <a:latin typeface="Calibri"/>
              </a:rPr>
              <a:t>- When a job has several independent subjects, give each one</a:t>
            </a:r>
          </a:p>
          <a:p>
            <a:pPr algn="l">
              <a:spcAft>
                <a:spcPts val="200"/>
              </a:spcAft>
            </a:pPr>
            <a:r>
              <a:rPr sz="1500" b="0">
                <a:solidFill>
                  <a:srgbClr val="21201C"/>
                </a:solidFill>
                <a:latin typeface="Calibri"/>
              </a:rPr>
              <a:t>  its own thread and merge the results for me.</a:t>
            </a:r>
          </a:p>
          <a:p>
            <a:pPr algn="l">
              <a:spcAft>
                <a:spcPts val="200"/>
              </a:spcAft>
            </a:pPr>
            <a:r>
              <a:rPr sz="1500" b="0">
                <a:solidFill>
                  <a:srgbClr val="21201C"/>
                </a:solidFill>
                <a:latin typeface="Calibri"/>
              </a:rPr>
              <a:t>- Flag any figure that two sources disagree on. Do not pick one.</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Save the instructions before you send Block 3.</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46</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FIRST MESSAGE</a:t>
            </a:r>
          </a:p>
        </p:txBody>
      </p:sp>
      <p:sp>
        <p:nvSpPr>
          <p:cNvPr id="5" name="Rectangle 4"/>
          <p:cNvSpPr/>
          <p:nvPr/>
        </p:nvSpPr>
        <p:spPr>
          <a:xfrm>
            <a:off x="548640" y="1828800"/>
            <a:ext cx="11064240" cy="315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15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46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Before we start work, check your setup:</a:t>
            </a:r>
          </a:p>
          <a:p>
            <a:pPr algn="l">
              <a:spcAft>
                <a:spcPts val="200"/>
              </a:spcAft>
            </a:pPr>
            <a:r>
              <a:rPr sz="1500" b="0">
                <a:solidFill>
                  <a:srgbClr val="21201C"/>
                </a:solidFill>
                <a:latin typeface="Calibri"/>
              </a:rPr>
              <a:t>1. Restate the project goal in one line.</a:t>
            </a:r>
          </a:p>
          <a:p>
            <a:pPr algn="l">
              <a:spcAft>
                <a:spcPts val="200"/>
              </a:spcAft>
            </a:pPr>
            <a:r>
              <a:rPr sz="1500" b="0">
                <a:solidFill>
                  <a:srgbClr val="21201C"/>
                </a:solidFill>
                <a:latin typeface="Calibri"/>
              </a:rPr>
              <a:t>2. List the context files you can read and what each is for.</a:t>
            </a:r>
          </a:p>
          <a:p>
            <a:pPr algn="l">
              <a:spcAft>
                <a:spcPts val="200"/>
              </a:spcAft>
            </a:pPr>
            <a:r>
              <a:rPr sz="1500" b="0">
                <a:solidFill>
                  <a:srgbClr val="21201C"/>
                </a:solidFill>
                <a:latin typeface="Calibri"/>
              </a:rPr>
              <a:t>3. List the three instructions you think matter most.</a:t>
            </a:r>
          </a:p>
          <a:p>
            <a:pPr algn="l">
              <a:spcAft>
                <a:spcPts val="200"/>
              </a:spcAft>
            </a:pPr>
            <a:r>
              <a:rPr sz="1500" b="0">
                <a:solidFill>
                  <a:srgbClr val="21201C"/>
                </a:solidFill>
                <a:latin typeface="Calibri"/>
              </a:rPr>
              <a:t>4. From the product sheet, give me the price per can, the sugar</a:t>
            </a:r>
          </a:p>
          <a:p>
            <a:pPr algn="l">
              <a:spcAft>
                <a:spcPts val="200"/>
              </a:spcAft>
            </a:pPr>
            <a:r>
              <a:rPr sz="1500" b="0">
                <a:solidFill>
                  <a:srgbClr val="21201C"/>
                </a:solidFill>
                <a:latin typeface="Calibri"/>
              </a:rPr>
              <a:t>   per can and the launch date.</a:t>
            </a:r>
          </a:p>
          <a:p>
            <a:pPr algn="l">
              <a:spcAft>
                <a:spcPts val="200"/>
              </a:spcAft>
            </a:pPr>
            <a:r>
              <a:rPr sz="1500" b="0">
                <a:solidFill>
                  <a:srgbClr val="21201C"/>
                </a:solidFill>
                <a:latin typeface="Calibri"/>
              </a:rPr>
              <a:t>Then remember this for the project: our primary audience is</a:t>
            </a:r>
          </a:p>
          <a:p>
            <a:pPr algn="l">
              <a:spcAft>
                <a:spcPts val="200"/>
              </a:spcAft>
            </a:pPr>
            <a:r>
              <a:rPr sz="1500" b="0">
                <a:solidFill>
                  <a:srgbClr val="21201C"/>
                </a:solidFill>
                <a:latin typeface="Calibri"/>
              </a:rPr>
              <a:t>25-34 year-olds in Singapore, and our secondary market is</a:t>
            </a:r>
          </a:p>
          <a:p>
            <a:pPr algn="l">
              <a:spcAft>
                <a:spcPts val="200"/>
              </a:spcAft>
            </a:pPr>
            <a:r>
              <a:rPr sz="1500" b="0">
                <a:solidFill>
                  <a:srgbClr val="21201C"/>
                </a:solidFill>
                <a:latin typeface="Calibri"/>
              </a:rPr>
              <a:t>Kuala Lumpur, launching 15 January 2027.</a:t>
            </a:r>
          </a:p>
        </p:txBody>
      </p:sp>
      <p:sp>
        <p:nvSpPr>
          <p:cNvPr id="9" name="TextBox 8"/>
          <p:cNvSpPr txBox="1"/>
          <p:nvPr/>
        </p:nvSpPr>
        <p:spPr>
          <a:xfrm>
            <a:off x="548640" y="525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Check the four answers, then find the new entry in the memory files.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47</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course labs and open the Lab 01 data/brand-kit folder.</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Claude desktop app, open Projects from the sidebar and click New project.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Name the project Lumo Cold Kopi Launch and paste Block 1 into the Goal field.</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Under Context, add the three brand-kit files, then click Create project.</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Click the gear icon to open Project settings, choose Memory, and paste Block 2 into Project instructions. Save.</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While you are in settings, open General and look at Models.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Back in the project, send Block 3 to the lead agent.</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answers: S$3.90 per can, 5 g sugar, launch 1 December 2026.</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memory entry about the audience and Kuala Lumpur.</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48</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01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Set Up the Lumo Launch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Lumo Cold Kopi Launch project exists with the goal from Block 1, the three brand-kit files under Context and the Block 2 instructions saved. The lead agent restated the goal, listed all three context files, and quoted S$3.90 per can, 5 g sugar and a 1 December 2026 launch. A memory file now records the 25-34 audience and the 15 January 2027 Kuala Lumpur launch.</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49</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RESEARCH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 Research in Four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Four subjects, none depending on another — so they can run at once.</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Competitors</a:t>
            </a:r>
          </a:p>
          <a:p>
            <a:pPr algn="l">
              <a:spcAft>
                <a:spcPts val="300"/>
              </a:spcAft>
            </a:pPr>
            <a:r>
              <a:rPr sz="1150" b="0">
                <a:solidFill>
                  <a:srgbClr val="6B6862"/>
                </a:solidFill>
                <a:latin typeface="Calibri"/>
              </a:rPr>
              <a:t>Six cold-brew brands: price, pack, positioning, and the gap Lumo can own.</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Customer survey</a:t>
            </a:r>
          </a:p>
          <a:p>
            <a:pPr algn="l">
              <a:spcAft>
                <a:spcPts val="300"/>
              </a:spcAft>
            </a:pPr>
            <a:r>
              <a:rPr sz="1150" b="0">
                <a:solidFill>
                  <a:srgbClr val="6B6862"/>
                </a:solidFill>
                <a:latin typeface="Calibri"/>
              </a:rPr>
              <a:t>400 respondents: who is likely to buy, why, and where they discover drinks.</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Pricing</a:t>
            </a:r>
          </a:p>
          <a:p>
            <a:pPr algn="l">
              <a:spcAft>
                <a:spcPts val="300"/>
              </a:spcAft>
            </a:pPr>
            <a:r>
              <a:rPr sz="1150" b="0">
                <a:solidFill>
                  <a:srgbClr val="6B6862"/>
                </a:solidFill>
                <a:latin typeface="Calibri"/>
              </a:rPr>
              <a:t>Where S$3.90 sits against the market, and what the survey says people will pay.</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trends</a:t>
            </a:r>
          </a:p>
          <a:p>
            <a:pPr algn="l">
              <a:spcAft>
                <a:spcPts val="300"/>
              </a:spcAft>
            </a:pPr>
            <a:r>
              <a:rPr sz="1150" b="0">
                <a:solidFill>
                  <a:srgbClr val="6B6862"/>
                </a:solidFill>
                <a:latin typeface="Calibri"/>
              </a:rPr>
              <a:t>Which content themes earn the most engagement in the category right now.</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Each thread gets one subject and its own data file. The lead agent merges the four findings into one research brief — and flags where they disagree.</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50</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02</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Hand a multi-subject research job to the lead agent and verify the merged brief</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Before anyone writes a post, the team needs to know the market. Four subjects need research — competitors, the customer survey, pricing and social trends — and none depends on another. You give the whole job to the lead agent in one message. It starts one thread per subject, each with its own data file, then merges the four findings into one research brief, which you check against the data.</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research brief (lumo-research-brief.docx) merged from four parallel threads, saved in the project.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web search</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51</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02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one thread per subject, and flag any figure two sources disagree on.</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launch brief, so every thread knows the product, price and audience.</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attach the three CSVs; lumo-research-brief.docx is saved in the project.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the four threads run now, in parallel.</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52</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Research the market in four threads</a:t>
            </a:r>
          </a:p>
        </p:txBody>
      </p:sp>
      <p:sp>
        <p:nvSpPr>
          <p:cNvPr id="5" name="Rectangle 4"/>
          <p:cNvSpPr/>
          <p:nvPr/>
        </p:nvSpPr>
        <p:spPr>
          <a:xfrm>
            <a:off x="548640" y="1828800"/>
            <a:ext cx="11064240" cy="3368039"/>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368039"/>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Research the market for the Lumo Cold Kopi launch. The data is in</a:t>
            </a:r>
          </a:p>
          <a:p>
            <a:pPr algn="l">
              <a:spcAft>
                <a:spcPts val="200"/>
              </a:spcAft>
            </a:pPr>
            <a:r>
              <a:rPr sz="1200" b="0">
                <a:solidFill>
                  <a:srgbClr val="21201C"/>
                </a:solidFill>
                <a:latin typeface="Calibri"/>
              </a:rPr>
              <a:t>the three files I have attached. Split this into four threads,</a:t>
            </a:r>
          </a:p>
          <a:p>
            <a:pPr algn="l">
              <a:spcAft>
                <a:spcPts val="200"/>
              </a:spcAft>
            </a:pPr>
            <a:r>
              <a:rPr sz="1200" b="0">
                <a:solidFill>
                  <a:srgbClr val="21201C"/>
                </a:solidFill>
                <a:latin typeface="Calibri"/>
              </a:rPr>
              <a:t>one per subject, and run them in parallel:</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Thread 1 - COMPETITORS (lumo-competitors.csv): price per can, pack,</a:t>
            </a:r>
          </a:p>
          <a:p>
            <a:pPr algn="l">
              <a:spcAft>
                <a:spcPts val="200"/>
              </a:spcAft>
            </a:pPr>
            <a:r>
              <a:rPr sz="1200" b="0">
                <a:solidFill>
                  <a:srgbClr val="21201C"/>
                </a:solidFill>
                <a:latin typeface="Calibri"/>
              </a:rPr>
              <a:t>  positioning and channel for each brand. Where is the gap Lumo</a:t>
            </a:r>
          </a:p>
          <a:p>
            <a:pPr algn="l">
              <a:spcAft>
                <a:spcPts val="200"/>
              </a:spcAft>
            </a:pPr>
            <a:r>
              <a:rPr sz="1200" b="0">
                <a:solidFill>
                  <a:srgbClr val="21201C"/>
                </a:solidFill>
                <a:latin typeface="Calibri"/>
              </a:rPr>
              <a:t>  can own?</a:t>
            </a:r>
          </a:p>
          <a:p>
            <a:pPr algn="l">
              <a:spcAft>
                <a:spcPts val="200"/>
              </a:spcAft>
            </a:pPr>
            <a:r>
              <a:rPr sz="1200" b="0">
                <a:solidFill>
                  <a:srgbClr val="21201C"/>
                </a:solidFill>
                <a:latin typeface="Calibri"/>
              </a:rPr>
              <a:t>Thread 2 - CUSTOMERS (lumo-consumer-survey-2026.csv): share likely</a:t>
            </a:r>
          </a:p>
          <a:p>
            <a:pPr algn="l">
              <a:spcAft>
                <a:spcPts val="200"/>
              </a:spcAft>
            </a:pPr>
            <a:r>
              <a:rPr sz="1200" b="0">
                <a:solidFill>
                  <a:srgbClr val="21201C"/>
                </a:solidFill>
                <a:latin typeface="Calibri"/>
              </a:rPr>
              <a:t>  to buy (intent 4 or 5), split by age band and city; top purchase</a:t>
            </a:r>
          </a:p>
          <a:p>
            <a:pPr algn="l">
              <a:spcAft>
                <a:spcPts val="200"/>
              </a:spcAft>
            </a:pPr>
            <a:r>
              <a:rPr sz="1200" b="0">
                <a:solidFill>
                  <a:srgbClr val="21201C"/>
                </a:solidFill>
                <a:latin typeface="Calibri"/>
              </a:rPr>
              <a:t>  drivers; top discovery channels.</a:t>
            </a:r>
          </a:p>
        </p:txBody>
      </p:sp>
      <p:sp>
        <p:nvSpPr>
          <p:cNvPr id="9" name="TextBox 8"/>
          <p:cNvSpPr txBox="1"/>
          <p:nvPr/>
        </p:nvSpPr>
        <p:spPr>
          <a:xfrm>
            <a:off x="6286500" y="2359152"/>
            <a:ext cx="5006340" cy="2682239"/>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3 - PRICING: where S$3.90 sits against the competitor</a:t>
            </a:r>
          </a:p>
          <a:p>
            <a:pPr algn="l">
              <a:spcAft>
                <a:spcPts val="200"/>
              </a:spcAft>
            </a:pPr>
            <a:r>
              <a:rPr sz="1200" b="0">
                <a:solidFill>
                  <a:srgbClr val="21201C"/>
                </a:solidFill>
                <a:latin typeface="Calibri"/>
              </a:rPr>
              <a:t>  median, and the share of respondents willing to pay S$3.50 or</a:t>
            </a:r>
          </a:p>
          <a:p>
            <a:pPr algn="l">
              <a:spcAft>
                <a:spcPts val="200"/>
              </a:spcAft>
            </a:pPr>
            <a:r>
              <a:rPr sz="1200" b="0">
                <a:solidFill>
                  <a:srgbClr val="21201C"/>
                </a:solidFill>
                <a:latin typeface="Calibri"/>
              </a:rPr>
              <a:t>  more.</a:t>
            </a:r>
          </a:p>
          <a:p>
            <a:pPr algn="l">
              <a:spcAft>
                <a:spcPts val="200"/>
              </a:spcAft>
            </a:pPr>
            <a:r>
              <a:rPr sz="1200" b="0">
                <a:solidFill>
                  <a:srgbClr val="21201C"/>
                </a:solidFill>
                <a:latin typeface="Calibri"/>
              </a:rPr>
              <a:t>Thread 4 - SOCIAL TRENDS (lumo-social-trends.csv): the three content</a:t>
            </a:r>
          </a:p>
          <a:p>
            <a:pPr algn="l">
              <a:spcAft>
                <a:spcPts val="200"/>
              </a:spcAft>
            </a:pPr>
            <a:r>
              <a:rPr sz="1200" b="0">
                <a:solidFill>
                  <a:srgbClr val="21201C"/>
                </a:solidFill>
                <a:latin typeface="Calibri"/>
              </a:rPr>
              <a:t>  themes with the highest engagement, with one post idea each.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When all four threads are done, merge them into one research brief,</a:t>
            </a:r>
          </a:p>
          <a:p>
            <a:pPr algn="l">
              <a:spcAft>
                <a:spcPts val="200"/>
              </a:spcAft>
            </a:pPr>
            <a:r>
              <a:rPr sz="1200" b="0">
                <a:solidFill>
                  <a:srgbClr val="21201C"/>
                </a:solidFill>
                <a:latin typeface="Calibri"/>
              </a:rPr>
              <a:t>lumo-research-brief.docx: a one-paragraph summary, one section per</a:t>
            </a:r>
          </a:p>
          <a:p>
            <a:pPr algn="l">
              <a:spcAft>
                <a:spcPts val="200"/>
              </a:spcAft>
            </a:pPr>
            <a:r>
              <a:rPr sz="1200" b="0">
                <a:solidFill>
                  <a:srgbClr val="21201C"/>
                </a:solidFill>
                <a:latin typeface="Calibri"/>
              </a:rPr>
              <a:t>thread with the key numbers, and three recommendations for the</a:t>
            </a:r>
          </a:p>
          <a:p>
            <a:pPr algn="l">
              <a:spcAft>
                <a:spcPts val="200"/>
              </a:spcAft>
            </a:pPr>
            <a:r>
              <a:rPr sz="1200" b="0">
                <a:solidFill>
                  <a:srgbClr val="21201C"/>
                </a:solidFill>
                <a:latin typeface="Calibri"/>
              </a:rPr>
              <a:t>launch. Show your working for every percentage. Tell me which</a:t>
            </a:r>
          </a:p>
          <a:p>
            <a:pPr algn="l">
              <a:spcAft>
                <a:spcPts val="200"/>
              </a:spcAft>
            </a:pPr>
            <a:r>
              <a:rPr sz="1200" b="0">
                <a:solidFill>
                  <a:srgbClr val="21201C"/>
                </a:solidFill>
                <a:latin typeface="Calibri"/>
              </a:rPr>
              <a:t>thread produced each section, and flag anything the threads</a:t>
            </a:r>
          </a:p>
          <a:p>
            <a:pPr algn="l">
              <a:spcAft>
                <a:spcPts val="200"/>
              </a:spcAft>
            </a:pPr>
            <a:r>
              <a:rPr sz="1200" b="0">
                <a:solidFill>
                  <a:srgbClr val="21201C"/>
                </a:solidFill>
                <a:latin typeface="Calibri"/>
              </a:rPr>
              <a:t>disagree on.</a:t>
            </a:r>
          </a:p>
        </p:txBody>
      </p:sp>
      <p:sp>
        <p:nvSpPr>
          <p:cNvPr id="10" name="Rectangle 9"/>
          <p:cNvSpPr/>
          <p:nvPr/>
        </p:nvSpPr>
        <p:spPr>
          <a:xfrm>
            <a:off x="6080760" y="2395728"/>
            <a:ext cx="9144" cy="2590799"/>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471159"/>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three CSV files from the Lab 02 data folder, or add them to the project's Context first.</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53</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02 data folder and glance at the three CSV files.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Lumo Cold Kopi Launch project, attach the three files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announce the threads it starts.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one thread while it works and read its brief.</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brief arrives, check the survey numbers.</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channel and driver findings.</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pricing section.</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trends section and the recommendations.</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lumo-research-brief.docx and confirm each section names its thread.</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54</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02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Run Market Research in Parallel Threads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lumo-research-brief.docx has a summary, four thread sections and three recommendations. It reports 400 respondents, 248 likely to buy (62%), 112 of 152 aged 25-34 (74%), Instagram as the top discovery channel at 34%, Taste as the top driver at 31%, a competitor median of S$4.30 with Lumo's S$3.90 below it, 228 respondents (57%) willing to pay S$3.50 or more, and Taste tests and first-sip reactions as the top content theme.</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55</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Why a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difference between an answer you read and a tool you keep.</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 normal chat answer</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 static snapshot in the conversation.</a:t>
            </a:r>
          </a:p>
          <a:p>
            <a:pPr algn="l">
              <a:spcAft>
                <a:spcPts val="900"/>
              </a:spcAft>
            </a:pPr>
            <a:r>
              <a:rPr sz="1250" b="0">
                <a:solidFill>
                  <a:srgbClr val="21201C"/>
                </a:solidFill>
                <a:latin typeface="Calibri"/>
              </a:rPr>
              <a:t>•  Scrolls away as the chat grows.</a:t>
            </a:r>
          </a:p>
          <a:p>
            <a:pPr algn="l">
              <a:spcAft>
                <a:spcPts val="900"/>
              </a:spcAft>
            </a:pPr>
            <a:r>
              <a:rPr sz="1250" b="0">
                <a:solidFill>
                  <a:srgbClr val="21201C"/>
                </a:solidFill>
                <a:latin typeface="Calibri"/>
              </a:rPr>
              <a:t>•  Figures are frozen at the moment they were written.</a:t>
            </a:r>
          </a:p>
          <a:p>
            <a:pPr algn="l">
              <a:spcAft>
                <a:spcPts val="900"/>
              </a:spcAft>
            </a:pPr>
            <a:r>
              <a:rPr sz="1250" b="0">
                <a:solidFill>
                  <a:srgbClr val="21201C"/>
                </a:solidFill>
                <a:latin typeface="Calibri"/>
              </a:rPr>
              <a:t>•  You copy and paste to reuse anything.</a:t>
            </a:r>
          </a:p>
          <a:p>
            <a:pPr algn="l">
              <a:spcAft>
                <a:spcPts val="900"/>
              </a:spcAft>
            </a:pPr>
            <a:r>
              <a:rPr sz="1250" b="0">
                <a:solidFill>
                  <a:srgbClr val="21201C"/>
                </a:solidFill>
                <a:latin typeface="Calibri"/>
              </a:rPr>
              <a:t>•  Nothing to click, filter or explore.</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Live Artefact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An interactive tool with its own place in the workspace.</a:t>
            </a:r>
          </a:p>
          <a:p>
            <a:pPr algn="l">
              <a:spcAft>
                <a:spcPts val="900"/>
              </a:spcAft>
            </a:pPr>
            <a:r>
              <a:rPr sz="1250" b="0">
                <a:solidFill>
                  <a:srgbClr val="21201C"/>
                </a:solidFill>
                <a:latin typeface="Calibri"/>
              </a:rPr>
              <a:t>•  Reopenable — it stays available after the chat ends.</a:t>
            </a:r>
          </a:p>
          <a:p>
            <a:pPr algn="l">
              <a:spcAft>
                <a:spcPts val="900"/>
              </a:spcAft>
            </a:pPr>
            <a:r>
              <a:rPr sz="1250" b="0">
                <a:solidFill>
                  <a:srgbClr val="21201C"/>
                </a:solidFill>
                <a:latin typeface="Calibri"/>
              </a:rPr>
              <a:t>•  Can refresh from connected data when reopened.</a:t>
            </a:r>
          </a:p>
          <a:p>
            <a:pPr algn="l">
              <a:spcAft>
                <a:spcPts val="900"/>
              </a:spcAft>
            </a:pPr>
            <a:r>
              <a:rPr sz="1250" b="0">
                <a:solidFill>
                  <a:srgbClr val="21201C"/>
                </a:solidFill>
                <a:latin typeface="Calibri"/>
              </a:rPr>
              <a:t>•  Keeps what you typed into it between sessions.</a:t>
            </a:r>
          </a:p>
          <a:p>
            <a:pPr algn="l">
              <a:spcAft>
                <a:spcPts val="900"/>
              </a:spcAft>
            </a:pPr>
            <a:r>
              <a:rPr sz="1250" b="0">
                <a:solidFill>
                  <a:srgbClr val="21201C"/>
                </a:solidFill>
                <a:latin typeface="Calibri"/>
              </a:rPr>
              <a:t>•  Clickable: filter, sort and drill into the numbers.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56</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Building a Live Artefact</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Describe</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the tool you want — a dashboard, tracker or planner — and what data it shows.</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Generate</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the code and renders it in the preview pane beside the chat.</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changes in plain English until the layout and figures are right.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Save it so it persists as a reusable tool, not a lost chat message.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Download</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Export a copy to file, attach or hand on to someone without Claude.</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You describe the outcome in plain English — Claude writes and runs the code.</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57</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1 · LIVE ARTEFACTS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an Artefact Can and Cannot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Artefacts run in a sandbox, so anything needing the internet has to come in another way.</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An artefact CAN</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Run interactive code — inputs, filters, charts.</a:t>
            </a:r>
          </a:p>
          <a:p>
            <a:pPr algn="l">
              <a:spcAft>
                <a:spcPts val="900"/>
              </a:spcAft>
            </a:pPr>
            <a:r>
              <a:rPr sz="1250" b="0">
                <a:solidFill>
                  <a:srgbClr val="21201C"/>
                </a:solidFill>
                <a:latin typeface="Calibri"/>
              </a:rPr>
              <a:t>•  Use data you gave it, or that Claude looked up while building.</a:t>
            </a:r>
          </a:p>
          <a:p>
            <a:pPr algn="l">
              <a:spcAft>
                <a:spcPts val="900"/>
              </a:spcAft>
            </a:pPr>
            <a:r>
              <a:rPr sz="1250" b="0">
                <a:solidFill>
                  <a:srgbClr val="21201C"/>
                </a:solidFill>
                <a:latin typeface="Calibri"/>
              </a:rPr>
              <a:t>•  Keep what you type into it between sessions.</a:t>
            </a:r>
          </a:p>
          <a:p>
            <a:pPr algn="l">
              <a:spcAft>
                <a:spcPts val="900"/>
              </a:spcAft>
            </a:pPr>
            <a:r>
              <a:rPr sz="1250" b="0">
                <a:solidFill>
                  <a:srgbClr val="21201C"/>
                </a:solidFill>
                <a:latin typeface="Calibri"/>
              </a:rPr>
              <a:t>•  Be saved, reopened and shared.</a:t>
            </a:r>
          </a:p>
          <a:p>
            <a:pPr algn="l">
              <a:spcAft>
                <a:spcPts val="900"/>
              </a:spcAft>
            </a:pPr>
            <a:r>
              <a:rPr sz="1250" b="0">
                <a:solidFill>
                  <a:srgbClr val="21201C"/>
                </a:solidFill>
                <a:latin typeface="Calibri"/>
              </a:rPr>
              <a:t>•  Be downloaded as a file you own.</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An artefact CANNOT</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Call an external API or website — the sandbox blocks it.</a:t>
            </a:r>
          </a:p>
          <a:p>
            <a:pPr algn="l">
              <a:spcAft>
                <a:spcPts val="900"/>
              </a:spcAft>
            </a:pPr>
            <a:r>
              <a:rPr sz="1250" b="0">
                <a:solidFill>
                  <a:srgbClr val="21201C"/>
                </a:solidFill>
                <a:latin typeface="Calibri"/>
              </a:rPr>
              <a:t>•  Load a script, font or image from another site.</a:t>
            </a:r>
          </a:p>
          <a:p>
            <a:pPr algn="l">
              <a:spcAft>
                <a:spcPts val="900"/>
              </a:spcAft>
            </a:pPr>
            <a:r>
              <a:rPr sz="1250" b="0">
                <a:solidFill>
                  <a:srgbClr val="21201C"/>
                </a:solidFill>
                <a:latin typeface="Calibri"/>
              </a:rPr>
              <a:t>•  Reach your local files or network.</a:t>
            </a:r>
          </a:p>
          <a:p>
            <a:pPr algn="l">
              <a:spcAft>
                <a:spcPts val="900"/>
              </a:spcAft>
            </a:pPr>
            <a:r>
              <a:rPr sz="1250" b="0">
                <a:solidFill>
                  <a:srgbClr val="21201C"/>
                </a:solidFill>
                <a:latin typeface="Calibri"/>
              </a:rPr>
              <a:t>•  Refresh third-party data on its own.</a:t>
            </a:r>
          </a:p>
          <a:p>
            <a:pPr algn="l">
              <a:spcAft>
                <a:spcPts val="900"/>
              </a:spcAft>
            </a:pPr>
            <a:r>
              <a:rPr sz="1250" b="0">
                <a:solidFill>
                  <a:srgbClr val="21201C"/>
                </a:solidFill>
                <a:latin typeface="Calibri"/>
              </a:rPr>
              <a:t>•  So: bake the data in, or download the HTML and run it yourself.</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58</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03</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Turn research data into an interactive Live Artefact dashboard and save it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research brief is a document; the launch team wants something they can explore. You turn the survey and competitor data into a Live Artefact — KPI tiles, a channel chart, a price ladder and a city filter — refine it in plain English, save it and download a copy. The launch deck in Lab 5 quotes this dashboard's numbers.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saved Market Insights Live Artefact, plus a downloaded HTML copy.</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Live Artefacts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59</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03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S$ prices with two decimals on every tile and chart.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product sheet, for Lumo's own price beside the competitors.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the survey and competitor CSVs; the HTML copy downloads to your computer.</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60</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dashboard</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Using lumo-consumer-survey-2026.csv and lumo-competitors.csv, build</a:t>
            </a:r>
          </a:p>
          <a:p>
            <a:pPr algn="l">
              <a:spcAft>
                <a:spcPts val="200"/>
              </a:spcAft>
            </a:pPr>
            <a:r>
              <a:rPr sz="1200" b="0">
                <a:solidFill>
                  <a:srgbClr val="21201C"/>
                </a:solidFill>
                <a:latin typeface="Calibri"/>
              </a:rPr>
              <a:t>a Live Artefact: an interactive Market Insights dashboard for the</a:t>
            </a:r>
          </a:p>
          <a:p>
            <a:pPr algn="l">
              <a:spcAft>
                <a:spcPts val="200"/>
              </a:spcAft>
            </a:pPr>
            <a:r>
              <a:rPr sz="1200" b="0">
                <a:solidFill>
                  <a:srgbClr val="21201C"/>
                </a:solidFill>
                <a:latin typeface="Calibri"/>
              </a:rPr>
              <a:t>Lumo Cold Kopi launch.</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Include:</a:t>
            </a:r>
          </a:p>
          <a:p>
            <a:pPr algn="l">
              <a:spcAft>
                <a:spcPts val="200"/>
              </a:spcAft>
            </a:pPr>
            <a:r>
              <a:rPr sz="1200" b="0">
                <a:solidFill>
                  <a:srgbClr val="21201C"/>
                </a:solidFill>
                <a:latin typeface="Calibri"/>
              </a:rPr>
              <a:t>- KPI tiles: respondents, % likely to buy (intent 4 or 5), top</a:t>
            </a:r>
          </a:p>
          <a:p>
            <a:pPr algn="l">
              <a:spcAft>
                <a:spcPts val="200"/>
              </a:spcAft>
            </a:pPr>
            <a:r>
              <a:rPr sz="1200" b="0">
                <a:solidFill>
                  <a:srgbClr val="21201C"/>
                </a:solidFill>
                <a:latin typeface="Calibri"/>
              </a:rPr>
              <a:t>  discovery channel, competitor median price.</a:t>
            </a:r>
          </a:p>
          <a:p>
            <a:pPr algn="l">
              <a:spcAft>
                <a:spcPts val="200"/>
              </a:spcAft>
            </a:pPr>
            <a:r>
              <a:rPr sz="1200" b="0">
                <a:solidFill>
                  <a:srgbClr val="21201C"/>
                </a:solidFill>
                <a:latin typeface="Calibri"/>
              </a:rPr>
              <a:t>- A bar chart of discovery channels.</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 A bar chart of purchase drivers.</a:t>
            </a:r>
          </a:p>
          <a:p>
            <a:pPr algn="l">
              <a:spcAft>
                <a:spcPts val="200"/>
              </a:spcAft>
            </a:pPr>
            <a:r>
              <a:rPr sz="1200" b="0">
                <a:solidFill>
                  <a:srgbClr val="21201C"/>
                </a:solidFill>
                <a:latin typeface="Calibri"/>
              </a:rPr>
              <a:t>- A price ladder: the six competitors and Lumo at S$3.90, cheapest</a:t>
            </a:r>
          </a:p>
          <a:p>
            <a:pPr algn="l">
              <a:spcAft>
                <a:spcPts val="200"/>
              </a:spcAft>
            </a:pPr>
            <a:r>
              <a:rPr sz="1200" b="0">
                <a:solidFill>
                  <a:srgbClr val="21201C"/>
                </a:solidFill>
                <a:latin typeface="Calibri"/>
              </a:rPr>
              <a:t>  to dearest, with Lumo highlighted.</a:t>
            </a:r>
          </a:p>
          <a:p>
            <a:pPr algn="l">
              <a:spcAft>
                <a:spcPts val="200"/>
              </a:spcAft>
            </a:pPr>
            <a:r>
              <a:rPr sz="1200" b="0">
                <a:solidFill>
                  <a:srgbClr val="21201C"/>
                </a:solidFill>
                <a:latin typeface="Calibri"/>
              </a:rPr>
              <a:t>- A filter for city: All, Singapore, Kuala Lumpur. The KPI tiles and</a:t>
            </a:r>
          </a:p>
          <a:p>
            <a:pPr algn="l">
              <a:spcAft>
                <a:spcPts val="200"/>
              </a:spcAft>
            </a:pPr>
            <a:r>
              <a:rPr sz="1200" b="0">
                <a:solidFill>
                  <a:srgbClr val="21201C"/>
                </a:solidFill>
                <a:latin typeface="Calibri"/>
              </a:rPr>
              <a:t>  both survey charts must follow the filter.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Bake the data into the artefact - do not fetch anything. Use the</a:t>
            </a:r>
          </a:p>
          <a:p>
            <a:pPr algn="l">
              <a:spcAft>
                <a:spcPts val="200"/>
              </a:spcAft>
            </a:pPr>
            <a:r>
              <a:rPr sz="1200" b="0">
                <a:solidFill>
                  <a:srgbClr val="21201C"/>
                </a:solidFill>
                <a:latin typeface="Calibri"/>
              </a:rPr>
              <a:t>Lumo brand colours from the brand guidelines. Title it</a:t>
            </a:r>
          </a:p>
          <a:p>
            <a:pPr algn="l">
              <a:spcAft>
                <a:spcPts val="200"/>
              </a:spcAft>
            </a:pPr>
            <a:r>
              <a:rPr sz="1200" b="0">
                <a:solidFill>
                  <a:srgbClr val="21201C"/>
                </a:solidFill>
                <a:latin typeface="Calibri"/>
              </a:rPr>
              <a:t>"Lumo Cold Kopi - Market Insights".</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Artefacts run in a sandbox and cannot call the internet, which is why the prompt says to bake the data in.</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61</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 with the two CSV files attached or in Context.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KPI tiles with the filter on 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Switch the filter to Singapore, then Kuala Lumpur.</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price ladder.</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refinement, for example: Put the price ladder beside the channel chart.</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Save the artefact, then download a copy as HTML.</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62</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Market Insights Live Artefact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 Insights artefact shows 400 respondents, 62% likely to buy, Instagram as the top channel and a S$4.30 competitor median. The city filter changes the respondent count to 240 (Singapore) and 160 (Kuala Lumpur) and both survey charts follow it. The price ladder runs from S$3.20 to S$5.60 with Lumo highlighted at S$3.90. The artefact is saved and an HTML copy is downloaded.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63</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Lumo Social Trends</a:t>
            </a:r>
          </a:p>
        </p:txBody>
      </p:sp>
      <p:sp>
        <p:nvSpPr>
          <p:cNvPr id="5" name="Rectangle 4"/>
          <p:cNvSpPr/>
          <p:nvPr/>
        </p:nvSpPr>
        <p:spPr>
          <a:xfrm>
            <a:off x="1121180" y="1600200"/>
            <a:ext cx="5758639"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1180" y="1600200"/>
            <a:ext cx="5758639"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social-trends.png"/>
          <p:cNvPicPr>
            <a:picLocks noChangeAspect="1"/>
          </p:cNvPicPr>
          <p:nvPr/>
        </p:nvPicPr>
        <p:blipFill>
          <a:blip r:embed="rId2"/>
          <a:stretch>
            <a:fillRect/>
          </a:stretch>
        </p:blipFill>
        <p:spPr>
          <a:xfrm>
            <a:off x="1230908" y="1709928"/>
            <a:ext cx="5539183" cy="4078224"/>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Filters</a:t>
            </a:r>
          </a:p>
          <a:p>
            <a:pPr algn="l">
              <a:spcAft>
                <a:spcPts val="300"/>
              </a:spcAft>
            </a:pPr>
            <a:r>
              <a:rPr sz="1250" b="0">
                <a:solidFill>
                  <a:srgbClr val="6B6862"/>
                </a:solidFill>
                <a:latin typeface="Calibri"/>
              </a:rPr>
              <a:t>Rank by engagement, views or posts; filter by platform and trend.</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Themes ranked</a:t>
            </a:r>
          </a:p>
          <a:p>
            <a:pPr algn="l">
              <a:spcAft>
                <a:spcPts val="300"/>
              </a:spcAft>
            </a:pPr>
            <a:r>
              <a:rPr sz="1250" b="0">
                <a:solidFill>
                  <a:srgbClr val="6B6862"/>
                </a:solidFill>
                <a:latin typeface="Calibri"/>
              </a:rPr>
              <a:t>Taste tests and first-sip reactions lead at 7.4%, and are rising.</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Pick a bar</a:t>
            </a:r>
          </a:p>
          <a:p>
            <a:pPr algn="l">
              <a:spcAft>
                <a:spcPts val="300"/>
              </a:spcAft>
            </a:pPr>
            <a:r>
              <a:rPr sz="1250" b="0">
                <a:solidFill>
                  <a:srgbClr val="6B6862"/>
                </a:solidFill>
                <a:latin typeface="Calibri"/>
              </a:rPr>
              <a:t>The right-hand card shows that theme's numbers and a draft post idea.</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Spot the gap</a:t>
            </a:r>
          </a:p>
          <a:p>
            <a:pPr algn="l">
              <a:spcAft>
                <a:spcPts val="300"/>
              </a:spcAft>
            </a:pPr>
            <a:r>
              <a:rPr sz="1250" b="0">
                <a:solidFill>
                  <a:srgbClr val="6B6862"/>
                </a:solidFill>
                <a:latin typeface="Calibri"/>
              </a:rPr>
              <a:t>The summary cards show '—'. Ask Claude to fix them — always check the numbers.</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Live Artefact built in class from the social trends research.</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64</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Who Is Likely to Buy?</a:t>
            </a:r>
          </a:p>
        </p:txBody>
      </p:sp>
      <p:sp>
        <p:nvSpPr>
          <p:cNvPr id="5" name="Rectangle 4"/>
          <p:cNvSpPr/>
          <p:nvPr/>
        </p:nvSpPr>
        <p:spPr>
          <a:xfrm>
            <a:off x="971428" y="1600200"/>
            <a:ext cx="6058144"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71428" y="1600200"/>
            <a:ext cx="605814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customer-intent.png"/>
          <p:cNvPicPr>
            <a:picLocks noChangeAspect="1"/>
          </p:cNvPicPr>
          <p:nvPr/>
        </p:nvPicPr>
        <p:blipFill>
          <a:blip r:embed="rId2"/>
          <a:stretch>
            <a:fillRect/>
          </a:stretch>
        </p:blipFill>
        <p:spPr>
          <a:xfrm>
            <a:off x="1081156" y="1709928"/>
            <a:ext cx="5838688" cy="4078224"/>
          </a:xfrm>
          <a:prstGeom prst="rect">
            <a:avLst/>
          </a:prstGeom>
        </p:spPr>
      </p:pic>
      <p:sp>
        <p:nvSpPr>
          <p:cNvPr id="8" name="Oval 7"/>
          <p:cNvSpPr/>
          <p:nvPr/>
        </p:nvSpPr>
        <p:spPr>
          <a:xfrm>
            <a:off x="7726679" y="164592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164592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166420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Filters</a:t>
            </a:r>
          </a:p>
          <a:p>
            <a:pPr algn="l">
              <a:spcAft>
                <a:spcPts val="300"/>
              </a:spcAft>
            </a:pPr>
            <a:r>
              <a:rPr sz="1250" b="0">
                <a:solidFill>
                  <a:srgbClr val="6B6862"/>
                </a:solidFill>
                <a:latin typeface="Calibri"/>
              </a:rPr>
              <a:t>City and age band; Jump to opens the primary and secondary audiences.</a:t>
            </a:r>
          </a:p>
        </p:txBody>
      </p:sp>
      <p:sp>
        <p:nvSpPr>
          <p:cNvPr id="11" name="Oval 10"/>
          <p:cNvSpPr/>
          <p:nvPr/>
        </p:nvSpPr>
        <p:spPr>
          <a:xfrm>
            <a:off x="7726679" y="26974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26974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271576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Headline</a:t>
            </a:r>
          </a:p>
          <a:p>
            <a:pPr algn="l">
              <a:spcAft>
                <a:spcPts val="300"/>
              </a:spcAft>
            </a:pPr>
            <a:r>
              <a:rPr sz="1250" b="0">
                <a:solidFill>
                  <a:srgbClr val="6B6862"/>
                </a:solidFill>
                <a:latin typeface="Calibri"/>
              </a:rPr>
              <a:t>60.0% of 160 KL respondents are likely to buy — 2 points below the overall average.</a:t>
            </a:r>
          </a:p>
        </p:txBody>
      </p:sp>
      <p:sp>
        <p:nvSpPr>
          <p:cNvPr id="14" name="Oval 13"/>
          <p:cNvSpPr/>
          <p:nvPr/>
        </p:nvSpPr>
        <p:spPr>
          <a:xfrm>
            <a:off x="7726679" y="37490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37490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376732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Price tolerance</a:t>
            </a:r>
          </a:p>
          <a:p>
            <a:pPr algn="l">
              <a:spcAft>
                <a:spcPts val="300"/>
              </a:spcAft>
            </a:pPr>
            <a:r>
              <a:rPr sz="1250" b="0">
                <a:solidFill>
                  <a:srgbClr val="6B6862"/>
                </a:solidFill>
                <a:latin typeface="Calibri"/>
              </a:rPr>
              <a:t>A third of likely buyers would pay S$3.90 or more.</a:t>
            </a:r>
          </a:p>
        </p:txBody>
      </p:sp>
      <p:sp>
        <p:nvSpPr>
          <p:cNvPr id="17" name="Oval 16"/>
          <p:cNvSpPr/>
          <p:nvPr/>
        </p:nvSpPr>
        <p:spPr>
          <a:xfrm>
            <a:off x="7726679" y="480060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26679" y="480060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19" name="TextBox 18"/>
          <p:cNvSpPr txBox="1"/>
          <p:nvPr/>
        </p:nvSpPr>
        <p:spPr>
          <a:xfrm>
            <a:off x="8183879" y="4818888"/>
            <a:ext cx="3429000" cy="10515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Explore</a:t>
            </a:r>
          </a:p>
          <a:p>
            <a:pPr algn="l">
              <a:spcAft>
                <a:spcPts val="300"/>
              </a:spcAft>
            </a:pPr>
            <a:r>
              <a:rPr sz="1250" b="0">
                <a:solidFill>
                  <a:srgbClr val="6B6862"/>
                </a:solidFill>
                <a:latin typeface="Calibri"/>
              </a:rPr>
              <a:t>Click any city and age cell to open that segment; small samples are flagged.</a:t>
            </a:r>
          </a:p>
        </p:txBody>
      </p:sp>
      <p:sp>
        <p:nvSpPr>
          <p:cNvPr id="20" name="TextBox 19"/>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Live Artefact on the consumer survey, filtered here to Kuala Lumpur.</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65</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Lumo Pricing Explorer</a:t>
            </a:r>
          </a:p>
        </p:txBody>
      </p:sp>
      <p:sp>
        <p:nvSpPr>
          <p:cNvPr id="5" name="Rectangle 4"/>
          <p:cNvSpPr/>
          <p:nvPr/>
        </p:nvSpPr>
        <p:spPr>
          <a:xfrm>
            <a:off x="840885" y="1600200"/>
            <a:ext cx="6319230"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40885" y="1600200"/>
            <a:ext cx="631923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efact-pricing-explorer.png"/>
          <p:cNvPicPr>
            <a:picLocks noChangeAspect="1"/>
          </p:cNvPicPr>
          <p:nvPr/>
        </p:nvPicPr>
        <p:blipFill>
          <a:blip r:embed="rId2"/>
          <a:stretch>
            <a:fillRect/>
          </a:stretch>
        </p:blipFill>
        <p:spPr>
          <a:xfrm>
            <a:off x="950613" y="1709928"/>
            <a:ext cx="6099774"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Price slider</a:t>
            </a:r>
          </a:p>
          <a:p>
            <a:pPr algn="l">
              <a:spcAft>
                <a:spcPts val="300"/>
              </a:spcAft>
            </a:pPr>
            <a:r>
              <a:rPr sz="1250" b="0">
                <a:solidFill>
                  <a:srgbClr val="6B6862"/>
                </a:solidFill>
                <a:latin typeface="Calibri"/>
              </a:rPr>
              <a:t>Drag it, or pick S$3.50 (12-pack) or S$3.90 (single can).</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Against competitors</a:t>
            </a:r>
          </a:p>
          <a:p>
            <a:pPr algn="l">
              <a:spcAft>
                <a:spcPts val="300"/>
              </a:spcAft>
            </a:pPr>
            <a:r>
              <a:rPr sz="1250" b="0">
                <a:solidFill>
                  <a:srgbClr val="6B6862"/>
                </a:solidFill>
                <a:latin typeface="Calibri"/>
              </a:rPr>
              <a:t>Lumo's S$3.90 can is 9.3% below the S$4.30 competitor median.</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chart</a:t>
            </a:r>
          </a:p>
          <a:p>
            <a:pPr algn="l">
              <a:spcAft>
                <a:spcPts val="300"/>
              </a:spcAft>
            </a:pPr>
            <a:r>
              <a:rPr sz="1250" b="0">
                <a:solidFill>
                  <a:srgbClr val="6B6862"/>
                </a:solidFill>
                <a:latin typeface="Calibri"/>
              </a:rPr>
              <a:t>Listed and pack prices per can, with both medians as dashed lines.</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Drag the price and every card recalculates who would still buy.</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66</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03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All Your Artefacts in One Place</a:t>
            </a:r>
          </a:p>
        </p:txBody>
      </p:sp>
      <p:sp>
        <p:nvSpPr>
          <p:cNvPr id="5" name="Rectangle 4"/>
          <p:cNvSpPr/>
          <p:nvPr/>
        </p:nvSpPr>
        <p:spPr>
          <a:xfrm>
            <a:off x="2467789" y="1600200"/>
            <a:ext cx="7225941"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67789" y="1600200"/>
            <a:ext cx="722594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artifacts-gallery.png"/>
          <p:cNvPicPr>
            <a:picLocks noChangeAspect="1"/>
          </p:cNvPicPr>
          <p:nvPr/>
        </p:nvPicPr>
        <p:blipFill>
          <a:blip r:embed="rId2"/>
          <a:stretch>
            <a:fillRect/>
          </a:stretch>
        </p:blipFill>
        <p:spPr>
          <a:xfrm>
            <a:off x="2577517" y="1709928"/>
            <a:ext cx="7006485"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Artifacts</a:t>
            </a:r>
          </a:p>
          <a:p>
            <a:pPr algn="l">
              <a:spcAft>
                <a:spcPts val="300"/>
              </a:spcAft>
            </a:pPr>
            <a:r>
              <a:rPr sz="1250" b="0">
                <a:solidFill>
                  <a:srgbClr val="6B6862"/>
                </a:solidFill>
                <a:latin typeface="Calibri"/>
              </a:rPr>
              <a:t>Open, search, sort and filter all your artefacts.</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Lock or globe</a:t>
            </a:r>
          </a:p>
          <a:p>
            <a:pPr algn="l">
              <a:spcAft>
                <a:spcPts val="300"/>
              </a:spcAft>
            </a:pPr>
            <a:r>
              <a:rPr sz="1250" b="0">
                <a:solidFill>
                  <a:srgbClr val="6B6862"/>
                </a:solidFill>
                <a:latin typeface="Calibri"/>
              </a:rPr>
              <a:t>A lock means private; a globe means shared by link.</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Pinned</a:t>
            </a:r>
          </a:p>
          <a:p>
            <a:pPr algn="l">
              <a:spcAft>
                <a:spcPts val="300"/>
              </a:spcAft>
            </a:pPr>
            <a:r>
              <a:rPr sz="1250" b="0">
                <a:solidFill>
                  <a:srgbClr val="6B6862"/>
                </a:solidFill>
                <a:latin typeface="Calibri"/>
              </a:rPr>
              <a:t>The Lumo project and its sessions stay pinned in the sidebar.</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Artifacts in the sidebar lists everything you have built, across every project.</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67</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01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Claude Projects and Market Research</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01</a:t>
            </a:r>
          </a:p>
          <a:p>
            <a:pPr algn="l">
              <a:spcAft>
                <a:spcPts val="300"/>
              </a:spcAft>
            </a:pPr>
            <a:r>
              <a:rPr sz="1150" b="0">
                <a:solidFill>
                  <a:srgbClr val="6B6862"/>
                </a:solidFill>
                <a:latin typeface="Calibri"/>
              </a:rPr>
              <a:t>You can now create a Claude Project with a goal, instructions, context and memory.</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02</a:t>
            </a:r>
          </a:p>
          <a:p>
            <a:pPr algn="l">
              <a:spcAft>
                <a:spcPts val="300"/>
              </a:spcAft>
            </a:pPr>
            <a:r>
              <a:rPr sz="1150" b="0">
                <a:solidFill>
                  <a:srgbClr val="6B6862"/>
                </a:solidFill>
                <a:latin typeface="Calibri"/>
              </a:rPr>
              <a:t>You can now hand a multi-subject research job to the lead agent and verify the merged brief.</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03</a:t>
            </a:r>
          </a:p>
          <a:p>
            <a:pPr algn="l">
              <a:spcAft>
                <a:spcPts val="300"/>
              </a:spcAft>
            </a:pPr>
            <a:r>
              <a:rPr sz="1150" b="0">
                <a:solidFill>
                  <a:srgbClr val="6B6862"/>
                </a:solidFill>
                <a:latin typeface="Calibri"/>
              </a:rPr>
              <a:t>You can now turn research data into an interactive Live Artefact dashboard and save it.</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68</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02</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Connectors, Skills and Plugins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Connectors: Drive and Gmail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Context window housekeeping</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Slides, Docs and built-in skills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Agent Skills, plugins and mods</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69</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Connectors Do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Connectors let Claude reach data and services that live outside the chat.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Drive</a:t>
            </a:r>
          </a:p>
          <a:p>
            <a:pPr algn="l">
              <a:spcAft>
                <a:spcPts val="300"/>
              </a:spcAft>
            </a:pPr>
            <a:r>
              <a:rPr sz="1150" b="0">
                <a:solidFill>
                  <a:srgbClr val="6B6862"/>
                </a:solidFill>
                <a:latin typeface="Calibri"/>
              </a:rPr>
              <a:t>Search and read Sheets, Docs, Slides and PDFs; upload files; create folders; save Claude's output back to Drive.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Gmail</a:t>
            </a:r>
          </a:p>
          <a:p>
            <a:pPr algn="l">
              <a:spcAft>
                <a:spcPts val="300"/>
              </a:spcAft>
            </a:pPr>
            <a:r>
              <a:rPr sz="1150" b="0">
                <a:solidFill>
                  <a:srgbClr val="6B6862"/>
                </a:solidFill>
                <a:latin typeface="Calibri"/>
              </a:rPr>
              <a:t>Search and read mail, draft messages, send / reply / forward with approval, and manage labels.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Google Calendar</a:t>
            </a:r>
          </a:p>
          <a:p>
            <a:pPr algn="l">
              <a:spcAft>
                <a:spcPts val="300"/>
              </a:spcAft>
            </a:pPr>
            <a:r>
              <a:rPr sz="1150" b="0">
                <a:solidFill>
                  <a:srgbClr val="6B6862"/>
                </a:solidFill>
                <a:latin typeface="Calibri"/>
              </a:rPr>
              <a:t>View events, find availability, and create or update meetings.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Social and ads tools</a:t>
            </a:r>
          </a:p>
          <a:p>
            <a:pPr algn="l">
              <a:spcAft>
                <a:spcPts val="300"/>
              </a:spcAft>
            </a:pPr>
            <a:r>
              <a:rPr sz="1150" b="0">
                <a:solidFill>
                  <a:srgbClr val="6B6862"/>
                </a:solidFill>
                <a:latin typeface="Calibri"/>
              </a:rPr>
              <a:t>Where your workspace has them, connectors for scheduling and ad platforms reach the same way — always with approval.</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by default</a:t>
            </a:r>
          </a:p>
          <a:p>
            <a:pPr algn="l">
              <a:spcAft>
                <a:spcPts val="300"/>
              </a:spcAft>
            </a:pPr>
            <a:r>
              <a:rPr sz="1150" b="0">
                <a:solidFill>
                  <a:srgbClr val="6B6862"/>
                </a:solidFill>
                <a:latin typeface="Calibri"/>
              </a:rPr>
              <a:t>Claude asks for explicit approval before it sends, replies to or forwards an email.</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manage them</a:t>
            </a:r>
          </a:p>
          <a:p>
            <a:pPr algn="l">
              <a:spcAft>
                <a:spcPts val="300"/>
              </a:spcAft>
            </a:pPr>
            <a:r>
              <a:rPr sz="1150" b="0">
                <a:solidFill>
                  <a:srgbClr val="6B6862"/>
                </a:solidFill>
                <a:latin typeface="Calibri"/>
              </a:rPr>
              <a:t>Individually from the + menu; account-wide under Customize → Connectors.</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70</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CONNECTORS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Turning On a Connector</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Open the + menu</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In the chat composer, click the plus sign.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Hover Connectors</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list of available connectors appears.</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Toggle Drive and Gmail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Switch each on and sign in to your Google account.</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Grant access</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Approve the permissions Google asks for — including file read access.</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Name the folder</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Tell Claude which Drive folder to use for this task.</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Manage them any time under Customize → Connectors.</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71</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Connector at Work: Gmail</a:t>
            </a:r>
          </a:p>
        </p:txBody>
      </p:sp>
      <p:sp>
        <p:nvSpPr>
          <p:cNvPr id="5" name="Rectangle 4"/>
          <p:cNvSpPr/>
          <p:nvPr/>
        </p:nvSpPr>
        <p:spPr>
          <a:xfrm>
            <a:off x="548640" y="1600200"/>
            <a:ext cx="11064240" cy="2105505"/>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600200"/>
            <a:ext cx="1106424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gmail-send-prompt.png"/>
          <p:cNvPicPr>
            <a:picLocks noChangeAspect="1"/>
          </p:cNvPicPr>
          <p:nvPr/>
        </p:nvPicPr>
        <p:blipFill>
          <a:blip r:embed="rId2"/>
          <a:stretch>
            <a:fillRect/>
          </a:stretch>
        </p:blipFill>
        <p:spPr>
          <a:xfrm>
            <a:off x="658368" y="1709928"/>
            <a:ext cx="10844784" cy="1886049"/>
          </a:xfrm>
          <a:prstGeom prst="rect">
            <a:avLst/>
          </a:prstGeom>
        </p:spPr>
      </p:pic>
      <p:sp>
        <p:nvSpPr>
          <p:cNvPr id="8" name="Oval 7"/>
          <p:cNvSpPr/>
          <p:nvPr/>
        </p:nvSpPr>
        <p:spPr>
          <a:xfrm>
            <a:off x="54864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Ask in plain English</a:t>
            </a:r>
          </a:p>
          <a:p>
            <a:pPr algn="l">
              <a:spcAft>
                <a:spcPts val="300"/>
              </a:spcAft>
            </a:pPr>
            <a:r>
              <a:rPr sz="1250" b="0">
                <a:solidFill>
                  <a:srgbClr val="6B6862"/>
                </a:solidFill>
                <a:latin typeface="Calibri"/>
              </a:rPr>
              <a:t>Say what to send and to whom; no menus to find.</a:t>
            </a:r>
          </a:p>
        </p:txBody>
      </p:sp>
      <p:sp>
        <p:nvSpPr>
          <p:cNvPr id="11" name="Oval 10"/>
          <p:cNvSpPr/>
          <p:nvPr/>
        </p:nvSpPr>
        <p:spPr>
          <a:xfrm>
            <a:off x="432816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Watch the tool call</a:t>
            </a:r>
          </a:p>
          <a:p>
            <a:pPr algn="l">
              <a:spcAft>
                <a:spcPts val="300"/>
              </a:spcAft>
            </a:pPr>
            <a:r>
              <a:rPr sz="1250" b="0">
                <a:solidFill>
                  <a:srgbClr val="6B6862"/>
                </a:solidFill>
                <a:latin typeface="Calibri"/>
              </a:rPr>
              <a:t>'Using Gmail: Send email message' names the connector and action. Click › for detail.</a:t>
            </a:r>
          </a:p>
        </p:txBody>
      </p:sp>
      <p:sp>
        <p:nvSpPr>
          <p:cNvPr id="14" name="Oval 13"/>
          <p:cNvSpPr/>
          <p:nvPr/>
        </p:nvSpPr>
        <p:spPr>
          <a:xfrm>
            <a:off x="8107680" y="4025745"/>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025745"/>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044033"/>
            <a:ext cx="3048000" cy="1780695"/>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Stay in control</a:t>
            </a:r>
          </a:p>
          <a:p>
            <a:pPr algn="l">
              <a:spcAft>
                <a:spcPts val="300"/>
              </a:spcAft>
            </a:pPr>
            <a:r>
              <a:rPr sz="1250" b="0">
                <a:solidFill>
                  <a:srgbClr val="6B6862"/>
                </a:solidFill>
                <a:latin typeface="Calibri"/>
              </a:rPr>
              <a:t>Ask for a draft first when the email goes to anyone but you.</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One plain request — Claude chose the Gmail connector's Send email action.</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72</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Result in Gmail</a:t>
            </a:r>
          </a:p>
        </p:txBody>
      </p:sp>
      <p:sp>
        <p:nvSpPr>
          <p:cNvPr id="5" name="Rectangle 4"/>
          <p:cNvSpPr/>
          <p:nvPr/>
        </p:nvSpPr>
        <p:spPr>
          <a:xfrm>
            <a:off x="548640" y="1876849"/>
            <a:ext cx="6903720" cy="3744382"/>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76849"/>
            <a:ext cx="6903720"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gmail-result.png"/>
          <p:cNvPicPr>
            <a:picLocks noChangeAspect="1"/>
          </p:cNvPicPr>
          <p:nvPr/>
        </p:nvPicPr>
        <p:blipFill>
          <a:blip r:embed="rId2"/>
          <a:stretch>
            <a:fillRect/>
          </a:stretch>
        </p:blipFill>
        <p:spPr>
          <a:xfrm>
            <a:off x="658368" y="1986577"/>
            <a:ext cx="6684264" cy="3524926"/>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Read from the file</a:t>
            </a:r>
          </a:p>
          <a:p>
            <a:pPr algn="l">
              <a:spcAft>
                <a:spcPts val="300"/>
              </a:spcAft>
            </a:pPr>
            <a:r>
              <a:rPr sz="1250" b="0">
                <a:solidFill>
                  <a:srgbClr val="6B6862"/>
                </a:solidFill>
                <a:latin typeface="Calibri"/>
              </a:rPr>
              <a:t>Claude summarised the workbook: 14 facilities in 9 countries, 2023–2025.</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Ready to read</a:t>
            </a:r>
          </a:p>
          <a:p>
            <a:pPr algn="l">
              <a:spcAft>
                <a:spcPts val="300"/>
              </a:spcAft>
            </a:pPr>
            <a:r>
              <a:rPr sz="1250" b="0">
                <a:solidFill>
                  <a:srgbClr val="6B6862"/>
                </a:solidFill>
                <a:latin typeface="Calibri"/>
              </a:rPr>
              <a:t>Headings and bullets, formatted for email.</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Verify</a:t>
            </a:r>
          </a:p>
          <a:p>
            <a:pPr algn="l">
              <a:spcAft>
                <a:spcPts val="300"/>
              </a:spcAft>
            </a:pPr>
            <a:r>
              <a:rPr sz="1250" b="0">
                <a:solidFill>
                  <a:srgbClr val="6B6862"/>
                </a:solidFill>
                <a:latin typeface="Calibri"/>
              </a:rPr>
              <a:t>Spot-check one total against the source file before you forward it.</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summary arrived seconds later, written from the project's sustainability workbook.</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73</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Context Window</a:t>
            </a:r>
          </a:p>
        </p:txBody>
      </p:sp>
      <p:sp>
        <p:nvSpPr>
          <p:cNvPr id="5" name="TextBox 4"/>
          <p:cNvSpPr txBox="1"/>
          <p:nvPr/>
        </p:nvSpPr>
        <p:spPr>
          <a:xfrm>
            <a:off x="685800" y="2331720"/>
            <a:ext cx="822960" cy="822960"/>
          </a:xfrm>
          <a:prstGeom prst="rect">
            <a:avLst/>
          </a:prstGeom>
          <a:noFill/>
        </p:spPr>
        <p:txBody>
          <a:bodyPr wrap="square" anchor="t" lIns="0" rIns="0" tIns="0" bIns="0">
            <a:spAutoFit/>
          </a:bodyPr>
          <a:lstStyle/>
          <a:p>
            <a:pPr algn="l">
              <a:spcAft>
                <a:spcPts val="400"/>
              </a:spcAft>
            </a:pPr>
            <a:r>
              <a:rPr sz="6200" b="1">
                <a:solidFill>
                  <a:srgbClr val="D97757"/>
                </a:solidFill>
                <a:latin typeface="Cambria"/>
              </a:rPr>
              <a:t>“</a:t>
            </a:r>
          </a:p>
        </p:txBody>
      </p:sp>
      <p:sp>
        <p:nvSpPr>
          <p:cNvPr id="6" name="TextBox 5"/>
          <p:cNvSpPr txBox="1"/>
          <p:nvPr/>
        </p:nvSpPr>
        <p:spPr>
          <a:xfrm>
            <a:off x="1508760" y="2606040"/>
            <a:ext cx="9509760" cy="1828800"/>
          </a:xfrm>
          <a:prstGeom prst="rect">
            <a:avLst/>
          </a:prstGeom>
          <a:noFill/>
        </p:spPr>
        <p:txBody>
          <a:bodyPr wrap="square" anchor="ctr" lIns="0" rIns="0" tIns="0" bIns="0">
            <a:spAutoFit/>
          </a:bodyPr>
          <a:lstStyle/>
          <a:p>
            <a:pPr algn="l">
              <a:spcAft>
                <a:spcPts val="400"/>
              </a:spcAft>
            </a:pPr>
            <a:r>
              <a:rPr sz="2100" b="0">
                <a:solidFill>
                  <a:srgbClr val="21201C"/>
                </a:solidFill>
                <a:latin typeface="Courier New"/>
              </a:rPr>
              <a:t>The context window is all the information the model can “see” when producing a response.</a:t>
            </a:r>
          </a:p>
        </p:txBody>
      </p:sp>
      <p:sp>
        <p:nvSpPr>
          <p:cNvPr id="7" name="TextBox 6"/>
          <p:cNvSpPr txBox="1"/>
          <p:nvPr/>
        </p:nvSpPr>
        <p:spPr>
          <a:xfrm>
            <a:off x="10698480" y="4160520"/>
            <a:ext cx="822960" cy="822960"/>
          </a:xfrm>
          <a:prstGeom prst="rect">
            <a:avLst/>
          </a:prstGeom>
          <a:noFill/>
        </p:spPr>
        <p:txBody>
          <a:bodyPr wrap="square" anchor="t" lIns="0" rIns="0" tIns="0" bIns="0">
            <a:spAutoFit/>
          </a:bodyPr>
          <a:lstStyle/>
          <a:p>
            <a:pPr algn="r">
              <a:spcAft>
                <a:spcPts val="400"/>
              </a:spcAft>
            </a:pPr>
            <a:r>
              <a:rPr sz="6200" b="1">
                <a:solidFill>
                  <a:srgbClr val="D97757"/>
                </a:solidFill>
                <a:latin typeface="Cambria"/>
              </a:rPr>
              <a:t>”</a:t>
            </a:r>
          </a:p>
        </p:txBody>
      </p:sp>
      <p:sp>
        <p:nvSpPr>
          <p:cNvPr id="8" name="TextBox 7"/>
          <p:cNvSpPr txBox="1"/>
          <p:nvPr/>
        </p:nvSpPr>
        <p:spPr>
          <a:xfrm>
            <a:off x="548640" y="5669280"/>
            <a:ext cx="11064240" cy="45720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Files, instructions, tools and skills all have to fit inside it.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74</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Fills the Context Window</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At the start of a thread.</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995781"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44421" y="2514600"/>
            <a:ext cx="221284"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65705" y="2514600"/>
            <a:ext cx="276606"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042311" y="2514600"/>
            <a:ext cx="442569"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484880" y="2514600"/>
            <a:ext cx="719175"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6" name="Oval 15"/>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18" name="Oval 17"/>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507492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0" name="Oval 19"/>
          <p:cNvSpPr/>
          <p:nvPr/>
        </p:nvSpPr>
        <p:spPr>
          <a:xfrm>
            <a:off x="608076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9944" y="434340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2" name="Oval 21"/>
          <p:cNvSpPr/>
          <p:nvPr/>
        </p:nvSpPr>
        <p:spPr>
          <a:xfrm>
            <a:off x="608076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4709160"/>
            <a:ext cx="498348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4" name="TextBox 23"/>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At the start of a thread only the fixed overhead is loaded — most of the window is still free.</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75</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Same Window, Later in the Thread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After reading files, calling tools and running skills.</a:t>
            </a:r>
          </a:p>
        </p:txBody>
      </p:sp>
      <p:sp>
        <p:nvSpPr>
          <p:cNvPr id="6" name="TextBox 5"/>
          <p:cNvSpPr txBox="1"/>
          <p:nvPr/>
        </p:nvSpPr>
        <p:spPr>
          <a:xfrm>
            <a:off x="548640" y="2167128"/>
            <a:ext cx="1828800" cy="274320"/>
          </a:xfrm>
          <a:prstGeom prst="rect">
            <a:avLst/>
          </a:prstGeom>
          <a:noFill/>
        </p:spPr>
        <p:txBody>
          <a:bodyPr wrap="square" anchor="t" lIns="0" rIns="0" tIns="0" bIns="0">
            <a:spAutoFit/>
          </a:bodyPr>
          <a:lstStyle/>
          <a:p>
            <a:pPr algn="l">
              <a:spcAft>
                <a:spcPts val="400"/>
              </a:spcAft>
            </a:pPr>
            <a:r>
              <a:rPr sz="1200" b="0">
                <a:solidFill>
                  <a:srgbClr val="6B6862"/>
                </a:solidFill>
                <a:latin typeface="Calibri"/>
              </a:rPr>
              <a:t>0</a:t>
            </a:r>
          </a:p>
        </p:txBody>
      </p:sp>
      <p:sp>
        <p:nvSpPr>
          <p:cNvPr id="7" name="TextBox 6"/>
          <p:cNvSpPr txBox="1"/>
          <p:nvPr/>
        </p:nvSpPr>
        <p:spPr>
          <a:xfrm>
            <a:off x="9784080" y="2167128"/>
            <a:ext cx="1828800" cy="274320"/>
          </a:xfrm>
          <a:prstGeom prst="rect">
            <a:avLst/>
          </a:prstGeom>
          <a:noFill/>
        </p:spPr>
        <p:txBody>
          <a:bodyPr wrap="square" anchor="t" lIns="0" rIns="0" tIns="0" bIns="0">
            <a:spAutoFit/>
          </a:bodyPr>
          <a:lstStyle/>
          <a:p>
            <a:pPr algn="r">
              <a:spcAft>
                <a:spcPts val="400"/>
              </a:spcAft>
            </a:pPr>
            <a:r>
              <a:rPr sz="1200" b="0">
                <a:solidFill>
                  <a:srgbClr val="6B6862"/>
                </a:solidFill>
                <a:latin typeface="Calibri"/>
              </a:rPr>
              <a:t>1M</a:t>
            </a:r>
          </a:p>
        </p:txBody>
      </p:sp>
      <p:sp>
        <p:nvSpPr>
          <p:cNvPr id="8" name="Rectangle 7"/>
          <p:cNvSpPr/>
          <p:nvPr/>
        </p:nvSpPr>
        <p:spPr>
          <a:xfrm>
            <a:off x="548640" y="2514600"/>
            <a:ext cx="11064240" cy="1371600"/>
          </a:xfrm>
          <a:prstGeom prst="rect">
            <a:avLst/>
          </a:prstGeom>
          <a:solidFill>
            <a:srgbClr val="FFFFFF"/>
          </a:solidFill>
          <a:ln w="9525">
            <a:solidFill>
              <a:srgbClr val="6B686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2514600"/>
            <a:ext cx="663854" cy="13716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212494" y="2514600"/>
            <a:ext cx="154899" cy="1371600"/>
          </a:xfrm>
          <a:prstGeom prst="rect">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67393" y="2514600"/>
            <a:ext cx="177027" cy="1371600"/>
          </a:xfrm>
          <a:prstGeom prst="rect">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544420" y="2514600"/>
            <a:ext cx="331927" cy="13716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76347" y="2514600"/>
            <a:ext cx="3761841" cy="1371600"/>
          </a:xfrm>
          <a:prstGeom prst="rect">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38188" y="2514600"/>
            <a:ext cx="1548993" cy="1371600"/>
          </a:xfrm>
          <a:prstGeom prst="rect">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187181" y="2514600"/>
            <a:ext cx="1217066" cy="1371600"/>
          </a:xfrm>
          <a:prstGeom prst="rect">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04247" y="2514600"/>
            <a:ext cx="995781" cy="1371600"/>
          </a:xfrm>
          <a:prstGeom prst="rect">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0080" y="4389120"/>
            <a:ext cx="182880" cy="182880"/>
          </a:xfrm>
          <a:prstGeom prst="ellipse">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System</a:t>
            </a:r>
          </a:p>
        </p:txBody>
      </p:sp>
      <p:sp>
        <p:nvSpPr>
          <p:cNvPr id="19" name="Oval 18"/>
          <p:cNvSpPr/>
          <p:nvPr/>
        </p:nvSpPr>
        <p:spPr>
          <a:xfrm>
            <a:off x="640080" y="4754880"/>
            <a:ext cx="182880" cy="182880"/>
          </a:xfrm>
          <a:prstGeom prst="ellipse">
            <a:avLst/>
          </a:prstGeom>
          <a:solidFill>
            <a:srgbClr val="C8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Project instructions</a:t>
            </a:r>
          </a:p>
        </p:txBody>
      </p:sp>
      <p:sp>
        <p:nvSpPr>
          <p:cNvPr id="21" name="Oval 20"/>
          <p:cNvSpPr/>
          <p:nvPr/>
        </p:nvSpPr>
        <p:spPr>
          <a:xfrm>
            <a:off x="640080" y="5120640"/>
            <a:ext cx="182880" cy="182880"/>
          </a:xfrm>
          <a:prstGeom prst="ellipse">
            <a:avLst/>
          </a:prstGeom>
          <a:solidFill>
            <a:srgbClr val="4A82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definitions</a:t>
            </a:r>
          </a:p>
        </p:txBody>
      </p:sp>
      <p:sp>
        <p:nvSpPr>
          <p:cNvPr id="23" name="Oval 22"/>
          <p:cNvSpPr/>
          <p:nvPr/>
        </p:nvSpPr>
        <p:spPr>
          <a:xfrm>
            <a:off x="4267200" y="4389120"/>
            <a:ext cx="182880" cy="1828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9638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 definitions</a:t>
            </a:r>
          </a:p>
        </p:txBody>
      </p:sp>
      <p:sp>
        <p:nvSpPr>
          <p:cNvPr id="25" name="Oval 24"/>
          <p:cNvSpPr/>
          <p:nvPr/>
        </p:nvSpPr>
        <p:spPr>
          <a:xfrm>
            <a:off x="4267200" y="4754880"/>
            <a:ext cx="182880" cy="182880"/>
          </a:xfrm>
          <a:prstGeom prst="ellipse">
            <a:avLst/>
          </a:prstGeom>
          <a:solidFill>
            <a:srgbClr val="4A7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638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Conversation</a:t>
            </a:r>
          </a:p>
        </p:txBody>
      </p:sp>
      <p:sp>
        <p:nvSpPr>
          <p:cNvPr id="27" name="Oval 26"/>
          <p:cNvSpPr/>
          <p:nvPr/>
        </p:nvSpPr>
        <p:spPr>
          <a:xfrm>
            <a:off x="4267200" y="5120640"/>
            <a:ext cx="182880" cy="182880"/>
          </a:xfrm>
          <a:prstGeom prst="ellipse">
            <a:avLst/>
          </a:prstGeom>
          <a:solidFill>
            <a:srgbClr val="7C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6384" y="507492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Files read</a:t>
            </a:r>
          </a:p>
        </p:txBody>
      </p:sp>
      <p:sp>
        <p:nvSpPr>
          <p:cNvPr id="29" name="Oval 28"/>
          <p:cNvSpPr/>
          <p:nvPr/>
        </p:nvSpPr>
        <p:spPr>
          <a:xfrm>
            <a:off x="7894320" y="4389120"/>
            <a:ext cx="182880" cy="182880"/>
          </a:xfrm>
          <a:prstGeom prst="ellipse">
            <a:avLst/>
          </a:prstGeom>
          <a:solidFill>
            <a:srgbClr val="AED2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3504" y="434340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Tool call results</a:t>
            </a:r>
          </a:p>
        </p:txBody>
      </p:sp>
      <p:sp>
        <p:nvSpPr>
          <p:cNvPr id="31" name="Oval 30"/>
          <p:cNvSpPr/>
          <p:nvPr/>
        </p:nvSpPr>
        <p:spPr>
          <a:xfrm>
            <a:off x="7894320" y="4754880"/>
            <a:ext cx="182880" cy="182880"/>
          </a:xfrm>
          <a:prstGeom prst="ellipse">
            <a:avLst/>
          </a:prstGeom>
          <a:solidFill>
            <a:srgbClr val="E8C2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23504" y="4709160"/>
            <a:ext cx="3169920" cy="274320"/>
          </a:xfrm>
          <a:prstGeom prst="rect">
            <a:avLst/>
          </a:prstGeom>
          <a:noFill/>
        </p:spPr>
        <p:txBody>
          <a:bodyPr wrap="square" anchor="ctr" lIns="0" rIns="0" tIns="0" bIns="0">
            <a:spAutoFit/>
          </a:bodyPr>
          <a:lstStyle/>
          <a:p>
            <a:pPr algn="l">
              <a:spcAft>
                <a:spcPts val="400"/>
              </a:spcAft>
            </a:pPr>
            <a:r>
              <a:rPr sz="1200" b="0">
                <a:solidFill>
                  <a:srgbClr val="21201C"/>
                </a:solidFill>
                <a:latin typeface="Courier New"/>
              </a:rPr>
              <a:t>Skills executed</a:t>
            </a:r>
          </a:p>
        </p:txBody>
      </p:sp>
      <p:sp>
        <p:nvSpPr>
          <p:cNvPr id="33" name="TextBox 32"/>
          <p:cNvSpPr txBox="1"/>
          <p:nvPr/>
        </p:nvSpPr>
        <p:spPr>
          <a:xfrm>
            <a:off x="548640" y="5605272"/>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 the task runs, files, tool results and executed skills all accumulate. This is why a project splits big jobs into threads: each thread gets a fresh window.</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76</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640080" y="713232"/>
            <a:ext cx="10972800" cy="731520"/>
          </a:xfrm>
          <a:prstGeom prst="rect">
            <a:avLst/>
          </a:prstGeom>
          <a:noFill/>
        </p:spPr>
        <p:txBody>
          <a:bodyPr wrap="square" anchor="ctr" lIns="0" rIns="0" tIns="0" bIns="0">
            <a:spAutoFit/>
          </a:bodyPr>
          <a:lstStyle/>
          <a:p>
            <a:pPr algn="l">
              <a:spcAft>
                <a:spcPts val="400"/>
              </a:spcAft>
            </a:pPr>
            <a:r>
              <a:rPr sz="3000" b="1">
                <a:solidFill>
                  <a:srgbClr val="FFFFFF"/>
                </a:solidFill>
                <a:latin typeface="Cambria"/>
              </a:rPr>
              <a:t>When the Context Window Fills Up</a:t>
            </a:r>
          </a:p>
        </p:txBody>
      </p:sp>
      <p:sp>
        <p:nvSpPr>
          <p:cNvPr id="5" name="TextBox 4"/>
          <p:cNvSpPr txBox="1"/>
          <p:nvPr/>
        </p:nvSpPr>
        <p:spPr>
          <a:xfrm>
            <a:off x="640080" y="169164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1. </a:t>
            </a:r>
            <a:r>
              <a:rPr sz="1500" b="1">
                <a:solidFill>
                  <a:srgbClr val="FFFFFF"/>
                </a:solidFill>
                <a:latin typeface="Calibri"/>
              </a:rPr>
              <a:t>Context rot</a:t>
            </a:r>
          </a:p>
        </p:txBody>
      </p:sp>
      <p:sp>
        <p:nvSpPr>
          <p:cNvPr id="6" name="TextBox 5"/>
          <p:cNvSpPr txBox="1"/>
          <p:nvPr/>
        </p:nvSpPr>
        <p:spPr>
          <a:xfrm>
            <a:off x="640080" y="202082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Performance degrades. Recall of specific facts gets worse, the model starts confusing similar entities, and reasoning quality drops.</a:t>
            </a:r>
          </a:p>
        </p:txBody>
      </p:sp>
      <p:sp>
        <p:nvSpPr>
          <p:cNvPr id="7" name="TextBox 6"/>
          <p:cNvSpPr txBox="1"/>
          <p:nvPr/>
        </p:nvSpPr>
        <p:spPr>
          <a:xfrm>
            <a:off x="640080" y="267462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2. </a:t>
            </a:r>
            <a:r>
              <a:rPr sz="1500" b="1">
                <a:solidFill>
                  <a:srgbClr val="FFFFFF"/>
                </a:solidFill>
                <a:latin typeface="Calibri"/>
              </a:rPr>
              <a:t>Tool confusion</a:t>
            </a:r>
          </a:p>
        </p:txBody>
      </p:sp>
      <p:sp>
        <p:nvSpPr>
          <p:cNvPr id="8" name="TextBox 7"/>
          <p:cNvSpPr txBox="1"/>
          <p:nvPr/>
        </p:nvSpPr>
        <p:spPr>
          <a:xfrm>
            <a:off x="640080" y="300380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Claude sees every tool definition. The more options competing for its attention, the more likely it picks the wrong one or fills in the wrong parameters.</a:t>
            </a:r>
          </a:p>
        </p:txBody>
      </p:sp>
      <p:sp>
        <p:nvSpPr>
          <p:cNvPr id="9" name="TextBox 8"/>
          <p:cNvSpPr txBox="1"/>
          <p:nvPr/>
        </p:nvSpPr>
        <p:spPr>
          <a:xfrm>
            <a:off x="640080" y="365760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3. </a:t>
            </a:r>
            <a:r>
              <a:rPr sz="1500" b="1">
                <a:solidFill>
                  <a:srgbClr val="FFFFFF"/>
                </a:solidFill>
                <a:latin typeface="Calibri"/>
              </a:rPr>
              <a:t>Slower responses</a:t>
            </a:r>
          </a:p>
        </p:txBody>
      </p:sp>
      <p:sp>
        <p:nvSpPr>
          <p:cNvPr id="10" name="TextBox 9"/>
          <p:cNvSpPr txBox="1"/>
          <p:nvPr/>
        </p:nvSpPr>
        <p:spPr>
          <a:xfrm>
            <a:off x="640080" y="398678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The model processes every token on every turn. A bigger context means more work per message, which means longer waits before you see a reply.</a:t>
            </a:r>
          </a:p>
        </p:txBody>
      </p:sp>
      <p:sp>
        <p:nvSpPr>
          <p:cNvPr id="11" name="TextBox 10"/>
          <p:cNvSpPr txBox="1"/>
          <p:nvPr/>
        </p:nvSpPr>
        <p:spPr>
          <a:xfrm>
            <a:off x="640080" y="4640580"/>
            <a:ext cx="10881360" cy="310896"/>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4. </a:t>
            </a:r>
            <a:r>
              <a:rPr sz="1500" b="1">
                <a:solidFill>
                  <a:srgbClr val="FFFFFF"/>
                </a:solidFill>
                <a:latin typeface="Calibri"/>
              </a:rPr>
              <a:t>Eats up your usage faster</a:t>
            </a:r>
          </a:p>
        </p:txBody>
      </p:sp>
      <p:sp>
        <p:nvSpPr>
          <p:cNvPr id="12" name="TextBox 11"/>
          <p:cNvSpPr txBox="1"/>
          <p:nvPr/>
        </p:nvSpPr>
        <p:spPr>
          <a:xfrm>
            <a:off x="640080" y="4969764"/>
            <a:ext cx="10881360" cy="580644"/>
          </a:xfrm>
          <a:prstGeom prst="rect">
            <a:avLst/>
          </a:prstGeom>
          <a:noFill/>
        </p:spPr>
        <p:txBody>
          <a:bodyPr wrap="square" anchor="t" lIns="0" rIns="0" tIns="0" bIns="0">
            <a:spAutoFit/>
          </a:bodyPr>
          <a:lstStyle/>
          <a:p>
            <a:pPr algn="l">
              <a:spcAft>
                <a:spcPts val="400"/>
              </a:spcAft>
            </a:pPr>
            <a:r>
              <a:rPr sz="1300" b="0">
                <a:solidFill>
                  <a:srgbClr val="B9B4A9"/>
                </a:solidFill>
                <a:latin typeface="Calibri"/>
              </a:rPr>
              <a:t>Your entire context gets resent with each new message — so more tokens are burned per turn, and your limits are reached sooner.</a:t>
            </a:r>
          </a:p>
        </p:txBody>
      </p:sp>
      <p:sp>
        <p:nvSpPr>
          <p:cNvPr id="13" name="TextBox 12"/>
          <p:cNvSpPr txBox="1"/>
          <p:nvPr/>
        </p:nvSpPr>
        <p:spPr>
          <a:xfrm>
            <a:off x="640080" y="5760720"/>
            <a:ext cx="10881360" cy="457200"/>
          </a:xfrm>
          <a:prstGeom prst="rect">
            <a:avLst/>
          </a:prstGeom>
          <a:noFill/>
        </p:spPr>
        <p:txBody>
          <a:bodyPr wrap="square" anchor="t" lIns="0" rIns="0" tIns="0" bIns="0">
            <a:spAutoFit/>
          </a:bodyPr>
          <a:lstStyle/>
          <a:p>
            <a:pPr algn="l">
              <a:spcAft>
                <a:spcPts val="400"/>
              </a:spcAft>
            </a:pPr>
            <a:r>
              <a:rPr sz="1250" b="0">
                <a:solidFill>
                  <a:srgbClr val="D97757"/>
                </a:solidFill>
                <a:latin typeface="Calibri"/>
              </a:rPr>
              <a:t>The fix is housekeeping: one job per thread, only the connectors you need, and only the files the job actually reads.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77</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Five Levers of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you actually control.</a:t>
            </a:r>
          </a:p>
        </p:txBody>
      </p:sp>
      <p:sp>
        <p:nvSpPr>
          <p:cNvPr id="6" name="Rectangle 5"/>
          <p:cNvSpPr/>
          <p:nvPr/>
        </p:nvSpPr>
        <p:spPr>
          <a:xfrm>
            <a:off x="548640" y="2148840"/>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253081"/>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253081"/>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Conversation</a:t>
            </a:r>
          </a:p>
          <a:p>
            <a:pPr algn="l">
              <a:spcAft>
                <a:spcPts val="500"/>
              </a:spcAft>
            </a:pPr>
            <a:r>
              <a:rPr sz="1250" b="0">
                <a:solidFill>
                  <a:srgbClr val="6B6862"/>
                </a:solidFill>
                <a:latin typeface="Calibri"/>
              </a:rPr>
              <a:t>Your prompt. The messages you send, including both text and attachments.</a:t>
            </a:r>
          </a:p>
        </p:txBody>
      </p:sp>
      <p:sp>
        <p:nvSpPr>
          <p:cNvPr id="10" name="Rectangle 9"/>
          <p:cNvSpPr/>
          <p:nvPr/>
        </p:nvSpPr>
        <p:spPr>
          <a:xfrm>
            <a:off x="548640" y="2869387"/>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297362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97362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2869387"/>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Project context</a:t>
            </a:r>
          </a:p>
          <a:p>
            <a:pPr algn="l">
              <a:spcAft>
                <a:spcPts val="500"/>
              </a:spcAft>
            </a:pPr>
            <a:r>
              <a:rPr sz="1250" b="0">
                <a:solidFill>
                  <a:srgbClr val="6B6862"/>
                </a:solidFill>
                <a:latin typeface="Calibri"/>
              </a:rPr>
              <a:t>The files, folders and Drive folder the project reads from.</a:t>
            </a:r>
          </a:p>
        </p:txBody>
      </p:sp>
      <p:sp>
        <p:nvSpPr>
          <p:cNvPr id="14" name="Rectangle 13"/>
          <p:cNvSpPr/>
          <p:nvPr/>
        </p:nvSpPr>
        <p:spPr>
          <a:xfrm>
            <a:off x="548640" y="3589934"/>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3694175"/>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94175"/>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3589934"/>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Connectors</a:t>
            </a:r>
          </a:p>
          <a:p>
            <a:pPr algn="l">
              <a:spcAft>
                <a:spcPts val="500"/>
              </a:spcAft>
            </a:pPr>
            <a:r>
              <a:rPr sz="1250" b="0">
                <a:solidFill>
                  <a:srgbClr val="6B6862"/>
                </a:solidFill>
                <a:latin typeface="Calibri"/>
              </a:rPr>
              <a:t>The connected tools Claude can pull data from, and take actions in.</a:t>
            </a:r>
          </a:p>
        </p:txBody>
      </p:sp>
      <p:sp>
        <p:nvSpPr>
          <p:cNvPr id="18" name="Rectangle 17"/>
          <p:cNvSpPr/>
          <p:nvPr/>
        </p:nvSpPr>
        <p:spPr>
          <a:xfrm>
            <a:off x="548640" y="4310481"/>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68680" y="4414722"/>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414722"/>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4</a:t>
            </a:r>
          </a:p>
        </p:txBody>
      </p:sp>
      <p:sp>
        <p:nvSpPr>
          <p:cNvPr id="21" name="TextBox 20"/>
          <p:cNvSpPr txBox="1"/>
          <p:nvPr/>
        </p:nvSpPr>
        <p:spPr>
          <a:xfrm>
            <a:off x="1508760" y="4310481"/>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Skills</a:t>
            </a:r>
          </a:p>
          <a:p>
            <a:pPr algn="l">
              <a:spcAft>
                <a:spcPts val="500"/>
              </a:spcAft>
            </a:pPr>
            <a:r>
              <a:rPr sz="1250" b="0">
                <a:solidFill>
                  <a:srgbClr val="6B6862"/>
                </a:solidFill>
                <a:latin typeface="Calibri"/>
              </a:rPr>
              <a:t>A set of instructions Claude follows for a repeatable workflow.</a:t>
            </a:r>
          </a:p>
        </p:txBody>
      </p:sp>
      <p:sp>
        <p:nvSpPr>
          <p:cNvPr id="22" name="Rectangle 21"/>
          <p:cNvSpPr/>
          <p:nvPr/>
        </p:nvSpPr>
        <p:spPr>
          <a:xfrm>
            <a:off x="548640" y="5031028"/>
            <a:ext cx="11064240" cy="592531"/>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68680" y="5135269"/>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135269"/>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5</a:t>
            </a:r>
          </a:p>
        </p:txBody>
      </p:sp>
      <p:sp>
        <p:nvSpPr>
          <p:cNvPr id="25" name="TextBox 24"/>
          <p:cNvSpPr txBox="1"/>
          <p:nvPr/>
        </p:nvSpPr>
        <p:spPr>
          <a:xfrm>
            <a:off x="1508760" y="5031028"/>
            <a:ext cx="9692640" cy="592531"/>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Instructions &amp; memory</a:t>
            </a:r>
          </a:p>
          <a:p>
            <a:pPr algn="l">
              <a:spcAft>
                <a:spcPts val="500"/>
              </a:spcAft>
            </a:pPr>
            <a:r>
              <a:rPr sz="1250" b="0">
                <a:solidFill>
                  <a:srgbClr val="6B6862"/>
                </a:solidFill>
                <a:latin typeface="Calibri"/>
              </a:rPr>
              <a:t>Project rules you wrote, and facts the project has learned.</a:t>
            </a:r>
          </a:p>
        </p:txBody>
      </p:sp>
      <p:sp>
        <p:nvSpPr>
          <p:cNvPr id="26" name="TextBox 25"/>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Every lab today pulls one of these levers — context in Lab 1, connectors in Lab 4, skills in Labs 5–7, and memory in Lab 10.</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78</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CONTEXT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Check It Yourself: /context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Estimated usage by category, for a 1M-token window.</a:t>
            </a:r>
          </a:p>
        </p:txBody>
      </p:sp>
      <p:sp>
        <p:nvSpPr>
          <p:cNvPr id="6" name="TextBox 5"/>
          <p:cNvSpPr txBox="1"/>
          <p:nvPr/>
        </p:nvSpPr>
        <p:spPr>
          <a:xfrm>
            <a:off x="822960" y="2194560"/>
            <a:ext cx="5943600" cy="310896"/>
          </a:xfrm>
          <a:prstGeom prst="rect">
            <a:avLst/>
          </a:prstGeom>
          <a:noFill/>
        </p:spPr>
        <p:txBody>
          <a:bodyPr wrap="square" anchor="t" lIns="0" rIns="0" tIns="0" bIns="0">
            <a:spAutoFit/>
          </a:bodyPr>
          <a:lstStyle/>
          <a:p>
            <a:pPr algn="l">
              <a:spcAft>
                <a:spcPts val="400"/>
              </a:spcAft>
            </a:pPr>
            <a:r>
              <a:rPr sz="1250" b="1">
                <a:solidFill>
                  <a:srgbClr val="6B6862"/>
                </a:solidFill>
                <a:latin typeface="Calibri"/>
              </a:rPr>
              <a:t>Category</a:t>
            </a:r>
          </a:p>
        </p:txBody>
      </p:sp>
      <p:sp>
        <p:nvSpPr>
          <p:cNvPr id="7" name="TextBox 6"/>
          <p:cNvSpPr txBox="1"/>
          <p:nvPr/>
        </p:nvSpPr>
        <p:spPr>
          <a:xfrm>
            <a:off x="6949440" y="2194560"/>
            <a:ext cx="219456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Tokens</a:t>
            </a:r>
          </a:p>
        </p:txBody>
      </p:sp>
      <p:sp>
        <p:nvSpPr>
          <p:cNvPr id="8" name="TextBox 7"/>
          <p:cNvSpPr txBox="1"/>
          <p:nvPr/>
        </p:nvSpPr>
        <p:spPr>
          <a:xfrm>
            <a:off x="9326880" y="2194560"/>
            <a:ext cx="2011680" cy="310896"/>
          </a:xfrm>
          <a:prstGeom prst="rect">
            <a:avLst/>
          </a:prstGeom>
          <a:noFill/>
        </p:spPr>
        <p:txBody>
          <a:bodyPr wrap="square" anchor="t" lIns="0" rIns="0" tIns="0" bIns="0">
            <a:spAutoFit/>
          </a:bodyPr>
          <a:lstStyle/>
          <a:p>
            <a:pPr algn="r">
              <a:spcAft>
                <a:spcPts val="400"/>
              </a:spcAft>
            </a:pPr>
            <a:r>
              <a:rPr sz="1250" b="1">
                <a:solidFill>
                  <a:srgbClr val="6B6862"/>
                </a:solidFill>
                <a:latin typeface="Calibri"/>
              </a:rPr>
              <a:t>Percentage</a:t>
            </a:r>
          </a:p>
        </p:txBody>
      </p:sp>
      <p:sp>
        <p:nvSpPr>
          <p:cNvPr id="9" name="Rectangle 8"/>
          <p:cNvSpPr/>
          <p:nvPr/>
        </p:nvSpPr>
        <p:spPr>
          <a:xfrm>
            <a:off x="822960" y="2523744"/>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33472"/>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prompt</a:t>
            </a:r>
          </a:p>
        </p:txBody>
      </p:sp>
      <p:sp>
        <p:nvSpPr>
          <p:cNvPr id="11" name="TextBox 10"/>
          <p:cNvSpPr txBox="1"/>
          <p:nvPr/>
        </p:nvSpPr>
        <p:spPr>
          <a:xfrm>
            <a:off x="6949440" y="2633472"/>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35.3k</a:t>
            </a:r>
          </a:p>
        </p:txBody>
      </p:sp>
      <p:sp>
        <p:nvSpPr>
          <p:cNvPr id="12" name="TextBox 11"/>
          <p:cNvSpPr txBox="1"/>
          <p:nvPr/>
        </p:nvSpPr>
        <p:spPr>
          <a:xfrm>
            <a:off x="9326880" y="2633472"/>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3.5%</a:t>
            </a:r>
          </a:p>
        </p:txBody>
      </p:sp>
      <p:sp>
        <p:nvSpPr>
          <p:cNvPr id="13" name="Rectangle 12"/>
          <p:cNvSpPr/>
          <p:nvPr/>
        </p:nvSpPr>
        <p:spPr>
          <a:xfrm>
            <a:off x="822960" y="3018663"/>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018663"/>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System tools</a:t>
            </a:r>
          </a:p>
        </p:txBody>
      </p:sp>
      <p:sp>
        <p:nvSpPr>
          <p:cNvPr id="15" name="TextBox 14"/>
          <p:cNvSpPr txBox="1"/>
          <p:nvPr/>
        </p:nvSpPr>
        <p:spPr>
          <a:xfrm>
            <a:off x="6949440" y="3018663"/>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768</a:t>
            </a:r>
          </a:p>
        </p:txBody>
      </p:sp>
      <p:sp>
        <p:nvSpPr>
          <p:cNvPr id="16" name="TextBox 15"/>
          <p:cNvSpPr txBox="1"/>
          <p:nvPr/>
        </p:nvSpPr>
        <p:spPr>
          <a:xfrm>
            <a:off x="9326880" y="3018663"/>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0.1%</a:t>
            </a:r>
          </a:p>
        </p:txBody>
      </p:sp>
      <p:sp>
        <p:nvSpPr>
          <p:cNvPr id="17" name="Rectangle 16"/>
          <p:cNvSpPr/>
          <p:nvPr/>
        </p:nvSpPr>
        <p:spPr>
          <a:xfrm>
            <a:off x="822960" y="340385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403854"/>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a:t>
            </a:r>
          </a:p>
        </p:txBody>
      </p:sp>
      <p:sp>
        <p:nvSpPr>
          <p:cNvPr id="19" name="TextBox 18"/>
          <p:cNvSpPr txBox="1"/>
          <p:nvPr/>
        </p:nvSpPr>
        <p:spPr>
          <a:xfrm>
            <a:off x="6949440" y="3403854"/>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2.6k</a:t>
            </a:r>
          </a:p>
        </p:txBody>
      </p:sp>
      <p:sp>
        <p:nvSpPr>
          <p:cNvPr id="20" name="TextBox 19"/>
          <p:cNvSpPr txBox="1"/>
          <p:nvPr/>
        </p:nvSpPr>
        <p:spPr>
          <a:xfrm>
            <a:off x="9326880" y="3403854"/>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0.3%</a:t>
            </a:r>
          </a:p>
        </p:txBody>
      </p:sp>
      <p:sp>
        <p:nvSpPr>
          <p:cNvPr id="21" name="Rectangle 20"/>
          <p:cNvSpPr/>
          <p:nvPr/>
        </p:nvSpPr>
        <p:spPr>
          <a:xfrm>
            <a:off x="822960" y="3789045"/>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789045"/>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MCP tools (deferred)</a:t>
            </a:r>
          </a:p>
        </p:txBody>
      </p:sp>
      <p:sp>
        <p:nvSpPr>
          <p:cNvPr id="23" name="TextBox 22"/>
          <p:cNvSpPr txBox="1"/>
          <p:nvPr/>
        </p:nvSpPr>
        <p:spPr>
          <a:xfrm>
            <a:off x="6949440" y="3789045"/>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301.7k</a:t>
            </a:r>
          </a:p>
        </p:txBody>
      </p:sp>
      <p:sp>
        <p:nvSpPr>
          <p:cNvPr id="24" name="TextBox 23"/>
          <p:cNvSpPr txBox="1"/>
          <p:nvPr/>
        </p:nvSpPr>
        <p:spPr>
          <a:xfrm>
            <a:off x="9326880" y="3789045"/>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30.2%</a:t>
            </a:r>
          </a:p>
        </p:txBody>
      </p:sp>
      <p:sp>
        <p:nvSpPr>
          <p:cNvPr id="25" name="Rectangle 24"/>
          <p:cNvSpPr/>
          <p:nvPr/>
        </p:nvSpPr>
        <p:spPr>
          <a:xfrm>
            <a:off x="822960" y="41742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174236"/>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Memory files</a:t>
            </a:r>
          </a:p>
        </p:txBody>
      </p:sp>
      <p:sp>
        <p:nvSpPr>
          <p:cNvPr id="27" name="TextBox 26"/>
          <p:cNvSpPr txBox="1"/>
          <p:nvPr/>
        </p:nvSpPr>
        <p:spPr>
          <a:xfrm>
            <a:off x="6949440" y="4174236"/>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81</a:t>
            </a:r>
          </a:p>
        </p:txBody>
      </p:sp>
      <p:sp>
        <p:nvSpPr>
          <p:cNvPr id="28" name="TextBox 27"/>
          <p:cNvSpPr txBox="1"/>
          <p:nvPr/>
        </p:nvSpPr>
        <p:spPr>
          <a:xfrm>
            <a:off x="9326880" y="4174236"/>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29" name="Rectangle 28"/>
          <p:cNvSpPr/>
          <p:nvPr/>
        </p:nvSpPr>
        <p:spPr>
          <a:xfrm>
            <a:off x="822960" y="4559427"/>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559427"/>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a:t>
            </a:r>
          </a:p>
        </p:txBody>
      </p:sp>
      <p:sp>
        <p:nvSpPr>
          <p:cNvPr id="31" name="TextBox 30"/>
          <p:cNvSpPr txBox="1"/>
          <p:nvPr/>
        </p:nvSpPr>
        <p:spPr>
          <a:xfrm>
            <a:off x="6949440" y="4559427"/>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9k</a:t>
            </a:r>
          </a:p>
        </p:txBody>
      </p:sp>
      <p:sp>
        <p:nvSpPr>
          <p:cNvPr id="32" name="TextBox 31"/>
          <p:cNvSpPr txBox="1"/>
          <p:nvPr/>
        </p:nvSpPr>
        <p:spPr>
          <a:xfrm>
            <a:off x="9326880" y="4559427"/>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0.9%</a:t>
            </a:r>
          </a:p>
        </p:txBody>
      </p:sp>
      <p:sp>
        <p:nvSpPr>
          <p:cNvPr id="33" name="Rectangle 32"/>
          <p:cNvSpPr/>
          <p:nvPr/>
        </p:nvSpPr>
        <p:spPr>
          <a:xfrm>
            <a:off x="822960" y="494461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2960" y="4944618"/>
            <a:ext cx="5943600" cy="385191"/>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Messages</a:t>
            </a:r>
          </a:p>
        </p:txBody>
      </p:sp>
      <p:sp>
        <p:nvSpPr>
          <p:cNvPr id="35" name="TextBox 34"/>
          <p:cNvSpPr txBox="1"/>
          <p:nvPr/>
        </p:nvSpPr>
        <p:spPr>
          <a:xfrm>
            <a:off x="6949440" y="4944618"/>
            <a:ext cx="219456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13</a:t>
            </a:r>
          </a:p>
        </p:txBody>
      </p:sp>
      <p:sp>
        <p:nvSpPr>
          <p:cNvPr id="36" name="TextBox 35"/>
          <p:cNvSpPr txBox="1"/>
          <p:nvPr/>
        </p:nvSpPr>
        <p:spPr>
          <a:xfrm>
            <a:off x="9326880" y="4944618"/>
            <a:ext cx="2011680" cy="385191"/>
          </a:xfrm>
          <a:prstGeom prst="rect">
            <a:avLst/>
          </a:prstGeom>
          <a:noFill/>
        </p:spPr>
        <p:txBody>
          <a:bodyPr wrap="square" anchor="ctr" lIns="0" rIns="0" tIns="0" bIns="0">
            <a:spAutoFit/>
          </a:bodyPr>
          <a:lstStyle/>
          <a:p>
            <a:pPr algn="r">
              <a:spcAft>
                <a:spcPts val="400"/>
              </a:spcAft>
            </a:pPr>
            <a:r>
              <a:rPr sz="1300" b="0">
                <a:solidFill>
                  <a:srgbClr val="21201C"/>
                </a:solidFill>
                <a:latin typeface="Calibri"/>
              </a:rPr>
              <a:t>0.0%</a:t>
            </a:r>
          </a:p>
        </p:txBody>
      </p:sp>
      <p:sp>
        <p:nvSpPr>
          <p:cNvPr id="37" name="Rectangle 36"/>
          <p:cNvSpPr/>
          <p:nvPr/>
        </p:nvSpPr>
        <p:spPr>
          <a:xfrm>
            <a:off x="822960" y="5329809"/>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329809"/>
            <a:ext cx="5943600" cy="385191"/>
          </a:xfrm>
          <a:prstGeom prst="rect">
            <a:avLst/>
          </a:prstGeom>
          <a:noFill/>
        </p:spPr>
        <p:txBody>
          <a:bodyPr wrap="square" anchor="ctr" lIns="0" rIns="0" tIns="0" bIns="0">
            <a:spAutoFit/>
          </a:bodyPr>
          <a:lstStyle/>
          <a:p>
            <a:pPr algn="l">
              <a:spcAft>
                <a:spcPts val="400"/>
              </a:spcAft>
            </a:pPr>
            <a:r>
              <a:rPr sz="1300" b="1">
                <a:solidFill>
                  <a:srgbClr val="D97757"/>
                </a:solidFill>
                <a:latin typeface="Calibri"/>
              </a:rPr>
              <a:t>Free space</a:t>
            </a:r>
          </a:p>
        </p:txBody>
      </p:sp>
      <p:sp>
        <p:nvSpPr>
          <p:cNvPr id="39" name="TextBox 38"/>
          <p:cNvSpPr txBox="1"/>
          <p:nvPr/>
        </p:nvSpPr>
        <p:spPr>
          <a:xfrm>
            <a:off x="6949440" y="5329809"/>
            <a:ext cx="219456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650.5k</a:t>
            </a:r>
          </a:p>
        </p:txBody>
      </p:sp>
      <p:sp>
        <p:nvSpPr>
          <p:cNvPr id="40" name="TextBox 39"/>
          <p:cNvSpPr txBox="1"/>
          <p:nvPr/>
        </p:nvSpPr>
        <p:spPr>
          <a:xfrm>
            <a:off x="9326880" y="5329809"/>
            <a:ext cx="2011680" cy="385191"/>
          </a:xfrm>
          <a:prstGeom prst="rect">
            <a:avLst/>
          </a:prstGeom>
          <a:noFill/>
        </p:spPr>
        <p:txBody>
          <a:bodyPr wrap="square" anchor="ctr" lIns="0" rIns="0" tIns="0" bIns="0">
            <a:spAutoFit/>
          </a:bodyPr>
          <a:lstStyle/>
          <a:p>
            <a:pPr algn="r">
              <a:spcAft>
                <a:spcPts val="400"/>
              </a:spcAft>
            </a:pPr>
            <a:r>
              <a:rPr sz="1300" b="1">
                <a:solidFill>
                  <a:srgbClr val="D97757"/>
                </a:solidFill>
                <a:latin typeface="Calibri"/>
              </a:rPr>
              <a:t>65.0%</a:t>
            </a:r>
          </a:p>
        </p:txBody>
      </p:sp>
      <p:sp>
        <p:nvSpPr>
          <p:cNvPr id="41" name="Rectangle 40"/>
          <p:cNvSpPr/>
          <p:nvPr/>
        </p:nvSpPr>
        <p:spPr>
          <a:xfrm>
            <a:off x="822960" y="5715000"/>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In Claude Code, run /context to see this for your own session. Note how much a large set of connectors costs before you have typed anything — turn off the ones you do not need.</a:t>
            </a:r>
          </a:p>
        </p:txBody>
      </p:sp>
      <p:sp>
        <p:nvSpPr>
          <p:cNvPr id="43" name="TextBox 4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4" name="TextBox 4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5" name="TextBox 4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79</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Key Concepts — Connectors, Skills and Plugins</a:t>
            </a:r>
          </a:p>
        </p:txBody>
      </p:sp>
      <p:sp>
        <p:nvSpPr>
          <p:cNvPr id="5" name="Rectangle 4"/>
          <p:cNvSpPr/>
          <p:nvPr/>
        </p:nvSpPr>
        <p:spPr>
          <a:xfrm>
            <a:off x="548640"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Connectors</a:t>
            </a:r>
          </a:p>
          <a:p>
            <a:pPr algn="l">
              <a:spcAft>
                <a:spcPts val="300"/>
              </a:spcAft>
            </a:pPr>
            <a:r>
              <a:rPr sz="1150" b="0">
                <a:solidFill>
                  <a:srgbClr val="6B6862"/>
                </a:solidFill>
                <a:latin typeface="Calibri"/>
              </a:rPr>
              <a:t>Toggle Gmail, Drive and Calendar on from the + menu so Claude can reach data outside the chat.</a:t>
            </a:r>
          </a:p>
        </p:txBody>
      </p:sp>
      <p:sp>
        <p:nvSpPr>
          <p:cNvPr id="10" name="Rectangle 9"/>
          <p:cNvSpPr/>
          <p:nvPr/>
        </p:nvSpPr>
        <p:spPr>
          <a:xfrm>
            <a:off x="6163056" y="1783080"/>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folder</a:t>
            </a:r>
          </a:p>
          <a:p>
            <a:pPr algn="l">
              <a:spcAft>
                <a:spcPts val="300"/>
              </a:spcAft>
            </a:pPr>
            <a:r>
              <a:rPr sz="1150" b="0">
                <a:solidFill>
                  <a:srgbClr val="6B6862"/>
                </a:solidFill>
                <a:latin typeface="Calibri"/>
              </a:rPr>
              <a:t>Point Claude at one Drive folder for the task — not your whole Drive.</a:t>
            </a:r>
          </a:p>
        </p:txBody>
      </p:sp>
      <p:sp>
        <p:nvSpPr>
          <p:cNvPr id="15" name="Rectangle 14"/>
          <p:cNvSpPr/>
          <p:nvPr/>
        </p:nvSpPr>
        <p:spPr>
          <a:xfrm>
            <a:off x="548640"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to send</a:t>
            </a:r>
          </a:p>
          <a:p>
            <a:pPr algn="l">
              <a:spcAft>
                <a:spcPts val="300"/>
              </a:spcAft>
            </a:pPr>
            <a:r>
              <a:rPr sz="1150" b="0">
                <a:solidFill>
                  <a:srgbClr val="6B6862"/>
                </a:solidFill>
                <a:latin typeface="Calibri"/>
              </a:rPr>
              <a:t>Claude drafts, sends and replies in Gmail — sending asks for explicit approval by default.</a:t>
            </a:r>
          </a:p>
        </p:txBody>
      </p:sp>
      <p:sp>
        <p:nvSpPr>
          <p:cNvPr id="20" name="Rectangle 19"/>
          <p:cNvSpPr/>
          <p:nvPr/>
        </p:nvSpPr>
        <p:spPr>
          <a:xfrm>
            <a:off x="6163056" y="2852928"/>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962656"/>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 and Docs</a:t>
            </a:r>
          </a:p>
          <a:p>
            <a:pPr algn="l">
              <a:spcAft>
                <a:spcPts val="300"/>
              </a:spcAft>
            </a:pPr>
            <a:r>
              <a:rPr sz="1150" b="0">
                <a:solidFill>
                  <a:srgbClr val="6B6862"/>
                </a:solidFill>
                <a:latin typeface="Calibri"/>
              </a:rPr>
              <a:t>Claude's own deck and document formats: shareable, editable, and downloadable as PowerPoint, Word or PDF.</a:t>
            </a:r>
          </a:p>
        </p:txBody>
      </p:sp>
      <p:sp>
        <p:nvSpPr>
          <p:cNvPr id="25" name="Rectangle 24"/>
          <p:cNvSpPr/>
          <p:nvPr/>
        </p:nvSpPr>
        <p:spPr>
          <a:xfrm>
            <a:off x="548640"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Agent Skills</a:t>
            </a:r>
          </a:p>
          <a:p>
            <a:pPr algn="l">
              <a:spcAft>
                <a:spcPts val="300"/>
              </a:spcAft>
            </a:pPr>
            <a:r>
              <a:rPr sz="1150" b="0">
                <a:solidFill>
                  <a:srgbClr val="6B6862"/>
                </a:solidFill>
                <a:latin typeface="Calibri"/>
              </a:rPr>
              <a:t>A folder of instructions Claude loads on demand, so a task runs the same way every time.</a:t>
            </a:r>
          </a:p>
        </p:txBody>
      </p:sp>
      <p:sp>
        <p:nvSpPr>
          <p:cNvPr id="30" name="Rectangle 29"/>
          <p:cNvSpPr/>
          <p:nvPr/>
        </p:nvSpPr>
        <p:spPr>
          <a:xfrm>
            <a:off x="6163056" y="3922776"/>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032504"/>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/skill-creator</a:t>
            </a:r>
          </a:p>
          <a:p>
            <a:pPr algn="l">
              <a:spcAft>
                <a:spcPts val="300"/>
              </a:spcAft>
            </a:pPr>
            <a:r>
              <a:rPr sz="1150" b="0">
                <a:solidFill>
                  <a:srgbClr val="6B6862"/>
                </a:solidFill>
                <a:latin typeface="Calibri"/>
              </a:rPr>
              <a:t>Do the task once, verify the output, then let skill-creator write the SKILL.md for you.</a:t>
            </a:r>
          </a:p>
        </p:txBody>
      </p:sp>
      <p:sp>
        <p:nvSpPr>
          <p:cNvPr id="35" name="Rectangle 34"/>
          <p:cNvSpPr/>
          <p:nvPr/>
        </p:nvSpPr>
        <p:spPr>
          <a:xfrm>
            <a:off x="548640"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Plugins</a:t>
            </a:r>
          </a:p>
          <a:p>
            <a:pPr algn="l">
              <a:spcAft>
                <a:spcPts val="300"/>
              </a:spcAft>
            </a:pPr>
            <a:r>
              <a:rPr sz="1150" b="0">
                <a:solidFill>
                  <a:srgbClr val="6B6862"/>
                </a:solidFill>
                <a:latin typeface="Calibri"/>
              </a:rPr>
              <a:t>A bundle somebody else packaged — several skills plus the tools they need, installed in one click.</a:t>
            </a:r>
          </a:p>
        </p:txBody>
      </p:sp>
      <p:sp>
        <p:nvSpPr>
          <p:cNvPr id="40" name="Rectangle 39"/>
          <p:cNvSpPr/>
          <p:nvPr/>
        </p:nvSpPr>
        <p:spPr>
          <a:xfrm>
            <a:off x="6163056" y="4992624"/>
            <a:ext cx="5449824"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5102352"/>
            <a:ext cx="4434840"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Mods</a:t>
            </a:r>
          </a:p>
          <a:p>
            <a:pPr algn="l">
              <a:spcAft>
                <a:spcPts val="300"/>
              </a:spcAft>
            </a:pPr>
            <a:r>
              <a:rPr sz="1150" b="0">
                <a:solidFill>
                  <a:srgbClr val="6B6862"/>
                </a:solidFill>
                <a:latin typeface="Calibri"/>
              </a:rPr>
              <a:t>Changes to Claude's own interface or behaviour — a side panel, a status line, a slash command or a hook.</a:t>
            </a:r>
          </a:p>
        </p:txBody>
      </p:sp>
      <p:sp>
        <p:nvSpPr>
          <p:cNvPr id="45" name="TextBox 4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6" name="TextBox 4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7" name="TextBox 4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80</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04</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Connect Google Drive and Gmail, read campaign files from Drive and send an approved summary</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budget and timeline live in a shared Google Drive folder, not on your laptop. You upload the Lab 04 data folder to Drive, connect the Google Drive and Gmail connectors, and have the project read the budget from Drive, reconcile it against the launch brief, save the research brief back to Drive, and email you an approved summary. The budget sheet and the brief disagree on two lines — the project should catch it.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Drive and Gmail connected, the research brief saved to Drive, and an approved launch summary emailed to yourself.</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Google Drive connector,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81</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04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never send without approval — Claude drafts the email, you approve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launch brief's budget, compared line by line with the Drive sheet.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Reaches out: the Lumo Launch folder in Google Drive and your Gmail, by connector.</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82</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THE PROMPT · STEP 3</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Reconcile the budget and send the summary</a:t>
            </a:r>
          </a:p>
        </p:txBody>
      </p:sp>
      <p:sp>
        <p:nvSpPr>
          <p:cNvPr id="5" name="Rectangle 4"/>
          <p:cNvSpPr/>
          <p:nvPr/>
        </p:nvSpPr>
        <p:spPr>
          <a:xfrm>
            <a:off x="548640" y="1828800"/>
            <a:ext cx="11064240" cy="28117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8117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Google Drive, open the "Lumo Launch" folder.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Read lumo-launch-budget.csv and lumo-launch-timeline.csv.</a:t>
            </a:r>
          </a:p>
          <a:p>
            <a:pPr algn="l">
              <a:spcAft>
                <a:spcPts val="200"/>
              </a:spcAft>
            </a:pPr>
            <a:r>
              <a:rPr sz="1250" b="0">
                <a:solidFill>
                  <a:srgbClr val="21201C"/>
                </a:solidFill>
                <a:latin typeface="Calibri"/>
              </a:rPr>
              <a:t>2. Compare the budget sheet, line by line, with the budget in</a:t>
            </a:r>
          </a:p>
          <a:p>
            <a:pPr algn="l">
              <a:spcAft>
                <a:spcPts val="200"/>
              </a:spcAft>
            </a:pPr>
            <a:r>
              <a:rPr sz="1250" b="0">
                <a:solidFill>
                  <a:srgbClr val="21201C"/>
                </a:solidFill>
                <a:latin typeface="Calibri"/>
              </a:rPr>
              <a:t>   lumo-launch-brief.md from our project context. Show both in one</a:t>
            </a:r>
          </a:p>
          <a:p>
            <a:pPr algn="l">
              <a:spcAft>
                <a:spcPts val="200"/>
              </a:spcAft>
            </a:pPr>
            <a:r>
              <a:rPr sz="1250" b="0">
                <a:solidFill>
                  <a:srgbClr val="21201C"/>
                </a:solidFill>
                <a:latin typeface="Calibri"/>
              </a:rPr>
              <a:t>   table and flag every line where they disagree. Do not decide</a:t>
            </a:r>
          </a:p>
          <a:p>
            <a:pPr algn="l">
              <a:spcAft>
                <a:spcPts val="200"/>
              </a:spcAft>
            </a:pPr>
            <a:r>
              <a:rPr sz="1250" b="0">
                <a:solidFill>
                  <a:srgbClr val="21201C"/>
                </a:solidFill>
                <a:latin typeface="Calibri"/>
              </a:rPr>
              <a:t>   which is right.</a:t>
            </a:r>
          </a:p>
        </p:txBody>
      </p:sp>
      <p:sp>
        <p:nvSpPr>
          <p:cNvPr id="9" name="TextBox 8"/>
          <p:cNvSpPr txBox="1"/>
          <p:nvPr/>
        </p:nvSpPr>
        <p:spPr>
          <a:xfrm>
            <a:off x="6286500" y="2359152"/>
            <a:ext cx="5006340" cy="21259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3. Upload lumo-research-brief.docx from Lab 2 into the same Drive</a:t>
            </a:r>
          </a:p>
          <a:p>
            <a:pPr algn="l">
              <a:spcAft>
                <a:spcPts val="200"/>
              </a:spcAft>
            </a:pPr>
            <a:r>
              <a:rPr sz="1250" b="0">
                <a:solidFill>
                  <a:srgbClr val="21201C"/>
                </a:solidFill>
                <a:latin typeface="Calibri"/>
              </a:rPr>
              <a:t>   folder.</a:t>
            </a:r>
          </a:p>
          <a:p>
            <a:pPr algn="l">
              <a:spcAft>
                <a:spcPts val="200"/>
              </a:spcAft>
            </a:pPr>
            <a:r>
              <a:rPr sz="1250" b="0">
                <a:solidFill>
                  <a:srgbClr val="21201C"/>
                </a:solidFill>
                <a:latin typeface="Calibri"/>
              </a:rPr>
              <a:t>4. Draft an email to &lt;YOUR EMAIL&gt; with the subject</a:t>
            </a:r>
          </a:p>
          <a:p>
            <a:pPr algn="l">
              <a:spcAft>
                <a:spcPts val="200"/>
              </a:spcAft>
            </a:pPr>
            <a:r>
              <a:rPr sz="1250" b="0">
                <a:solidFill>
                  <a:srgbClr val="21201C"/>
                </a:solidFill>
                <a:latin typeface="Calibri"/>
              </a:rPr>
              <a:t>   "Lumo launch - research and budget check": three bullet points</a:t>
            </a:r>
          </a:p>
          <a:p>
            <a:pPr algn="l">
              <a:spcAft>
                <a:spcPts val="200"/>
              </a:spcAft>
            </a:pPr>
            <a:r>
              <a:rPr sz="1250" b="0">
                <a:solidFill>
                  <a:srgbClr val="21201C"/>
                </a:solidFill>
                <a:latin typeface="Calibri"/>
              </a:rPr>
              <a:t>   from the research brief, the budget table with the disagreements</a:t>
            </a:r>
          </a:p>
          <a:p>
            <a:pPr algn="l">
              <a:spcAft>
                <a:spcPts val="200"/>
              </a:spcAft>
            </a:pPr>
            <a:r>
              <a:rPr sz="1250" b="0">
                <a:solidFill>
                  <a:srgbClr val="21201C"/>
                </a:solidFill>
                <a:latin typeface="Calibri"/>
              </a:rPr>
              <a:t>   flagged, the next milestone from the timeline, and a link to the</a:t>
            </a:r>
          </a:p>
          <a:p>
            <a:pPr algn="l">
              <a:spcAft>
                <a:spcPts val="200"/>
              </a:spcAft>
            </a:pPr>
            <a:r>
              <a:rPr sz="1250" b="0">
                <a:solidFill>
                  <a:srgbClr val="21201C"/>
                </a:solidFill>
                <a:latin typeface="Calibri"/>
              </a:rPr>
              <a:t>   brief in Drive.</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Show me the draft. Do not send it until I approve.</a:t>
            </a:r>
          </a:p>
        </p:txBody>
      </p:sp>
      <p:sp>
        <p:nvSpPr>
          <p:cNvPr id="10" name="Rectangle 9"/>
          <p:cNvSpPr/>
          <p:nvPr/>
        </p:nvSpPr>
        <p:spPr>
          <a:xfrm>
            <a:off x="6080760" y="2395728"/>
            <a:ext cx="9144" cy="20345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9149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with your own address. Send lab emails only to yourself.</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83</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Upload the Lab 04 data/Lumo Launch folder to your Google Drive.</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click + → Connectors and switch on Google Drive and Gmail, signing in to Google.</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the lab prompt with your own email address in place of &lt;YOUR EMAIL&gt;.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budget table Claude produces.</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Confirm Claude flagged both lines instead of choosing one.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that lumo-research-brief.docx now sits in the Lumo Launch folder in Drive.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draft email in full, then approve it.</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confirm the email arrived with the Drive link working.</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84</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Connect Google Drive and Gmail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Google Drive and Gmail are connected. Claude read both CSV files from the Lumo Launch folder, showed a budget table totalling S$60,000 on both sides, and flagged Instagram (S$18,000 vs S$20,000) and Influencers (S$12,000 vs S$10,000) without choosing between them. lumo-research-brief.docx is in the Drive folder, and the approved summary email arrived in your own inbox with a working link.</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85</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4 in Class: Reading from Google Drive</a:t>
            </a:r>
          </a:p>
        </p:txBody>
      </p:sp>
      <p:sp>
        <p:nvSpPr>
          <p:cNvPr id="5" name="Rectangle 4"/>
          <p:cNvSpPr/>
          <p:nvPr/>
        </p:nvSpPr>
        <p:spPr>
          <a:xfrm>
            <a:off x="2067973" y="1600200"/>
            <a:ext cx="8025574"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067973" y="1600200"/>
            <a:ext cx="8025574"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drive-read.png"/>
          <p:cNvPicPr>
            <a:picLocks noChangeAspect="1"/>
          </p:cNvPicPr>
          <p:nvPr/>
        </p:nvPicPr>
        <p:blipFill>
          <a:blip r:embed="rId2"/>
          <a:stretch>
            <a:fillRect/>
          </a:stretch>
        </p:blipFill>
        <p:spPr>
          <a:xfrm>
            <a:off x="2177701" y="1709928"/>
            <a:ext cx="7806118"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Plan first</a:t>
            </a:r>
          </a:p>
          <a:p>
            <a:pPr algn="l">
              <a:spcAft>
                <a:spcPts val="300"/>
              </a:spcAft>
            </a:pPr>
            <a:r>
              <a:rPr sz="1250" b="0">
                <a:solidFill>
                  <a:srgbClr val="6B6862"/>
                </a:solidFill>
                <a:latin typeface="Calibri"/>
              </a:rPr>
              <a:t>Open the Lumo Launch folder, read both CSVs, compare the budget with the brief, then email.</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tool call</a:t>
            </a:r>
          </a:p>
          <a:p>
            <a:pPr algn="l">
              <a:spcAft>
                <a:spcPts val="300"/>
              </a:spcAft>
            </a:pPr>
            <a:r>
              <a:rPr sz="1250" b="0">
                <a:solidFill>
                  <a:srgbClr val="6B6862"/>
                </a:solidFill>
                <a:latin typeface="Calibri"/>
              </a:rPr>
              <a:t>'Using Google Drive: Read file content' — the connector at work.</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Watch it</a:t>
            </a:r>
          </a:p>
          <a:p>
            <a:pPr algn="l">
              <a:spcAft>
                <a:spcPts val="300"/>
              </a:spcAft>
            </a:pPr>
            <a:r>
              <a:rPr sz="1250" b="0">
                <a:solidFill>
                  <a:srgbClr val="6B6862"/>
                </a:solidFill>
                <a:latin typeface="Calibri"/>
              </a:rPr>
              <a:t>Each tool call shows its time; click › to see what was read.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Claude states its plan, then calls the Google Drive connector.</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86</a:t>
            </a:r>
          </a:p>
        </p:txBody>
      </p:sp>
    </p:spTree>
  </p:cSld>
  <p:clrMapOvr>
    <a:masterClrMapping/>
  </p:clrMapOvr>
  <p:transition spd="med">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Following the Progress Panel</a:t>
            </a:r>
          </a:p>
        </p:txBody>
      </p:sp>
      <p:sp>
        <p:nvSpPr>
          <p:cNvPr id="5" name="Rectangle 4"/>
          <p:cNvSpPr/>
          <p:nvPr/>
        </p:nvSpPr>
        <p:spPr>
          <a:xfrm>
            <a:off x="1536083" y="1600200"/>
            <a:ext cx="4928833" cy="4297679"/>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536083" y="1600200"/>
            <a:ext cx="4928833"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progress-panel.png"/>
          <p:cNvPicPr>
            <a:picLocks noChangeAspect="1"/>
          </p:cNvPicPr>
          <p:nvPr/>
        </p:nvPicPr>
        <p:blipFill>
          <a:blip r:embed="rId2"/>
          <a:stretch>
            <a:fillRect/>
          </a:stretch>
        </p:blipFill>
        <p:spPr>
          <a:xfrm>
            <a:off x="1645811" y="1709928"/>
            <a:ext cx="4709377" cy="4078223"/>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Steps</a:t>
            </a:r>
          </a:p>
          <a:p>
            <a:pPr algn="l">
              <a:spcAft>
                <a:spcPts val="300"/>
              </a:spcAft>
            </a:pPr>
            <a:r>
              <a:rPr sz="1250" b="0">
                <a:solidFill>
                  <a:srgbClr val="6B6862"/>
                </a:solidFill>
                <a:latin typeface="Calibri"/>
              </a:rPr>
              <a:t>Find the folder → compare budget and brief → prepare the email.</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Current step</a:t>
            </a:r>
          </a:p>
          <a:p>
            <a:pPr algn="l">
              <a:spcAft>
                <a:spcPts val="300"/>
              </a:spcAft>
            </a:pPr>
            <a:r>
              <a:rPr sz="1250" b="0">
                <a:solidFill>
                  <a:srgbClr val="6B6862"/>
                </a:solidFill>
                <a:latin typeface="Calibri"/>
              </a:rPr>
              <a:t>The orange dot marks the step in progress.</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Used in this session</a:t>
            </a:r>
          </a:p>
          <a:p>
            <a:pPr algn="l">
              <a:spcAft>
                <a:spcPts val="300"/>
              </a:spcAft>
            </a:pPr>
            <a:r>
              <a:rPr sz="1250" b="0">
                <a:solidFill>
                  <a:srgbClr val="6B6862"/>
                </a:solidFill>
                <a:latin typeface="Calibri"/>
              </a:rPr>
              <a:t>The connectors it called: Gmail and Google Drive.</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progress panel ticks off each step and lists what the session used.</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87</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04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Lab 4 Email</a:t>
            </a:r>
          </a:p>
        </p:txBody>
      </p:sp>
      <p:sp>
        <p:nvSpPr>
          <p:cNvPr id="5" name="Rectangle 4"/>
          <p:cNvSpPr/>
          <p:nvPr/>
        </p:nvSpPr>
        <p:spPr>
          <a:xfrm>
            <a:off x="1415839" y="1600200"/>
            <a:ext cx="5169321"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15839" y="1600200"/>
            <a:ext cx="5169321"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email-draft.png"/>
          <p:cNvPicPr>
            <a:picLocks noChangeAspect="1"/>
          </p:cNvPicPr>
          <p:nvPr/>
        </p:nvPicPr>
        <p:blipFill>
          <a:blip r:embed="rId2"/>
          <a:stretch>
            <a:fillRect/>
          </a:stretch>
        </p:blipFill>
        <p:spPr>
          <a:xfrm>
            <a:off x="1525567" y="1709928"/>
            <a:ext cx="4949865"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From the brief</a:t>
            </a:r>
          </a:p>
          <a:p>
            <a:pPr algn="l">
              <a:spcAft>
                <a:spcPts val="300"/>
              </a:spcAft>
            </a:pPr>
            <a:r>
              <a:rPr sz="1250" b="0">
                <a:solidFill>
                  <a:srgbClr val="6B6862"/>
                </a:solidFill>
                <a:latin typeface="Calibri"/>
              </a:rPr>
              <a:t>Price position, audience and sales goal, quoted from the research brief.</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FLAG</a:t>
            </a:r>
          </a:p>
          <a:p>
            <a:pPr algn="l">
              <a:spcAft>
                <a:spcPts val="300"/>
              </a:spcAft>
            </a:pPr>
            <a:r>
              <a:rPr sz="1250" b="0">
                <a:solidFill>
                  <a:srgbClr val="6B6862"/>
                </a:solidFill>
                <a:latin typeface="Calibri"/>
              </a:rPr>
              <a:t>Conflicting Instagram figures are flagged, not hidden — resolve each FLAG.</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numbers</a:t>
            </a:r>
          </a:p>
          <a:p>
            <a:pPr algn="l">
              <a:spcAft>
                <a:spcPts val="300"/>
              </a:spcAft>
            </a:pPr>
            <a:r>
              <a:rPr sz="1250" b="0">
                <a:solidFill>
                  <a:srgbClr val="6B6862"/>
                </a:solidFill>
                <a:latin typeface="Calibri"/>
              </a:rPr>
              <a:t>8,000 cans is S$28,000–31,200 at retail, below the S$60,000 spend.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research and budget check, written into Gmail from the Drive files.</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88</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SLIDES AND DOCS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Slides, Docs and Built-in Skills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Claude's own formats for the things a launch meeting needs.</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Slides</a:t>
            </a:r>
          </a:p>
          <a:p>
            <a:pPr algn="l">
              <a:spcAft>
                <a:spcPts val="300"/>
              </a:spcAft>
            </a:pPr>
            <a:r>
              <a:rPr sz="1150" b="0">
                <a:solidFill>
                  <a:srgbClr val="6B6862"/>
                </a:solidFill>
                <a:latin typeface="Calibri"/>
              </a:rPr>
              <a:t>A deck Claude builds and you edit in place — download as PowerPoint or PDF for the meeting.</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Docs</a:t>
            </a:r>
          </a:p>
          <a:p>
            <a:pPr algn="l">
              <a:spcAft>
                <a:spcPts val="300"/>
              </a:spcAft>
            </a:pPr>
            <a:r>
              <a:rPr sz="1150" b="0">
                <a:solidFill>
                  <a:srgbClr val="6B6862"/>
                </a:solidFill>
                <a:latin typeface="Calibri"/>
              </a:rPr>
              <a:t>A living document — a campaign brief, a plan — that you and Claude edit and comment on together.</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Dashboards</a:t>
            </a:r>
          </a:p>
          <a:p>
            <a:pPr algn="l">
              <a:spcAft>
                <a:spcPts val="300"/>
              </a:spcAft>
            </a:pPr>
            <a:r>
              <a:rPr sz="1150" b="0">
                <a:solidFill>
                  <a:srgbClr val="6B6862"/>
                </a:solidFill>
                <a:latin typeface="Calibri"/>
              </a:rPr>
              <a:t>A page of live numbers — the Live Artefact you build in Lab 3 is one.</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Built-in skills</a:t>
            </a:r>
          </a:p>
          <a:p>
            <a:pPr algn="l">
              <a:spcAft>
                <a:spcPts val="300"/>
              </a:spcAft>
            </a:pPr>
            <a:r>
              <a:rPr sz="1150" b="0">
                <a:solidFill>
                  <a:srgbClr val="6B6862"/>
                </a:solidFill>
                <a:latin typeface="Calibri"/>
              </a:rPr>
              <a:t>Claude's pptx, docx and xlsx skills load on their own when your request needs a file.</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You never name the skill. Ask for a deck or a document; Claude picks the format and the skill that builds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89</a:t>
            </a:r>
          </a:p>
        </p:txBody>
      </p:sp>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05</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Produce a launch deck in Slides and a campaign brief in Docs from the project's research</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launch team meets on Friday and needs two things: a short deck for the room and a campaign brief everyone can work from. You ask the project for both. Claude builds the deck in Slides and the brief in Docs, choosing its built-in skills on its own, using the numbers from your research and dashboard. You check every figure, then download the deck as PowerPoint.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An eight-slide launch deck in Slides (downloaded as .pptx) and a campaign brief in Docs.</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Slides, Docs, built-in skills</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90</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05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follow the brand guidelines for anything customer-facing.</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for the name, tagline, price and claims.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the Lab 2 research brief; the deck downloads as .pptx.</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91</a:t>
            </a:r>
          </a:p>
        </p:txBody>
      </p:sp>
    </p:spTree>
  </p:cSld>
  <p:clrMapOvr>
    <a:masterClrMapping/>
  </p:clrMapOvr>
  <p:transition spd="med">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Build the launch deck and campaign brief</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Using our research brief, the Market Insights dashboard and the</a:t>
            </a:r>
          </a:p>
          <a:p>
            <a:pPr algn="l">
              <a:spcAft>
                <a:spcPts val="200"/>
              </a:spcAft>
            </a:pPr>
            <a:r>
              <a:rPr sz="1250" b="0">
                <a:solidFill>
                  <a:srgbClr val="21201C"/>
                </a:solidFill>
                <a:latin typeface="Calibri"/>
              </a:rPr>
              <a:t>brand kit, create two things for Friday's launch meeting.</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1. A launch deck in Slides, eight slides:</a:t>
            </a:r>
          </a:p>
          <a:p>
            <a:pPr algn="l">
              <a:spcAft>
                <a:spcPts val="200"/>
              </a:spcAft>
            </a:pPr>
            <a:r>
              <a:rPr sz="1250" b="0">
                <a:solidFill>
                  <a:srgbClr val="21201C"/>
                </a:solidFill>
                <a:latin typeface="Calibri"/>
              </a:rPr>
              <a:t>   1 Title - Lumo Cold Kopi: Kopi, Chilled Right</a:t>
            </a:r>
          </a:p>
          <a:p>
            <a:pPr algn="l">
              <a:spcAft>
                <a:spcPts val="200"/>
              </a:spcAft>
            </a:pPr>
            <a:r>
              <a:rPr sz="1250" b="0">
                <a:solidFill>
                  <a:srgbClr val="21201C"/>
                </a:solidFill>
                <a:latin typeface="Calibri"/>
              </a:rPr>
              <a:t>   2 The opportunity - the three survey numbers that matter most</a:t>
            </a:r>
          </a:p>
          <a:p>
            <a:pPr algn="l">
              <a:spcAft>
                <a:spcPts val="200"/>
              </a:spcAft>
            </a:pPr>
            <a:r>
              <a:rPr sz="1250" b="0">
                <a:solidFill>
                  <a:srgbClr val="21201C"/>
                </a:solidFill>
                <a:latin typeface="Calibri"/>
              </a:rPr>
              <a:t>   3 Who we are for - 25-34s in Singapore, with the evidence</a:t>
            </a:r>
          </a:p>
          <a:p>
            <a:pPr algn="l">
              <a:spcAft>
                <a:spcPts val="200"/>
              </a:spcAft>
            </a:pPr>
            <a:r>
              <a:rPr sz="1250" b="0">
                <a:solidFill>
                  <a:srgbClr val="21201C"/>
                </a:solidFill>
                <a:latin typeface="Calibri"/>
              </a:rPr>
              <a:t>   4 Competitors - a price ladder chart with Lumo highlighted</a:t>
            </a:r>
          </a:p>
          <a:p>
            <a:pPr algn="l">
              <a:spcAft>
                <a:spcPts val="200"/>
              </a:spcAft>
            </a:pPr>
            <a:r>
              <a:rPr sz="1250" b="0">
                <a:solidFill>
                  <a:srgbClr val="21201C"/>
                </a:solidFill>
                <a:latin typeface="Calibri"/>
              </a:rPr>
              <a:t>   5 Where they find us - a discovery channel chart</a:t>
            </a:r>
          </a:p>
          <a:p>
            <a:pPr algn="l">
              <a:spcAft>
                <a:spcPts val="200"/>
              </a:spcAft>
            </a:pPr>
            <a:r>
              <a:rPr sz="1250" b="0">
                <a:solidFill>
                  <a:srgbClr val="21201C"/>
                </a:solidFill>
                <a:latin typeface="Calibri"/>
              </a:rPr>
              <a:t>   6 The campaign - message, channels and dates</a:t>
            </a:r>
          </a:p>
          <a:p>
            <a:pPr algn="l">
              <a:spcAft>
                <a:spcPts val="200"/>
              </a:spcAft>
            </a:pPr>
            <a:r>
              <a:rPr sz="1250" b="0">
                <a:solidFill>
                  <a:srgbClr val="21201C"/>
                </a:solidFill>
                <a:latin typeface="Calibri"/>
              </a:rPr>
              <a:t>   7 Budget - the S$60,000 split, noting the two open questions</a:t>
            </a:r>
          </a:p>
          <a:p>
            <a:pPr algn="l">
              <a:spcAft>
                <a:spcPts val="200"/>
              </a:spcAft>
            </a:pPr>
            <a:r>
              <a:rPr sz="1250" b="0">
                <a:solidFill>
                  <a:srgbClr val="21201C"/>
                </a:solidFill>
                <a:latin typeface="Calibri"/>
              </a:rPr>
              <a:t>   8 Next steps and owners</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Use the Lumo brand colours. Real charts, not pictures of charts.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2. A campaign brief in Docs: objective, audience, key message,</a:t>
            </a:r>
          </a:p>
          <a:p>
            <a:pPr algn="l">
              <a:spcAft>
                <a:spcPts val="200"/>
              </a:spcAft>
            </a:pPr>
            <a:r>
              <a:rPr sz="1250" b="0">
                <a:solidFill>
                  <a:srgbClr val="21201C"/>
                </a:solidFill>
                <a:latin typeface="Calibri"/>
              </a:rPr>
              <a:t>   proof points, channels, budget, timeline, KPIs, and a "claims</a:t>
            </a:r>
          </a:p>
          <a:p>
            <a:pPr algn="l">
              <a:spcAft>
                <a:spcPts val="200"/>
              </a:spcAft>
            </a:pPr>
            <a:r>
              <a:rPr sz="1250" b="0">
                <a:solidFill>
                  <a:srgbClr val="21201C"/>
                </a:solidFill>
                <a:latin typeface="Calibri"/>
              </a:rPr>
              <a:t>   we must not make" section.</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number must come from the research brief or the dashboard.</a:t>
            </a:r>
          </a:p>
          <a:p>
            <a:pPr algn="l">
              <a:spcAft>
                <a:spcPts val="200"/>
              </a:spcAft>
            </a:pPr>
            <a:r>
              <a:rPr sz="1250" b="0">
                <a:solidFill>
                  <a:srgbClr val="21201C"/>
                </a:solidFill>
                <a:latin typeface="Calibri"/>
              </a:rPr>
              <a:t>List the source of each number at the end of the brief.</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do not name a skill. Ask for a deck and a document; Claude picks the format and the built-in skill.</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92</a:t>
            </a:r>
          </a:p>
        </p:txBody>
      </p:sp>
    </p:spTree>
  </p:cSld>
  <p:clrMapOvr>
    <a:masterClrMapping/>
  </p:clrMapOvr>
  <p:transition spd="med">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deck when it appears and page through all eight slides.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2 and slide 4 against your research.</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slide 7.</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campaign brief in Docs and read the "claims we must not make" section.</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to each, for example: Shorten slide 6 to three bullets.</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Download the deck as PowerPoint and open it.</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93</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05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Create the Launch Deck and Campaign Brief</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deck has eight slides in the Lumo colours, with real charts for the price ladder and the discovery channels, the survey figures 62%, 74% and 34%, and a budget slide that shows S$60,000 with the Instagram and Influencers lines marked as open questions. The campaign brief in Docs has all nine sections, including "claims we must not make", and lists a source for every number. The deck opens in PowerPoint with its charts intact.</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94</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Are Documented on Three Layers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layer reaches Claude at a different moment — which is why the description matters most.</a:t>
            </a:r>
          </a:p>
        </p:txBody>
      </p:sp>
      <p:sp>
        <p:nvSpPr>
          <p:cNvPr id="6" name="TextBox 5"/>
          <p:cNvSpPr txBox="1"/>
          <p:nvPr/>
        </p:nvSpPr>
        <p:spPr>
          <a:xfrm>
            <a:off x="548640" y="2286000"/>
            <a:ext cx="603504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Layers</a:t>
            </a:r>
          </a:p>
        </p:txBody>
      </p:sp>
      <p:sp>
        <p:nvSpPr>
          <p:cNvPr id="7" name="TextBox 6"/>
          <p:cNvSpPr txBox="1"/>
          <p:nvPr/>
        </p:nvSpPr>
        <p:spPr>
          <a:xfrm>
            <a:off x="7315200" y="2286000"/>
            <a:ext cx="4297680" cy="320040"/>
          </a:xfrm>
          <a:prstGeom prst="rect">
            <a:avLst/>
          </a:prstGeom>
          <a:noFill/>
        </p:spPr>
        <p:txBody>
          <a:bodyPr wrap="square" anchor="t" lIns="0" rIns="0" tIns="0" bIns="0">
            <a:spAutoFit/>
          </a:bodyPr>
          <a:lstStyle/>
          <a:p>
            <a:pPr algn="ctr">
              <a:spcAft>
                <a:spcPts val="400"/>
              </a:spcAft>
            </a:pPr>
            <a:r>
              <a:rPr sz="1300" b="1">
                <a:solidFill>
                  <a:srgbClr val="6B6862"/>
                </a:solidFill>
                <a:latin typeface="Calibri"/>
              </a:rPr>
              <a:t>When Claude sees them</a:t>
            </a:r>
          </a:p>
        </p:txBody>
      </p:sp>
      <p:sp>
        <p:nvSpPr>
          <p:cNvPr id="8" name="Rectangle 7"/>
          <p:cNvSpPr/>
          <p:nvPr/>
        </p:nvSpPr>
        <p:spPr>
          <a:xfrm>
            <a:off x="1188720" y="2670048"/>
            <a:ext cx="539496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40" y="2816352"/>
            <a:ext cx="484632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Metadata</a:t>
            </a:r>
          </a:p>
        </p:txBody>
      </p:sp>
      <p:sp>
        <p:nvSpPr>
          <p:cNvPr id="10" name="TextBox 9"/>
          <p:cNvSpPr txBox="1"/>
          <p:nvPr/>
        </p:nvSpPr>
        <p:spPr>
          <a:xfrm>
            <a:off x="1463040" y="3182112"/>
            <a:ext cx="484632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Skill name and description.</a:t>
            </a:r>
          </a:p>
        </p:txBody>
      </p:sp>
      <p:sp>
        <p:nvSpPr>
          <p:cNvPr id="11" name="Rectangle 10"/>
          <p:cNvSpPr/>
          <p:nvPr/>
        </p:nvSpPr>
        <p:spPr>
          <a:xfrm>
            <a:off x="644652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74536"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2552"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58584"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86600" y="312420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298704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Always in context — this is all Claude sees until the skill is triggered.</a:t>
            </a:r>
          </a:p>
        </p:txBody>
      </p:sp>
      <p:sp>
        <p:nvSpPr>
          <p:cNvPr id="18" name="Rectangle 17"/>
          <p:cNvSpPr/>
          <p:nvPr/>
        </p:nvSpPr>
        <p:spPr>
          <a:xfrm>
            <a:off x="868680" y="3797808"/>
            <a:ext cx="571500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143000" y="3944112"/>
            <a:ext cx="516636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Instructions</a:t>
            </a:r>
          </a:p>
        </p:txBody>
      </p:sp>
      <p:sp>
        <p:nvSpPr>
          <p:cNvPr id="20" name="TextBox 19"/>
          <p:cNvSpPr txBox="1"/>
          <p:nvPr/>
        </p:nvSpPr>
        <p:spPr>
          <a:xfrm>
            <a:off x="1143000" y="4309872"/>
            <a:ext cx="516636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The step-by-step workflow, written in a SKILL.md.</a:t>
            </a:r>
          </a:p>
        </p:txBody>
      </p:sp>
      <p:sp>
        <p:nvSpPr>
          <p:cNvPr id="21" name="Rectangle 20"/>
          <p:cNvSpPr/>
          <p:nvPr/>
        </p:nvSpPr>
        <p:spPr>
          <a:xfrm>
            <a:off x="644652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74536"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702552"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830568"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958584"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086600" y="425196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0" y="411480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when the skill is triggered.</a:t>
            </a:r>
          </a:p>
        </p:txBody>
      </p:sp>
      <p:sp>
        <p:nvSpPr>
          <p:cNvPr id="28" name="Rectangle 27"/>
          <p:cNvSpPr/>
          <p:nvPr/>
        </p:nvSpPr>
        <p:spPr>
          <a:xfrm>
            <a:off x="548640" y="4925568"/>
            <a:ext cx="6035040" cy="926592"/>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071872"/>
            <a:ext cx="5486400" cy="329184"/>
          </a:xfrm>
          <a:prstGeom prst="rect">
            <a:avLst/>
          </a:prstGeom>
          <a:noFill/>
        </p:spPr>
        <p:txBody>
          <a:bodyPr wrap="square" anchor="t" lIns="0" rIns="0" tIns="0" bIns="0">
            <a:spAutoFit/>
          </a:bodyPr>
          <a:lstStyle/>
          <a:p>
            <a:pPr algn="l">
              <a:spcAft>
                <a:spcPts val="400"/>
              </a:spcAft>
            </a:pPr>
            <a:r>
              <a:rPr sz="1500" b="1">
                <a:solidFill>
                  <a:srgbClr val="21201C"/>
                </a:solidFill>
                <a:latin typeface="Cambria"/>
              </a:rPr>
              <a:t>Resources</a:t>
            </a:r>
          </a:p>
        </p:txBody>
      </p:sp>
      <p:sp>
        <p:nvSpPr>
          <p:cNvPr id="30" name="TextBox 29"/>
          <p:cNvSpPr txBox="1"/>
          <p:nvPr/>
        </p:nvSpPr>
        <p:spPr>
          <a:xfrm>
            <a:off x="822960" y="5437632"/>
            <a:ext cx="5486400" cy="286512"/>
          </a:xfrm>
          <a:prstGeom prst="rect">
            <a:avLst/>
          </a:prstGeom>
          <a:noFill/>
        </p:spPr>
        <p:txBody>
          <a:bodyPr wrap="square" anchor="t" lIns="0" rIns="0" tIns="0" bIns="0">
            <a:spAutoFit/>
          </a:bodyPr>
          <a:lstStyle/>
          <a:p>
            <a:pPr algn="l">
              <a:spcAft>
                <a:spcPts val="400"/>
              </a:spcAft>
            </a:pPr>
            <a:r>
              <a:rPr sz="1150" b="0">
                <a:solidFill>
                  <a:srgbClr val="6B6862"/>
                </a:solidFill>
                <a:latin typeface="Calibri"/>
              </a:rPr>
              <a:t>Supporting documents, templates and examples.</a:t>
            </a:r>
          </a:p>
        </p:txBody>
      </p:sp>
      <p:sp>
        <p:nvSpPr>
          <p:cNvPr id="31" name="Rectangle 30"/>
          <p:cNvSpPr/>
          <p:nvPr/>
        </p:nvSpPr>
        <p:spPr>
          <a:xfrm>
            <a:off x="644652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74536"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702552"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830568"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58584"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086600" y="5379720"/>
            <a:ext cx="64008" cy="18288"/>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0" y="5242560"/>
            <a:ext cx="4297680" cy="310896"/>
          </a:xfrm>
          <a:prstGeom prst="rect">
            <a:avLst/>
          </a:prstGeom>
          <a:noFill/>
        </p:spPr>
        <p:txBody>
          <a:bodyPr wrap="square" anchor="ctr" lIns="0" rIns="0" tIns="0" bIns="0">
            <a:spAutoFit/>
          </a:bodyPr>
          <a:lstStyle/>
          <a:p>
            <a:pPr algn="l">
              <a:spcAft>
                <a:spcPts val="400"/>
              </a:spcAft>
            </a:pPr>
            <a:r>
              <a:rPr sz="1200" b="1">
                <a:solidFill>
                  <a:srgbClr val="3A7D7B"/>
                </a:solidFill>
                <a:latin typeface="Calibri"/>
              </a:rPr>
              <a:t>✓  </a:t>
            </a:r>
            <a:r>
              <a:rPr sz="1250" b="0">
                <a:solidFill>
                  <a:srgbClr val="21201C"/>
                </a:solidFill>
                <a:latin typeface="Calibri"/>
              </a:rPr>
              <a:t>Loaded only when the skill needs them.</a:t>
            </a:r>
          </a:p>
        </p:txBody>
      </p:sp>
      <p:sp>
        <p:nvSpPr>
          <p:cNvPr id="38" name="TextBox 3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9" name="TextBox 3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0" name="TextBox 3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95</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skill is a folder Claude loads on demand when the task matches its description.</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name</a:t>
            </a:r>
          </a:p>
          <a:p>
            <a:pPr algn="l">
              <a:spcAft>
                <a:spcPts val="300"/>
              </a:spcAft>
            </a:pPr>
            <a:r>
              <a:rPr sz="1150" b="0">
                <a:solidFill>
                  <a:srgbClr val="6B6862"/>
                </a:solidFill>
                <a:latin typeface="Calibri"/>
              </a:rPr>
              <a:t>A short identifier such as lumo-brand-voice. This is what you type to run it.</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Metadata — description</a:t>
            </a:r>
          </a:p>
          <a:p>
            <a:pPr algn="l">
              <a:spcAft>
                <a:spcPts val="300"/>
              </a:spcAft>
            </a:pPr>
            <a:r>
              <a:rPr sz="1150" b="0">
                <a:solidFill>
                  <a:srgbClr val="6B6862"/>
                </a:solidFill>
                <a:latin typeface="Calibri"/>
              </a:rPr>
              <a:t>What the skill does and WHEN to use it. Always in context, so this is what Claude matches against your request.</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(SKILL.md)</a:t>
            </a:r>
          </a:p>
          <a:p>
            <a:pPr algn="l">
              <a:spcAft>
                <a:spcPts val="300"/>
              </a:spcAft>
            </a:pPr>
            <a:r>
              <a:rPr sz="1150" b="0">
                <a:solidFill>
                  <a:srgbClr val="6B6862"/>
                </a:solidFill>
                <a:latin typeface="Calibri"/>
              </a:rPr>
              <a:t>The routine itself: tone rules, words to avoid, hashtag rules, the checks to run.</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Resources</a:t>
            </a:r>
          </a:p>
          <a:p>
            <a:pPr algn="l">
              <a:spcAft>
                <a:spcPts val="300"/>
              </a:spcAft>
            </a:pPr>
            <a:r>
              <a:rPr sz="1150" b="0">
                <a:solidFill>
                  <a:srgbClr val="6B6862"/>
                </a:solidFill>
                <a:latin typeface="Calibri"/>
              </a:rPr>
              <a:t>Optional examples of on-brand and off-brand posts the instructions call on.</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96</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Creating Your Own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Do not write a skill from a blank page — do the work first, then capture it.</a:t>
            </a:r>
          </a:p>
        </p:txBody>
      </p:sp>
      <p:sp>
        <p:nvSpPr>
          <p:cNvPr id="6" name="Rectangle 5"/>
          <p:cNvSpPr/>
          <p:nvPr/>
        </p:nvSpPr>
        <p:spPr>
          <a:xfrm>
            <a:off x="54864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0876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50876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10" name="TextBox 9"/>
          <p:cNvSpPr txBox="1"/>
          <p:nvPr/>
        </p:nvSpPr>
        <p:spPr>
          <a:xfrm>
            <a:off x="68580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Do</a:t>
            </a:r>
          </a:p>
        </p:txBody>
      </p:sp>
      <p:sp>
        <p:nvSpPr>
          <p:cNvPr id="11" name="TextBox 10"/>
          <p:cNvSpPr txBox="1"/>
          <p:nvPr/>
        </p:nvSpPr>
        <p:spPr>
          <a:xfrm>
            <a:off x="68580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Do the task together with Claude once, step by step.</a:t>
            </a:r>
          </a:p>
        </p:txBody>
      </p:sp>
      <p:sp>
        <p:nvSpPr>
          <p:cNvPr id="12" name="TextBox 11"/>
          <p:cNvSpPr txBox="1"/>
          <p:nvPr/>
        </p:nvSpPr>
        <p:spPr>
          <a:xfrm>
            <a:off x="310896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3" name="Rectangle 12"/>
          <p:cNvSpPr/>
          <p:nvPr/>
        </p:nvSpPr>
        <p:spPr>
          <a:xfrm>
            <a:off x="338328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4340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4340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7" name="TextBox 16"/>
          <p:cNvSpPr txBox="1"/>
          <p:nvPr/>
        </p:nvSpPr>
        <p:spPr>
          <a:xfrm>
            <a:off x="352044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Verify</a:t>
            </a:r>
          </a:p>
        </p:txBody>
      </p:sp>
      <p:sp>
        <p:nvSpPr>
          <p:cNvPr id="18" name="TextBox 17"/>
          <p:cNvSpPr txBox="1"/>
          <p:nvPr/>
        </p:nvSpPr>
        <p:spPr>
          <a:xfrm>
            <a:off x="352044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Review and refine until the output is right.</a:t>
            </a:r>
          </a:p>
        </p:txBody>
      </p:sp>
      <p:sp>
        <p:nvSpPr>
          <p:cNvPr id="19" name="TextBox 18"/>
          <p:cNvSpPr txBox="1"/>
          <p:nvPr/>
        </p:nvSpPr>
        <p:spPr>
          <a:xfrm>
            <a:off x="594360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0" name="Rectangle 19"/>
          <p:cNvSpPr/>
          <p:nvPr/>
        </p:nvSpPr>
        <p:spPr>
          <a:xfrm>
            <a:off x="621792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17804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7804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4" name="TextBox 23"/>
          <p:cNvSpPr txBox="1"/>
          <p:nvPr/>
        </p:nvSpPr>
        <p:spPr>
          <a:xfrm>
            <a:off x="635508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Save</a:t>
            </a:r>
          </a:p>
        </p:txBody>
      </p:sp>
      <p:sp>
        <p:nvSpPr>
          <p:cNvPr id="25" name="TextBox 24"/>
          <p:cNvSpPr txBox="1"/>
          <p:nvPr/>
        </p:nvSpPr>
        <p:spPr>
          <a:xfrm>
            <a:off x="635508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Turn it into a skill using the /skill-creator skill.</a:t>
            </a:r>
          </a:p>
        </p:txBody>
      </p:sp>
      <p:sp>
        <p:nvSpPr>
          <p:cNvPr id="26" name="TextBox 25"/>
          <p:cNvSpPr txBox="1"/>
          <p:nvPr/>
        </p:nvSpPr>
        <p:spPr>
          <a:xfrm>
            <a:off x="8778240"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7" name="Rectangle 26"/>
          <p:cNvSpPr/>
          <p:nvPr/>
        </p:nvSpPr>
        <p:spPr>
          <a:xfrm>
            <a:off x="9052560" y="2560320"/>
            <a:ext cx="2560320"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52560" y="2560320"/>
            <a:ext cx="256032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01268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1268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1" name="TextBox 30"/>
          <p:cNvSpPr txBox="1"/>
          <p:nvPr/>
        </p:nvSpPr>
        <p:spPr>
          <a:xfrm>
            <a:off x="9189720" y="3730752"/>
            <a:ext cx="2286000"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Update</a:t>
            </a:r>
          </a:p>
        </p:txBody>
      </p:sp>
      <p:sp>
        <p:nvSpPr>
          <p:cNvPr id="32" name="TextBox 31"/>
          <p:cNvSpPr txBox="1"/>
          <p:nvPr/>
        </p:nvSpPr>
        <p:spPr>
          <a:xfrm>
            <a:off x="9189720" y="4206240"/>
            <a:ext cx="2286000"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Refine it later and save over it — Claude confirms before replacing.</a:t>
            </a:r>
          </a:p>
        </p:txBody>
      </p:sp>
      <p:sp>
        <p:nvSpPr>
          <p:cNvPr id="33" name="TextBox 32"/>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/skill-creator writes the SKILL.md for you, from the run you just verified.</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97</a:t>
            </a:r>
          </a:p>
        </p:txBody>
      </p:sp>
    </p:spTree>
  </p:cSld>
  <p:clrMapOvr>
    <a:masterClrMapping/>
  </p:clrMapOvr>
  <p:transition spd="med">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vs Retyping the Request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Write the routine once, and run it by name from then on.</a:t>
            </a:r>
          </a:p>
        </p:txBody>
      </p:sp>
      <p:sp>
        <p:nvSpPr>
          <p:cNvPr id="6" name="Rectangle 5"/>
          <p:cNvSpPr/>
          <p:nvPr/>
        </p:nvSpPr>
        <p:spPr>
          <a:xfrm>
            <a:off x="548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349240"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8" y="2404872"/>
            <a:ext cx="4800600" cy="411480"/>
          </a:xfrm>
          <a:prstGeom prst="rect">
            <a:avLst/>
          </a:prstGeom>
          <a:noFill/>
        </p:spPr>
        <p:txBody>
          <a:bodyPr wrap="square" anchor="t" lIns="0" rIns="0" tIns="0" bIns="0">
            <a:spAutoFit/>
          </a:bodyPr>
          <a:lstStyle/>
          <a:p>
            <a:pPr algn="l">
              <a:spcAft>
                <a:spcPts val="400"/>
              </a:spcAft>
            </a:pPr>
            <a:r>
              <a:rPr sz="1600" b="1">
                <a:solidFill>
                  <a:srgbClr val="D97757"/>
                </a:solidFill>
                <a:latin typeface="Cambria"/>
              </a:rPr>
              <a:t>Pasting the brand guide each time</a:t>
            </a:r>
          </a:p>
        </p:txBody>
      </p:sp>
      <p:sp>
        <p:nvSpPr>
          <p:cNvPr id="9" name="TextBox 8"/>
          <p:cNvSpPr txBox="1"/>
          <p:nvPr/>
        </p:nvSpPr>
        <p:spPr>
          <a:xfrm>
            <a:off x="841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You describe the voice again in every chat.</a:t>
            </a:r>
          </a:p>
          <a:p>
            <a:pPr algn="l">
              <a:spcAft>
                <a:spcPts val="900"/>
              </a:spcAft>
            </a:pPr>
            <a:r>
              <a:rPr sz="1250" b="0">
                <a:solidFill>
                  <a:srgbClr val="21201C"/>
                </a:solidFill>
                <a:latin typeface="Calibri"/>
              </a:rPr>
              <a:t>•  Easy to forget a rule when you are in a hurry.</a:t>
            </a:r>
          </a:p>
          <a:p>
            <a:pPr algn="l">
              <a:spcAft>
                <a:spcPts val="900"/>
              </a:spcAft>
            </a:pPr>
            <a:r>
              <a:rPr sz="1250" b="0">
                <a:solidFill>
                  <a:srgbClr val="21201C"/>
                </a:solidFill>
                <a:latin typeface="Calibri"/>
              </a:rPr>
              <a:t>•  Each colleague words it slightly differently.</a:t>
            </a:r>
          </a:p>
          <a:p>
            <a:pPr algn="l">
              <a:spcAft>
                <a:spcPts val="900"/>
              </a:spcAft>
            </a:pPr>
            <a:r>
              <a:rPr sz="1250" b="0">
                <a:solidFill>
                  <a:srgbClr val="21201C"/>
                </a:solidFill>
                <a:latin typeface="Calibri"/>
              </a:rPr>
              <a:t>•  Four channels drift into four voices.</a:t>
            </a:r>
          </a:p>
          <a:p>
            <a:pPr algn="l">
              <a:spcAft>
                <a:spcPts val="900"/>
              </a:spcAft>
            </a:pPr>
            <a:r>
              <a:rPr sz="1250" b="0">
                <a:solidFill>
                  <a:srgbClr val="21201C"/>
                </a:solidFill>
                <a:latin typeface="Calibri"/>
              </a:rPr>
              <a:t>•  Nothing to hand to a new joiner or agency.</a:t>
            </a:r>
          </a:p>
        </p:txBody>
      </p:sp>
      <p:sp>
        <p:nvSpPr>
          <p:cNvPr id="10" name="Rectangle 9"/>
          <p:cNvSpPr/>
          <p:nvPr/>
        </p:nvSpPr>
        <p:spPr>
          <a:xfrm>
            <a:off x="6263640" y="2148840"/>
            <a:ext cx="5349240" cy="37490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2148840"/>
            <a:ext cx="5349240" cy="73152"/>
          </a:xfrm>
          <a:prstGeom prst="rect">
            <a:avLst/>
          </a:prstGeom>
          <a:solidFill>
            <a:srgbClr val="3A7D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6248" y="2404872"/>
            <a:ext cx="4800600" cy="411480"/>
          </a:xfrm>
          <a:prstGeom prst="rect">
            <a:avLst/>
          </a:prstGeom>
          <a:noFill/>
        </p:spPr>
        <p:txBody>
          <a:bodyPr wrap="square" anchor="t" lIns="0" rIns="0" tIns="0" bIns="0">
            <a:spAutoFit/>
          </a:bodyPr>
          <a:lstStyle/>
          <a:p>
            <a:pPr algn="l">
              <a:spcAft>
                <a:spcPts val="400"/>
              </a:spcAft>
            </a:pPr>
            <a:r>
              <a:rPr sz="1600" b="1">
                <a:solidFill>
                  <a:srgbClr val="3A7D7B"/>
                </a:solidFill>
                <a:latin typeface="Cambria"/>
              </a:rPr>
              <a:t>A brand-voice Agent Skill</a:t>
            </a:r>
          </a:p>
        </p:txBody>
      </p:sp>
      <p:sp>
        <p:nvSpPr>
          <p:cNvPr id="13" name="TextBox 12"/>
          <p:cNvSpPr txBox="1"/>
          <p:nvPr/>
        </p:nvSpPr>
        <p:spPr>
          <a:xfrm>
            <a:off x="6556248" y="2971800"/>
            <a:ext cx="4800600" cy="2697480"/>
          </a:xfrm>
          <a:prstGeom prst="rect">
            <a:avLst/>
          </a:prstGeom>
          <a:noFill/>
        </p:spPr>
        <p:txBody>
          <a:bodyPr wrap="square" anchor="t" lIns="0" rIns="0" tIns="0" bIns="0">
            <a:spAutoFit/>
          </a:bodyPr>
          <a:lstStyle/>
          <a:p>
            <a:pPr algn="l">
              <a:spcAft>
                <a:spcPts val="900"/>
              </a:spcAft>
            </a:pPr>
            <a:r>
              <a:rPr sz="1250" b="0">
                <a:solidFill>
                  <a:srgbClr val="21201C"/>
                </a:solidFill>
                <a:latin typeface="Calibri"/>
              </a:rPr>
              <a:t>•  Written once in SKILL.md and loaded by name.</a:t>
            </a:r>
          </a:p>
          <a:p>
            <a:pPr algn="l">
              <a:spcAft>
                <a:spcPts val="900"/>
              </a:spcAft>
            </a:pPr>
            <a:r>
              <a:rPr sz="1250" b="0">
                <a:solidFill>
                  <a:srgbClr val="21201C"/>
                </a:solidFill>
                <a:latin typeface="Calibri"/>
              </a:rPr>
              <a:t>•  Claude applies every rule, every time.</a:t>
            </a:r>
          </a:p>
          <a:p>
            <a:pPr algn="l">
              <a:spcAft>
                <a:spcPts val="900"/>
              </a:spcAft>
            </a:pPr>
            <a:r>
              <a:rPr sz="1250" b="0">
                <a:solidFill>
                  <a:srgbClr val="21201C"/>
                </a:solidFill>
                <a:latin typeface="Calibri"/>
              </a:rPr>
              <a:t>•  Every thread in the project shares it.</a:t>
            </a:r>
          </a:p>
          <a:p>
            <a:pPr algn="l">
              <a:spcAft>
                <a:spcPts val="900"/>
              </a:spcAft>
            </a:pPr>
            <a:r>
              <a:rPr sz="1250" b="0">
                <a:solidFill>
                  <a:srgbClr val="21201C"/>
                </a:solidFill>
                <a:latin typeface="Calibri"/>
              </a:rPr>
              <a:t>•  Instagram and LinkedIn still sound like one brand.</a:t>
            </a:r>
          </a:p>
          <a:p>
            <a:pPr algn="l">
              <a:spcAft>
                <a:spcPts val="900"/>
              </a:spcAft>
            </a:pPr>
            <a:r>
              <a:rPr sz="1250" b="0">
                <a:solidFill>
                  <a:srgbClr val="21201C"/>
                </a:solidFill>
                <a:latin typeface="Calibri"/>
              </a:rPr>
              <a:t>•  Onboarding is: copy the skill folder.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98</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SKILLS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 Skill That Drives Your Tools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most useful skills combine the connectors into one repeatable command.</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command</a:t>
            </a:r>
          </a:p>
          <a:p>
            <a:pPr algn="l">
              <a:spcAft>
                <a:spcPts val="300"/>
              </a:spcAft>
            </a:pPr>
            <a:r>
              <a:rPr sz="1150" b="0">
                <a:solidFill>
                  <a:srgbClr val="6B6862"/>
                </a:solidFill>
                <a:latin typeface="Calibri"/>
              </a:rPr>
              <a:t>Run the whole routine by name instead of describing it again each time.</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Across your tools</a:t>
            </a:r>
          </a:p>
          <a:p>
            <a:pPr algn="l">
              <a:spcAft>
                <a:spcPts val="300"/>
              </a:spcAft>
            </a:pPr>
            <a:r>
              <a:rPr sz="1150" b="0">
                <a:solidFill>
                  <a:srgbClr val="6B6862"/>
                </a:solidFill>
                <a:latin typeface="Calibri"/>
              </a:rPr>
              <a:t>The skill decides which connectors to use — Drive, Gmail — and in what order.</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fixed structure</a:t>
            </a:r>
          </a:p>
          <a:p>
            <a:pPr algn="l">
              <a:spcAft>
                <a:spcPts val="300"/>
              </a:spcAft>
            </a:pPr>
            <a:r>
              <a:rPr sz="1150" b="0">
                <a:solidFill>
                  <a:srgbClr val="6B6862"/>
                </a:solidFill>
                <a:latin typeface="Calibri"/>
              </a:rPr>
              <a:t>It returns the same sections every run, so you can scan it in seconds.</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With checks built in</a:t>
            </a:r>
          </a:p>
          <a:p>
            <a:pPr algn="l">
              <a:spcAft>
                <a:spcPts val="300"/>
              </a:spcAft>
            </a:pPr>
            <a:r>
              <a:rPr sz="1150" b="0">
                <a:solidFill>
                  <a:srgbClr val="6B6862"/>
                </a:solidFill>
                <a:latin typeface="Calibri"/>
              </a:rPr>
              <a:t>It checks claims, prices and hashtags before it hands the post back.</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Still under approval</a:t>
            </a:r>
          </a:p>
          <a:p>
            <a:pPr algn="l">
              <a:spcAft>
                <a:spcPts val="300"/>
              </a:spcAft>
            </a:pPr>
            <a:r>
              <a:rPr sz="1150" b="0">
                <a:solidFill>
                  <a:srgbClr val="6B6862"/>
                </a:solidFill>
                <a:latin typeface="Calibri"/>
              </a:rPr>
              <a:t>The skill drafts and reports; publishing anything still needs you.</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Shared with the team</a:t>
            </a:r>
          </a:p>
          <a:p>
            <a:pPr algn="l">
              <a:spcAft>
                <a:spcPts val="300"/>
              </a:spcAft>
            </a:pPr>
            <a:r>
              <a:rPr sz="1150" b="0">
                <a:solidFill>
                  <a:srgbClr val="6B6862"/>
                </a:solidFill>
                <a:latin typeface="Calibri"/>
              </a:rPr>
              <a:t>Everyone runs the same routine and gets the same format.</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99</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IN THE APP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Install a Published Skill</a:t>
            </a:r>
          </a:p>
        </p:txBody>
      </p:sp>
      <p:sp>
        <p:nvSpPr>
          <p:cNvPr id="5" name="Rectangle 4"/>
          <p:cNvSpPr/>
          <p:nvPr/>
        </p:nvSpPr>
        <p:spPr>
          <a:xfrm>
            <a:off x="2581969" y="1600200"/>
            <a:ext cx="6997582" cy="260604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581969" y="1600200"/>
            <a:ext cx="6997582"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install-skill.png"/>
          <p:cNvPicPr>
            <a:picLocks noChangeAspect="1"/>
          </p:cNvPicPr>
          <p:nvPr/>
        </p:nvPicPr>
        <p:blipFill>
          <a:blip r:embed="rId2"/>
          <a:stretch>
            <a:fillRect/>
          </a:stretch>
        </p:blipFill>
        <p:spPr>
          <a:xfrm>
            <a:off x="2691697" y="1709928"/>
            <a:ext cx="6778126" cy="2386584"/>
          </a:xfrm>
          <a:prstGeom prst="rect">
            <a:avLst/>
          </a:prstGeom>
        </p:spPr>
      </p:pic>
      <p:sp>
        <p:nvSpPr>
          <p:cNvPr id="8" name="Oval 7"/>
          <p:cNvSpPr/>
          <p:nvPr/>
        </p:nvSpPr>
        <p:spPr>
          <a:xfrm>
            <a:off x="54864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00584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The request</a:t>
            </a:r>
          </a:p>
          <a:p>
            <a:pPr algn="l">
              <a:spcAft>
                <a:spcPts val="300"/>
              </a:spcAft>
            </a:pPr>
            <a:r>
              <a:rPr sz="1250" b="0">
                <a:solidFill>
                  <a:srgbClr val="6B6862"/>
                </a:solidFill>
                <a:latin typeface="Calibri"/>
              </a:rPr>
              <a:t>'Install this skill in the project level', then the npx skills add command.</a:t>
            </a:r>
          </a:p>
        </p:txBody>
      </p:sp>
      <p:sp>
        <p:nvSpPr>
          <p:cNvPr id="11" name="Oval 10"/>
          <p:cNvSpPr/>
          <p:nvPr/>
        </p:nvSpPr>
        <p:spPr>
          <a:xfrm>
            <a:off x="432816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2816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478536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Project level</a:t>
            </a:r>
          </a:p>
          <a:p>
            <a:pPr algn="l">
              <a:spcAft>
                <a:spcPts val="300"/>
              </a:spcAft>
            </a:pPr>
            <a:r>
              <a:rPr sz="1250" b="0">
                <a:solidFill>
                  <a:srgbClr val="6B6862"/>
                </a:solidFill>
                <a:latin typeface="Calibri"/>
              </a:rPr>
              <a:t>The skill is available in this project, beside the brand-voice skill you write in Lab 6.</a:t>
            </a:r>
          </a:p>
        </p:txBody>
      </p:sp>
      <p:sp>
        <p:nvSpPr>
          <p:cNvPr id="14" name="Oval 13"/>
          <p:cNvSpPr/>
          <p:nvPr/>
        </p:nvSpPr>
        <p:spPr>
          <a:xfrm>
            <a:off x="8107680" y="452628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07680" y="452628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564880" y="4544568"/>
            <a:ext cx="3048000" cy="128016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Check the source</a:t>
            </a:r>
          </a:p>
          <a:p>
            <a:pPr algn="l">
              <a:spcAft>
                <a:spcPts val="300"/>
              </a:spcAft>
            </a:pPr>
            <a:r>
              <a:rPr sz="1250" b="0">
                <a:solidFill>
                  <a:srgbClr val="6B6862"/>
                </a:solidFill>
                <a:latin typeface="Calibri"/>
              </a:rPr>
              <a:t>Read a third-party skill's SKILL.md first — it runs with your access.</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Ask Claude to install a skill from GitHub into the project.</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100</a:t>
            </a:r>
          </a:p>
        </p:txBody>
      </p:sp>
    </p:spTree>
  </p:cSld>
  <p:clrMapOvr>
    <a:masterClrMapping/>
  </p:clrMapOvr>
  <p:transition spd="med">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06</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Rewrite content in the brand voice, verify it, and save the routine as a skill with /skill-creator</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Four channels and two weeks of posts are coming, and they all have to sound like Lumo. You rewrite five off-brand captions with Claude until they are right, then use /skill-creator to turn that verified routine into a lumo-brand-voice skill. From then on, every thread in the project — and every colleague — loads the same voice by name.</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lumo-brand-voice Agent Skill, tested on a new caption.</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Agent Skills, /skill-creator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101</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06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the never-say-healthy rule becomes a check inside the skill.</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lumo-brand-guidelines.md is the source the skill is written from.</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attach lumo-sample-captions.txt; the skill saves to Customize → Skills.</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102</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DO</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Rewrite the five captions in the attached file in the Lumo</a:t>
            </a:r>
          </a:p>
          <a:p>
            <a:pPr algn="l">
              <a:spcAft>
                <a:spcPts val="200"/>
              </a:spcAft>
            </a:pPr>
            <a:r>
              <a:rPr sz="1400" b="0">
                <a:solidFill>
                  <a:srgbClr val="21201C"/>
                </a:solidFill>
                <a:latin typeface="Calibri"/>
              </a:rPr>
              <a:t>brand voice, following lumo-brand-guidelines.md.</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For each caption, show:</a:t>
            </a:r>
          </a:p>
          <a:p>
            <a:pPr algn="l">
              <a:spcAft>
                <a:spcPts val="200"/>
              </a:spcAft>
            </a:pPr>
            <a:r>
              <a:rPr sz="1400" b="0">
                <a:solidFill>
                  <a:srgbClr val="21201C"/>
                </a:solidFill>
                <a:latin typeface="Calibri"/>
              </a:rPr>
              <a:t>- the original</a:t>
            </a:r>
          </a:p>
          <a:p>
            <a:pPr algn="l">
              <a:spcAft>
                <a:spcPts val="200"/>
              </a:spcAft>
            </a:pPr>
            <a:r>
              <a:rPr sz="1400" b="0">
                <a:solidFill>
                  <a:srgbClr val="21201C"/>
                </a:solidFill>
                <a:latin typeface="Calibri"/>
              </a:rPr>
              <a:t>- your rewrite</a:t>
            </a:r>
          </a:p>
          <a:p>
            <a:pPr algn="l">
              <a:spcAft>
                <a:spcPts val="200"/>
              </a:spcAft>
            </a:pPr>
            <a:r>
              <a:rPr sz="1400" b="0">
                <a:solidFill>
                  <a:srgbClr val="21201C"/>
                </a:solidFill>
                <a:latin typeface="Calibri"/>
              </a:rPr>
              <a:t>- every rule you applied, by name</a:t>
            </a:r>
          </a:p>
          <a:p>
            <a:pPr algn="l">
              <a:spcAft>
                <a:spcPts val="200"/>
              </a:spcAft>
            </a:pPr>
            <a:r>
              <a:rPr sz="1400" b="0">
                <a:solidFill>
                  <a:srgbClr val="21201C"/>
                </a:solidFill>
                <a:latin typeface="Calibri"/>
              </a:rPr>
              <a:t>- any claim you removed, and why</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Then run these checks on each rewrite and show the result:</a:t>
            </a:r>
          </a:p>
          <a:p>
            <a:pPr algn="l">
              <a:spcAft>
                <a:spcPts val="200"/>
              </a:spcAft>
            </a:pPr>
            <a:r>
              <a:rPr sz="1400" b="0">
                <a:solidFill>
                  <a:srgbClr val="21201C"/>
                </a:solidFill>
                <a:latin typeface="Calibri"/>
              </a:rPr>
              <a:t>price written as S$3.90; no "healthy" or medical claims; at</a:t>
            </a:r>
          </a:p>
          <a:p>
            <a:pPr algn="l">
              <a:spcAft>
                <a:spcPts val="200"/>
              </a:spcAft>
            </a:pPr>
            <a:r>
              <a:rPr sz="1400" b="0">
                <a:solidFill>
                  <a:srgbClr val="21201C"/>
                </a:solidFill>
                <a:latin typeface="Calibri"/>
              </a:rPr>
              <a:t>most one Singlish word; #LumoKopi present; no more than five</a:t>
            </a:r>
          </a:p>
          <a:p>
            <a:pPr algn="l">
              <a:spcAft>
                <a:spcPts val="200"/>
              </a:spcAft>
            </a:pPr>
            <a:r>
              <a:rPr sz="1400" b="0">
                <a:solidFill>
                  <a:srgbClr val="21201C"/>
                </a:solidFill>
                <a:latin typeface="Calibri"/>
              </a:rPr>
              <a:t>hashtags; ends with one clear call to action.</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Stop here. Refine the rewrites until they are right before you save anything.</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103</a:t>
            </a:r>
          </a:p>
        </p:txBody>
      </p:sp>
    </p:spTree>
  </p:cSld>
  <p:clrMapOvr>
    <a:masterClrMapping/>
  </p:clrMapOvr>
  <p:transition spd="med">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SAVE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Create a skill called lumo-brand-voice from what we just did.</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Description: Use when writing or reviewing any customer-facing</a:t>
            </a:r>
          </a:p>
          <a:p>
            <a:pPr algn="l">
              <a:spcAft>
                <a:spcPts val="200"/>
              </a:spcAft>
            </a:pPr>
            <a:r>
              <a:rPr sz="1500" b="0">
                <a:solidFill>
                  <a:srgbClr val="21201C"/>
                </a:solidFill>
                <a:latin typeface="Calibri"/>
              </a:rPr>
              <a:t>Lumo Kopi content - social posts, captions, emails, video</a:t>
            </a:r>
          </a:p>
          <a:p>
            <a:pPr algn="l">
              <a:spcAft>
                <a:spcPts val="200"/>
              </a:spcAft>
            </a:pPr>
            <a:r>
              <a:rPr sz="1500" b="0">
                <a:solidFill>
                  <a:srgbClr val="21201C"/>
                </a:solidFill>
                <a:latin typeface="Calibri"/>
              </a:rPr>
              <a:t>scripts or ads.</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It should rewrite or draft content in the Lumo voice, apply the</a:t>
            </a:r>
          </a:p>
          <a:p>
            <a:pPr algn="l">
              <a:spcAft>
                <a:spcPts val="200"/>
              </a:spcAft>
            </a:pPr>
            <a:r>
              <a:rPr sz="1500" b="0">
                <a:solidFill>
                  <a:srgbClr val="21201C"/>
                </a:solidFill>
                <a:latin typeface="Calibri"/>
              </a:rPr>
              <a:t>brand rules, remove claims we cannot prove, and finish with the</a:t>
            </a:r>
          </a:p>
          <a:p>
            <a:pPr algn="l">
              <a:spcAft>
                <a:spcPts val="200"/>
              </a:spcAft>
            </a:pPr>
            <a:r>
              <a:rPr sz="1500" b="0">
                <a:solidFill>
                  <a:srgbClr val="21201C"/>
                </a:solidFill>
                <a:latin typeface="Calibri"/>
              </a:rPr>
              <a:t>same checklist of checks we used. Include two of today's</a:t>
            </a:r>
          </a:p>
          <a:p>
            <a:pPr algn="l">
              <a:spcAft>
                <a:spcPts val="200"/>
              </a:spcAft>
            </a:pPr>
            <a:r>
              <a:rPr sz="1500" b="0">
                <a:solidFill>
                  <a:srgbClr val="21201C"/>
                </a:solidFill>
                <a:latin typeface="Calibri"/>
              </a:rPr>
              <a:t>before-and-after examples as a resource.</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Type /skill-creator first, then paste the block.</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104</a:t>
            </a:r>
          </a:p>
        </p:txBody>
      </p:sp>
    </p:spTree>
  </p:cSld>
  <p:clrMapOvr>
    <a:masterClrMapping/>
  </p:clrMapOvr>
  <p:transition spd="med">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THE PROMPT · STEP 7</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TEST</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Use lumo-brand-voice to write an Instagram caption announcing</a:t>
            </a:r>
          </a:p>
          <a:p>
            <a:pPr algn="l">
              <a:spcAft>
                <a:spcPts val="200"/>
              </a:spcAft>
            </a:pPr>
            <a:r>
              <a:rPr sz="1500" b="0">
                <a:solidFill>
                  <a:srgbClr val="21201C"/>
                </a:solidFill>
                <a:latin typeface="Calibri"/>
              </a:rPr>
              <a:t>that Lumo Cold Kopi 12-packs are available on Shopee from</a:t>
            </a:r>
          </a:p>
          <a:p>
            <a:pPr algn="l">
              <a:spcAft>
                <a:spcPts val="200"/>
              </a:spcAft>
            </a:pPr>
            <a:r>
              <a:rPr sz="1500" b="0">
                <a:solidFill>
                  <a:srgbClr val="21201C"/>
                </a:solidFill>
                <a:latin typeface="Calibri"/>
              </a:rPr>
              <a:t>1 December. It's super healthy and the best kopi in Singapore!</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Both claims in this prompt are traps — the skill must remove them.</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105</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lumo-sample-captions.txt and read the five captions.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file and send Block 1.</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each rewrite against the brand guidelines and refine until all five are right.</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Type /skill-creator in the composer, then paste Block 2 and send.</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skill Claude proposes, especially its description, and approve it.</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Skills and find lumo-brand-voice.</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Start a new thread and send Block 3.</a:t>
            </a:r>
          </a:p>
        </p:txBody>
      </p:sp>
      <p:sp>
        <p:nvSpPr>
          <p:cNvPr id="27" name="Oval 26"/>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Check the caption: no "healthy", no "best kopi in Singapore", S$ prices, #LumoKopi present.</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106</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06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Capture the Brand Voice as an Agent Skill</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lumo-brand-voice appears under Customize → Skills with a description that says when to use it. In a fresh thread, Block 3 loaded the skill without being asked to find it, and the caption it returned drops "healthy" and "best kopi in Singapore", includes #LumoKopi, uses at most five hashtags and ends with one call to action, followed by the checklist results.</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107</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Skills vs. Plugins</a:t>
            </a:r>
          </a:p>
        </p:txBody>
      </p:sp>
      <p:sp>
        <p:nvSpPr>
          <p:cNvPr id="5" name="Rectangle 4"/>
          <p:cNvSpPr/>
          <p:nvPr/>
        </p:nvSpPr>
        <p:spPr>
          <a:xfrm>
            <a:off x="960120" y="2057400"/>
            <a:ext cx="10241280" cy="3611880"/>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617720" y="1847088"/>
            <a:ext cx="2926080" cy="420624"/>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847088"/>
            <a:ext cx="2926080" cy="420624"/>
          </a:xfrm>
          <a:prstGeom prst="rect">
            <a:avLst/>
          </a:prstGeom>
          <a:noFill/>
        </p:spPr>
        <p:txBody>
          <a:bodyPr wrap="square" anchor="ctr" lIns="0" rIns="0" tIns="0" bIns="0">
            <a:spAutoFit/>
          </a:bodyPr>
          <a:lstStyle/>
          <a:p>
            <a:pPr algn="ctr">
              <a:spcAft>
                <a:spcPts val="400"/>
              </a:spcAft>
            </a:pPr>
            <a:r>
              <a:rPr sz="1500" b="1">
                <a:solidFill>
                  <a:srgbClr val="FFFFFF"/>
                </a:solidFill>
                <a:latin typeface="Courier New"/>
              </a:rPr>
              <a:t>Plugin</a:t>
            </a:r>
          </a:p>
        </p:txBody>
      </p:sp>
      <p:sp>
        <p:nvSpPr>
          <p:cNvPr id="8" name="TextBox 7"/>
          <p:cNvSpPr txBox="1"/>
          <p:nvPr/>
        </p:nvSpPr>
        <p:spPr>
          <a:xfrm>
            <a:off x="960120" y="2404872"/>
            <a:ext cx="10241280" cy="310896"/>
          </a:xfrm>
          <a:prstGeom prst="rect">
            <a:avLst/>
          </a:prstGeom>
          <a:noFill/>
        </p:spPr>
        <p:txBody>
          <a:bodyPr wrap="square" anchor="t" lIns="0" rIns="0" tIns="0" bIns="0">
            <a:spAutoFit/>
          </a:bodyPr>
          <a:lstStyle/>
          <a:p>
            <a:pPr algn="ctr">
              <a:spcAft>
                <a:spcPts val="400"/>
              </a:spcAft>
            </a:pPr>
            <a:r>
              <a:rPr sz="1400" b="0">
                <a:solidFill>
                  <a:srgbClr val="21201C"/>
                </a:solidFill>
                <a:latin typeface="Courier New"/>
              </a:rPr>
              <a:t>A shareable setup for Claude</a:t>
            </a:r>
          </a:p>
        </p:txBody>
      </p:sp>
      <p:sp>
        <p:nvSpPr>
          <p:cNvPr id="9" name="Rectangle 8"/>
          <p:cNvSpPr/>
          <p:nvPr/>
        </p:nvSpPr>
        <p:spPr>
          <a:xfrm>
            <a:off x="14173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581912" y="2752344"/>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81912" y="2752344"/>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a:t>
            </a:r>
          </a:p>
        </p:txBody>
      </p:sp>
      <p:sp>
        <p:nvSpPr>
          <p:cNvPr id="12" name="TextBox 11"/>
          <p:cNvSpPr txBox="1"/>
          <p:nvPr/>
        </p:nvSpPr>
        <p:spPr>
          <a:xfrm>
            <a:off x="15270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3" name="Rectangle 12"/>
          <p:cNvSpPr/>
          <p:nvPr/>
        </p:nvSpPr>
        <p:spPr>
          <a:xfrm>
            <a:off x="46177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823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823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#2</a:t>
            </a:r>
          </a:p>
        </p:txBody>
      </p:sp>
      <p:sp>
        <p:nvSpPr>
          <p:cNvPr id="16" name="TextBox 15"/>
          <p:cNvSpPr txBox="1"/>
          <p:nvPr/>
        </p:nvSpPr>
        <p:spPr>
          <a:xfrm>
            <a:off x="47274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17" name="Rectangle 16"/>
          <p:cNvSpPr/>
          <p:nvPr/>
        </p:nvSpPr>
        <p:spPr>
          <a:xfrm>
            <a:off x="7818120" y="2926080"/>
            <a:ext cx="2926080" cy="996696"/>
          </a:xfrm>
          <a:prstGeom prst="rect">
            <a:avLst/>
          </a:prstGeom>
          <a:solidFill>
            <a:srgbClr val="E5E2F7"/>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82712" y="2752344"/>
            <a:ext cx="1097280"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82712" y="2752344"/>
            <a:ext cx="1097280"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Skill #3</a:t>
            </a:r>
          </a:p>
        </p:txBody>
      </p:sp>
      <p:sp>
        <p:nvSpPr>
          <p:cNvPr id="20" name="TextBox 19"/>
          <p:cNvSpPr txBox="1"/>
          <p:nvPr/>
        </p:nvSpPr>
        <p:spPr>
          <a:xfrm>
            <a:off x="7927848" y="3072384"/>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How Claude</a:t>
            </a:r>
          </a:p>
          <a:p>
            <a:pPr algn="ctr">
              <a:spcAft>
                <a:spcPts val="200"/>
              </a:spcAft>
            </a:pPr>
            <a:r>
              <a:rPr sz="1200" b="0">
                <a:solidFill>
                  <a:srgbClr val="21201C"/>
                </a:solidFill>
                <a:latin typeface="Courier New"/>
              </a:rPr>
              <a:t>should work</a:t>
            </a:r>
          </a:p>
        </p:txBody>
      </p:sp>
      <p:sp>
        <p:nvSpPr>
          <p:cNvPr id="21" name="Rectangle 20"/>
          <p:cNvSpPr/>
          <p:nvPr/>
        </p:nvSpPr>
        <p:spPr>
          <a:xfrm>
            <a:off x="1417320" y="4398264"/>
            <a:ext cx="2926080" cy="996696"/>
          </a:xfrm>
          <a:prstGeom prst="rect">
            <a:avLst/>
          </a:prstGeom>
          <a:solidFill>
            <a:srgbClr val="FAE6B0"/>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5819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5819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Tools</a:t>
            </a:r>
          </a:p>
        </p:txBody>
      </p:sp>
      <p:sp>
        <p:nvSpPr>
          <p:cNvPr id="24" name="TextBox 23"/>
          <p:cNvSpPr txBox="1"/>
          <p:nvPr/>
        </p:nvSpPr>
        <p:spPr>
          <a:xfrm>
            <a:off x="15270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What Claude</a:t>
            </a:r>
          </a:p>
          <a:p>
            <a:pPr algn="ctr">
              <a:spcAft>
                <a:spcPts val="200"/>
              </a:spcAft>
            </a:pPr>
            <a:r>
              <a:rPr sz="1200" b="0">
                <a:solidFill>
                  <a:srgbClr val="21201C"/>
                </a:solidFill>
                <a:latin typeface="Courier New"/>
              </a:rPr>
              <a:t>can access</a:t>
            </a:r>
          </a:p>
        </p:txBody>
      </p:sp>
      <p:sp>
        <p:nvSpPr>
          <p:cNvPr id="25" name="Rectangle 24"/>
          <p:cNvSpPr/>
          <p:nvPr/>
        </p:nvSpPr>
        <p:spPr>
          <a:xfrm>
            <a:off x="4617720" y="4398264"/>
            <a:ext cx="2926080" cy="996696"/>
          </a:xfrm>
          <a:prstGeom prst="rect">
            <a:avLst/>
          </a:prstGeom>
          <a:solidFill>
            <a:srgbClr val="D6EFD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782312" y="4224528"/>
            <a:ext cx="886968"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82312" y="4224528"/>
            <a:ext cx="886968"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Agents</a:t>
            </a:r>
          </a:p>
        </p:txBody>
      </p:sp>
      <p:sp>
        <p:nvSpPr>
          <p:cNvPr id="28" name="TextBox 27"/>
          <p:cNvSpPr txBox="1"/>
          <p:nvPr/>
        </p:nvSpPr>
        <p:spPr>
          <a:xfrm>
            <a:off x="47274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Specialist</a:t>
            </a:r>
          </a:p>
          <a:p>
            <a:pPr algn="ctr">
              <a:spcAft>
                <a:spcPts val="200"/>
              </a:spcAft>
            </a:pPr>
            <a:r>
              <a:rPr sz="1200" b="0">
                <a:solidFill>
                  <a:srgbClr val="21201C"/>
                </a:solidFill>
                <a:latin typeface="Courier New"/>
              </a:rPr>
              <a:t>helpers</a:t>
            </a:r>
          </a:p>
        </p:txBody>
      </p:sp>
      <p:sp>
        <p:nvSpPr>
          <p:cNvPr id="29" name="Rectangle 28"/>
          <p:cNvSpPr/>
          <p:nvPr/>
        </p:nvSpPr>
        <p:spPr>
          <a:xfrm>
            <a:off x="7818120" y="4398264"/>
            <a:ext cx="2926080" cy="996696"/>
          </a:xfrm>
          <a:prstGeom prst="rect">
            <a:avLst/>
          </a:prstGeom>
          <a:solidFill>
            <a:srgbClr val="F5C8B8"/>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982712" y="4224528"/>
            <a:ext cx="781812" cy="347472"/>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982712" y="4224528"/>
            <a:ext cx="78181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ourier New"/>
              </a:rPr>
              <a:t>Hooks</a:t>
            </a:r>
          </a:p>
        </p:txBody>
      </p:sp>
      <p:sp>
        <p:nvSpPr>
          <p:cNvPr id="32" name="TextBox 31"/>
          <p:cNvSpPr txBox="1"/>
          <p:nvPr/>
        </p:nvSpPr>
        <p:spPr>
          <a:xfrm>
            <a:off x="7927848" y="4544568"/>
            <a:ext cx="2706624" cy="740664"/>
          </a:xfrm>
          <a:prstGeom prst="rect">
            <a:avLst/>
          </a:prstGeom>
          <a:noFill/>
        </p:spPr>
        <p:txBody>
          <a:bodyPr wrap="square" anchor="ctr" lIns="0" rIns="0" tIns="0" bIns="0">
            <a:spAutoFit/>
          </a:bodyPr>
          <a:lstStyle/>
          <a:p>
            <a:pPr algn="ctr">
              <a:spcAft>
                <a:spcPts val="200"/>
              </a:spcAft>
            </a:pPr>
            <a:r>
              <a:rPr sz="1200" b="0">
                <a:solidFill>
                  <a:srgbClr val="21201C"/>
                </a:solidFill>
                <a:latin typeface="Courier New"/>
              </a:rPr>
              <a:t>Automated</a:t>
            </a:r>
          </a:p>
          <a:p>
            <a:pPr algn="ctr">
              <a:spcAft>
                <a:spcPts val="200"/>
              </a:spcAft>
            </a:pPr>
            <a:r>
              <a:rPr sz="1200" b="0">
                <a:solidFill>
                  <a:srgbClr val="21201C"/>
                </a:solidFill>
                <a:latin typeface="Courier New"/>
              </a:rPr>
              <a:t>actions</a:t>
            </a:r>
          </a:p>
        </p:txBody>
      </p:sp>
      <p:sp>
        <p:nvSpPr>
          <p:cNvPr id="33" name="TextBox 32"/>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A skill is one routine. A plugin is the whole setup — install the Marketing plugin and you get every skill, command and tool it contains.</a:t>
            </a:r>
          </a:p>
        </p:txBody>
      </p:sp>
      <p:sp>
        <p:nvSpPr>
          <p:cNvPr id="34" name="TextBox 3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5" name="TextBox 3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6" name="TextBox 3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108</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Mods: Changing Claude Itself</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What a mod is</a:t>
            </a:r>
          </a:p>
          <a:p>
            <a:pPr algn="l">
              <a:spcAft>
                <a:spcPts val="300"/>
              </a:spcAft>
            </a:pPr>
            <a:r>
              <a:rPr sz="1150" b="0">
                <a:solidFill>
                  <a:srgbClr val="6B6862"/>
                </a:solidFill>
                <a:latin typeface="Calibri"/>
              </a:rPr>
              <a:t>A change to Claude's own interface or behaviour, rather than to the work it does.</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panel or pane</a:t>
            </a:r>
          </a:p>
          <a:p>
            <a:pPr algn="l">
              <a:spcAft>
                <a:spcPts val="300"/>
              </a:spcAft>
            </a:pPr>
            <a:r>
              <a:rPr sz="1150" b="0">
                <a:solidFill>
                  <a:srgbClr val="6B6862"/>
                </a:solidFill>
                <a:latin typeface="Calibri"/>
              </a:rPr>
              <a:t>Something that stays beside the chat and updates — a running checklist, a campaign tracker.</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status line or toast</a:t>
            </a:r>
          </a:p>
          <a:p>
            <a:pPr algn="l">
              <a:spcAft>
                <a:spcPts val="300"/>
              </a:spcAft>
            </a:pPr>
            <a:r>
              <a:rPr sz="1150" b="0">
                <a:solidFill>
                  <a:srgbClr val="6B6862"/>
                </a:solidFill>
                <a:latin typeface="Calibri"/>
              </a:rPr>
              <a:t>A small always-visible signal, such as the active project or remaining usage.</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slash command</a:t>
            </a:r>
          </a:p>
          <a:p>
            <a:pPr algn="l">
              <a:spcAft>
                <a:spcPts val="300"/>
              </a:spcAft>
            </a:pPr>
            <a:r>
              <a:rPr sz="1150" b="0">
                <a:solidFill>
                  <a:srgbClr val="6B6862"/>
                </a:solidFill>
                <a:latin typeface="Calibri"/>
              </a:rPr>
              <a:t>Your own /command that starts a routine you use often.</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hook</a:t>
            </a:r>
          </a:p>
          <a:p>
            <a:pPr algn="l">
              <a:spcAft>
                <a:spcPts val="300"/>
              </a:spcAft>
            </a:pPr>
            <a:r>
              <a:rPr sz="1150" b="0">
                <a:solidFill>
                  <a:srgbClr val="6B6862"/>
                </a:solidFill>
                <a:latin typeface="Calibri"/>
              </a:rPr>
              <a:t>An action that runs automatically on an event — for example, before Claude sends anything.</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to find them</a:t>
            </a:r>
          </a:p>
          <a:p>
            <a:pPr algn="l">
              <a:spcAft>
                <a:spcPts val="300"/>
              </a:spcAft>
            </a:pPr>
            <a:r>
              <a:rPr sz="1150" b="0">
                <a:solidFill>
                  <a:srgbClr val="6B6862"/>
                </a:solidFill>
                <a:latin typeface="Calibri"/>
              </a:rPr>
              <a:t>Under Customize, alongside Skills, Connectors and Plugins. Ask Claude to make one for you.</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109</a:t>
            </a:r>
          </a:p>
        </p:txBody>
      </p:sp>
    </p:spTree>
  </p:cSld>
  <p:clrMapOvr>
    <a:masterClrMapping/>
  </p:clrMapOvr>
  <p:transition spd="med">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2 · PLUGINS AND MODS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Skill, Plugin or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Three ways to extend Claude — and which one you reach for.</a:t>
            </a:r>
          </a:p>
        </p:txBody>
      </p:sp>
      <p:sp>
        <p:nvSpPr>
          <p:cNvPr id="6" name="TextBox 5"/>
          <p:cNvSpPr txBox="1"/>
          <p:nvPr/>
        </p:nvSpPr>
        <p:spPr>
          <a:xfrm>
            <a:off x="822960" y="2194560"/>
            <a:ext cx="2103120" cy="310896"/>
          </a:xfrm>
          <a:prstGeom prst="rect">
            <a:avLst/>
          </a:prstGeom>
          <a:noFill/>
        </p:spPr>
        <p:txBody>
          <a:bodyPr wrap="square" anchor="t" lIns="0" rIns="0" tIns="0" bIns="0">
            <a:spAutoFit/>
          </a:bodyPr>
          <a:lstStyle/>
          <a:p>
            <a:pPr algn="l">
              <a:spcAft>
                <a:spcPts val="400"/>
              </a:spcAft>
            </a:pPr>
            <a:r>
              <a:rPr sz="1300" b="1">
                <a:solidFill>
                  <a:srgbClr val="6B6862"/>
                </a:solidFill>
                <a:latin typeface="Calibri"/>
              </a:rPr>
              <a:t/>
            </a:r>
          </a:p>
        </p:txBody>
      </p:sp>
      <p:sp>
        <p:nvSpPr>
          <p:cNvPr id="7" name="TextBox 6"/>
          <p:cNvSpPr txBox="1"/>
          <p:nvPr/>
        </p:nvSpPr>
        <p:spPr>
          <a:xfrm>
            <a:off x="3154680" y="2194560"/>
            <a:ext cx="2440004"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Skill</a:t>
            </a:r>
          </a:p>
        </p:txBody>
      </p:sp>
      <p:sp>
        <p:nvSpPr>
          <p:cNvPr id="8" name="TextBox 7"/>
          <p:cNvSpPr txBox="1"/>
          <p:nvPr/>
        </p:nvSpPr>
        <p:spPr>
          <a:xfrm>
            <a:off x="5823284" y="2194560"/>
            <a:ext cx="2277337"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Plugin</a:t>
            </a:r>
          </a:p>
        </p:txBody>
      </p:sp>
      <p:sp>
        <p:nvSpPr>
          <p:cNvPr id="9" name="TextBox 8"/>
          <p:cNvSpPr txBox="1"/>
          <p:nvPr/>
        </p:nvSpPr>
        <p:spPr>
          <a:xfrm>
            <a:off x="8329221" y="2194560"/>
            <a:ext cx="3009338" cy="310896"/>
          </a:xfrm>
          <a:prstGeom prst="rect">
            <a:avLst/>
          </a:prstGeom>
          <a:noFill/>
        </p:spPr>
        <p:txBody>
          <a:bodyPr wrap="square" anchor="t" lIns="0" rIns="0" tIns="0" bIns="0">
            <a:spAutoFit/>
          </a:bodyPr>
          <a:lstStyle/>
          <a:p>
            <a:pPr algn="l">
              <a:spcAft>
                <a:spcPts val="400"/>
              </a:spcAft>
            </a:pPr>
            <a:r>
              <a:rPr sz="1300" b="1">
                <a:solidFill>
                  <a:srgbClr val="D97757"/>
                </a:solidFill>
                <a:latin typeface="Cambria"/>
              </a:rPr>
              <a:t>Mod</a:t>
            </a:r>
          </a:p>
        </p:txBody>
      </p:sp>
      <p:sp>
        <p:nvSpPr>
          <p:cNvPr id="10" name="Rectangle 9"/>
          <p:cNvSpPr/>
          <p:nvPr/>
        </p:nvSpPr>
        <p:spPr>
          <a:xfrm>
            <a:off x="822960" y="2560320"/>
            <a:ext cx="10515600" cy="13716"/>
          </a:xfrm>
          <a:prstGeom prst="rect">
            <a:avLst/>
          </a:prstGeom>
          <a:solidFill>
            <a:srgbClr val="6B68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651760"/>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Changes</a:t>
            </a:r>
          </a:p>
        </p:txBody>
      </p:sp>
      <p:sp>
        <p:nvSpPr>
          <p:cNvPr id="12" name="TextBox 11"/>
          <p:cNvSpPr txBox="1"/>
          <p:nvPr/>
        </p:nvSpPr>
        <p:spPr>
          <a:xfrm>
            <a:off x="3154680" y="2651760"/>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How a task is done</a:t>
            </a:r>
          </a:p>
        </p:txBody>
      </p:sp>
      <p:sp>
        <p:nvSpPr>
          <p:cNvPr id="13" name="TextBox 12"/>
          <p:cNvSpPr txBox="1"/>
          <p:nvPr/>
        </p:nvSpPr>
        <p:spPr>
          <a:xfrm>
            <a:off x="5823284" y="2651760"/>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whole toolkit</a:t>
            </a:r>
          </a:p>
        </p:txBody>
      </p:sp>
      <p:sp>
        <p:nvSpPr>
          <p:cNvPr id="14" name="TextBox 13"/>
          <p:cNvSpPr txBox="1"/>
          <p:nvPr/>
        </p:nvSpPr>
        <p:spPr>
          <a:xfrm>
            <a:off x="8329221" y="2651760"/>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Claude's own interface</a:t>
            </a:r>
          </a:p>
        </p:txBody>
      </p:sp>
      <p:sp>
        <p:nvSpPr>
          <p:cNvPr id="15" name="Rectangle 14"/>
          <p:cNvSpPr/>
          <p:nvPr/>
        </p:nvSpPr>
        <p:spPr>
          <a:xfrm>
            <a:off x="822960" y="3387852"/>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387852"/>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Contains</a:t>
            </a:r>
          </a:p>
        </p:txBody>
      </p:sp>
      <p:sp>
        <p:nvSpPr>
          <p:cNvPr id="17" name="TextBox 16"/>
          <p:cNvSpPr txBox="1"/>
          <p:nvPr/>
        </p:nvSpPr>
        <p:spPr>
          <a:xfrm>
            <a:off x="3154680" y="3387852"/>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One SKILL.md + resources</a:t>
            </a:r>
          </a:p>
        </p:txBody>
      </p:sp>
      <p:sp>
        <p:nvSpPr>
          <p:cNvPr id="18" name="TextBox 17"/>
          <p:cNvSpPr txBox="1"/>
          <p:nvPr/>
        </p:nvSpPr>
        <p:spPr>
          <a:xfrm>
            <a:off x="5823284" y="3387852"/>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Skills, tools, agents, hooks</a:t>
            </a:r>
          </a:p>
        </p:txBody>
      </p:sp>
      <p:sp>
        <p:nvSpPr>
          <p:cNvPr id="19" name="TextBox 18"/>
          <p:cNvSpPr txBox="1"/>
          <p:nvPr/>
        </p:nvSpPr>
        <p:spPr>
          <a:xfrm>
            <a:off x="8329221" y="3387852"/>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panel, command, hook or status line</a:t>
            </a:r>
          </a:p>
        </p:txBody>
      </p:sp>
      <p:sp>
        <p:nvSpPr>
          <p:cNvPr id="20" name="Rectangle 19"/>
          <p:cNvSpPr/>
          <p:nvPr/>
        </p:nvSpPr>
        <p:spPr>
          <a:xfrm>
            <a:off x="822960" y="4123944"/>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123944"/>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You get it by</a:t>
            </a:r>
          </a:p>
        </p:txBody>
      </p:sp>
      <p:sp>
        <p:nvSpPr>
          <p:cNvPr id="22" name="TextBox 21"/>
          <p:cNvSpPr txBox="1"/>
          <p:nvPr/>
        </p:nvSpPr>
        <p:spPr>
          <a:xfrm>
            <a:off x="3154680" y="4123944"/>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Writing it with /skill-creator</a:t>
            </a:r>
          </a:p>
        </p:txBody>
      </p:sp>
      <p:sp>
        <p:nvSpPr>
          <p:cNvPr id="23" name="TextBox 22"/>
          <p:cNvSpPr txBox="1"/>
          <p:nvPr/>
        </p:nvSpPr>
        <p:spPr>
          <a:xfrm>
            <a:off x="5823284" y="4123944"/>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Installing from Discover</a:t>
            </a:r>
          </a:p>
        </p:txBody>
      </p:sp>
      <p:sp>
        <p:nvSpPr>
          <p:cNvPr id="24" name="TextBox 23"/>
          <p:cNvSpPr txBox="1"/>
          <p:nvPr/>
        </p:nvSpPr>
        <p:spPr>
          <a:xfrm>
            <a:off x="8329221" y="4123944"/>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Asking Claude to make one</a:t>
            </a:r>
          </a:p>
        </p:txBody>
      </p:sp>
      <p:sp>
        <p:nvSpPr>
          <p:cNvPr id="25" name="Rectangle 24"/>
          <p:cNvSpPr/>
          <p:nvPr/>
        </p:nvSpPr>
        <p:spPr>
          <a:xfrm>
            <a:off x="822960" y="4860036"/>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4860036"/>
            <a:ext cx="2103120" cy="736092"/>
          </a:xfrm>
          <a:prstGeom prst="rect">
            <a:avLst/>
          </a:prstGeom>
          <a:noFill/>
        </p:spPr>
        <p:txBody>
          <a:bodyPr wrap="square" anchor="ctr" lIns="0" rIns="0" tIns="0" bIns="0">
            <a:spAutoFit/>
          </a:bodyPr>
          <a:lstStyle/>
          <a:p>
            <a:pPr algn="l">
              <a:spcAft>
                <a:spcPts val="400"/>
              </a:spcAft>
            </a:pPr>
            <a:r>
              <a:rPr sz="1300" b="1">
                <a:solidFill>
                  <a:srgbClr val="21201C"/>
                </a:solidFill>
                <a:latin typeface="Calibri"/>
              </a:rPr>
              <a:t>Lumo example</a:t>
            </a:r>
          </a:p>
        </p:txBody>
      </p:sp>
      <p:sp>
        <p:nvSpPr>
          <p:cNvPr id="27" name="TextBox 26"/>
          <p:cNvSpPr txBox="1"/>
          <p:nvPr/>
        </p:nvSpPr>
        <p:spPr>
          <a:xfrm>
            <a:off x="3154680" y="4860036"/>
            <a:ext cx="2440004"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lumo-brand-voice</a:t>
            </a:r>
          </a:p>
        </p:txBody>
      </p:sp>
      <p:sp>
        <p:nvSpPr>
          <p:cNvPr id="28" name="TextBox 27"/>
          <p:cNvSpPr txBox="1"/>
          <p:nvPr/>
        </p:nvSpPr>
        <p:spPr>
          <a:xfrm>
            <a:off x="5823284" y="4860036"/>
            <a:ext cx="2277337"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Marketing plugin</a:t>
            </a:r>
          </a:p>
        </p:txBody>
      </p:sp>
      <p:sp>
        <p:nvSpPr>
          <p:cNvPr id="29" name="TextBox 28"/>
          <p:cNvSpPr txBox="1"/>
          <p:nvPr/>
        </p:nvSpPr>
        <p:spPr>
          <a:xfrm>
            <a:off x="8329221" y="4860036"/>
            <a:ext cx="3009338" cy="736092"/>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 Next Lumo post panel</a:t>
            </a:r>
          </a:p>
        </p:txBody>
      </p:sp>
      <p:sp>
        <p:nvSpPr>
          <p:cNvPr id="30" name="Rectangle 29"/>
          <p:cNvSpPr/>
          <p:nvPr/>
        </p:nvSpPr>
        <p:spPr>
          <a:xfrm>
            <a:off x="822960" y="5596128"/>
            <a:ext cx="10515600" cy="9144"/>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2" name="TextBox 3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3" name="TextBox 3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110</a:t>
            </a:r>
          </a:p>
        </p:txBody>
      </p:sp>
    </p:spTree>
  </p:cSld>
  <p:clrMapOvr>
    <a:masterClrMapping/>
  </p:clrMapOvr>
  <p:transition spd="med">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07</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Install a plugin, use its namespaced commands alongside your own skill, and build a mod that suggests the next social post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You wrote one skill yourself; now you install a toolkit somebody else packaged. Anthropic's Marketing plugin bundles several marketing skills behind namespaced commands. You install it, use /marketing:campaign-plan to stress-test the launch plan, and run /marketing:brand-review on the deck copy — then compare a plugin with the skill you wrote. Last, you build a mod of your own: a Next Lumo post panel beside the chat that suggests what to post next.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The Marketing plugin installed, a campaign plan review, a brand review of the launch copy, and a Next Lumo post mod.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plugins, mods, Customize</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111</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07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plugin commands follow the same project rules.</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guidelines, for /marketing:brand-review.</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Uses: the research brief, campaign brief and deck; the Next Lumo post mod reads the project.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the mod suggests a post; nothing runs on a timer.</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112</a:t>
            </a:r>
          </a:p>
        </p:txBody>
      </p:sp>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PLAN</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/marketing:campaign-plan Review the Lumo Cold Kopi launch using</a:t>
            </a:r>
          </a:p>
          <a:p>
            <a:pPr algn="l">
              <a:spcAft>
                <a:spcPts val="200"/>
              </a:spcAft>
            </a:pPr>
            <a:r>
              <a:rPr sz="1500" b="0">
                <a:solidFill>
                  <a:srgbClr val="21201C"/>
                </a:solidFill>
                <a:latin typeface="Calibri"/>
              </a:rPr>
              <a:t>our campaign brief and research brief. Keep our objective,</a:t>
            </a:r>
          </a:p>
          <a:p>
            <a:pPr algn="l">
              <a:spcAft>
                <a:spcPts val="200"/>
              </a:spcAft>
            </a:pPr>
            <a:r>
              <a:rPr sz="1500" b="0">
                <a:solidFill>
                  <a:srgbClr val="21201C"/>
                </a:solidFill>
                <a:latin typeface="Calibri"/>
              </a:rPr>
              <a:t>audience, budget and dates. Tell me:</a:t>
            </a:r>
          </a:p>
          <a:p>
            <a:pPr algn="l">
              <a:spcAft>
                <a:spcPts val="200"/>
              </a:spcAft>
            </a:pPr>
            <a:r>
              <a:rPr sz="1500" b="0">
                <a:solidFill>
                  <a:srgbClr val="21201C"/>
                </a:solidFill>
                <a:latin typeface="Calibri"/>
              </a:rPr>
              <a:t>- what is missing from the plan,</a:t>
            </a:r>
          </a:p>
          <a:p>
            <a:pPr algn="l">
              <a:spcAft>
                <a:spcPts val="200"/>
              </a:spcAft>
            </a:pPr>
            <a:r>
              <a:rPr sz="1500" b="0">
                <a:solidFill>
                  <a:srgbClr val="21201C"/>
                </a:solidFill>
                <a:latin typeface="Calibri"/>
              </a:rPr>
              <a:t>- the three biggest risks to the 1 December launch,</a:t>
            </a:r>
          </a:p>
          <a:p>
            <a:pPr algn="l">
              <a:spcAft>
                <a:spcPts val="200"/>
              </a:spcAft>
            </a:pPr>
            <a:r>
              <a:rPr sz="1500" b="0">
                <a:solidFill>
                  <a:srgbClr val="21201C"/>
                </a:solidFill>
                <a:latin typeface="Calibri"/>
              </a:rPr>
              <a:t>- the KPIs you would track in the first two weeks, with targets.</a:t>
            </a:r>
          </a:p>
          <a:p>
            <a:pPr algn="l">
              <a:spcAft>
                <a:spcPts val="200"/>
              </a:spcAft>
            </a:pPr>
            <a:r>
              <a:rPr sz="1500" b="0">
                <a:solidFill>
                  <a:srgbClr val="21201C"/>
                </a:solidFill>
                <a:latin typeface="Calibri"/>
              </a:rPr>
              <a:t>Do not change the S$60,000 budget.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Install the plugin first: Customize → Plugins → Browse → Marketing → Install.</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113</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REVIEW</a:t>
            </a:r>
          </a:p>
        </p:txBody>
      </p:sp>
      <p:sp>
        <p:nvSpPr>
          <p:cNvPr id="5" name="Rectangle 4"/>
          <p:cNvSpPr/>
          <p:nvPr/>
        </p:nvSpPr>
        <p:spPr>
          <a:xfrm>
            <a:off x="548640" y="1828800"/>
            <a:ext cx="11064240" cy="1630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630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944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/marketing:brand-review Review the copy on slides 1, 2 and 6 of</a:t>
            </a:r>
          </a:p>
          <a:p>
            <a:pPr algn="l">
              <a:spcAft>
                <a:spcPts val="200"/>
              </a:spcAft>
            </a:pPr>
            <a:r>
              <a:rPr sz="1500" b="0">
                <a:solidFill>
                  <a:srgbClr val="21201C"/>
                </a:solidFill>
                <a:latin typeface="Calibri"/>
              </a:rPr>
              <a:t>our launch deck against lumo-brand-guidelines.md. List each</a:t>
            </a:r>
          </a:p>
          <a:p>
            <a:pPr algn="l">
              <a:spcAft>
                <a:spcPts val="200"/>
              </a:spcAft>
            </a:pPr>
            <a:r>
              <a:rPr sz="1500" b="0">
                <a:solidFill>
                  <a:srgbClr val="21201C"/>
                </a:solidFill>
                <a:latin typeface="Calibri"/>
              </a:rPr>
              <a:t>change you would make and the rule behind it.</a:t>
            </a:r>
          </a:p>
        </p:txBody>
      </p:sp>
      <p:sp>
        <p:nvSpPr>
          <p:cNvPr id="9" name="TextBox 8"/>
          <p:cNvSpPr txBox="1"/>
          <p:nvPr/>
        </p:nvSpPr>
        <p:spPr>
          <a:xfrm>
            <a:off x="548640" y="3733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 plugin reviews; your own skill holds the house rules.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114</a:t>
            </a:r>
          </a:p>
        </p:txBody>
      </p:sp>
    </p:spTree>
  </p:cSld>
  <p:clrMapOvr>
    <a:masterClrMapping/>
  </p:clrMapOvr>
  <p:transition spd="med">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THE PROMPT · STEP 8</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MOD</a:t>
            </a:r>
          </a:p>
        </p:txBody>
      </p:sp>
      <p:sp>
        <p:nvSpPr>
          <p:cNvPr id="5" name="Rectangle 4"/>
          <p:cNvSpPr/>
          <p:nvPr/>
        </p:nvSpPr>
        <p:spPr>
          <a:xfrm>
            <a:off x="548640" y="1828800"/>
            <a:ext cx="11064240" cy="3840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840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3154680"/>
          </a:xfrm>
          <a:prstGeom prst="rect">
            <a:avLst/>
          </a:prstGeom>
          <a:noFill/>
        </p:spPr>
        <p:txBody>
          <a:bodyPr wrap="square" anchor="t" lIns="0" rIns="0" tIns="0" bIns="0">
            <a:spAutoFit/>
          </a:bodyPr>
          <a:lstStyle/>
          <a:p>
            <a:pPr algn="l">
              <a:spcAft>
                <a:spcPts val="200"/>
              </a:spcAft>
            </a:pPr>
            <a:r>
              <a:rPr sz="1400" b="0">
                <a:solidFill>
                  <a:srgbClr val="21201C"/>
                </a:solidFill>
                <a:latin typeface="Calibri"/>
              </a:rPr>
              <a:t>Make me a mod: a panel called "Next Lumo post" that stays</a:t>
            </a:r>
          </a:p>
          <a:p>
            <a:pPr algn="l">
              <a:spcAft>
                <a:spcPts val="200"/>
              </a:spcAft>
            </a:pPr>
            <a:r>
              <a:rPr sz="1400" b="0">
                <a:solidFill>
                  <a:srgbClr val="21201C"/>
                </a:solidFill>
                <a:latin typeface="Calibri"/>
              </a:rPr>
              <a:t>beside the chat in this project.</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 If social-calendar.csv is in the project, show the next post</a:t>
            </a:r>
          </a:p>
          <a:p>
            <a:pPr algn="l">
              <a:spcAft>
                <a:spcPts val="200"/>
              </a:spcAft>
            </a:pPr>
            <a:r>
              <a:rPr sz="1400" b="0">
                <a:solidFill>
                  <a:srgbClr val="21201C"/>
                </a:solidFill>
                <a:latin typeface="Calibri"/>
              </a:rPr>
              <a:t>  due from today: date, platform, format, hook and call to action.</a:t>
            </a:r>
          </a:p>
          <a:p>
            <a:pPr algn="l">
              <a:spcAft>
                <a:spcPts val="200"/>
              </a:spcAft>
            </a:pPr>
            <a:r>
              <a:rPr sz="1400" b="0">
                <a:solidFill>
                  <a:srgbClr val="21201C"/>
                </a:solidFill>
                <a:latin typeface="Calibri"/>
              </a:rPr>
              <a:t>- If there is no calendar yet, suggest one next post instead:</a:t>
            </a:r>
          </a:p>
          <a:p>
            <a:pPr algn="l">
              <a:spcAft>
                <a:spcPts val="200"/>
              </a:spcAft>
            </a:pPr>
            <a:r>
              <a:rPr sz="1400" b="0">
                <a:solidFill>
                  <a:srgbClr val="21201C"/>
                </a:solidFill>
                <a:latin typeface="Calibri"/>
              </a:rPr>
              <a:t>  use the top content theme in lumo-research-brief.docx and the</a:t>
            </a:r>
          </a:p>
          <a:p>
            <a:pPr algn="l">
              <a:spcAft>
                <a:spcPts val="200"/>
              </a:spcAft>
            </a:pPr>
            <a:r>
              <a:rPr sz="1400" b="0">
                <a:solidFill>
                  <a:srgbClr val="21201C"/>
                </a:solidFill>
                <a:latin typeface="Calibri"/>
              </a:rPr>
              <a:t>  lumo-brand-voice skill, and say which platform and day suit it.</a:t>
            </a:r>
          </a:p>
          <a:p>
            <a:pPr algn="l">
              <a:spcAft>
                <a:spcPts val="200"/>
              </a:spcAft>
            </a:pPr>
            <a:r>
              <a:rPr sz="1400" b="0">
                <a:solidFill>
                  <a:srgbClr val="21201C"/>
                </a:solidFill>
                <a:latin typeface="Calibri"/>
              </a:rPr>
              <a:t>- Add a Refresh button and show when it last updated.</a:t>
            </a:r>
          </a:p>
          <a:p>
            <a:pPr algn="l">
              <a:spcAft>
                <a:spcPts val="200"/>
              </a:spcAft>
            </a:pPr>
            <a:r>
              <a:rPr sz="1400" b="0">
                <a:solidFill>
                  <a:srgbClr val="21201C"/>
                </a:solidFill>
                <a:latin typeface="Calibri"/>
              </a:rPr>
              <a:t>- It only suggests: never post, publish or send anything.</a:t>
            </a:r>
          </a:p>
          <a:p>
            <a:pPr algn="l">
              <a:spcAft>
                <a:spcPts val="200"/>
              </a:spcAft>
            </a:pPr>
            <a:r>
              <a:rPr sz="1400" b="0">
                <a:solidFill>
                  <a:srgbClr val="21201C"/>
                </a:solidFill>
                <a:latin typeface="Calibri"/>
              </a:rPr>
              <a:t/>
            </a:r>
          </a:p>
          <a:p>
            <a:pPr algn="l">
              <a:spcAft>
                <a:spcPts val="200"/>
              </a:spcAft>
            </a:pPr>
            <a:r>
              <a:rPr sz="1400" b="0">
                <a:solidFill>
                  <a:srgbClr val="21201C"/>
                </a:solidFill>
                <a:latin typeface="Calibri"/>
              </a:rPr>
              <a:t>Tell me what the mod will do and where it will appear before</a:t>
            </a:r>
          </a:p>
          <a:p>
            <a:pPr algn="l">
              <a:spcAft>
                <a:spcPts val="200"/>
              </a:spcAft>
            </a:pPr>
            <a:r>
              <a:rPr sz="1400" b="0">
                <a:solidFill>
                  <a:srgbClr val="21201C"/>
                </a:solidFill>
                <a:latin typeface="Calibri"/>
              </a:rPr>
              <a:t>you install it.</a:t>
            </a:r>
          </a:p>
        </p:txBody>
      </p:sp>
      <p:sp>
        <p:nvSpPr>
          <p:cNvPr id="9" name="TextBox 8"/>
          <p:cNvSpPr txBox="1"/>
          <p:nvPr/>
        </p:nvSpPr>
        <p:spPr>
          <a:xfrm>
            <a:off x="548640" y="5797296"/>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You make a mod by asking Claude. It only suggests — nothing is posted.</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115</a:t>
            </a:r>
          </a:p>
        </p:txBody>
      </p:sp>
    </p:spTree>
  </p:cSld>
  <p:clrMapOvr>
    <a:masterClrMapping/>
  </p:clrMapOvr>
  <p:transition spd="med">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 Plugins and browse the available plugins.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Find the Marketing plugin, read what it contains, and click Install.</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composer, type /marketing and look at the commands it offers.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to stress-test the plan with /marketing:campaign-plan.</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risks and KPIs it proposes, and check the budget is unchanged at S$60,000.</a:t>
            </a:r>
          </a:p>
        </p:txBody>
      </p:sp>
      <p:sp>
        <p:nvSpPr>
          <p:cNvPr id="21" name="Oval 20"/>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to review the deck copy with /marketing:brand-review.</a:t>
            </a:r>
          </a:p>
        </p:txBody>
      </p:sp>
      <p:sp>
        <p:nvSpPr>
          <p:cNvPr id="24" name="Oval 23"/>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Customize and look at the Mods section.</a:t>
            </a:r>
          </a:p>
        </p:txBody>
      </p:sp>
      <p:sp>
        <p:nvSpPr>
          <p:cNvPr id="27" name="Oval 26"/>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and read what the mod will do before you let Claude install it.</a:t>
            </a:r>
          </a:p>
        </p:txBody>
      </p:sp>
      <p:sp>
        <p:nvSpPr>
          <p:cNvPr id="30" name="Oval 29"/>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Next Lumo post panel beside the chat and read its suggestion.</a:t>
            </a:r>
          </a:p>
        </p:txBody>
      </p:sp>
      <p:sp>
        <p:nvSpPr>
          <p:cNvPr id="33" name="TextBox 32"/>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4" name="TextBox 33"/>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5" name="TextBox 34"/>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116</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07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Add the Marketing Plugin and a Mod</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The Marketing plugin is installed and its /marketing: commands appear in the composer. /marketing:campaign-plan returned the gaps, three launch risks and two-week KPIs with targets while keeping the S$60,000 budget and the 1 December date. /marketing:brand-review reviewed the deck copy. You can explain the difference between lumo-brand-voice (a skill you wrote), the Marketing plugin (a packaged bundle) and a mod (a change to Claude's interface). The Next Lumo post panel sits beside the chat and suggests one on-brand post — S$ prices, no health claim — without posting anything.</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117</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02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Connectors, Skills and Plugins</a:t>
            </a:r>
          </a:p>
        </p:txBody>
      </p:sp>
      <p:sp>
        <p:nvSpPr>
          <p:cNvPr id="5" name="Rectangle 4"/>
          <p:cNvSpPr/>
          <p:nvPr/>
        </p:nvSpPr>
        <p:spPr>
          <a:xfrm>
            <a:off x="548640" y="1783080"/>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06197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6197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04</a:t>
            </a:r>
          </a:p>
          <a:p>
            <a:pPr algn="l">
              <a:spcAft>
                <a:spcPts val="300"/>
              </a:spcAft>
            </a:pPr>
            <a:r>
              <a:rPr sz="1150" b="0">
                <a:solidFill>
                  <a:srgbClr val="6B6862"/>
                </a:solidFill>
                <a:latin typeface="Calibri"/>
              </a:rPr>
              <a:t>You can now connect Google Drive and Gmail, read campaign files from Drive and send an approved summary.</a:t>
            </a:r>
          </a:p>
        </p:txBody>
      </p:sp>
      <p:sp>
        <p:nvSpPr>
          <p:cNvPr id="10" name="Rectangle 9"/>
          <p:cNvSpPr/>
          <p:nvPr/>
        </p:nvSpPr>
        <p:spPr>
          <a:xfrm>
            <a:off x="548640" y="2852928"/>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2852928"/>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13182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13182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2962656"/>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05</a:t>
            </a:r>
          </a:p>
          <a:p>
            <a:pPr algn="l">
              <a:spcAft>
                <a:spcPts val="300"/>
              </a:spcAft>
            </a:pPr>
            <a:r>
              <a:rPr sz="1150" b="0">
                <a:solidFill>
                  <a:srgbClr val="6B6862"/>
                </a:solidFill>
                <a:latin typeface="Calibri"/>
              </a:rPr>
              <a:t>You can now produce a launch deck in Slides and a campaign brief in Docs from the project's research.</a:t>
            </a:r>
          </a:p>
        </p:txBody>
      </p:sp>
      <p:sp>
        <p:nvSpPr>
          <p:cNvPr id="15" name="Rectangle 14"/>
          <p:cNvSpPr/>
          <p:nvPr/>
        </p:nvSpPr>
        <p:spPr>
          <a:xfrm>
            <a:off x="548640" y="3922776"/>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922776"/>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2016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2016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032504"/>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06</a:t>
            </a:r>
          </a:p>
          <a:p>
            <a:pPr algn="l">
              <a:spcAft>
                <a:spcPts val="300"/>
              </a:spcAft>
            </a:pPr>
            <a:r>
              <a:rPr sz="1150" b="0">
                <a:solidFill>
                  <a:srgbClr val="6B6862"/>
                </a:solidFill>
                <a:latin typeface="Calibri"/>
              </a:rPr>
              <a:t>You can now rewrite content in the brand voice, verify it, and save the routine as a skill with /skill-creator.</a:t>
            </a:r>
          </a:p>
        </p:txBody>
      </p:sp>
      <p:sp>
        <p:nvSpPr>
          <p:cNvPr id="20" name="Rectangle 19"/>
          <p:cNvSpPr/>
          <p:nvPr/>
        </p:nvSpPr>
        <p:spPr>
          <a:xfrm>
            <a:off x="548640" y="4992624"/>
            <a:ext cx="11064240" cy="9052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992624"/>
            <a:ext cx="54864" cy="90525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22960" y="52715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2715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1335024" y="5102352"/>
            <a:ext cx="10049256" cy="685800"/>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07</a:t>
            </a:r>
          </a:p>
          <a:p>
            <a:pPr algn="l">
              <a:spcAft>
                <a:spcPts val="300"/>
              </a:spcAft>
            </a:pPr>
            <a:r>
              <a:rPr sz="1150" b="0">
                <a:solidFill>
                  <a:srgbClr val="6B6862"/>
                </a:solidFill>
                <a:latin typeface="Calibri"/>
              </a:rPr>
              <a:t>You can now install a plugin, use its namespaced commands alongside your own skill, and build a mod that suggests the next social post.</a:t>
            </a:r>
          </a:p>
        </p:txBody>
      </p:sp>
      <p:sp>
        <p:nvSpPr>
          <p:cNvPr id="25" name="TextBox 2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6" name="TextBox 2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7" name="TextBox 2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118</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7830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TOPIC 03</a:t>
            </a:r>
          </a:p>
        </p:txBody>
      </p:sp>
      <p:sp>
        <p:nvSpPr>
          <p:cNvPr id="5" name="TextBox 4"/>
          <p:cNvSpPr txBox="1"/>
          <p:nvPr/>
        </p:nvSpPr>
        <p:spPr>
          <a:xfrm>
            <a:off x="777240" y="2240280"/>
            <a:ext cx="7315200" cy="1234440"/>
          </a:xfrm>
          <a:prstGeom prst="rect">
            <a:avLst/>
          </a:prstGeom>
          <a:noFill/>
        </p:spPr>
        <p:txBody>
          <a:bodyPr wrap="square" anchor="ctr" lIns="0" rIns="0" tIns="0" bIns="0">
            <a:spAutoFit/>
          </a:bodyPr>
          <a:lstStyle/>
          <a:p>
            <a:pPr algn="l">
              <a:spcAft>
                <a:spcPts val="400"/>
              </a:spcAft>
            </a:pPr>
            <a:r>
              <a:rPr sz="3400" b="1">
                <a:solidFill>
                  <a:srgbClr val="FFFFFF"/>
                </a:solidFill>
                <a:latin typeface="Cambria"/>
              </a:rPr>
              <a:t>Content Production and Scheduled Work</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One thread per channel</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Social post specs and brand checks</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Script, storyboard, render: the video pipeline</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Scheduled tasks, memory and usage</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119</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CONTENT IN THREADS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One Thread per Channel</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Brief the lead</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message: the goal, the dates, the channels and the skill to use.</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Split by channel</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starts one thread per platform with its own spec.</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Draft in parallel</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Each thread drafts its posts using the brand-voice skill.</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Merge the calendar</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The lead agent merges the drafts into one dated calendar.</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 and approve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You check claims, prices and dates before anything is scheduled.</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same pattern as the Lab 2 research — one message, independent subjects — applied to production.</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120</a:t>
            </a:r>
          </a:p>
        </p:txBody>
      </p:sp>
    </p:spTree>
  </p:cSld>
  <p:clrMapOvr>
    <a:masterClrMapping/>
  </p:clrMapOvr>
  <p:transition spd="med">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SOCIAL SPECS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Each Platform Needs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thread gets its platform's spec as its brief.</a:t>
            </a:r>
          </a:p>
        </p:txBody>
      </p:sp>
      <p:sp>
        <p:nvSpPr>
          <p:cNvPr id="6" name="Rectangle 5"/>
          <p:cNvSpPr/>
          <p:nvPr/>
        </p:nvSpPr>
        <p:spPr>
          <a:xfrm>
            <a:off x="548640"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Instagram</a:t>
            </a:r>
          </a:p>
          <a:p>
            <a:pPr algn="l">
              <a:spcAft>
                <a:spcPts val="300"/>
              </a:spcAft>
            </a:pPr>
            <a:r>
              <a:rPr sz="1150" b="0">
                <a:solidFill>
                  <a:srgbClr val="6B6862"/>
                </a:solidFill>
                <a:latin typeface="Calibri"/>
              </a:rPr>
              <a:t>Carousel or Reel. Hook in the first line; caption up to 2,200 characters; 3–5 hashtags.</a:t>
            </a:r>
          </a:p>
        </p:txBody>
      </p:sp>
      <p:sp>
        <p:nvSpPr>
          <p:cNvPr id="11" name="Rectangle 10"/>
          <p:cNvSpPr/>
          <p:nvPr/>
        </p:nvSpPr>
        <p:spPr>
          <a:xfrm>
            <a:off x="6163056" y="2148840"/>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77977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77977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TikTok</a:t>
            </a:r>
          </a:p>
          <a:p>
            <a:pPr algn="l">
              <a:spcAft>
                <a:spcPts val="300"/>
              </a:spcAft>
            </a:pPr>
            <a:r>
              <a:rPr sz="1150" b="0">
                <a:solidFill>
                  <a:srgbClr val="6B6862"/>
                </a:solidFill>
                <a:latin typeface="Calibri"/>
              </a:rPr>
              <a:t>9:16 video, 15–30 s. A hook in the first 2 seconds; on-screen text; one call to action.</a:t>
            </a:r>
          </a:p>
        </p:txBody>
      </p:sp>
      <p:sp>
        <p:nvSpPr>
          <p:cNvPr id="16" name="Rectangle 15"/>
          <p:cNvSpPr/>
          <p:nvPr/>
        </p:nvSpPr>
        <p:spPr>
          <a:xfrm>
            <a:off x="548640"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LinkedIn</a:t>
            </a:r>
          </a:p>
          <a:p>
            <a:pPr algn="l">
              <a:spcAft>
                <a:spcPts val="300"/>
              </a:spcAft>
            </a:pPr>
            <a:r>
              <a:rPr sz="1150" b="0">
                <a:solidFill>
                  <a:srgbClr val="6B6862"/>
                </a:solidFill>
                <a:latin typeface="Calibri"/>
              </a:rPr>
              <a:t>Founder or team voice; the story behind the product; no more than 3 hashtags.</a:t>
            </a:r>
          </a:p>
        </p:txBody>
      </p:sp>
      <p:sp>
        <p:nvSpPr>
          <p:cNvPr id="21" name="Rectangle 20"/>
          <p:cNvSpPr/>
          <p:nvPr/>
        </p:nvSpPr>
        <p:spPr>
          <a:xfrm>
            <a:off x="6163056" y="3922776"/>
            <a:ext cx="5449824" cy="1609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922776"/>
            <a:ext cx="54864" cy="160934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55371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55371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032504"/>
            <a:ext cx="4434840" cy="138988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Facebook</a:t>
            </a:r>
          </a:p>
          <a:p>
            <a:pPr algn="l">
              <a:spcAft>
                <a:spcPts val="300"/>
              </a:spcAft>
            </a:pPr>
            <a:r>
              <a:rPr sz="1150" b="0">
                <a:solidFill>
                  <a:srgbClr val="6B6862"/>
                </a:solidFill>
                <a:latin typeface="Calibri"/>
              </a:rPr>
              <a:t>Community and offers; a clear link to buy; questions that invite comments.</a:t>
            </a:r>
          </a:p>
        </p:txBody>
      </p:sp>
      <p:sp>
        <p:nvSpPr>
          <p:cNvPr id="26" name="TextBox 25"/>
          <p:cNvSpPr txBox="1"/>
          <p:nvPr/>
        </p:nvSpPr>
        <p:spPr>
          <a:xfrm>
            <a:off x="548640" y="5687568"/>
            <a:ext cx="11064240" cy="41148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Every thread loads lumo-brand-voice, so four formats still sound like one brand.</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121</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Marketing Responsibly with AI</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Fast production is only useful if every post is safe to publish.</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Claims you can prove</a:t>
            </a:r>
          </a:p>
          <a:p>
            <a:pPr algn="l">
              <a:spcAft>
                <a:spcPts val="300"/>
              </a:spcAft>
            </a:pPr>
            <a:r>
              <a:rPr sz="1150" b="0">
                <a:solidFill>
                  <a:srgbClr val="6B6862"/>
                </a:solidFill>
                <a:latin typeface="Calibri"/>
              </a:rPr>
              <a:t>“5 g sugar” is on the label. “Healthy” is a claim Lumo cannot substantiate — never use it.</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Consent for email</a:t>
            </a:r>
          </a:p>
          <a:p>
            <a:pPr algn="l">
              <a:spcAft>
                <a:spcPts val="300"/>
              </a:spcAft>
            </a:pPr>
            <a:r>
              <a:rPr sz="1150" b="0">
                <a:solidFill>
                  <a:srgbClr val="6B6862"/>
                </a:solidFill>
                <a:latin typeface="Calibri"/>
              </a:rPr>
              <a:t>Email only people who opted in. Lab emails go to yourself, never to real customers.</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No real likenesses</a:t>
            </a:r>
          </a:p>
          <a:p>
            <a:pPr algn="l">
              <a:spcAft>
                <a:spcPts val="300"/>
              </a:spcAft>
            </a:pPr>
            <a:r>
              <a:rPr sz="1150" b="0">
                <a:solidFill>
                  <a:srgbClr val="6B6862"/>
                </a:solidFill>
                <a:latin typeface="Calibri"/>
              </a:rPr>
              <a:t>Do not generate a real person, influencer or competitor logo into an ad.</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Disclose partnerships</a:t>
            </a:r>
          </a:p>
          <a:p>
            <a:pPr algn="l">
              <a:spcAft>
                <a:spcPts val="300"/>
              </a:spcAft>
            </a:pPr>
            <a:r>
              <a:rPr sz="1150" b="0">
                <a:solidFill>
                  <a:srgbClr val="6B6862"/>
                </a:solidFill>
                <a:latin typeface="Calibri"/>
              </a:rPr>
              <a:t>Influencer posts are labelled as paid partnerships.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 human publishes</a:t>
            </a:r>
          </a:p>
          <a:p>
            <a:pPr algn="l">
              <a:spcAft>
                <a:spcPts val="300"/>
              </a:spcAft>
            </a:pPr>
            <a:r>
              <a:rPr sz="1150" b="0">
                <a:solidFill>
                  <a:srgbClr val="6B6862"/>
                </a:solidFill>
                <a:latin typeface="Calibri"/>
              </a:rPr>
              <a:t>Claude drafts and schedules drafts; a person approves every public post.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Keep the source</a:t>
            </a:r>
          </a:p>
          <a:p>
            <a:pPr algn="l">
              <a:spcAft>
                <a:spcPts val="300"/>
              </a:spcAft>
            </a:pPr>
            <a:r>
              <a:rPr sz="1150" b="0">
                <a:solidFill>
                  <a:srgbClr val="6B6862"/>
                </a:solidFill>
                <a:latin typeface="Calibri"/>
              </a:rPr>
              <a:t>Keep the research files, so every number in a post can be traced back.</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122</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KEY CONCEPTS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Key Concepts — Content Production and Scheduled Work</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One thread per channel</a:t>
            </a:r>
          </a:p>
          <a:p>
            <a:pPr algn="l">
              <a:spcAft>
                <a:spcPts val="300"/>
              </a:spcAft>
            </a:pPr>
            <a:r>
              <a:rPr sz="1150" b="0">
                <a:solidFill>
                  <a:srgbClr val="6B6862"/>
                </a:solidFill>
                <a:latin typeface="Calibri"/>
              </a:rPr>
              <a:t>The lead agent gives Instagram, TikTok, LinkedIn and Facebook a thread each, then merges one calendar.</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Skill inside a thread</a:t>
            </a:r>
          </a:p>
          <a:p>
            <a:pPr algn="l">
              <a:spcAft>
                <a:spcPts val="300"/>
              </a:spcAft>
            </a:pPr>
            <a:r>
              <a:rPr sz="1150" b="0">
                <a:solidFill>
                  <a:srgbClr val="6B6862"/>
                </a:solidFill>
                <a:latin typeface="Calibri"/>
              </a:rPr>
              <a:t>Every thread loads the same brand-voice skill, so four channels still sound like one brand.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Video as code</a:t>
            </a:r>
          </a:p>
          <a:p>
            <a:pPr algn="l">
              <a:spcAft>
                <a:spcPts val="300"/>
              </a:spcAft>
            </a:pPr>
            <a:r>
              <a:rPr sz="1150" b="0">
                <a:solidFill>
                  <a:srgbClr val="6B6862"/>
                </a:solidFill>
                <a:latin typeface="Calibri"/>
              </a:rPr>
              <a:t>Claude writes and runs the code that turns a storyboard and your images into an MP4.</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tasks</a:t>
            </a:r>
          </a:p>
          <a:p>
            <a:pPr algn="l">
              <a:spcAft>
                <a:spcPts val="300"/>
              </a:spcAft>
            </a:pPr>
            <a:r>
              <a:rPr sz="1150" b="0">
                <a:solidFill>
                  <a:srgbClr val="6B6862"/>
                </a:solidFill>
                <a:latin typeface="Calibri"/>
              </a:rPr>
              <a:t>A prompt that runs on a timetable inside the project — daily, weekly or monthly — while you are away.</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 stays human</a:t>
            </a:r>
          </a:p>
          <a:p>
            <a:pPr algn="l">
              <a:spcAft>
                <a:spcPts val="300"/>
              </a:spcAft>
            </a:pPr>
            <a:r>
              <a:rPr sz="1150" b="0">
                <a:solidFill>
                  <a:srgbClr val="6B6862"/>
                </a:solidFill>
                <a:latin typeface="Calibri"/>
              </a:rPr>
              <a:t>A scheduled task drafts and emails the post to you. Publishing is still your click.</a:t>
            </a:r>
          </a:p>
        </p:txBody>
      </p:sp>
      <p:sp>
        <p:nvSpPr>
          <p:cNvPr id="30" name="Rectangle 29"/>
          <p:cNvSpPr/>
          <p:nvPr/>
        </p:nvSpPr>
        <p:spPr>
          <a:xfrm>
            <a:off x="6163056"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Usage per thread</a:t>
            </a:r>
          </a:p>
          <a:p>
            <a:pPr algn="l">
              <a:spcAft>
                <a:spcPts val="300"/>
              </a:spcAft>
            </a:pPr>
            <a:r>
              <a:rPr sz="1150" b="0">
                <a:solidFill>
                  <a:srgbClr val="6B6862"/>
                </a:solidFill>
                <a:latin typeface="Calibri"/>
              </a:rPr>
              <a:t>Project settings show the tokens the lead agent and each thread used — the cost of parallel work.</a:t>
            </a:r>
          </a:p>
        </p:txBody>
      </p:sp>
      <p:sp>
        <p:nvSpPr>
          <p:cNvPr id="35" name="TextBox 3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6" name="TextBox 3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7" name="TextBox 3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123</a:t>
            </a:r>
          </a:p>
        </p:txBody>
      </p:sp>
    </p:spTree>
  </p:cSld>
  <p:clrMapOvr>
    <a:masterClrMapping/>
  </p:clrMapOvr>
  <p:transition spd="med">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Create and Schedule Social Posts in Parallel Threads</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08</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400" b="1">
                <a:solidFill>
                  <a:srgbClr val="D97757"/>
                </a:solidFill>
                <a:latin typeface="Calibri"/>
              </a:rPr>
              <a:t>Objective:  </a:t>
            </a:r>
            <a:r>
              <a:rPr sz="1400" b="1">
                <a:solidFill>
                  <a:srgbClr val="21201C"/>
                </a:solidFill>
                <a:latin typeface="Calibri"/>
              </a:rPr>
              <a:t>Produce a two-week, four-platform social calendar with one thread per channel, and schedule the daily post</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Launch fortnight needs ten posts across Instagram, TikTok, LinkedIn and Facebook. Each platform has its own format, so you hand the job to the lead agent and let it start one thread per platform. Every thread loads lumo-brand-voice, drafts its posts to its platform's spec, and the lead agent merges them into one dated calendar. Once you have checked it, you schedule a task that emails you each day's post at 9:00am as a draft.</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social-calendar.csv with ten dated posts across four platforms, lumo-social-posts.docx with the full copy, and a weekday 9:00am scheduled task that emails each day's post as a draft.</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lead agent and threads, Agent Skills, scheduled tasks,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124</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08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brand voice, S$ prices, and never publish without your approval.</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 every post is checked against its prices and claims.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social-calendar.csv and lumo-social-posts.docx, saved in the project.</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NEW: Today's Lumo post, weekdays at 9:00am — emails you each day's post as a draft.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125</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CREATE</a:t>
            </a:r>
          </a:p>
        </p:txBody>
      </p:sp>
      <p:sp>
        <p:nvSpPr>
          <p:cNvPr id="5" name="Rectangle 4"/>
          <p:cNvSpPr/>
          <p:nvPr/>
        </p:nvSpPr>
        <p:spPr>
          <a:xfrm>
            <a:off x="548640" y="1828800"/>
            <a:ext cx="11064240" cy="34594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594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Create the launch social calendar for Lumo Cold Kopi: ten posts,</a:t>
            </a:r>
          </a:p>
          <a:p>
            <a:pPr algn="l">
              <a:spcAft>
                <a:spcPts val="200"/>
              </a:spcAft>
            </a:pPr>
            <a:r>
              <a:rPr sz="1250" b="0">
                <a:solidFill>
                  <a:srgbClr val="21201C"/>
                </a:solidFill>
                <a:latin typeface="Calibri"/>
              </a:rPr>
              <a:t>one each weekday from Tuesday 1 December to Monday 14 December</a:t>
            </a:r>
          </a:p>
          <a:p>
            <a:pPr algn="l">
              <a:spcAft>
                <a:spcPts val="200"/>
              </a:spcAft>
            </a:pPr>
            <a:r>
              <a:rPr sz="1250" b="0">
                <a:solidFill>
                  <a:srgbClr val="21201C"/>
                </a:solidFill>
                <a:latin typeface="Calibri"/>
              </a:rPr>
              <a:t>2026, using social-calendar-template.csv for the columns.</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Split the drafting into four threads, one per platform, and run</a:t>
            </a:r>
          </a:p>
          <a:p>
            <a:pPr algn="l">
              <a:spcAft>
                <a:spcPts val="200"/>
              </a:spcAft>
            </a:pPr>
            <a:r>
              <a:rPr sz="1250" b="0">
                <a:solidFill>
                  <a:srgbClr val="21201C"/>
                </a:solidFill>
                <a:latin typeface="Calibri"/>
              </a:rPr>
              <a:t>them in parallel:</a:t>
            </a:r>
          </a:p>
          <a:p>
            <a:pPr algn="l">
              <a:spcAft>
                <a:spcPts val="200"/>
              </a:spcAft>
            </a:pPr>
            <a:r>
              <a:rPr sz="1250" b="0">
                <a:solidFill>
                  <a:srgbClr val="21201C"/>
                </a:solidFill>
                <a:latin typeface="Calibri"/>
              </a:rPr>
              <a:t>- Instagram: 3 posts (carousel or Reel), caption with a hook in</a:t>
            </a:r>
          </a:p>
          <a:p>
            <a:pPr algn="l">
              <a:spcAft>
                <a:spcPts val="200"/>
              </a:spcAft>
            </a:pPr>
            <a:r>
              <a:rPr sz="1250" b="0">
                <a:solidFill>
                  <a:srgbClr val="21201C"/>
                </a:solidFill>
                <a:latin typeface="Calibri"/>
              </a:rPr>
              <a:t>  the first line, 3-5 hashtags.</a:t>
            </a:r>
          </a:p>
          <a:p>
            <a:pPr algn="l">
              <a:spcAft>
                <a:spcPts val="200"/>
              </a:spcAft>
            </a:pPr>
            <a:r>
              <a:rPr sz="1250" b="0">
                <a:solidFill>
                  <a:srgbClr val="21201C"/>
                </a:solidFill>
                <a:latin typeface="Calibri"/>
              </a:rPr>
              <a:t>- TikTok: 3 posts, each a 15-second video script with a hook in</a:t>
            </a:r>
          </a:p>
          <a:p>
            <a:pPr algn="l">
              <a:spcAft>
                <a:spcPts val="200"/>
              </a:spcAft>
            </a:pPr>
            <a:r>
              <a:rPr sz="1250" b="0">
                <a:solidFill>
                  <a:srgbClr val="21201C"/>
                </a:solidFill>
                <a:latin typeface="Calibri"/>
              </a:rPr>
              <a:t>  the first 2 seconds and on-screen text.</a:t>
            </a:r>
          </a:p>
        </p:txBody>
      </p:sp>
      <p:sp>
        <p:nvSpPr>
          <p:cNvPr id="9" name="TextBox 8"/>
          <p:cNvSpPr txBox="1"/>
          <p:nvPr/>
        </p:nvSpPr>
        <p:spPr>
          <a:xfrm>
            <a:off x="6286500" y="2359152"/>
            <a:ext cx="5006340" cy="2773680"/>
          </a:xfrm>
          <a:prstGeom prst="rect">
            <a:avLst/>
          </a:prstGeom>
          <a:noFill/>
        </p:spPr>
        <p:txBody>
          <a:bodyPr wrap="square" anchor="t" lIns="0" rIns="0" tIns="0" bIns="0">
            <a:spAutoFit/>
          </a:bodyPr>
          <a:lstStyle/>
          <a:p>
            <a:pPr algn="l">
              <a:spcAft>
                <a:spcPts val="200"/>
              </a:spcAft>
            </a:pPr>
            <a:r>
              <a:rPr sz="1250" b="0">
                <a:solidFill>
                  <a:srgbClr val="21201C"/>
                </a:solidFill>
                <a:latin typeface="Calibri"/>
              </a:rPr>
              <a:t>- LinkedIn: 2 posts in the founder's voice, the story behind the</a:t>
            </a:r>
          </a:p>
          <a:p>
            <a:pPr algn="l">
              <a:spcAft>
                <a:spcPts val="200"/>
              </a:spcAft>
            </a:pPr>
            <a:r>
              <a:rPr sz="1250" b="0">
                <a:solidFill>
                  <a:srgbClr val="21201C"/>
                </a:solidFill>
                <a:latin typeface="Calibri"/>
              </a:rPr>
              <a:t>  product, no more than 3 hashtags.</a:t>
            </a:r>
          </a:p>
          <a:p>
            <a:pPr algn="l">
              <a:spcAft>
                <a:spcPts val="200"/>
              </a:spcAft>
            </a:pPr>
            <a:r>
              <a:rPr sz="1250" b="0">
                <a:solidFill>
                  <a:srgbClr val="21201C"/>
                </a:solidFill>
                <a:latin typeface="Calibri"/>
              </a:rPr>
              <a:t>- Facebook: 2 posts for community and the 12-pack offer.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Every thread must use the lumo-brand-voice skill and our top</a:t>
            </a:r>
          </a:p>
          <a:p>
            <a:pPr algn="l">
              <a:spcAft>
                <a:spcPts val="200"/>
              </a:spcAft>
            </a:pPr>
            <a:r>
              <a:rPr sz="1250" b="0">
                <a:solidFill>
                  <a:srgbClr val="21201C"/>
                </a:solidFill>
                <a:latin typeface="Calibri"/>
              </a:rPr>
              <a:t>content theme from the research. The 1 December launch-day</a:t>
            </a:r>
          </a:p>
          <a:p>
            <a:pPr algn="l">
              <a:spcAft>
                <a:spcPts val="200"/>
              </a:spcAft>
            </a:pPr>
            <a:r>
              <a:rPr sz="1250" b="0">
                <a:solidFill>
                  <a:srgbClr val="21201C"/>
                </a:solidFill>
                <a:latin typeface="Calibri"/>
              </a:rPr>
              <a:t>post is an Instagram Reel; TikTok follows on 2 December.</a:t>
            </a:r>
          </a:p>
          <a:p>
            <a:pPr algn="l">
              <a:spcAft>
                <a:spcPts val="200"/>
              </a:spcAft>
            </a:pPr>
            <a:r>
              <a:rPr sz="1250" b="0">
                <a:solidFill>
                  <a:srgbClr val="21201C"/>
                </a:solidFill>
                <a:latin typeface="Calibri"/>
              </a:rPr>
              <a:t/>
            </a:r>
          </a:p>
          <a:p>
            <a:pPr algn="l">
              <a:spcAft>
                <a:spcPts val="200"/>
              </a:spcAft>
            </a:pPr>
            <a:r>
              <a:rPr sz="1250" b="0">
                <a:solidFill>
                  <a:srgbClr val="21201C"/>
                </a:solidFill>
                <a:latin typeface="Calibri"/>
              </a:rPr>
              <a:t>Then merge the threads into social-calendar.csv (date, platform,</a:t>
            </a:r>
          </a:p>
          <a:p>
            <a:pPr algn="l">
              <a:spcAft>
                <a:spcPts val="200"/>
              </a:spcAft>
            </a:pPr>
            <a:r>
              <a:rPr sz="1250" b="0">
                <a:solidFill>
                  <a:srgbClr val="21201C"/>
                </a:solidFill>
                <a:latin typeface="Calibri"/>
              </a:rPr>
              <a:t>format, hook, copy, hashtags, visual idea, call to action) and</a:t>
            </a:r>
          </a:p>
          <a:p>
            <a:pPr algn="l">
              <a:spcAft>
                <a:spcPts val="200"/>
              </a:spcAft>
            </a:pPr>
            <a:r>
              <a:rPr sz="1250" b="0">
                <a:solidFill>
                  <a:srgbClr val="21201C"/>
                </a:solidFill>
                <a:latin typeface="Calibri"/>
              </a:rPr>
              <a:t>lumo-social-posts.docx with the full copy. Report the brand-voice</a:t>
            </a:r>
          </a:p>
          <a:p>
            <a:pPr algn="l">
              <a:spcAft>
                <a:spcPts val="200"/>
              </a:spcAft>
            </a:pPr>
            <a:r>
              <a:rPr sz="1250" b="0">
                <a:solidFill>
                  <a:srgbClr val="21201C"/>
                </a:solidFill>
                <a:latin typeface="Calibri"/>
              </a:rPr>
              <a:t>checklist result for every post, and list any post that failed.</a:t>
            </a:r>
          </a:p>
        </p:txBody>
      </p:sp>
      <p:sp>
        <p:nvSpPr>
          <p:cNvPr id="10" name="Rectangle 9"/>
          <p:cNvSpPr/>
          <p:nvPr/>
        </p:nvSpPr>
        <p:spPr>
          <a:xfrm>
            <a:off x="6080760" y="2395728"/>
            <a:ext cx="9144" cy="268224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55626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social-calendar-template.csv from the Lab 08 data folder.</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126</a:t>
            </a:r>
          </a:p>
        </p:txBody>
      </p:sp>
    </p:spTree>
  </p:cSld>
  <p:clrMapOvr>
    <a:masterClrMapping/>
  </p:clrMapOvr>
  <p:transition spd="med">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THE PROMPT · STEP 8</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SCHEDULE</a:t>
            </a:r>
          </a:p>
        </p:txBody>
      </p:sp>
      <p:sp>
        <p:nvSpPr>
          <p:cNvPr id="5" name="Rectangle 4"/>
          <p:cNvSpPr/>
          <p:nvPr/>
        </p:nvSpPr>
        <p:spPr>
          <a:xfrm>
            <a:off x="548640" y="1828800"/>
            <a:ext cx="11064240" cy="340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340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272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Schedule a recurring task in this project: "Today's Lumo post",</a:t>
            </a:r>
          </a:p>
          <a:p>
            <a:pPr algn="l">
              <a:spcAft>
                <a:spcPts val="200"/>
              </a:spcAft>
            </a:pPr>
            <a:r>
              <a:rPr sz="1500" b="0">
                <a:solidFill>
                  <a:srgbClr val="21201C"/>
                </a:solidFill>
                <a:latin typeface="Calibri"/>
              </a:rPr>
              <a:t>every weekday at 9:00am. Take today's row from</a:t>
            </a:r>
          </a:p>
          <a:p>
            <a:pPr algn="l">
              <a:spcAft>
                <a:spcPts val="200"/>
              </a:spcAft>
            </a:pPr>
            <a:r>
              <a:rPr sz="1500" b="0">
                <a:solidFill>
                  <a:srgbClr val="21201C"/>
                </a:solidFill>
                <a:latin typeface="Calibri"/>
              </a:rPr>
              <a:t>social-calendar.csv, polish it with lumo-brand-voice, check every</a:t>
            </a:r>
          </a:p>
          <a:p>
            <a:pPr algn="l">
              <a:spcAft>
                <a:spcPts val="200"/>
              </a:spcAft>
            </a:pPr>
            <a:r>
              <a:rPr sz="1500" b="0">
                <a:solidFill>
                  <a:srgbClr val="21201C"/>
                </a:solidFill>
                <a:latin typeface="Calibri"/>
              </a:rPr>
              <a:t>price and claim against the brand kit, and email it to</a:t>
            </a:r>
          </a:p>
          <a:p>
            <a:pPr algn="l">
              <a:spcAft>
                <a:spcPts val="200"/>
              </a:spcAft>
            </a:pPr>
            <a:r>
              <a:rPr sz="1500" b="0">
                <a:solidFill>
                  <a:srgbClr val="21201C"/>
                </a:solidFill>
                <a:latin typeface="Calibri"/>
              </a:rPr>
              <a:t>&lt;YOUR EMAIL&gt; as a draft with the subject</a:t>
            </a:r>
          </a:p>
          <a:p>
            <a:pPr algn="l">
              <a:spcAft>
                <a:spcPts val="200"/>
              </a:spcAft>
            </a:pPr>
            <a:r>
              <a:rPr sz="1500" b="0">
                <a:solidFill>
                  <a:srgbClr val="21201C"/>
                </a:solidFill>
                <a:latin typeface="Calibri"/>
              </a:rPr>
              <a:t>"Today's Lumo post - &lt;date&gt;". Never publish anything. If there</a:t>
            </a:r>
          </a:p>
          <a:p>
            <a:pPr algn="l">
              <a:spcAft>
                <a:spcPts val="200"/>
              </a:spcAft>
            </a:pPr>
            <a:r>
              <a:rPr sz="1500" b="0">
                <a:solidFill>
                  <a:srgbClr val="21201C"/>
                </a:solidFill>
                <a:latin typeface="Calibri"/>
              </a:rPr>
              <a:t>is no row for today, email "No Lumo post scheduled today".</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Show me the task before you save it, then run it once now as a</a:t>
            </a:r>
          </a:p>
          <a:p>
            <a:pPr algn="l">
              <a:spcAft>
                <a:spcPts val="200"/>
              </a:spcAft>
            </a:pPr>
            <a:r>
              <a:rPr sz="1500" b="0">
                <a:solidFill>
                  <a:srgbClr val="21201C"/>
                </a:solidFill>
                <a:latin typeface="Calibri"/>
              </a:rPr>
              <a:t>test, using 1 December 2026 as today.</a:t>
            </a:r>
          </a:p>
        </p:txBody>
      </p:sp>
      <p:sp>
        <p:nvSpPr>
          <p:cNvPr id="9" name="TextBox 8"/>
          <p:cNvSpPr txBox="1"/>
          <p:nvPr/>
        </p:nvSpPr>
        <p:spPr>
          <a:xfrm>
            <a:off x="548640" y="551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The task drafts and emails — it never publishes.</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127</a:t>
            </a:r>
          </a:p>
        </p:txBody>
      </p:sp>
    </p:spTree>
  </p:cSld>
  <p:clrMapOvr>
    <a:masterClrMapping/>
  </p:clrMapOvr>
  <p:transition spd="med">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Create and Schedule Social Posts in Parallel Threads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social-calendar-template.csv and send the lab prompt.</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Watch the lead agent start the four platform threads.</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Instagram thread and check it loaded lumo-brand-voice.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merged calendar arrives, count the rows and check the dates.</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brand-voice checklist results.</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Spot-check three posts against the campaign brief's "claims we must not make".</a:t>
            </a:r>
          </a:p>
        </p:txBody>
      </p:sp>
      <p:sp>
        <p:nvSpPr>
          <p:cNvPr id="24" name="Oval 23"/>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lumo-social-posts.docx and confirm the copy matches the calendar.</a:t>
            </a:r>
          </a:p>
        </p:txBody>
      </p:sp>
      <p:sp>
        <p:nvSpPr>
          <p:cNvPr id="27" name="Oval 26"/>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8</a:t>
            </a:r>
          </a:p>
        </p:txBody>
      </p:sp>
      <p:sp>
        <p:nvSpPr>
          <p:cNvPr id="29" name="TextBox 28"/>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with your own email address in place of &lt;YOUR EMAIL&gt;.</a:t>
            </a:r>
          </a:p>
        </p:txBody>
      </p:sp>
      <p:sp>
        <p:nvSpPr>
          <p:cNvPr id="30" name="Oval 29"/>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9</a:t>
            </a:r>
          </a:p>
        </p:txBody>
      </p:sp>
      <p:sp>
        <p:nvSpPr>
          <p:cNvPr id="32" name="TextBox 31"/>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task before it is saved: name, prompt, and weekdays at 9:00am.</a:t>
            </a:r>
          </a:p>
        </p:txBody>
      </p:sp>
      <p:sp>
        <p:nvSpPr>
          <p:cNvPr id="33" name="Oval 32"/>
          <p:cNvSpPr/>
          <p:nvPr/>
        </p:nvSpPr>
        <p:spPr>
          <a:xfrm>
            <a:off x="624078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078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10</a:t>
            </a:r>
          </a:p>
        </p:txBody>
      </p:sp>
      <p:sp>
        <p:nvSpPr>
          <p:cNvPr id="35" name="TextBox 34"/>
          <p:cNvSpPr txBox="1"/>
          <p:nvPr/>
        </p:nvSpPr>
        <p:spPr>
          <a:xfrm>
            <a:off x="666140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your inbox and read the test email for 1 December.</a:t>
            </a:r>
          </a:p>
        </p:txBody>
      </p:sp>
      <p:sp>
        <p:nvSpPr>
          <p:cNvPr id="36" name="Oval 35"/>
          <p:cNvSpPr/>
          <p:nvPr/>
        </p:nvSpPr>
        <p:spPr>
          <a:xfrm>
            <a:off x="624078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4078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11</a:t>
            </a:r>
          </a:p>
        </p:txBody>
      </p:sp>
      <p:sp>
        <p:nvSpPr>
          <p:cNvPr id="38" name="TextBox 37"/>
          <p:cNvSpPr txBox="1"/>
          <p:nvPr/>
        </p:nvSpPr>
        <p:spPr>
          <a:xfrm>
            <a:off x="6661404" y="4507992"/>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in the project and confirm the task is listed. Then open the Next Lumo post panel from Lab 7 and click Refresh.</a:t>
            </a:r>
          </a:p>
        </p:txBody>
      </p:sp>
      <p:sp>
        <p:nvSpPr>
          <p:cNvPr id="39" name="TextBox 3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0" name="TextBox 3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1" name="TextBox 4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128</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Create and Schedule Social Posts in Parallel Threads</a:t>
            </a:r>
          </a:p>
        </p:txBody>
      </p:sp>
      <p:sp>
        <p:nvSpPr>
          <p:cNvPr id="5" name="Rectangle 4"/>
          <p:cNvSpPr/>
          <p:nvPr/>
        </p:nvSpPr>
        <p:spPr>
          <a:xfrm>
            <a:off x="548640" y="2103120"/>
            <a:ext cx="11064240" cy="3794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79476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78892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social-calendar.csv has ten rows dated on the ten weekdays from 1 to 14 December 2026 — Instagram 3, TikTok 3, LinkedIn 2, Facebook 2 — with the 1 December launch post an Instagram Reel and TikTok on 2 December. Every post passed the lumo-brand-voice checklist, none uses "healthy", every price is written S$3.90 or S$42.00, and lumo-social-posts.docx carries the same copy. Today's Lumo post is listed under Scheduled for weekdays at 9:00am; it drafts and emails only, and nothing was published.</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129</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08 · FROM THE CLASS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From the Class: Two Weeks of Posts</a:t>
            </a:r>
          </a:p>
        </p:txBody>
      </p:sp>
      <p:sp>
        <p:nvSpPr>
          <p:cNvPr id="5" name="Rectangle 4"/>
          <p:cNvSpPr/>
          <p:nvPr/>
        </p:nvSpPr>
        <p:spPr>
          <a:xfrm>
            <a:off x="1853646" y="1600200"/>
            <a:ext cx="4293708" cy="4297680"/>
          </a:xfrm>
          <a:prstGeom prst="rect">
            <a:avLst/>
          </a:prstGeom>
          <a:solidFill>
            <a:srgbClr val="FFFFFF"/>
          </a:solidFill>
          <a:ln w="9525">
            <a:solidFill>
              <a:srgbClr val="E4E1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53646" y="1600200"/>
            <a:ext cx="4293708" cy="5486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lass-social-posts-grid.png"/>
          <p:cNvPicPr>
            <a:picLocks noChangeAspect="1"/>
          </p:cNvPicPr>
          <p:nvPr/>
        </p:nvPicPr>
        <p:blipFill>
          <a:blip r:embed="rId2"/>
          <a:stretch>
            <a:fillRect/>
          </a:stretch>
        </p:blipFill>
        <p:spPr>
          <a:xfrm>
            <a:off x="1963374" y="1709928"/>
            <a:ext cx="4074252" cy="4078224"/>
          </a:xfrm>
          <a:prstGeom prst="rect">
            <a:avLst/>
          </a:prstGeom>
        </p:spPr>
      </p:pic>
      <p:sp>
        <p:nvSpPr>
          <p:cNvPr id="8" name="Oval 7"/>
          <p:cNvSpPr/>
          <p:nvPr/>
        </p:nvSpPr>
        <p:spPr>
          <a:xfrm>
            <a:off x="7726679" y="2034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034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8183879" y="2052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One calendar</a:t>
            </a:r>
          </a:p>
          <a:p>
            <a:pPr algn="l">
              <a:spcAft>
                <a:spcPts val="300"/>
              </a:spcAft>
            </a:pPr>
            <a:r>
              <a:rPr sz="1250" b="0">
                <a:solidFill>
                  <a:srgbClr val="6B6862"/>
                </a:solidFill>
                <a:latin typeface="Calibri"/>
              </a:rPr>
              <a:t>Dated posts from 1 to 14 December across the four platforms.</a:t>
            </a:r>
          </a:p>
        </p:txBody>
      </p:sp>
      <p:sp>
        <p:nvSpPr>
          <p:cNvPr id="11" name="Oval 10"/>
          <p:cNvSpPr/>
          <p:nvPr/>
        </p:nvSpPr>
        <p:spPr>
          <a:xfrm>
            <a:off x="7726679" y="3177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3177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3" name="TextBox 12"/>
          <p:cNvSpPr txBox="1"/>
          <p:nvPr/>
        </p:nvSpPr>
        <p:spPr>
          <a:xfrm>
            <a:off x="8183879" y="3195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One voice</a:t>
            </a:r>
          </a:p>
          <a:p>
            <a:pPr algn="l">
              <a:spcAft>
                <a:spcPts val="300"/>
              </a:spcAft>
            </a:pPr>
            <a:r>
              <a:rPr sz="1250" b="0">
                <a:solidFill>
                  <a:srgbClr val="6B6862"/>
                </a:solidFill>
                <a:latin typeface="Calibri"/>
              </a:rPr>
              <a:t>The brand-voice skill keeps every hook and caption consistent.</a:t>
            </a:r>
          </a:p>
        </p:txBody>
      </p:sp>
      <p:sp>
        <p:nvSpPr>
          <p:cNvPr id="14" name="Oval 13"/>
          <p:cNvSpPr/>
          <p:nvPr/>
        </p:nvSpPr>
        <p:spPr>
          <a:xfrm>
            <a:off x="7726679" y="4320540"/>
            <a:ext cx="329184" cy="329184"/>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6679" y="4320540"/>
            <a:ext cx="329184" cy="329184"/>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6" name="TextBox 15"/>
          <p:cNvSpPr txBox="1"/>
          <p:nvPr/>
        </p:nvSpPr>
        <p:spPr>
          <a:xfrm>
            <a:off x="8183879" y="4338828"/>
            <a:ext cx="3429000" cy="1143000"/>
          </a:xfrm>
          <a:prstGeom prst="rect">
            <a:avLst/>
          </a:prstGeom>
          <a:noFill/>
        </p:spPr>
        <p:txBody>
          <a:bodyPr wrap="square" anchor="t" lIns="0" rIns="0" tIns="0" bIns="0">
            <a:spAutoFit/>
          </a:bodyPr>
          <a:lstStyle/>
          <a:p>
            <a:pPr algn="l">
              <a:spcAft>
                <a:spcPts val="300"/>
              </a:spcAft>
            </a:pPr>
            <a:r>
              <a:rPr sz="1400" b="1">
                <a:solidFill>
                  <a:srgbClr val="21201C"/>
                </a:solidFill>
                <a:latin typeface="Calibri"/>
              </a:rPr>
              <a:t>Review</a:t>
            </a:r>
          </a:p>
          <a:p>
            <a:pPr algn="l">
              <a:spcAft>
                <a:spcPts val="300"/>
              </a:spcAft>
            </a:pPr>
            <a:r>
              <a:rPr sz="1250" b="0">
                <a:solidFill>
                  <a:srgbClr val="6B6862"/>
                </a:solidFill>
                <a:latin typeface="Calibri"/>
              </a:rPr>
              <a:t>Expand or download any post; each is marked DRAFT, NOT PUBLISHED.</a:t>
            </a:r>
          </a:p>
        </p:txBody>
      </p:sp>
      <p:sp>
        <p:nvSpPr>
          <p:cNvPr id="17" name="TextBox 16"/>
          <p:cNvSpPr txBox="1"/>
          <p:nvPr/>
        </p:nvSpPr>
        <p:spPr>
          <a:xfrm>
            <a:off x="548640" y="5989320"/>
            <a:ext cx="11064240" cy="365760"/>
          </a:xfrm>
          <a:prstGeom prst="rect">
            <a:avLst/>
          </a:prstGeom>
          <a:noFill/>
        </p:spPr>
        <p:txBody>
          <a:bodyPr wrap="square" anchor="t" lIns="0" rIns="0" tIns="0" bIns="0">
            <a:spAutoFit/>
          </a:bodyPr>
          <a:lstStyle/>
          <a:p>
            <a:pPr algn="ctr">
              <a:spcAft>
                <a:spcPts val="400"/>
              </a:spcAft>
            </a:pPr>
            <a:r>
              <a:rPr sz="1250" b="0">
                <a:solidFill>
                  <a:srgbClr val="6B6862"/>
                </a:solidFill>
                <a:latin typeface="Calibri"/>
              </a:rPr>
              <a:t>The Lab 8 posts laid out by date — every one a draft, not published.</a:t>
            </a:r>
          </a:p>
        </p:txBody>
      </p:sp>
      <p:sp>
        <p:nvSpPr>
          <p:cNvPr id="18" name="TextBox 17"/>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9" name="TextBox 18"/>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0" name="TextBox 19"/>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130</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The Video Pipeline</a:t>
            </a:r>
          </a:p>
        </p:txBody>
      </p:sp>
      <p:sp>
        <p:nvSpPr>
          <p:cNvPr id="5" name="Rectangle 4"/>
          <p:cNvSpPr/>
          <p:nvPr/>
        </p:nvSpPr>
        <p:spPr>
          <a:xfrm>
            <a:off x="548640"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225296"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25296"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1</a:t>
            </a:r>
          </a:p>
        </p:txBody>
      </p:sp>
      <p:sp>
        <p:nvSpPr>
          <p:cNvPr id="9" name="TextBox 8"/>
          <p:cNvSpPr txBox="1"/>
          <p:nvPr/>
        </p:nvSpPr>
        <p:spPr>
          <a:xfrm>
            <a:off x="685800"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Script</a:t>
            </a:r>
          </a:p>
        </p:txBody>
      </p:sp>
      <p:sp>
        <p:nvSpPr>
          <p:cNvPr id="10" name="TextBox 9"/>
          <p:cNvSpPr txBox="1"/>
          <p:nvPr/>
        </p:nvSpPr>
        <p:spPr>
          <a:xfrm>
            <a:off x="685800"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Five lines, three seconds each — hook, problem, product, proof, call to action.</a:t>
            </a:r>
          </a:p>
        </p:txBody>
      </p:sp>
      <p:sp>
        <p:nvSpPr>
          <p:cNvPr id="11" name="TextBox 10"/>
          <p:cNvSpPr txBox="1"/>
          <p:nvPr/>
        </p:nvSpPr>
        <p:spPr>
          <a:xfrm>
            <a:off x="2542032"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2" name="Rectangle 11"/>
          <p:cNvSpPr/>
          <p:nvPr/>
        </p:nvSpPr>
        <p:spPr>
          <a:xfrm>
            <a:off x="2816352"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16352"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493008"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93008"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2</a:t>
            </a:r>
          </a:p>
        </p:txBody>
      </p:sp>
      <p:sp>
        <p:nvSpPr>
          <p:cNvPr id="16" name="TextBox 15"/>
          <p:cNvSpPr txBox="1"/>
          <p:nvPr/>
        </p:nvSpPr>
        <p:spPr>
          <a:xfrm>
            <a:off x="2953512"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Storyboard</a:t>
            </a:r>
          </a:p>
        </p:txBody>
      </p:sp>
      <p:sp>
        <p:nvSpPr>
          <p:cNvPr id="17" name="TextBox 16"/>
          <p:cNvSpPr txBox="1"/>
          <p:nvPr/>
        </p:nvSpPr>
        <p:spPr>
          <a:xfrm>
            <a:off x="2953512"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One frame per line: which image, which on-screen text, which motion.</a:t>
            </a:r>
          </a:p>
        </p:txBody>
      </p:sp>
      <p:sp>
        <p:nvSpPr>
          <p:cNvPr id="18" name="TextBox 17"/>
          <p:cNvSpPr txBox="1"/>
          <p:nvPr/>
        </p:nvSpPr>
        <p:spPr>
          <a:xfrm>
            <a:off x="4809744"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19" name="Rectangle 18"/>
          <p:cNvSpPr/>
          <p:nvPr/>
        </p:nvSpPr>
        <p:spPr>
          <a:xfrm>
            <a:off x="5084064"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84064"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60720"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60720"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3</a:t>
            </a:r>
          </a:p>
        </p:txBody>
      </p:sp>
      <p:sp>
        <p:nvSpPr>
          <p:cNvPr id="23" name="TextBox 22"/>
          <p:cNvSpPr txBox="1"/>
          <p:nvPr/>
        </p:nvSpPr>
        <p:spPr>
          <a:xfrm>
            <a:off x="5221224"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Render</a:t>
            </a:r>
          </a:p>
        </p:txBody>
      </p:sp>
      <p:sp>
        <p:nvSpPr>
          <p:cNvPr id="24" name="TextBox 23"/>
          <p:cNvSpPr txBox="1"/>
          <p:nvPr/>
        </p:nvSpPr>
        <p:spPr>
          <a:xfrm>
            <a:off x="5221224"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Claude writes and runs code that animates your images and text into an MP4.</a:t>
            </a:r>
          </a:p>
        </p:txBody>
      </p:sp>
      <p:sp>
        <p:nvSpPr>
          <p:cNvPr id="25" name="TextBox 24"/>
          <p:cNvSpPr txBox="1"/>
          <p:nvPr/>
        </p:nvSpPr>
        <p:spPr>
          <a:xfrm>
            <a:off x="7077456"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26" name="Rectangle 25"/>
          <p:cNvSpPr/>
          <p:nvPr/>
        </p:nvSpPr>
        <p:spPr>
          <a:xfrm>
            <a:off x="7351776"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351776"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028432"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028432"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4</a:t>
            </a:r>
          </a:p>
        </p:txBody>
      </p:sp>
      <p:sp>
        <p:nvSpPr>
          <p:cNvPr id="30" name="TextBox 29"/>
          <p:cNvSpPr txBox="1"/>
          <p:nvPr/>
        </p:nvSpPr>
        <p:spPr>
          <a:xfrm>
            <a:off x="7488936"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Check</a:t>
            </a:r>
          </a:p>
        </p:txBody>
      </p:sp>
      <p:sp>
        <p:nvSpPr>
          <p:cNvPr id="31" name="TextBox 30"/>
          <p:cNvSpPr txBox="1"/>
          <p:nvPr/>
        </p:nvSpPr>
        <p:spPr>
          <a:xfrm>
            <a:off x="7488936"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Length, size 1080 × 1920, brand colours, every claim true, end card with the price.</a:t>
            </a:r>
          </a:p>
        </p:txBody>
      </p:sp>
      <p:sp>
        <p:nvSpPr>
          <p:cNvPr id="32" name="TextBox 31"/>
          <p:cNvSpPr txBox="1"/>
          <p:nvPr/>
        </p:nvSpPr>
        <p:spPr>
          <a:xfrm>
            <a:off x="9345168" y="3721608"/>
            <a:ext cx="274320" cy="329184"/>
          </a:xfrm>
          <a:prstGeom prst="rect">
            <a:avLst/>
          </a:prstGeom>
          <a:noFill/>
        </p:spPr>
        <p:txBody>
          <a:bodyPr wrap="square" anchor="ctr" lIns="0" rIns="0" tIns="0" bIns="0">
            <a:spAutoFit/>
          </a:bodyPr>
          <a:lstStyle/>
          <a:p>
            <a:pPr algn="ctr">
              <a:spcAft>
                <a:spcPts val="400"/>
              </a:spcAft>
            </a:pPr>
            <a:r>
              <a:rPr sz="1300" b="1">
                <a:solidFill>
                  <a:srgbClr val="D97757"/>
                </a:solidFill>
                <a:latin typeface="Calibri"/>
              </a:rPr>
              <a:t>▶</a:t>
            </a:r>
          </a:p>
        </p:txBody>
      </p:sp>
      <p:sp>
        <p:nvSpPr>
          <p:cNvPr id="33" name="Rectangle 32"/>
          <p:cNvSpPr/>
          <p:nvPr/>
        </p:nvSpPr>
        <p:spPr>
          <a:xfrm>
            <a:off x="9619488" y="2560320"/>
            <a:ext cx="1993392" cy="2651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619488" y="2560320"/>
            <a:ext cx="1993392" cy="731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296144" y="2926080"/>
            <a:ext cx="640080" cy="64008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296144" y="2926080"/>
            <a:ext cx="640080" cy="640080"/>
          </a:xfrm>
          <a:prstGeom prst="rect">
            <a:avLst/>
          </a:prstGeom>
          <a:noFill/>
        </p:spPr>
        <p:txBody>
          <a:bodyPr wrap="square" anchor="ctr" lIns="0" rIns="0" tIns="0" bIns="0">
            <a:spAutoFit/>
          </a:bodyPr>
          <a:lstStyle/>
          <a:p>
            <a:pPr algn="ctr">
              <a:spcAft>
                <a:spcPts val="400"/>
              </a:spcAft>
            </a:pPr>
            <a:r>
              <a:rPr sz="2200" b="1">
                <a:solidFill>
                  <a:srgbClr val="FFFFFF"/>
                </a:solidFill>
                <a:latin typeface="Cambria"/>
              </a:rPr>
              <a:t>5</a:t>
            </a:r>
          </a:p>
        </p:txBody>
      </p:sp>
      <p:sp>
        <p:nvSpPr>
          <p:cNvPr id="37" name="TextBox 36"/>
          <p:cNvSpPr txBox="1"/>
          <p:nvPr/>
        </p:nvSpPr>
        <p:spPr>
          <a:xfrm>
            <a:off x="9756648" y="3730752"/>
            <a:ext cx="1719072" cy="457200"/>
          </a:xfrm>
          <a:prstGeom prst="rect">
            <a:avLst/>
          </a:prstGeom>
          <a:noFill/>
        </p:spPr>
        <p:txBody>
          <a:bodyPr wrap="square" anchor="t" lIns="0" rIns="0" tIns="0" bIns="0">
            <a:spAutoFit/>
          </a:bodyPr>
          <a:lstStyle/>
          <a:p>
            <a:pPr algn="ctr">
              <a:spcAft>
                <a:spcPts val="400"/>
              </a:spcAft>
            </a:pPr>
            <a:r>
              <a:rPr sz="1300" b="1">
                <a:solidFill>
                  <a:srgbClr val="21201C"/>
                </a:solidFill>
                <a:latin typeface="Cambria"/>
              </a:rPr>
              <a:t>Refine</a:t>
            </a:r>
          </a:p>
        </p:txBody>
      </p:sp>
      <p:sp>
        <p:nvSpPr>
          <p:cNvPr id="38" name="TextBox 37"/>
          <p:cNvSpPr txBox="1"/>
          <p:nvPr/>
        </p:nvSpPr>
        <p:spPr>
          <a:xfrm>
            <a:off x="9756648" y="4206240"/>
            <a:ext cx="1719072" cy="868680"/>
          </a:xfrm>
          <a:prstGeom prst="rect">
            <a:avLst/>
          </a:prstGeom>
          <a:noFill/>
        </p:spPr>
        <p:txBody>
          <a:bodyPr wrap="square" anchor="t" lIns="0" rIns="0" tIns="0" bIns="0">
            <a:spAutoFit/>
          </a:bodyPr>
          <a:lstStyle/>
          <a:p>
            <a:pPr algn="ctr">
              <a:spcAft>
                <a:spcPts val="400"/>
              </a:spcAft>
            </a:pPr>
            <a:r>
              <a:rPr sz="1100" b="0">
                <a:solidFill>
                  <a:srgbClr val="6B6862"/>
                </a:solidFill>
                <a:latin typeface="Calibri"/>
              </a:rPr>
              <a:t>Ask for timing or text changes in plain English and render again.</a:t>
            </a:r>
          </a:p>
        </p:txBody>
      </p:sp>
      <p:sp>
        <p:nvSpPr>
          <p:cNvPr id="39" name="TextBox 38"/>
          <p:cNvSpPr txBox="1"/>
          <p:nvPr/>
        </p:nvSpPr>
        <p:spPr>
          <a:xfrm>
            <a:off x="548640" y="5669280"/>
            <a:ext cx="11064240" cy="365760"/>
          </a:xfrm>
          <a:prstGeom prst="rect">
            <a:avLst/>
          </a:prstGeom>
          <a:noFill/>
        </p:spPr>
        <p:txBody>
          <a:bodyPr wrap="square" anchor="t" lIns="0" rIns="0" tIns="0" bIns="0">
            <a:spAutoFit/>
          </a:bodyPr>
          <a:lstStyle/>
          <a:p>
            <a:pPr algn="ctr">
              <a:spcAft>
                <a:spcPts val="400"/>
              </a:spcAft>
            </a:pPr>
            <a:r>
              <a:rPr sz="1300" b="0">
                <a:solidFill>
                  <a:srgbClr val="6B6862"/>
                </a:solidFill>
                <a:latin typeface="Calibri"/>
              </a:rPr>
              <a:t>The video is code: a change is a re-render, not a re-edit.</a:t>
            </a:r>
          </a:p>
        </p:txBody>
      </p:sp>
      <p:sp>
        <p:nvSpPr>
          <p:cNvPr id="40" name="TextBox 3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41" name="TextBox 4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42" name="TextBox 4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131</a:t>
            </a:r>
          </a:p>
        </p:txBody>
      </p:sp>
    </p:spTree>
  </p:cSld>
  <p:clrMapOvr>
    <a:masterClrMapping/>
  </p:clrMapOvr>
  <p:transition spd="med">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LAUNCH VIDEO</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Launch Video Specs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the finished 15-second video must meet.</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Format</a:t>
            </a:r>
          </a:p>
          <a:p>
            <a:pPr algn="l">
              <a:spcAft>
                <a:spcPts val="300"/>
              </a:spcAft>
            </a:pPr>
            <a:r>
              <a:rPr sz="1150" b="0">
                <a:solidFill>
                  <a:srgbClr val="6B6862"/>
                </a:solidFill>
                <a:latin typeface="Calibri"/>
              </a:rPr>
              <a:t>Vertical 9:16, 1080 × 1920 pixels, MP4 — fits Reels, TikTok and Shorts.</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Length</a:t>
            </a:r>
          </a:p>
          <a:p>
            <a:pPr algn="l">
              <a:spcAft>
                <a:spcPts val="300"/>
              </a:spcAft>
            </a:pPr>
            <a:r>
              <a:rPr sz="1150" b="0">
                <a:solidFill>
                  <a:srgbClr val="6B6862"/>
                </a:solidFill>
                <a:latin typeface="Calibri"/>
              </a:rPr>
              <a:t>15 seconds: five scenes of three seconds each.</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Text</a:t>
            </a:r>
          </a:p>
          <a:p>
            <a:pPr algn="l">
              <a:spcAft>
                <a:spcPts val="300"/>
              </a:spcAft>
            </a:pPr>
            <a:r>
              <a:rPr sz="1150" b="0">
                <a:solidFill>
                  <a:srgbClr val="6B6862"/>
                </a:solidFill>
                <a:latin typeface="Calibri"/>
              </a:rPr>
              <a:t>Large, high-contrast captions — most people watch with the sound off.</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Brand</a:t>
            </a:r>
          </a:p>
          <a:p>
            <a:pPr algn="l">
              <a:spcAft>
                <a:spcPts val="300"/>
              </a:spcAft>
            </a:pPr>
            <a:r>
              <a:rPr sz="1150" b="0">
                <a:solidFill>
                  <a:srgbClr val="6B6862"/>
                </a:solidFill>
                <a:latin typeface="Calibri"/>
              </a:rPr>
              <a:t>Lumo colours and logo; the end card shows the price and the campaign hashtag.</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Assets</a:t>
            </a:r>
          </a:p>
          <a:p>
            <a:pPr algn="l">
              <a:spcAft>
                <a:spcPts val="300"/>
              </a:spcAft>
            </a:pPr>
            <a:r>
              <a:rPr sz="1150" b="0">
                <a:solidFill>
                  <a:srgbClr val="6B6862"/>
                </a:solidFill>
                <a:latin typeface="Calibri"/>
              </a:rPr>
              <a:t>Only the supplied product images — never a real person's likeness or a stock logo.</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Fallback</a:t>
            </a:r>
          </a:p>
          <a:p>
            <a:pPr algn="l">
              <a:spcAft>
                <a:spcPts val="300"/>
              </a:spcAft>
            </a:pPr>
            <a:r>
              <a:rPr sz="1150" b="0">
                <a:solidFill>
                  <a:srgbClr val="6B6862"/>
                </a:solidFill>
                <a:latin typeface="Calibri"/>
              </a:rPr>
              <a:t>No video tools in the session? Claude builds an animated HTML version to screen-record.</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132</a:t>
            </a:r>
          </a:p>
        </p:txBody>
      </p:sp>
    </p:spTree>
  </p:cSld>
  <p:clrMapOvr>
    <a:masterClrMapping/>
  </p:clrMapOvr>
  <p:transition spd="med">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09</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Script, storyboard and render a vertical launch video from supplied brand assets</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The TikTok and Instagram posts need a launch video. You give the project the supplied product images and logo; one thread writes a five-scene script and storyboard with lumo-brand-voice, another writes and runs the code that animates the images and captions into a 15-second, 1080 × 1920 MP4. You check it frame by frame and ask for changes in plain English.</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lumo-launch-15s.mp4 (1080 × 1920, 15 seconds), with its script and storyboard.</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threads, code execution</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133</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09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Uses: brand voice for the script; nothing is published.</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Uses: the brand kit, for the tagline, price and call to action.</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Adds: attach the video assets; the script, storyboard and lumo-launch-15s.mp4 are saved.</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Not used — runs when you send the prompt.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134</a:t>
            </a:r>
          </a:p>
        </p:txBody>
      </p:sp>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THE PROMPT · STEP 2</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Script, storyboard and render the video</a:t>
            </a:r>
          </a:p>
        </p:txBody>
      </p:sp>
      <p:sp>
        <p:nvSpPr>
          <p:cNvPr id="5" name="Rectangle 4"/>
          <p:cNvSpPr/>
          <p:nvPr/>
        </p:nvSpPr>
        <p:spPr>
          <a:xfrm>
            <a:off x="548640" y="1828800"/>
            <a:ext cx="11064240" cy="274320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743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Make a 15-second vertical launch video for Lumo Cold Kopi, using</a:t>
            </a:r>
          </a:p>
          <a:p>
            <a:pPr algn="l">
              <a:spcAft>
                <a:spcPts val="200"/>
              </a:spcAft>
            </a:pPr>
            <a:r>
              <a:rPr sz="1200" b="0">
                <a:solidFill>
                  <a:srgbClr val="21201C"/>
                </a:solidFill>
                <a:latin typeface="Calibri"/>
              </a:rPr>
              <a:t>only the five images in the attached video-assets folder.</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Use two threads:</a:t>
            </a:r>
          </a:p>
          <a:p>
            <a:pPr algn="l">
              <a:spcAft>
                <a:spcPts val="200"/>
              </a:spcAft>
            </a:pPr>
            <a:r>
              <a:rPr sz="1200" b="0">
                <a:solidFill>
                  <a:srgbClr val="21201C"/>
                </a:solidFill>
                <a:latin typeface="Calibri"/>
              </a:rPr>
              <a:t>Thread 1 - SCRIPT: with lumo-brand-voice, write five scenes of</a:t>
            </a:r>
          </a:p>
          <a:p>
            <a:pPr algn="l">
              <a:spcAft>
                <a:spcPts val="200"/>
              </a:spcAft>
            </a:pPr>
            <a:r>
              <a:rPr sz="1200" b="0">
                <a:solidFill>
                  <a:srgbClr val="21201C"/>
                </a:solidFill>
                <a:latin typeface="Calibri"/>
              </a:rPr>
              <a:t>  three seconds each: hook, problem, product, proof, call to action.</a:t>
            </a:r>
          </a:p>
          <a:p>
            <a:pPr algn="l">
              <a:spcAft>
                <a:spcPts val="200"/>
              </a:spcAft>
            </a:pPr>
            <a:r>
              <a:rPr sz="1200" b="0">
                <a:solidFill>
                  <a:srgbClr val="21201C"/>
                </a:solidFill>
                <a:latin typeface="Calibri"/>
              </a:rPr>
              <a:t>  For each scene give the image, the on-screen text (max 6 words)</a:t>
            </a:r>
          </a:p>
          <a:p>
            <a:pPr algn="l">
              <a:spcAft>
                <a:spcPts val="200"/>
              </a:spcAft>
            </a:pPr>
            <a:r>
              <a:rPr sz="1200" b="0">
                <a:solidFill>
                  <a:srgbClr val="21201C"/>
                </a:solidFill>
                <a:latin typeface="Calibri"/>
              </a:rPr>
              <a:t>  and the motion. Save it as lumo-video-storyboard.md.</a:t>
            </a:r>
          </a:p>
        </p:txBody>
      </p:sp>
      <p:sp>
        <p:nvSpPr>
          <p:cNvPr id="9" name="TextBox 8"/>
          <p:cNvSpPr txBox="1"/>
          <p:nvPr/>
        </p:nvSpPr>
        <p:spPr>
          <a:xfrm>
            <a:off x="6286500" y="2359152"/>
            <a:ext cx="5006340" cy="2057400"/>
          </a:xfrm>
          <a:prstGeom prst="rect">
            <a:avLst/>
          </a:prstGeom>
          <a:noFill/>
        </p:spPr>
        <p:txBody>
          <a:bodyPr wrap="square" anchor="t" lIns="0" rIns="0" tIns="0" bIns="0">
            <a:spAutoFit/>
          </a:bodyPr>
          <a:lstStyle/>
          <a:p>
            <a:pPr algn="l">
              <a:spcAft>
                <a:spcPts val="200"/>
              </a:spcAft>
            </a:pPr>
            <a:r>
              <a:rPr sz="1200" b="0">
                <a:solidFill>
                  <a:srgbClr val="21201C"/>
                </a:solidFill>
                <a:latin typeface="Calibri"/>
              </a:rPr>
              <a:t>Thread 2 - RENDER: when the storyboard is ready, write and run</a:t>
            </a:r>
          </a:p>
          <a:p>
            <a:pPr algn="l">
              <a:spcAft>
                <a:spcPts val="200"/>
              </a:spcAft>
            </a:pPr>
            <a:r>
              <a:rPr sz="1200" b="0">
                <a:solidFill>
                  <a:srgbClr val="21201C"/>
                </a:solidFill>
                <a:latin typeface="Calibri"/>
              </a:rPr>
              <a:t>  code that renders it to lumo-launch-15s.mp4: 1080 x 1920, 30 fps,</a:t>
            </a:r>
          </a:p>
          <a:p>
            <a:pPr algn="l">
              <a:spcAft>
                <a:spcPts val="200"/>
              </a:spcAft>
            </a:pPr>
            <a:r>
              <a:rPr sz="1200" b="0">
                <a:solidFill>
                  <a:srgbClr val="21201C"/>
                </a:solidFill>
                <a:latin typeface="Calibri"/>
              </a:rPr>
              <a:t>  exactly 15 seconds, large high-contrast captions in the Lumo</a:t>
            </a:r>
          </a:p>
          <a:p>
            <a:pPr algn="l">
              <a:spcAft>
                <a:spcPts val="200"/>
              </a:spcAft>
            </a:pPr>
            <a:r>
              <a:rPr sz="1200" b="0">
                <a:solidFill>
                  <a:srgbClr val="21201C"/>
                </a:solidFill>
                <a:latin typeface="Calibri"/>
              </a:rPr>
              <a:t>  colours, a gentle zoom on each image, and an end card with the</a:t>
            </a:r>
          </a:p>
          <a:p>
            <a:pPr algn="l">
              <a:spcAft>
                <a:spcPts val="200"/>
              </a:spcAft>
            </a:pPr>
            <a:r>
              <a:rPr sz="1200" b="0">
                <a:solidFill>
                  <a:srgbClr val="21201C"/>
                </a:solidFill>
                <a:latin typeface="Calibri"/>
              </a:rPr>
              <a:t>  logo, "From S$3.90" and #KopiChilledRight.</a:t>
            </a:r>
          </a:p>
          <a:p>
            <a:pPr algn="l">
              <a:spcAft>
                <a:spcPts val="200"/>
              </a:spcAft>
            </a:pPr>
            <a:r>
              <a:rPr sz="1200" b="0">
                <a:solidFill>
                  <a:srgbClr val="21201C"/>
                </a:solidFill>
                <a:latin typeface="Calibri"/>
              </a:rPr>
              <a:t/>
            </a:r>
          </a:p>
          <a:p>
            <a:pPr algn="l">
              <a:spcAft>
                <a:spcPts val="200"/>
              </a:spcAft>
            </a:pPr>
            <a:r>
              <a:rPr sz="1200" b="0">
                <a:solidFill>
                  <a:srgbClr val="21201C"/>
                </a:solidFill>
                <a:latin typeface="Calibri"/>
              </a:rPr>
              <a:t>If you cannot render video in this session, build the same thing</a:t>
            </a:r>
          </a:p>
          <a:p>
            <a:pPr algn="l">
              <a:spcAft>
                <a:spcPts val="200"/>
              </a:spcAft>
            </a:pPr>
            <a:r>
              <a:rPr sz="1200" b="0">
                <a:solidFill>
                  <a:srgbClr val="21201C"/>
                </a:solidFill>
                <a:latin typeface="Calibri"/>
              </a:rPr>
              <a:t>as an animated HTML page at 1080 x 1920 and tell me, so I can</a:t>
            </a:r>
          </a:p>
          <a:p>
            <a:pPr algn="l">
              <a:spcAft>
                <a:spcPts val="200"/>
              </a:spcAft>
            </a:pPr>
            <a:r>
              <a:rPr sz="1200" b="0">
                <a:solidFill>
                  <a:srgbClr val="21201C"/>
                </a:solidFill>
                <a:latin typeface="Calibri"/>
              </a:rPr>
              <a:t>screen-record it. Report the file's duration and size when done.</a:t>
            </a:r>
          </a:p>
        </p:txBody>
      </p:sp>
      <p:sp>
        <p:nvSpPr>
          <p:cNvPr id="10" name="Rectangle 9"/>
          <p:cNvSpPr/>
          <p:nvPr/>
        </p:nvSpPr>
        <p:spPr>
          <a:xfrm>
            <a:off x="6080760" y="2395728"/>
            <a:ext cx="9144" cy="1965960"/>
          </a:xfrm>
          <a:prstGeom prst="rect">
            <a:avLst/>
          </a:prstGeom>
          <a:solidFill>
            <a:srgbClr val="E4E1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484632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Attach the whole video-assets folder. Use only the supplied images — never a real person's likeness or another brand's logo.</a:t>
            </a:r>
          </a:p>
        </p:txBody>
      </p:sp>
      <p:sp>
        <p:nvSpPr>
          <p:cNvPr id="12" name="TextBox 11"/>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3" name="TextBox 12"/>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4" name="TextBox 13"/>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135</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the Lab 09 data/video-assets folder and look at the five images.</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In the project, attach the folder and send the lab prompt.</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Read the storyboard when Thread 1 finishes.</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When the video arrives, check the reported duration and size.</a:t>
            </a:r>
          </a:p>
        </p:txBody>
      </p:sp>
      <p:sp>
        <p:nvSpPr>
          <p:cNvPr id="18" name="Oval 17"/>
          <p:cNvSpPr/>
          <p:nvPr/>
        </p:nvSpPr>
        <p:spPr>
          <a:xfrm>
            <a:off x="624078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4078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6661404" y="2240280"/>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Play it through, then scrub it frame by frame.</a:t>
            </a:r>
          </a:p>
        </p:txBody>
      </p:sp>
      <p:sp>
        <p:nvSpPr>
          <p:cNvPr id="21" name="Oval 20"/>
          <p:cNvSpPr/>
          <p:nvPr/>
        </p:nvSpPr>
        <p:spPr>
          <a:xfrm>
            <a:off x="624078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4078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6661404" y="2807208"/>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Ask for one change, for example: Hold the end card for one second longer and shorten scene 2.</a:t>
            </a:r>
          </a:p>
        </p:txBody>
      </p:sp>
      <p:sp>
        <p:nvSpPr>
          <p:cNvPr id="24" name="Oval 23"/>
          <p:cNvSpPr/>
          <p:nvPr/>
        </p:nvSpPr>
        <p:spPr>
          <a:xfrm>
            <a:off x="624078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4078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7</a:t>
            </a:r>
          </a:p>
        </p:txBody>
      </p:sp>
      <p:sp>
        <p:nvSpPr>
          <p:cNvPr id="26" name="TextBox 25"/>
          <p:cNvSpPr txBox="1"/>
          <p:nvPr/>
        </p:nvSpPr>
        <p:spPr>
          <a:xfrm>
            <a:off x="6661404" y="3374136"/>
            <a:ext cx="486003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If Claude built the HTML fallback instead, open it full screen and screen-record 15 seconds.</a:t>
            </a:r>
          </a:p>
        </p:txBody>
      </p:sp>
      <p:sp>
        <p:nvSpPr>
          <p:cNvPr id="27" name="TextBox 2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8" name="TextBox 2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9" name="TextBox 2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136</a:t>
            </a:r>
          </a:p>
        </p:txBody>
      </p:sp>
    </p:spTree>
  </p:cSld>
  <p:clrMapOvr>
    <a:masterClrMapping/>
  </p:clrMapOvr>
  <p:transition spd="med">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09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Produce a 15-Second Launch Video</a:t>
            </a:r>
          </a:p>
        </p:txBody>
      </p:sp>
      <p:sp>
        <p:nvSpPr>
          <p:cNvPr id="5" name="Rectangle 4"/>
          <p:cNvSpPr/>
          <p:nvPr/>
        </p:nvSpPr>
        <p:spPr>
          <a:xfrm>
            <a:off x="548640" y="2103120"/>
            <a:ext cx="11064240" cy="32461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246120"/>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24028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lumo-launch-15s.mp4 is 1080 × 1920, 30 fps and 15 seconds long, uses only the supplied images, shows five scenes with captions of six words or fewer in the Lumo colours, and ends on a card with the logo, "From S$3.90" and #KopiChilledRight. lumo-video-storyboard.md sits beside it and matches what plays. No scene makes a health claim.</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137</a:t>
            </a:r>
          </a:p>
        </p:txBody>
      </p:sp>
    </p:spTree>
  </p:cSld>
  <p:clrMapOvr>
    <a:masterClrMapping/>
  </p:clrMapOvr>
  <p:transition spd="med">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Anatomy of a Scheduled Task</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A prompt the project runs on a timetable, while you are away.</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Prompt</a:t>
            </a:r>
          </a:p>
          <a:p>
            <a:pPr algn="l">
              <a:spcAft>
                <a:spcPts val="300"/>
              </a:spcAft>
            </a:pPr>
            <a:r>
              <a:rPr sz="1150" b="0">
                <a:solidFill>
                  <a:srgbClr val="6B6862"/>
                </a:solidFill>
                <a:latin typeface="Calibri"/>
              </a:rPr>
              <a:t>Exactly what to do each run — written like a lab prompt, with the checks included.</a:t>
            </a:r>
          </a:p>
        </p:txBody>
      </p:sp>
      <p:sp>
        <p:nvSpPr>
          <p:cNvPr id="11" name="Rectangle 10"/>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Frequency</a:t>
            </a:r>
          </a:p>
          <a:p>
            <a:pPr algn="l">
              <a:spcAft>
                <a:spcPts val="300"/>
              </a:spcAft>
            </a:pPr>
            <a:r>
              <a:rPr sz="1150" b="0">
                <a:solidFill>
                  <a:srgbClr val="6B6862"/>
                </a:solidFill>
                <a:latin typeface="Calibri"/>
              </a:rPr>
              <a:t>Daily, weekdays, weekly or monthly.</a:t>
            </a:r>
          </a:p>
        </p:txBody>
      </p:sp>
      <p:sp>
        <p:nvSpPr>
          <p:cNvPr id="16" name="Rectangle 15"/>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Time</a:t>
            </a:r>
          </a:p>
          <a:p>
            <a:pPr algn="l">
              <a:spcAft>
                <a:spcPts val="300"/>
              </a:spcAft>
            </a:pPr>
            <a:r>
              <a:rPr sz="1150" b="0">
                <a:solidFill>
                  <a:srgbClr val="6B6862"/>
                </a:solidFill>
                <a:latin typeface="Calibri"/>
              </a:rPr>
              <a:t>When it runs, in your time zone — for example, weekdays at 9:00am.</a:t>
            </a:r>
          </a:p>
        </p:txBody>
      </p:sp>
      <p:sp>
        <p:nvSpPr>
          <p:cNvPr id="21" name="Rectangle 20"/>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3563112"/>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Where it runs</a:t>
            </a:r>
          </a:p>
          <a:p>
            <a:pPr algn="l">
              <a:spcAft>
                <a:spcPts val="300"/>
              </a:spcAft>
            </a:pPr>
            <a:r>
              <a:rPr sz="1150" b="0">
                <a:solidFill>
                  <a:srgbClr val="6B6862"/>
                </a:solidFill>
                <a:latin typeface="Calibri"/>
              </a:rPr>
              <a:t>Inside the project, so it reads the same goal, context, memory and skills.</a:t>
            </a:r>
          </a:p>
        </p:txBody>
      </p:sp>
      <p:sp>
        <p:nvSpPr>
          <p:cNvPr id="26" name="Rectangle 25"/>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30" name="TextBox 29"/>
          <p:cNvSpPr txBox="1"/>
          <p:nvPr/>
        </p:nvSpPr>
        <p:spPr>
          <a:xfrm>
            <a:off x="1335024"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Output</a:t>
            </a:r>
          </a:p>
          <a:p>
            <a:pPr algn="l">
              <a:spcAft>
                <a:spcPts val="300"/>
              </a:spcAft>
            </a:pPr>
            <a:r>
              <a:rPr sz="1150" b="0">
                <a:solidFill>
                  <a:srgbClr val="6B6862"/>
                </a:solidFill>
                <a:latin typeface="Calibri"/>
              </a:rPr>
              <a:t>Where the result goes — an email draft, a file in Drive, a note in the project.</a:t>
            </a:r>
          </a:p>
        </p:txBody>
      </p:sp>
      <p:sp>
        <p:nvSpPr>
          <p:cNvPr id="31" name="Rectangle 3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37376"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37376"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5" name="TextBox 34"/>
          <p:cNvSpPr txBox="1"/>
          <p:nvPr/>
        </p:nvSpPr>
        <p:spPr>
          <a:xfrm>
            <a:off x="6949440" y="4867656"/>
            <a:ext cx="4434840"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Approval</a:t>
            </a:r>
          </a:p>
          <a:p>
            <a:pPr algn="l">
              <a:spcAft>
                <a:spcPts val="300"/>
              </a:spcAft>
            </a:pPr>
            <a:r>
              <a:rPr sz="1150" b="0">
                <a:solidFill>
                  <a:srgbClr val="6B6862"/>
                </a:solidFill>
                <a:latin typeface="Calibri"/>
              </a:rPr>
              <a:t>The step a human still takes — the task drafts, you publish.</a:t>
            </a:r>
          </a:p>
        </p:txBody>
      </p:sp>
      <p:sp>
        <p:nvSpPr>
          <p:cNvPr id="36" name="TextBox 3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7" name="TextBox 3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8" name="TextBox 3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138</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Scheduled Tasks for a Launch</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Each drafts for your approval — none publishes on its own.</a:t>
            </a:r>
          </a:p>
        </p:txBody>
      </p:sp>
      <p:sp>
        <p:nvSpPr>
          <p:cNvPr id="6" name="Rectangle 5"/>
          <p:cNvSpPr/>
          <p:nvPr/>
        </p:nvSpPr>
        <p:spPr>
          <a:xfrm>
            <a:off x="548640" y="2148840"/>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493264"/>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93264"/>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1</a:t>
            </a:r>
          </a:p>
        </p:txBody>
      </p:sp>
      <p:sp>
        <p:nvSpPr>
          <p:cNvPr id="9" name="TextBox 8"/>
          <p:cNvSpPr txBox="1"/>
          <p:nvPr/>
        </p:nvSpPr>
        <p:spPr>
          <a:xfrm>
            <a:off x="1508760" y="2148840"/>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Daily post, weekdays 9:00am</a:t>
            </a:r>
          </a:p>
          <a:p>
            <a:pPr algn="l">
              <a:spcAft>
                <a:spcPts val="500"/>
              </a:spcAft>
            </a:pPr>
            <a:r>
              <a:rPr sz="1250" b="0">
                <a:solidFill>
                  <a:srgbClr val="6B6862"/>
                </a:solidFill>
                <a:latin typeface="Calibri"/>
              </a:rPr>
              <a:t>Take today's row from the social calendar, polish it with lumo-brand-voice and email it to me for approval.</a:t>
            </a:r>
          </a:p>
        </p:txBody>
      </p:sp>
      <p:sp>
        <p:nvSpPr>
          <p:cNvPr id="10" name="Rectangle 9"/>
          <p:cNvSpPr/>
          <p:nvPr/>
        </p:nvSpPr>
        <p:spPr>
          <a:xfrm>
            <a:off x="548640" y="3349752"/>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68680" y="3694176"/>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94176"/>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2</a:t>
            </a:r>
          </a:p>
        </p:txBody>
      </p:sp>
      <p:sp>
        <p:nvSpPr>
          <p:cNvPr id="13" name="TextBox 12"/>
          <p:cNvSpPr txBox="1"/>
          <p:nvPr/>
        </p:nvSpPr>
        <p:spPr>
          <a:xfrm>
            <a:off x="1508760" y="3349752"/>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Weekly report, Mondays 8:00am</a:t>
            </a:r>
          </a:p>
          <a:p>
            <a:pPr algn="l">
              <a:spcAft>
                <a:spcPts val="500"/>
              </a:spcAft>
            </a:pPr>
            <a:r>
              <a:rPr sz="1250" b="0">
                <a:solidFill>
                  <a:srgbClr val="6B6862"/>
                </a:solidFill>
                <a:latin typeface="Calibri"/>
              </a:rPr>
              <a:t>Summarise last week's posts from the social calendar and anything new in the Lumo Launch Drive folder in five bullet points.</a:t>
            </a:r>
          </a:p>
        </p:txBody>
      </p:sp>
      <p:sp>
        <p:nvSpPr>
          <p:cNvPr id="14" name="Rectangle 13"/>
          <p:cNvSpPr/>
          <p:nvPr/>
        </p:nvSpPr>
        <p:spPr>
          <a:xfrm>
            <a:off x="548640" y="4550664"/>
            <a:ext cx="11064240" cy="1072896"/>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4895088"/>
            <a:ext cx="384048" cy="384048"/>
          </a:xfrm>
          <a:prstGeom prst="rect">
            <a:avLst/>
          </a:prstGeom>
          <a:solidFill>
            <a:srgbClr val="FFFFFF"/>
          </a:solidFill>
          <a:ln w="9525">
            <a:solidFill>
              <a:srgbClr val="2120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895088"/>
            <a:ext cx="384048" cy="384048"/>
          </a:xfrm>
          <a:prstGeom prst="rect">
            <a:avLst/>
          </a:prstGeom>
          <a:noFill/>
        </p:spPr>
        <p:txBody>
          <a:bodyPr wrap="square" anchor="ctr" lIns="0" rIns="0" tIns="0" bIns="0">
            <a:spAutoFit/>
          </a:bodyPr>
          <a:lstStyle/>
          <a:p>
            <a:pPr algn="ctr">
              <a:spcAft>
                <a:spcPts val="400"/>
              </a:spcAft>
            </a:pPr>
            <a:r>
              <a:rPr sz="1400" b="0">
                <a:solidFill>
                  <a:srgbClr val="21201C"/>
                </a:solidFill>
                <a:latin typeface="Calibri"/>
              </a:rPr>
              <a:t>3</a:t>
            </a:r>
          </a:p>
        </p:txBody>
      </p:sp>
      <p:sp>
        <p:nvSpPr>
          <p:cNvPr id="17" name="TextBox 16"/>
          <p:cNvSpPr txBox="1"/>
          <p:nvPr/>
        </p:nvSpPr>
        <p:spPr>
          <a:xfrm>
            <a:off x="1508760" y="4550664"/>
            <a:ext cx="9692640" cy="1072896"/>
          </a:xfrm>
          <a:prstGeom prst="rect">
            <a:avLst/>
          </a:prstGeom>
          <a:noFill/>
        </p:spPr>
        <p:txBody>
          <a:bodyPr wrap="square" anchor="ctr" lIns="0" rIns="0" tIns="0" bIns="0">
            <a:spAutoFit/>
          </a:bodyPr>
          <a:lstStyle/>
          <a:p>
            <a:pPr algn="l">
              <a:spcAft>
                <a:spcPts val="500"/>
              </a:spcAft>
            </a:pPr>
            <a:r>
              <a:rPr sz="1500" b="1">
                <a:solidFill>
                  <a:srgbClr val="21201C"/>
                </a:solidFill>
                <a:latin typeface="Courier New"/>
              </a:rPr>
              <a:t>Monthly scan, 1st at 10:00am</a:t>
            </a:r>
          </a:p>
          <a:p>
            <a:pPr algn="l">
              <a:spcAft>
                <a:spcPts val="500"/>
              </a:spcAft>
            </a:pPr>
            <a:r>
              <a:rPr sz="1250" b="0">
                <a:solidFill>
                  <a:srgbClr val="6B6862"/>
                </a:solidFill>
                <a:latin typeface="Calibri"/>
              </a:rPr>
              <a:t>Check the six competitors for new products or price changes and update the research brief.</a:t>
            </a:r>
          </a:p>
        </p:txBody>
      </p:sp>
      <p:sp>
        <p:nvSpPr>
          <p:cNvPr id="18" name="TextBox 17"/>
          <p:cNvSpPr txBox="1"/>
          <p:nvPr/>
        </p:nvSpPr>
        <p:spPr>
          <a:xfrm>
            <a:off x="548640" y="5870448"/>
            <a:ext cx="11064240" cy="457200"/>
          </a:xfrm>
          <a:prstGeom prst="rect">
            <a:avLst/>
          </a:prstGeom>
          <a:noFill/>
        </p:spPr>
        <p:txBody>
          <a:bodyPr wrap="square" anchor="t" lIns="0" rIns="0" tIns="0" bIns="0">
            <a:spAutoFit/>
          </a:bodyPr>
          <a:lstStyle/>
          <a:p>
            <a:pPr algn="ctr">
              <a:spcAft>
                <a:spcPts val="400"/>
              </a:spcAft>
            </a:pPr>
            <a:r>
              <a:rPr sz="1200" b="0">
                <a:solidFill>
                  <a:srgbClr val="6B6862"/>
                </a:solidFill>
                <a:latin typeface="Calibri"/>
              </a:rPr>
              <a:t>A local task needs the app open. To keep tasks running with the laptop closed, give the project a cloud environment in Project settings → Environment.</a:t>
            </a:r>
          </a:p>
        </p:txBody>
      </p:sp>
      <p:sp>
        <p:nvSpPr>
          <p:cNvPr id="19" name="TextBox 1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0" name="TextBox 1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1" name="TextBox 2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139</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3 · SCHEDULED TASKS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Cloud Environments</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Project settings → Environment: let threads and tasks run with your laptop closed.</a:t>
            </a:r>
          </a:p>
        </p:txBody>
      </p:sp>
      <p:sp>
        <p:nvSpPr>
          <p:cNvPr id="6" name="Rectangle 5"/>
          <p:cNvSpPr/>
          <p:nvPr/>
        </p:nvSpPr>
        <p:spPr>
          <a:xfrm>
            <a:off x="548640" y="2148840"/>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5450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5450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Network access</a:t>
            </a:r>
          </a:p>
          <a:p>
            <a:pPr algn="l">
              <a:spcAft>
                <a:spcPts val="300"/>
              </a:spcAft>
            </a:pPr>
            <a:r>
              <a:rPr sz="1150" b="0">
                <a:solidFill>
                  <a:srgbClr val="6B6862"/>
                </a:solidFill>
                <a:latin typeface="Calibri"/>
              </a:rPr>
              <a:t>Which websites the threads may reach — add only the ones the work needs.</a:t>
            </a:r>
          </a:p>
        </p:txBody>
      </p:sp>
      <p:sp>
        <p:nvSpPr>
          <p:cNvPr id="11" name="Rectangle 10"/>
          <p:cNvSpPr/>
          <p:nvPr/>
        </p:nvSpPr>
        <p:spPr>
          <a:xfrm>
            <a:off x="548640" y="3453384"/>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84962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84962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1335024" y="3563112"/>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Secrets</a:t>
            </a:r>
          </a:p>
          <a:p>
            <a:pPr algn="l">
              <a:spcAft>
                <a:spcPts val="300"/>
              </a:spcAft>
            </a:pPr>
            <a:r>
              <a:rPr sz="1150" b="0">
                <a:solidFill>
                  <a:srgbClr val="6B6862"/>
                </a:solidFill>
                <a:latin typeface="Calibri"/>
              </a:rPr>
              <a:t>API keys the threads can use. Once saved, nobody can read them back — not even you.</a:t>
            </a:r>
          </a:p>
        </p:txBody>
      </p:sp>
      <p:sp>
        <p:nvSpPr>
          <p:cNvPr id="16" name="Rectangle 15"/>
          <p:cNvSpPr/>
          <p:nvPr/>
        </p:nvSpPr>
        <p:spPr>
          <a:xfrm>
            <a:off x="548640" y="4757928"/>
            <a:ext cx="11064240"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515416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5416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867656"/>
            <a:ext cx="10049256"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Setup script</a:t>
            </a:r>
          </a:p>
          <a:p>
            <a:pPr algn="l">
              <a:spcAft>
                <a:spcPts val="300"/>
              </a:spcAft>
            </a:pPr>
            <a:r>
              <a:rPr sz="1150" b="0">
                <a:solidFill>
                  <a:srgbClr val="6B6862"/>
                </a:solidFill>
                <a:latin typeface="Calibri"/>
              </a:rPr>
              <a:t>What each thread installs before it starts work, such as one package-install line.</a:t>
            </a:r>
          </a:p>
        </p:txBody>
      </p:sp>
      <p:sp>
        <p:nvSpPr>
          <p:cNvPr id="21" name="TextBox 20"/>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2" name="TextBox 21"/>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3" name="TextBox 22"/>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140</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HANDS-ON</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Rectangle 4"/>
          <p:cNvSpPr/>
          <p:nvPr/>
        </p:nvSpPr>
        <p:spPr>
          <a:xfrm>
            <a:off x="548640" y="1783080"/>
            <a:ext cx="1371600" cy="45720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828800"/>
            <a:ext cx="1371600" cy="365760"/>
          </a:xfrm>
          <a:prstGeom prst="rect">
            <a:avLst/>
          </a:prstGeom>
          <a:noFill/>
        </p:spPr>
        <p:txBody>
          <a:bodyPr wrap="square" anchor="t" lIns="0" rIns="0" tIns="0" bIns="0">
            <a:spAutoFit/>
          </a:bodyPr>
          <a:lstStyle/>
          <a:p>
            <a:pPr algn="ctr">
              <a:spcAft>
                <a:spcPts val="400"/>
              </a:spcAft>
            </a:pPr>
            <a:r>
              <a:rPr sz="1500" b="1">
                <a:solidFill>
                  <a:srgbClr val="FFFFFF"/>
                </a:solidFill>
                <a:latin typeface="Calibri"/>
              </a:rPr>
              <a:t>LAB 10</a:t>
            </a:r>
          </a:p>
        </p:txBody>
      </p:sp>
      <p:sp>
        <p:nvSpPr>
          <p:cNvPr id="7" name="TextBox 6"/>
          <p:cNvSpPr txBox="1"/>
          <p:nvPr/>
        </p:nvSpPr>
        <p:spPr>
          <a:xfrm>
            <a:off x="2148840" y="1783080"/>
            <a:ext cx="9464040" cy="457200"/>
          </a:xfrm>
          <a:prstGeom prst="rect">
            <a:avLst/>
          </a:prstGeom>
          <a:noFill/>
        </p:spPr>
        <p:txBody>
          <a:bodyPr wrap="square" anchor="ctr" lIns="0" rIns="0" tIns="0" bIns="0">
            <a:spAutoFit/>
          </a:bodyPr>
          <a:lstStyle/>
          <a:p>
            <a:pPr algn="l">
              <a:spcAft>
                <a:spcPts val="400"/>
              </a:spcAft>
            </a:pPr>
            <a:r>
              <a:rPr sz="1500" b="1">
                <a:solidFill>
                  <a:srgbClr val="D97757"/>
                </a:solidFill>
                <a:latin typeface="Calibri"/>
              </a:rPr>
              <a:t>Objective:  </a:t>
            </a:r>
            <a:r>
              <a:rPr sz="1500" b="1">
                <a:solidFill>
                  <a:srgbClr val="21201C"/>
                </a:solidFill>
                <a:latin typeface="Calibri"/>
              </a:rPr>
              <a:t>Schedule a weekly report beside the daily post, edit project memory and review thread usage</a:t>
            </a:r>
          </a:p>
        </p:txBody>
      </p:sp>
      <p:sp>
        <p:nvSpPr>
          <p:cNvPr id="8" name="TextBox 7"/>
          <p:cNvSpPr txBox="1"/>
          <p:nvPr/>
        </p:nvSpPr>
        <p:spPr>
          <a:xfrm>
            <a:off x="548640" y="2468880"/>
            <a:ext cx="11064240" cy="1371600"/>
          </a:xfrm>
          <a:prstGeom prst="rect">
            <a:avLst/>
          </a:prstGeom>
          <a:noFill/>
        </p:spPr>
        <p:txBody>
          <a:bodyPr wrap="square" anchor="t" lIns="0" rIns="0" tIns="0" bIns="0">
            <a:spAutoFit/>
          </a:bodyPr>
          <a:lstStyle/>
          <a:p>
            <a:pPr algn="l">
              <a:spcAft>
                <a:spcPts val="400"/>
              </a:spcAft>
            </a:pPr>
            <a:r>
              <a:rPr sz="1900" b="0">
                <a:solidFill>
                  <a:srgbClr val="21201C"/>
                </a:solidFill>
                <a:latin typeface="Calibri"/>
              </a:rPr>
              <a:t>Lab 8 scheduled the daily post. The launch also needs a report every Monday, and nobody should have to remember it. You schedule it inside the project beside the daily post, then do the housekeeping a real project needs: correct its memory when a plan changes, and read the usage of the lead agent and each thread to see what parallel work costs.</a:t>
            </a:r>
          </a:p>
        </p:txBody>
      </p:sp>
      <p:sp>
        <p:nvSpPr>
          <p:cNvPr id="9" name="Rectangle 8"/>
          <p:cNvSpPr/>
          <p:nvPr/>
        </p:nvSpPr>
        <p:spPr>
          <a:xfrm>
            <a:off x="548640" y="3977639"/>
            <a:ext cx="11064240" cy="17830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977639"/>
            <a:ext cx="64008" cy="17830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187952"/>
            <a:ext cx="10424160" cy="32004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YOU'LL BUILD</a:t>
            </a:r>
          </a:p>
        </p:txBody>
      </p:sp>
      <p:sp>
        <p:nvSpPr>
          <p:cNvPr id="12" name="TextBox 11"/>
          <p:cNvSpPr txBox="1"/>
          <p:nvPr/>
        </p:nvSpPr>
        <p:spPr>
          <a:xfrm>
            <a:off x="868680" y="4526280"/>
            <a:ext cx="10424160" cy="548640"/>
          </a:xfrm>
          <a:prstGeom prst="rect">
            <a:avLst/>
          </a:prstGeom>
          <a:noFill/>
        </p:spPr>
        <p:txBody>
          <a:bodyPr wrap="square" anchor="t" lIns="0" rIns="0" tIns="0" bIns="0">
            <a:spAutoFit/>
          </a:bodyPr>
          <a:lstStyle/>
          <a:p>
            <a:pPr algn="l">
              <a:spcAft>
                <a:spcPts val="400"/>
              </a:spcAft>
            </a:pPr>
            <a:r>
              <a:rPr sz="1700" b="1">
                <a:solidFill>
                  <a:srgbClr val="21201C"/>
                </a:solidFill>
                <a:latin typeface="Cambria"/>
              </a:rPr>
              <a:t>A weekly-report scheduled task beside Lab 8's daily post, an updated project memory and a usage review.</a:t>
            </a:r>
          </a:p>
        </p:txBody>
      </p:sp>
      <p:sp>
        <p:nvSpPr>
          <p:cNvPr id="13" name="TextBox 12"/>
          <p:cNvSpPr txBox="1"/>
          <p:nvPr/>
        </p:nvSpPr>
        <p:spPr>
          <a:xfrm>
            <a:off x="868680" y="5212080"/>
            <a:ext cx="10424160" cy="365760"/>
          </a:xfrm>
          <a:prstGeom prst="rect">
            <a:avLst/>
          </a:prstGeom>
          <a:noFill/>
        </p:spPr>
        <p:txBody>
          <a:bodyPr wrap="square" anchor="t" lIns="0" rIns="0" tIns="0" bIns="0">
            <a:spAutoFit/>
          </a:bodyPr>
          <a:lstStyle/>
          <a:p>
            <a:pPr algn="l">
              <a:spcAft>
                <a:spcPts val="400"/>
              </a:spcAft>
            </a:pPr>
            <a:r>
              <a:rPr sz="1200" b="1">
                <a:solidFill>
                  <a:srgbClr val="6B6862"/>
                </a:solidFill>
                <a:latin typeface="Calibri"/>
              </a:rPr>
              <a:t>Tools:  </a:t>
            </a:r>
            <a:r>
              <a:rPr sz="1200" b="0">
                <a:solidFill>
                  <a:srgbClr val="6B6862"/>
                </a:solidFill>
                <a:latin typeface="Calibri"/>
              </a:rPr>
              <a:t>Claude Projects, scheduled tasks, memory, Gmail connector</a:t>
            </a:r>
          </a:p>
        </p:txBody>
      </p:sp>
      <p:sp>
        <p:nvSpPr>
          <p:cNvPr id="14" name="TextBox 1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5" name="TextBox 1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6" name="TextBox 1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141</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IN THE PROJECT</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Lab 10 in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What this lab sets up, uses, adds or schedules in the project.</a:t>
            </a:r>
          </a:p>
        </p:txBody>
      </p:sp>
      <p:sp>
        <p:nvSpPr>
          <p:cNvPr id="6" name="Rectangle 5"/>
          <p:cNvSpPr/>
          <p:nvPr/>
        </p:nvSpPr>
        <p:spPr>
          <a:xfrm>
            <a:off x="548640"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822960"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10" name="TextBox 9"/>
          <p:cNvSpPr txBox="1"/>
          <p:nvPr/>
        </p:nvSpPr>
        <p:spPr>
          <a:xfrm>
            <a:off x="1335024"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Instructions  →  HOW</a:t>
            </a:r>
          </a:p>
          <a:p>
            <a:pPr algn="l">
              <a:spcAft>
                <a:spcPts val="300"/>
              </a:spcAft>
            </a:pPr>
            <a:r>
              <a:rPr sz="1150" b="0">
                <a:solidFill>
                  <a:srgbClr val="6B6862"/>
                </a:solidFill>
                <a:latin typeface="Calibri"/>
              </a:rPr>
              <a:t>Reviews: which instructions are now out of date.</a:t>
            </a:r>
          </a:p>
        </p:txBody>
      </p:sp>
      <p:sp>
        <p:nvSpPr>
          <p:cNvPr id="11" name="Rectangle 10"/>
          <p:cNvSpPr/>
          <p:nvPr/>
        </p:nvSpPr>
        <p:spPr>
          <a:xfrm>
            <a:off x="6163056" y="2148840"/>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63056" y="2148840"/>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37376" y="2871216"/>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37376" y="2871216"/>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5" name="TextBox 14"/>
          <p:cNvSpPr txBox="1"/>
          <p:nvPr/>
        </p:nvSpPr>
        <p:spPr>
          <a:xfrm>
            <a:off x="6949440" y="2258568"/>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Context  →  WHAT</a:t>
            </a:r>
          </a:p>
          <a:p>
            <a:pPr algn="l">
              <a:spcAft>
                <a:spcPts val="300"/>
              </a:spcAft>
            </a:pPr>
            <a:r>
              <a:rPr sz="1150" b="0">
                <a:solidFill>
                  <a:srgbClr val="6B6862"/>
                </a:solidFill>
                <a:latin typeface="Calibri"/>
              </a:rPr>
              <a:t>Reviews: which context files the launch-date change affects.</a:t>
            </a:r>
          </a:p>
        </p:txBody>
      </p:sp>
      <p:sp>
        <p:nvSpPr>
          <p:cNvPr id="16" name="Rectangle 15"/>
          <p:cNvSpPr/>
          <p:nvPr/>
        </p:nvSpPr>
        <p:spPr>
          <a:xfrm>
            <a:off x="548640"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22960"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20" name="TextBox 19"/>
          <p:cNvSpPr txBox="1"/>
          <p:nvPr/>
        </p:nvSpPr>
        <p:spPr>
          <a:xfrm>
            <a:off x="1335024"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Folder  →  WHERE</a:t>
            </a:r>
          </a:p>
          <a:p>
            <a:pPr algn="l">
              <a:spcAft>
                <a:spcPts val="300"/>
              </a:spcAft>
            </a:pPr>
            <a:r>
              <a:rPr sz="1150" b="0">
                <a:solidFill>
                  <a:srgbClr val="6B6862"/>
                </a:solidFill>
                <a:latin typeface="Calibri"/>
              </a:rPr>
              <a:t>Updates: project memory records the 8 December Singapore launch.</a:t>
            </a:r>
          </a:p>
        </p:txBody>
      </p:sp>
      <p:sp>
        <p:nvSpPr>
          <p:cNvPr id="21" name="Rectangle 20"/>
          <p:cNvSpPr/>
          <p:nvPr/>
        </p:nvSpPr>
        <p:spPr>
          <a:xfrm>
            <a:off x="6163056" y="4105656"/>
            <a:ext cx="5449824" cy="17922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105656"/>
            <a:ext cx="54864" cy="1792224"/>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37376" y="4828032"/>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4828032"/>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5" name="TextBox 24"/>
          <p:cNvSpPr txBox="1"/>
          <p:nvPr/>
        </p:nvSpPr>
        <p:spPr>
          <a:xfrm>
            <a:off x="6949440" y="4215384"/>
            <a:ext cx="4434840" cy="1572768"/>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Scheduled  →  WHEN</a:t>
            </a:r>
          </a:p>
          <a:p>
            <a:pPr algn="l">
              <a:spcAft>
                <a:spcPts val="300"/>
              </a:spcAft>
            </a:pPr>
            <a:r>
              <a:rPr sz="1150" b="0">
                <a:solidFill>
                  <a:srgbClr val="6B6862"/>
                </a:solidFill>
                <a:latin typeface="Calibri"/>
              </a:rPr>
              <a:t>NEW: Weekly launch report, Mondays at 8:00am — beside Lab 8's daily post.</a:t>
            </a:r>
          </a:p>
        </p:txBody>
      </p:sp>
      <p:sp>
        <p:nvSpPr>
          <p:cNvPr id="26" name="TextBox 25"/>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7" name="TextBox 26"/>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8" name="TextBox 27"/>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142</a:t>
            </a:r>
          </a:p>
        </p:txBody>
      </p:sp>
    </p:spTree>
  </p:cSld>
  <p:clrMapOvr>
    <a:masterClrMapping/>
  </p:clrMapOvr>
  <p:transition spd="med">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1</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1 — SCHEDULE</a:t>
            </a:r>
          </a:p>
        </p:txBody>
      </p:sp>
      <p:sp>
        <p:nvSpPr>
          <p:cNvPr id="5" name="Rectangle 4"/>
          <p:cNvSpPr/>
          <p:nvPr/>
        </p:nvSpPr>
        <p:spPr>
          <a:xfrm>
            <a:off x="548640" y="1828800"/>
            <a:ext cx="11064240" cy="2646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646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960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Schedule a recurring task in this project: "Weekly launch</a:t>
            </a:r>
          </a:p>
          <a:p>
            <a:pPr algn="l">
              <a:spcAft>
                <a:spcPts val="200"/>
              </a:spcAft>
            </a:pPr>
            <a:r>
              <a:rPr sz="1500" b="0">
                <a:solidFill>
                  <a:srgbClr val="21201C"/>
                </a:solidFill>
                <a:latin typeface="Calibri"/>
              </a:rPr>
              <a:t>report", Mondays at 8:00am. Summarise last week's posts from</a:t>
            </a:r>
          </a:p>
          <a:p>
            <a:pPr algn="l">
              <a:spcAft>
                <a:spcPts val="200"/>
              </a:spcAft>
            </a:pPr>
            <a:r>
              <a:rPr sz="1500" b="0">
                <a:solidFill>
                  <a:srgbClr val="21201C"/>
                </a:solidFill>
                <a:latin typeface="Calibri"/>
              </a:rPr>
              <a:t>social-calendar.csv and anything new in the Lumo Launch Drive</a:t>
            </a:r>
          </a:p>
          <a:p>
            <a:pPr algn="l">
              <a:spcAft>
                <a:spcPts val="200"/>
              </a:spcAft>
            </a:pPr>
            <a:r>
              <a:rPr sz="1500" b="0">
                <a:solidFill>
                  <a:srgbClr val="21201C"/>
                </a:solidFill>
                <a:latin typeface="Calibri"/>
              </a:rPr>
              <a:t>folder in five bullet points, and email the summary to</a:t>
            </a:r>
          </a:p>
          <a:p>
            <a:pPr algn="l">
              <a:spcAft>
                <a:spcPts val="200"/>
              </a:spcAft>
            </a:pPr>
            <a:r>
              <a:rPr sz="1500" b="0">
                <a:solidFill>
                  <a:srgbClr val="21201C"/>
                </a:solidFill>
                <a:latin typeface="Calibri"/>
              </a:rPr>
              <a:t>&lt;YOUR EMAIL&gt;. Draft only - do not send anything else.</a:t>
            </a:r>
          </a:p>
          <a:p>
            <a:pPr algn="l">
              <a:spcAft>
                <a:spcPts val="200"/>
              </a:spcAft>
            </a:pPr>
            <a:r>
              <a:rPr sz="1500" b="0">
                <a:solidFill>
                  <a:srgbClr val="21201C"/>
                </a:solidFill>
                <a:latin typeface="Calibri"/>
              </a:rPr>
              <a:t/>
            </a:r>
          </a:p>
          <a:p>
            <a:pPr algn="l">
              <a:spcAft>
                <a:spcPts val="200"/>
              </a:spcAft>
            </a:pPr>
            <a:r>
              <a:rPr sz="1500" b="0">
                <a:solidFill>
                  <a:srgbClr val="21201C"/>
                </a:solidFill>
                <a:latin typeface="Calibri"/>
              </a:rPr>
              <a:t>Show me the task before you save it.</a:t>
            </a:r>
          </a:p>
        </p:txBody>
      </p:sp>
      <p:sp>
        <p:nvSpPr>
          <p:cNvPr id="9" name="TextBox 8"/>
          <p:cNvSpPr txBox="1"/>
          <p:nvPr/>
        </p:nvSpPr>
        <p:spPr>
          <a:xfrm>
            <a:off x="548640" y="4749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Replace &lt;YOUR EMAIL&gt;. Mondays at 8:00am, beside Lab 8's daily post.</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143</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4</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2 — MEMORY</a:t>
            </a:r>
          </a:p>
        </p:txBody>
      </p:sp>
      <p:sp>
        <p:nvSpPr>
          <p:cNvPr id="5" name="Rectangle 4"/>
          <p:cNvSpPr/>
          <p:nvPr/>
        </p:nvSpPr>
        <p:spPr>
          <a:xfrm>
            <a:off x="548640" y="1828800"/>
            <a:ext cx="11064240" cy="2138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2138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452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Remember this for the project: the Singapore launch has moved</a:t>
            </a:r>
          </a:p>
          <a:p>
            <a:pPr algn="l">
              <a:spcAft>
                <a:spcPts val="200"/>
              </a:spcAft>
            </a:pPr>
            <a:r>
              <a:rPr sz="1500" b="0">
                <a:solidFill>
                  <a:srgbClr val="21201C"/>
                </a:solidFill>
                <a:latin typeface="Calibri"/>
              </a:rPr>
              <a:t>from 1 December to 8 December 2026. Kuala Lumpur is unchanged.</a:t>
            </a:r>
          </a:p>
          <a:p>
            <a:pPr algn="l">
              <a:spcAft>
                <a:spcPts val="200"/>
              </a:spcAft>
            </a:pPr>
            <a:r>
              <a:rPr sz="1500" b="0">
                <a:solidFill>
                  <a:srgbClr val="21201C"/>
                </a:solidFill>
                <a:latin typeface="Calibri"/>
              </a:rPr>
              <a:t>Tell me everything in the project that depends on the launch</a:t>
            </a:r>
          </a:p>
          <a:p>
            <a:pPr algn="l">
              <a:spcAft>
                <a:spcPts val="200"/>
              </a:spcAft>
            </a:pPr>
            <a:r>
              <a:rPr sz="1500" b="0">
                <a:solidFill>
                  <a:srgbClr val="21201C"/>
                </a:solidFill>
                <a:latin typeface="Calibri"/>
              </a:rPr>
              <a:t>date - posts, tasks, the deck, the brief - and propose the</a:t>
            </a:r>
          </a:p>
          <a:p>
            <a:pPr algn="l">
              <a:spcAft>
                <a:spcPts val="200"/>
              </a:spcAft>
            </a:pPr>
            <a:r>
              <a:rPr sz="1500" b="0">
                <a:solidFill>
                  <a:srgbClr val="21201C"/>
                </a:solidFill>
                <a:latin typeface="Calibri"/>
              </a:rPr>
              <a:t>changes. Do not make them yet.</a:t>
            </a:r>
          </a:p>
        </p:txBody>
      </p:sp>
      <p:sp>
        <p:nvSpPr>
          <p:cNvPr id="9" name="TextBox 8"/>
          <p:cNvSpPr txBox="1"/>
          <p:nvPr/>
        </p:nvSpPr>
        <p:spPr>
          <a:xfrm>
            <a:off x="548640" y="4241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Memory and check what it wrote.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144</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THE PROMPT · STEP 6</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Block 3 — REVIEW</a:t>
            </a:r>
          </a:p>
        </p:txBody>
      </p:sp>
      <p:sp>
        <p:nvSpPr>
          <p:cNvPr id="5" name="Rectangle 4"/>
          <p:cNvSpPr/>
          <p:nvPr/>
        </p:nvSpPr>
        <p:spPr>
          <a:xfrm>
            <a:off x="548640" y="1828800"/>
            <a:ext cx="11064240" cy="1884680"/>
          </a:xfrm>
          <a:prstGeom prst="rect">
            <a:avLst/>
          </a:prstGeom>
          <a:solidFill>
            <a:srgbClr val="FFFFFF"/>
          </a:solidFill>
          <a:ln w="9525">
            <a:solidFill>
              <a:srgbClr val="D977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84680"/>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993392"/>
            <a:ext cx="10515600" cy="274320"/>
          </a:xfrm>
          <a:prstGeom prst="rect">
            <a:avLst/>
          </a:prstGeom>
          <a:noFill/>
        </p:spPr>
        <p:txBody>
          <a:bodyPr wrap="square" anchor="t" lIns="0" rIns="0" tIns="0" bIns="0">
            <a:spAutoFit/>
          </a:bodyPr>
          <a:lstStyle/>
          <a:p>
            <a:pPr algn="l">
              <a:spcAft>
                <a:spcPts val="400"/>
              </a:spcAft>
            </a:pPr>
            <a:r>
              <a:rPr sz="1100" b="1">
                <a:solidFill>
                  <a:srgbClr val="D97757"/>
                </a:solidFill>
                <a:latin typeface="Calibri"/>
              </a:rPr>
              <a:t>PROMPT — copy into Claude</a:t>
            </a:r>
          </a:p>
        </p:txBody>
      </p:sp>
      <p:sp>
        <p:nvSpPr>
          <p:cNvPr id="8" name="TextBox 7"/>
          <p:cNvSpPr txBox="1"/>
          <p:nvPr/>
        </p:nvSpPr>
        <p:spPr>
          <a:xfrm>
            <a:off x="868680" y="2359152"/>
            <a:ext cx="10424160" cy="1198880"/>
          </a:xfrm>
          <a:prstGeom prst="rect">
            <a:avLst/>
          </a:prstGeom>
          <a:noFill/>
        </p:spPr>
        <p:txBody>
          <a:bodyPr wrap="square" anchor="t" lIns="0" rIns="0" tIns="0" bIns="0">
            <a:spAutoFit/>
          </a:bodyPr>
          <a:lstStyle/>
          <a:p>
            <a:pPr algn="l">
              <a:spcAft>
                <a:spcPts val="200"/>
              </a:spcAft>
            </a:pPr>
            <a:r>
              <a:rPr sz="1500" b="0">
                <a:solidFill>
                  <a:srgbClr val="21201C"/>
                </a:solidFill>
                <a:latin typeface="Calibri"/>
              </a:rPr>
              <a:t>Review this project for me: list the threads you started today,</a:t>
            </a:r>
          </a:p>
          <a:p>
            <a:pPr algn="l">
              <a:spcAft>
                <a:spcPts val="200"/>
              </a:spcAft>
            </a:pPr>
            <a:r>
              <a:rPr sz="1500" b="0">
                <a:solidFill>
                  <a:srgbClr val="21201C"/>
                </a:solidFill>
                <a:latin typeface="Calibri"/>
              </a:rPr>
              <a:t>what each produced, and where each output is saved. Then tell</a:t>
            </a:r>
          </a:p>
          <a:p>
            <a:pPr algn="l">
              <a:spcAft>
                <a:spcPts val="200"/>
              </a:spcAft>
            </a:pPr>
            <a:r>
              <a:rPr sz="1500" b="0">
                <a:solidFill>
                  <a:srgbClr val="21201C"/>
                </a:solidFill>
                <a:latin typeface="Calibri"/>
              </a:rPr>
              <a:t>me which context files, instructions or memory entries are now</a:t>
            </a:r>
          </a:p>
          <a:p>
            <a:pPr algn="l">
              <a:spcAft>
                <a:spcPts val="200"/>
              </a:spcAft>
            </a:pPr>
            <a:r>
              <a:rPr sz="1500" b="0">
                <a:solidFill>
                  <a:srgbClr val="21201C"/>
                </a:solidFill>
                <a:latin typeface="Calibri"/>
              </a:rPr>
              <a:t>out of date.</a:t>
            </a:r>
          </a:p>
        </p:txBody>
      </p:sp>
      <p:sp>
        <p:nvSpPr>
          <p:cNvPr id="9" name="TextBox 8"/>
          <p:cNvSpPr txBox="1"/>
          <p:nvPr/>
        </p:nvSpPr>
        <p:spPr>
          <a:xfrm>
            <a:off x="548640" y="3987800"/>
            <a:ext cx="11064240" cy="36576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NOTE  </a:t>
            </a:r>
            <a:r>
              <a:rPr sz="1200" b="0">
                <a:solidFill>
                  <a:srgbClr val="6B6862"/>
                </a:solidFill>
                <a:latin typeface="Calibri"/>
              </a:rPr>
              <a:t>Then open Project settings → Usage and compare.</a:t>
            </a:r>
          </a:p>
        </p:txBody>
      </p:sp>
      <p:sp>
        <p:nvSpPr>
          <p:cNvPr id="10" name="TextBox 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1" name="TextBox 1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2" name="TextBox 1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145</a:t>
            </a:r>
          </a:p>
        </p:txBody>
      </p:sp>
    </p:spTree>
  </p:cSld>
  <p:clrMapOvr>
    <a:masterClrMapping/>
  </p:clrMapOvr>
  <p:transition spd="med">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STEPS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Full step-by-step, with the reasoning for each step, is in your Learner Guide.</a:t>
            </a:r>
          </a:p>
        </p:txBody>
      </p:sp>
      <p:sp>
        <p:nvSpPr>
          <p:cNvPr id="6" name="Oval 5"/>
          <p:cNvSpPr/>
          <p:nvPr/>
        </p:nvSpPr>
        <p:spPr>
          <a:xfrm>
            <a:off x="548640" y="238658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38658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1</a:t>
            </a:r>
          </a:p>
        </p:txBody>
      </p:sp>
      <p:sp>
        <p:nvSpPr>
          <p:cNvPr id="8" name="TextBox 7"/>
          <p:cNvSpPr txBox="1"/>
          <p:nvPr/>
        </p:nvSpPr>
        <p:spPr>
          <a:xfrm>
            <a:off x="969264" y="224028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1 with your own email address in place of &lt;YOUR EMAIL&gt;, and read the task before it is saved.</a:t>
            </a:r>
          </a:p>
        </p:txBody>
      </p:sp>
      <p:sp>
        <p:nvSpPr>
          <p:cNvPr id="9" name="Oval 8"/>
          <p:cNvSpPr/>
          <p:nvPr/>
        </p:nvSpPr>
        <p:spPr>
          <a:xfrm>
            <a:off x="548640" y="2953512"/>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953512"/>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2</a:t>
            </a:r>
          </a:p>
        </p:txBody>
      </p:sp>
      <p:sp>
        <p:nvSpPr>
          <p:cNvPr id="11" name="TextBox 10"/>
          <p:cNvSpPr txBox="1"/>
          <p:nvPr/>
        </p:nvSpPr>
        <p:spPr>
          <a:xfrm>
            <a:off x="969264" y="2807208"/>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Scheduled in the project and confirm both tasks are listed.</a:t>
            </a:r>
          </a:p>
        </p:txBody>
      </p:sp>
      <p:sp>
        <p:nvSpPr>
          <p:cNvPr id="12" name="Oval 11"/>
          <p:cNvSpPr/>
          <p:nvPr/>
        </p:nvSpPr>
        <p:spPr>
          <a:xfrm>
            <a:off x="548640" y="3520440"/>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520440"/>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3</a:t>
            </a:r>
          </a:p>
        </p:txBody>
      </p:sp>
      <p:sp>
        <p:nvSpPr>
          <p:cNvPr id="14" name="TextBox 13"/>
          <p:cNvSpPr txBox="1"/>
          <p:nvPr/>
        </p:nvSpPr>
        <p:spPr>
          <a:xfrm>
            <a:off x="969264" y="3374136"/>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2, then read the list of things that depend on the date.</a:t>
            </a:r>
          </a:p>
        </p:txBody>
      </p:sp>
      <p:sp>
        <p:nvSpPr>
          <p:cNvPr id="15" name="Oval 14"/>
          <p:cNvSpPr/>
          <p:nvPr/>
        </p:nvSpPr>
        <p:spPr>
          <a:xfrm>
            <a:off x="548640" y="4087368"/>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87368"/>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4</a:t>
            </a:r>
          </a:p>
        </p:txBody>
      </p:sp>
      <p:sp>
        <p:nvSpPr>
          <p:cNvPr id="17" name="TextBox 16"/>
          <p:cNvSpPr txBox="1"/>
          <p:nvPr/>
        </p:nvSpPr>
        <p:spPr>
          <a:xfrm>
            <a:off x="969264" y="3941064"/>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Memory and find the new launch-date entry. Edit it if the wording is wrong.</a:t>
            </a:r>
          </a:p>
        </p:txBody>
      </p:sp>
      <p:sp>
        <p:nvSpPr>
          <p:cNvPr id="18" name="Oval 17"/>
          <p:cNvSpPr/>
          <p:nvPr/>
        </p:nvSpPr>
        <p:spPr>
          <a:xfrm>
            <a:off x="548640" y="4654296"/>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5</a:t>
            </a:r>
          </a:p>
        </p:txBody>
      </p:sp>
      <p:sp>
        <p:nvSpPr>
          <p:cNvPr id="20" name="TextBox 19"/>
          <p:cNvSpPr txBox="1"/>
          <p:nvPr/>
        </p:nvSpPr>
        <p:spPr>
          <a:xfrm>
            <a:off x="969264" y="4507992"/>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Send Block 3 at the end of the lab.</a:t>
            </a:r>
          </a:p>
        </p:txBody>
      </p:sp>
      <p:sp>
        <p:nvSpPr>
          <p:cNvPr id="21" name="Oval 20"/>
          <p:cNvSpPr/>
          <p:nvPr/>
        </p:nvSpPr>
        <p:spPr>
          <a:xfrm>
            <a:off x="548640" y="5221224"/>
            <a:ext cx="274320" cy="27432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221224"/>
            <a:ext cx="274320" cy="274320"/>
          </a:xfrm>
          <a:prstGeom prst="rect">
            <a:avLst/>
          </a:prstGeom>
          <a:noFill/>
        </p:spPr>
        <p:txBody>
          <a:bodyPr wrap="square" anchor="ctr" lIns="0" rIns="0" tIns="0" bIns="0">
            <a:spAutoFit/>
          </a:bodyPr>
          <a:lstStyle/>
          <a:p>
            <a:pPr algn="ctr">
              <a:spcAft>
                <a:spcPts val="400"/>
              </a:spcAft>
            </a:pPr>
            <a:r>
              <a:rPr sz="1050" b="1">
                <a:solidFill>
                  <a:srgbClr val="FFFFFF"/>
                </a:solidFill>
                <a:latin typeface="Calibri"/>
              </a:rPr>
              <a:t>6</a:t>
            </a:r>
          </a:p>
        </p:txBody>
      </p:sp>
      <p:sp>
        <p:nvSpPr>
          <p:cNvPr id="23" name="TextBox 22"/>
          <p:cNvSpPr txBox="1"/>
          <p:nvPr/>
        </p:nvSpPr>
        <p:spPr>
          <a:xfrm>
            <a:off x="969264" y="5074920"/>
            <a:ext cx="10552176" cy="566928"/>
          </a:xfrm>
          <a:prstGeom prst="rect">
            <a:avLst/>
          </a:prstGeom>
          <a:noFill/>
        </p:spPr>
        <p:txBody>
          <a:bodyPr wrap="square" anchor="ctr" lIns="0" rIns="0" tIns="0" bIns="0">
            <a:spAutoFit/>
          </a:bodyPr>
          <a:lstStyle/>
          <a:p>
            <a:pPr algn="l">
              <a:spcAft>
                <a:spcPts val="400"/>
              </a:spcAft>
            </a:pPr>
            <a:r>
              <a:rPr sz="1300" b="0">
                <a:solidFill>
                  <a:srgbClr val="21201C"/>
                </a:solidFill>
                <a:latin typeface="Calibri"/>
              </a:rPr>
              <a:t>Open Project settings → Usage and read the lead agent's and each thread's tokens.</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146</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LAB 10 · VERIFY</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2600" b="1">
                <a:solidFill>
                  <a:srgbClr val="21201C"/>
                </a:solidFill>
                <a:latin typeface="Cambria"/>
              </a:rPr>
              <a:t>Schedule the Weekly Report and Review the Project</a:t>
            </a:r>
          </a:p>
        </p:txBody>
      </p:sp>
      <p:sp>
        <p:nvSpPr>
          <p:cNvPr id="5" name="Rectangle 4"/>
          <p:cNvSpPr/>
          <p:nvPr/>
        </p:nvSpPr>
        <p:spPr>
          <a:xfrm>
            <a:off x="548640" y="2103120"/>
            <a:ext cx="11064240" cy="3685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2103120"/>
            <a:ext cx="64008" cy="3685032"/>
          </a:xfrm>
          <a:prstGeom prst="rect">
            <a:avLst/>
          </a:prstGeom>
          <a:solidFill>
            <a:srgbClr val="4A8F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395728"/>
            <a:ext cx="10424160" cy="457200"/>
          </a:xfrm>
          <a:prstGeom prst="rect">
            <a:avLst/>
          </a:prstGeom>
          <a:noFill/>
        </p:spPr>
        <p:txBody>
          <a:bodyPr wrap="square" anchor="t" lIns="0" rIns="0" tIns="0" bIns="0">
            <a:spAutoFit/>
          </a:bodyPr>
          <a:lstStyle/>
          <a:p>
            <a:pPr algn="l">
              <a:spcAft>
                <a:spcPts val="400"/>
              </a:spcAft>
            </a:pPr>
            <a:r>
              <a:rPr sz="2000" b="1">
                <a:solidFill>
                  <a:srgbClr val="4A8F5F"/>
                </a:solidFill>
                <a:latin typeface="Cambria"/>
              </a:rPr>
              <a:t>✓  Check your work</a:t>
            </a:r>
          </a:p>
        </p:txBody>
      </p:sp>
      <p:sp>
        <p:nvSpPr>
          <p:cNvPr id="8" name="TextBox 7"/>
          <p:cNvSpPr txBox="1"/>
          <p:nvPr/>
        </p:nvSpPr>
        <p:spPr>
          <a:xfrm>
            <a:off x="914400" y="3017520"/>
            <a:ext cx="10332720" cy="2679192"/>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Two tasks are listed under Scheduled — Today's Lumo post from Lab 8 on weekdays at 9:00am and Weekly launch report on Mondays at 8:00am — both drafting and emailing only, with nothing published. Project memory records the 8 December Singapore launch, and the lead agent listed what depends on it. Project settings → Usage shows tokens for the lead agent and for each thread you started today.</a:t>
            </a:r>
          </a:p>
        </p:txBody>
      </p:sp>
      <p:sp>
        <p:nvSpPr>
          <p:cNvPr id="9" name="TextBox 8"/>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10" name="TextBox 9"/>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11" name="TextBox 10"/>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147</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TOPIC 03 · RECAP</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Recap — Content Production and Scheduled Work</a:t>
            </a:r>
          </a:p>
        </p:txBody>
      </p:sp>
      <p:sp>
        <p:nvSpPr>
          <p:cNvPr id="5" name="Rectangle 4"/>
          <p:cNvSpPr/>
          <p:nvPr/>
        </p:nvSpPr>
        <p:spPr>
          <a:xfrm>
            <a:off x="548640" y="1783080"/>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08</a:t>
            </a:r>
          </a:p>
          <a:p>
            <a:pPr algn="l">
              <a:spcAft>
                <a:spcPts val="300"/>
              </a:spcAft>
            </a:pPr>
            <a:r>
              <a:rPr sz="1150" b="0">
                <a:solidFill>
                  <a:srgbClr val="6B6862"/>
                </a:solidFill>
                <a:latin typeface="Calibri"/>
              </a:rPr>
              <a:t>You can now produce a two-week, four-platform social calendar with one thread per channel, and schedule the daily post.</a:t>
            </a:r>
          </a:p>
        </p:txBody>
      </p:sp>
      <p:sp>
        <p:nvSpPr>
          <p:cNvPr id="10" name="Rectangle 9"/>
          <p:cNvSpPr/>
          <p:nvPr/>
        </p:nvSpPr>
        <p:spPr>
          <a:xfrm>
            <a:off x="548640" y="3209544"/>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1335024" y="3319272"/>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09</a:t>
            </a:r>
          </a:p>
          <a:p>
            <a:pPr algn="l">
              <a:spcAft>
                <a:spcPts val="300"/>
              </a:spcAft>
            </a:pPr>
            <a:r>
              <a:rPr sz="1150" b="0">
                <a:solidFill>
                  <a:srgbClr val="6B6862"/>
                </a:solidFill>
                <a:latin typeface="Calibri"/>
              </a:rPr>
              <a:t>You can now script, storyboard and render a vertical launch video from supplied brand assets.</a:t>
            </a:r>
          </a:p>
        </p:txBody>
      </p:sp>
      <p:sp>
        <p:nvSpPr>
          <p:cNvPr id="15" name="Rectangle 14"/>
          <p:cNvSpPr/>
          <p:nvPr/>
        </p:nvSpPr>
        <p:spPr>
          <a:xfrm>
            <a:off x="548640" y="4636008"/>
            <a:ext cx="11064240"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4745736"/>
            <a:ext cx="10049256"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Lab 10</a:t>
            </a:r>
          </a:p>
          <a:p>
            <a:pPr algn="l">
              <a:spcAft>
                <a:spcPts val="300"/>
              </a:spcAft>
            </a:pPr>
            <a:r>
              <a:rPr sz="1150" b="0">
                <a:solidFill>
                  <a:srgbClr val="6B6862"/>
                </a:solidFill>
                <a:latin typeface="Calibri"/>
              </a:rPr>
              <a:t>You can now schedule a weekly report beside the daily post, edit project memory and review thread usage.</a:t>
            </a:r>
          </a:p>
        </p:txBody>
      </p:sp>
      <p:sp>
        <p:nvSpPr>
          <p:cNvPr id="20" name="TextBox 1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1" name="TextBox 2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2" name="TextBox 2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148</a:t>
            </a:r>
          </a:p>
        </p:txBody>
      </p:sp>
    </p:spTree>
  </p:cSld>
  <p:clrMapOvr>
    <a:masterClrMapping/>
  </p:clrMapOvr>
  <p:transition spd="med">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3657600"/>
            <a:ext cx="4572000" cy="457200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2011680"/>
            <a:ext cx="7315200" cy="457200"/>
          </a:xfrm>
          <a:prstGeom prst="rect">
            <a:avLst/>
          </a:prstGeom>
          <a:noFill/>
        </p:spPr>
        <p:txBody>
          <a:bodyPr wrap="square" anchor="t" lIns="0" rIns="0" tIns="0" bIns="0">
            <a:spAutoFit/>
          </a:bodyPr>
          <a:lstStyle/>
          <a:p>
            <a:pPr algn="l">
              <a:spcAft>
                <a:spcPts val="400"/>
              </a:spcAft>
            </a:pPr>
            <a:r>
              <a:rPr sz="1600" b="1">
                <a:solidFill>
                  <a:srgbClr val="D97757"/>
                </a:solidFill>
                <a:latin typeface="Calibri"/>
              </a:rPr>
              <a:t>WRAP-UP</a:t>
            </a:r>
          </a:p>
        </p:txBody>
      </p:sp>
      <p:sp>
        <p:nvSpPr>
          <p:cNvPr id="5" name="TextBox 4"/>
          <p:cNvSpPr txBox="1"/>
          <p:nvPr/>
        </p:nvSpPr>
        <p:spPr>
          <a:xfrm>
            <a:off x="777240" y="2514600"/>
            <a:ext cx="7315200" cy="164592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Summary &amp; Next Steps</a:t>
            </a:r>
          </a:p>
        </p:txBody>
      </p:sp>
      <p:sp>
        <p:nvSpPr>
          <p:cNvPr id="6" name="Rectangle 5"/>
          <p:cNvSpPr/>
          <p:nvPr/>
        </p:nvSpPr>
        <p:spPr>
          <a:xfrm>
            <a:off x="8321040" y="1463040"/>
            <a:ext cx="3200400" cy="2724912"/>
          </a:xfrm>
          <a:prstGeom prst="rect">
            <a:avLst/>
          </a:prstGeom>
          <a:solidFill>
            <a:srgbClr val="2E2C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49640" y="1755648"/>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1</a:t>
            </a:r>
          </a:p>
        </p:txBody>
      </p:sp>
      <p:sp>
        <p:nvSpPr>
          <p:cNvPr id="8" name="TextBox 7"/>
          <p:cNvSpPr txBox="1"/>
          <p:nvPr/>
        </p:nvSpPr>
        <p:spPr>
          <a:xfrm>
            <a:off x="9052560" y="1737360"/>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What you built</a:t>
            </a:r>
          </a:p>
        </p:txBody>
      </p:sp>
      <p:sp>
        <p:nvSpPr>
          <p:cNvPr id="9" name="TextBox 8"/>
          <p:cNvSpPr txBox="1"/>
          <p:nvPr/>
        </p:nvSpPr>
        <p:spPr>
          <a:xfrm>
            <a:off x="8549640" y="2322576"/>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2</a:t>
            </a:r>
          </a:p>
        </p:txBody>
      </p:sp>
      <p:sp>
        <p:nvSpPr>
          <p:cNvPr id="10" name="TextBox 9"/>
          <p:cNvSpPr txBox="1"/>
          <p:nvPr/>
        </p:nvSpPr>
        <p:spPr>
          <a:xfrm>
            <a:off x="9052560" y="2304288"/>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Staying in control</a:t>
            </a:r>
          </a:p>
        </p:txBody>
      </p:sp>
      <p:sp>
        <p:nvSpPr>
          <p:cNvPr id="11" name="TextBox 10"/>
          <p:cNvSpPr txBox="1"/>
          <p:nvPr/>
        </p:nvSpPr>
        <p:spPr>
          <a:xfrm>
            <a:off x="8549640" y="2889504"/>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3</a:t>
            </a:r>
          </a:p>
        </p:txBody>
      </p:sp>
      <p:sp>
        <p:nvSpPr>
          <p:cNvPr id="12" name="TextBox 11"/>
          <p:cNvSpPr txBox="1"/>
          <p:nvPr/>
        </p:nvSpPr>
        <p:spPr>
          <a:xfrm>
            <a:off x="9052560" y="2871216"/>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Next steps</a:t>
            </a:r>
          </a:p>
        </p:txBody>
      </p:sp>
      <p:sp>
        <p:nvSpPr>
          <p:cNvPr id="13" name="TextBox 12"/>
          <p:cNvSpPr txBox="1"/>
          <p:nvPr/>
        </p:nvSpPr>
        <p:spPr>
          <a:xfrm>
            <a:off x="8549640" y="3456432"/>
            <a:ext cx="457200" cy="365760"/>
          </a:xfrm>
          <a:prstGeom prst="rect">
            <a:avLst/>
          </a:prstGeom>
          <a:noFill/>
        </p:spPr>
        <p:txBody>
          <a:bodyPr wrap="square" anchor="t" lIns="0" rIns="0" tIns="0" bIns="0">
            <a:spAutoFit/>
          </a:bodyPr>
          <a:lstStyle/>
          <a:p>
            <a:pPr algn="l">
              <a:spcAft>
                <a:spcPts val="400"/>
              </a:spcAft>
            </a:pPr>
            <a:r>
              <a:rPr sz="1300" b="1">
                <a:solidFill>
                  <a:srgbClr val="D97757"/>
                </a:solidFill>
                <a:latin typeface="Calibri"/>
              </a:rPr>
              <a:t>4</a:t>
            </a:r>
          </a:p>
        </p:txBody>
      </p:sp>
      <p:sp>
        <p:nvSpPr>
          <p:cNvPr id="14" name="TextBox 13"/>
          <p:cNvSpPr txBox="1"/>
          <p:nvPr/>
        </p:nvSpPr>
        <p:spPr>
          <a:xfrm>
            <a:off x="9052560" y="3438144"/>
            <a:ext cx="2286000" cy="457200"/>
          </a:xfrm>
          <a:prstGeom prst="rect">
            <a:avLst/>
          </a:prstGeom>
          <a:noFill/>
        </p:spPr>
        <p:txBody>
          <a:bodyPr wrap="square" anchor="ctr" lIns="0" rIns="0" tIns="0" bIns="0">
            <a:spAutoFit/>
          </a:bodyPr>
          <a:lstStyle/>
          <a:p>
            <a:pPr algn="l">
              <a:spcAft>
                <a:spcPts val="400"/>
              </a:spcAft>
            </a:pPr>
            <a:r>
              <a:rPr sz="1200" b="0">
                <a:solidFill>
                  <a:srgbClr val="FFFFFF"/>
                </a:solidFill>
                <a:latin typeface="Calibri"/>
              </a:rPr>
              <a:t>Q&amp;A</a:t>
            </a:r>
          </a:p>
        </p:txBody>
      </p:sp>
      <p:sp>
        <p:nvSpPr>
          <p:cNvPr id="15" name="TextBox 14"/>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16" name="TextBox 15"/>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17" name="TextBox 16"/>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149</a:t>
            </a:r>
          </a:p>
        </p:txBody>
      </p:sp>
    </p:spTree>
  </p:cSld>
  <p:clrMapOvr>
    <a:masterClrMapping/>
  </p:clrMapOvr>
  <p:transition spd="med">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LEARNING OUTCOMES</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What You Achieved</a:t>
            </a:r>
          </a:p>
        </p:txBody>
      </p:sp>
      <p:sp>
        <p:nvSpPr>
          <p:cNvPr id="5" name="Rectangle 4"/>
          <p:cNvSpPr/>
          <p:nvPr/>
        </p:nvSpPr>
        <p:spPr>
          <a:xfrm>
            <a:off x="548640"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Set up the Project</a:t>
            </a:r>
          </a:p>
          <a:p>
            <a:pPr algn="l">
              <a:spcAft>
                <a:spcPts val="300"/>
              </a:spcAft>
            </a:pPr>
            <a:r>
              <a:rPr sz="950" b="0">
                <a:solidFill>
                  <a:srgbClr val="6B6862"/>
                </a:solidFill>
                <a:latin typeface="Calibri"/>
              </a:rPr>
              <a:t>Set up a Claude Project with a goal, instructions, context and memory, and explain how its lead agent splits work into parallel threads.</a:t>
            </a:r>
          </a:p>
        </p:txBody>
      </p:sp>
      <p:sp>
        <p:nvSpPr>
          <p:cNvPr id="10" name="Rectangle 9"/>
          <p:cNvSpPr/>
          <p:nvPr/>
        </p:nvSpPr>
        <p:spPr>
          <a:xfrm>
            <a:off x="6163056" y="1783080"/>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1954987"/>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954987"/>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Research in threads</a:t>
            </a:r>
          </a:p>
          <a:p>
            <a:pPr algn="l">
              <a:spcAft>
                <a:spcPts val="300"/>
              </a:spcAft>
            </a:pPr>
            <a:r>
              <a:rPr sz="950" b="0">
                <a:solidFill>
                  <a:srgbClr val="6B6862"/>
                </a:solidFill>
                <a:latin typeface="Calibri"/>
              </a:rPr>
              <a:t>Run multi-subject market research as parallel threads and consolidate it into one verified research brief.</a:t>
            </a:r>
          </a:p>
        </p:txBody>
      </p:sp>
      <p:sp>
        <p:nvSpPr>
          <p:cNvPr id="15" name="Rectangle 14"/>
          <p:cNvSpPr/>
          <p:nvPr/>
        </p:nvSpPr>
        <p:spPr>
          <a:xfrm>
            <a:off x="548640"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Build a Live Artefact</a:t>
            </a:r>
          </a:p>
          <a:p>
            <a:pPr algn="l">
              <a:spcAft>
                <a:spcPts val="300"/>
              </a:spcAft>
            </a:pPr>
            <a:r>
              <a:rPr sz="950" b="0">
                <a:solidFill>
                  <a:srgbClr val="6B6862"/>
                </a:solidFill>
                <a:latin typeface="Calibri"/>
              </a:rPr>
              <a:t>Build, refine, save and download a Live Artefact dashboard from supplied research data.</a:t>
            </a:r>
          </a:p>
        </p:txBody>
      </p:sp>
      <p:sp>
        <p:nvSpPr>
          <p:cNvPr id="20" name="Rectangle 19"/>
          <p:cNvSpPr/>
          <p:nvPr/>
        </p:nvSpPr>
        <p:spPr>
          <a:xfrm>
            <a:off x="6163056" y="2638958"/>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2638958"/>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2810865"/>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2810865"/>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2748686"/>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Connect Drive and Gmail</a:t>
            </a:r>
          </a:p>
          <a:p>
            <a:pPr algn="l">
              <a:spcAft>
                <a:spcPts val="300"/>
              </a:spcAft>
            </a:pPr>
            <a:r>
              <a:rPr sz="950" b="0">
                <a:solidFill>
                  <a:srgbClr val="6B6862"/>
                </a:solidFill>
                <a:latin typeface="Calibri"/>
              </a:rPr>
              <a:t>Connect Google Drive and Gmail so Claude reads campaign files and sends an approved summary.</a:t>
            </a:r>
          </a:p>
        </p:txBody>
      </p:sp>
      <p:sp>
        <p:nvSpPr>
          <p:cNvPr id="25" name="Rectangle 24"/>
          <p:cNvSpPr/>
          <p:nvPr/>
        </p:nvSpPr>
        <p:spPr>
          <a:xfrm>
            <a:off x="548640"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Slides and Docs</a:t>
            </a:r>
          </a:p>
          <a:p>
            <a:pPr algn="l">
              <a:spcAft>
                <a:spcPts val="300"/>
              </a:spcAft>
            </a:pPr>
            <a:r>
              <a:rPr sz="950" b="0">
                <a:solidFill>
                  <a:srgbClr val="6B6862"/>
                </a:solidFill>
                <a:latin typeface="Calibri"/>
              </a:rPr>
              <a:t>Produce a launch deck and a campaign brief with Claude's Slides and Docs, using built-in skills.</a:t>
            </a:r>
          </a:p>
        </p:txBody>
      </p:sp>
      <p:sp>
        <p:nvSpPr>
          <p:cNvPr id="30" name="Rectangle 29"/>
          <p:cNvSpPr/>
          <p:nvPr/>
        </p:nvSpPr>
        <p:spPr>
          <a:xfrm>
            <a:off x="6163056" y="3494836"/>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63056" y="3494836"/>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6437376" y="3666743"/>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666743"/>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6</a:t>
            </a:r>
          </a:p>
        </p:txBody>
      </p:sp>
      <p:sp>
        <p:nvSpPr>
          <p:cNvPr id="34" name="TextBox 33"/>
          <p:cNvSpPr txBox="1"/>
          <p:nvPr/>
        </p:nvSpPr>
        <p:spPr>
          <a:xfrm>
            <a:off x="6949440" y="3604564"/>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Skills and plugins</a:t>
            </a:r>
          </a:p>
          <a:p>
            <a:pPr algn="l">
              <a:spcAft>
                <a:spcPts val="300"/>
              </a:spcAft>
            </a:pPr>
            <a:r>
              <a:rPr sz="950" b="0">
                <a:solidFill>
                  <a:srgbClr val="6B6862"/>
                </a:solidFill>
                <a:latin typeface="Calibri"/>
              </a:rPr>
              <a:t>Capture a brand voice as an Agent Skill with /skill-creator, and install and use a marketing plugin.</a:t>
            </a:r>
          </a:p>
        </p:txBody>
      </p:sp>
      <p:sp>
        <p:nvSpPr>
          <p:cNvPr id="35" name="Rectangle 34"/>
          <p:cNvSpPr/>
          <p:nvPr/>
        </p:nvSpPr>
        <p:spPr>
          <a:xfrm>
            <a:off x="548640"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48640"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22960"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7</a:t>
            </a:r>
          </a:p>
        </p:txBody>
      </p:sp>
      <p:sp>
        <p:nvSpPr>
          <p:cNvPr id="39" name="TextBox 38"/>
          <p:cNvSpPr txBox="1"/>
          <p:nvPr/>
        </p:nvSpPr>
        <p:spPr>
          <a:xfrm>
            <a:off x="1335024"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Social posts in threads</a:t>
            </a:r>
          </a:p>
          <a:p>
            <a:pPr algn="l">
              <a:spcAft>
                <a:spcPts val="300"/>
              </a:spcAft>
            </a:pPr>
            <a:r>
              <a:rPr sz="950" b="0">
                <a:solidFill>
                  <a:srgbClr val="6B6862"/>
                </a:solidFill>
                <a:latin typeface="Calibri"/>
              </a:rPr>
              <a:t>Create a two-week, multi-platform set of social media posts in parallel threads using the brand-voice skill.</a:t>
            </a:r>
          </a:p>
        </p:txBody>
      </p:sp>
      <p:sp>
        <p:nvSpPr>
          <p:cNvPr id="40" name="Rectangle 39"/>
          <p:cNvSpPr/>
          <p:nvPr/>
        </p:nvSpPr>
        <p:spPr>
          <a:xfrm>
            <a:off x="6163056" y="4350714"/>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63056" y="4350714"/>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437376" y="4522621"/>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37376" y="4522621"/>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8</a:t>
            </a:r>
          </a:p>
        </p:txBody>
      </p:sp>
      <p:sp>
        <p:nvSpPr>
          <p:cNvPr id="44" name="TextBox 43"/>
          <p:cNvSpPr txBox="1"/>
          <p:nvPr/>
        </p:nvSpPr>
        <p:spPr>
          <a:xfrm>
            <a:off x="6949440" y="4460442"/>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Make a launch video</a:t>
            </a:r>
          </a:p>
          <a:p>
            <a:pPr algn="l">
              <a:spcAft>
                <a:spcPts val="300"/>
              </a:spcAft>
            </a:pPr>
            <a:r>
              <a:rPr sz="950" b="0">
                <a:solidFill>
                  <a:srgbClr val="6B6862"/>
                </a:solidFill>
                <a:latin typeface="Calibri"/>
              </a:rPr>
              <a:t>Produce a short vertical launch video from a script, storyboard and supplied brand assets.</a:t>
            </a:r>
          </a:p>
        </p:txBody>
      </p:sp>
      <p:sp>
        <p:nvSpPr>
          <p:cNvPr id="45" name="Rectangle 44"/>
          <p:cNvSpPr/>
          <p:nvPr/>
        </p:nvSpPr>
        <p:spPr>
          <a:xfrm>
            <a:off x="548640" y="5206592"/>
            <a:ext cx="5449824" cy="69128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48640" y="5206592"/>
            <a:ext cx="54864" cy="691286"/>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22960" y="5378499"/>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5378499"/>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9</a:t>
            </a:r>
          </a:p>
        </p:txBody>
      </p:sp>
      <p:sp>
        <p:nvSpPr>
          <p:cNvPr id="49" name="TextBox 48"/>
          <p:cNvSpPr txBox="1"/>
          <p:nvPr/>
        </p:nvSpPr>
        <p:spPr>
          <a:xfrm>
            <a:off x="1335024" y="5316320"/>
            <a:ext cx="4434840" cy="471830"/>
          </a:xfrm>
          <a:prstGeom prst="rect">
            <a:avLst/>
          </a:prstGeom>
          <a:noFill/>
        </p:spPr>
        <p:txBody>
          <a:bodyPr wrap="square" anchor="ctr" lIns="0" rIns="0" tIns="0" bIns="0">
            <a:spAutoFit/>
          </a:bodyPr>
          <a:lstStyle/>
          <a:p>
            <a:pPr algn="l">
              <a:spcAft>
                <a:spcPts val="300"/>
              </a:spcAft>
            </a:pPr>
            <a:r>
              <a:rPr sz="1200" b="1">
                <a:solidFill>
                  <a:srgbClr val="21201C"/>
                </a:solidFill>
                <a:latin typeface="Cambria"/>
              </a:rPr>
              <a:t>Schedule and review</a:t>
            </a:r>
          </a:p>
          <a:p>
            <a:pPr algn="l">
              <a:spcAft>
                <a:spcPts val="300"/>
              </a:spcAft>
            </a:pPr>
            <a:r>
              <a:rPr sz="950" b="0">
                <a:solidFill>
                  <a:srgbClr val="6B6862"/>
                </a:solidFill>
                <a:latin typeface="Calibri"/>
              </a:rPr>
              <a:t>Schedule recurring project tasks, maintain project memory and review thread usage, keeping a human approval step.</a:t>
            </a:r>
          </a:p>
        </p:txBody>
      </p:sp>
      <p:sp>
        <p:nvSpPr>
          <p:cNvPr id="50" name="TextBox 4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51" name="TextBox 5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52" name="TextBox 5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150</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GOOD PRACTICE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Staying in Control</a:t>
            </a:r>
          </a:p>
        </p:txBody>
      </p:sp>
      <p:sp>
        <p:nvSpPr>
          <p:cNvPr id="5" name="TextBox 4"/>
          <p:cNvSpPr txBox="1"/>
          <p:nvPr/>
        </p:nvSpPr>
        <p:spPr>
          <a:xfrm>
            <a:off x="548640" y="1691640"/>
            <a:ext cx="11064240" cy="457200"/>
          </a:xfrm>
          <a:prstGeom prst="rect">
            <a:avLst/>
          </a:prstGeom>
          <a:noFill/>
        </p:spPr>
        <p:txBody>
          <a:bodyPr wrap="square" anchor="t" lIns="0" rIns="0" tIns="0" bIns="0">
            <a:spAutoFit/>
          </a:bodyPr>
          <a:lstStyle/>
          <a:p>
            <a:pPr algn="l">
              <a:spcAft>
                <a:spcPts val="400"/>
              </a:spcAft>
            </a:pPr>
            <a:r>
              <a:rPr sz="1600" b="0">
                <a:solidFill>
                  <a:srgbClr val="21201C"/>
                </a:solidFill>
                <a:latin typeface="Calibri"/>
              </a:rPr>
              <a:t>Claude drafts and builds; you check and approve.</a:t>
            </a:r>
          </a:p>
        </p:txBody>
      </p:sp>
      <p:sp>
        <p:nvSpPr>
          <p:cNvPr id="6" name="Rectangle 5"/>
          <p:cNvSpPr/>
          <p:nvPr/>
        </p:nvSpPr>
        <p:spPr>
          <a:xfrm>
            <a:off x="548640"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Work from mock data</a:t>
            </a:r>
          </a:p>
          <a:p>
            <a:pPr algn="l">
              <a:spcAft>
                <a:spcPts val="300"/>
              </a:spcAft>
            </a:pPr>
            <a:r>
              <a:rPr sz="1150" b="0">
                <a:solidFill>
                  <a:srgbClr val="6B6862"/>
                </a:solidFill>
                <a:latin typeface="Calibri"/>
              </a:rPr>
              <a:t>Use the supplied synthetic Lumo data — never real customer records in training.</a:t>
            </a:r>
          </a:p>
        </p:txBody>
      </p:sp>
      <p:sp>
        <p:nvSpPr>
          <p:cNvPr id="9" name="Rectangle 8"/>
          <p:cNvSpPr/>
          <p:nvPr/>
        </p:nvSpPr>
        <p:spPr>
          <a:xfrm>
            <a:off x="6163056" y="2148840"/>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63056" y="2148840"/>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7376" y="2258568"/>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Scope the connector</a:t>
            </a:r>
          </a:p>
          <a:p>
            <a:pPr algn="l">
              <a:spcAft>
                <a:spcPts val="300"/>
              </a:spcAft>
            </a:pPr>
            <a:r>
              <a:rPr sz="1150" b="0">
                <a:solidFill>
                  <a:srgbClr val="6B6862"/>
                </a:solidFill>
                <a:latin typeface="Calibri"/>
              </a:rPr>
              <a:t>Give Claude one Drive folder for the task, not your entire Drive.</a:t>
            </a:r>
          </a:p>
        </p:txBody>
      </p:sp>
      <p:sp>
        <p:nvSpPr>
          <p:cNvPr id="12" name="Rectangle 11"/>
          <p:cNvSpPr/>
          <p:nvPr/>
        </p:nvSpPr>
        <p:spPr>
          <a:xfrm>
            <a:off x="548640"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Check every figure</a:t>
            </a:r>
          </a:p>
          <a:p>
            <a:pPr algn="l">
              <a:spcAft>
                <a:spcPts val="300"/>
              </a:spcAft>
            </a:pPr>
            <a:r>
              <a:rPr sz="1150" b="0">
                <a:solidFill>
                  <a:srgbClr val="6B6862"/>
                </a:solidFill>
                <a:latin typeface="Calibri"/>
              </a:rPr>
              <a:t>Read the artefact's and the brief's numbers back against the source file.</a:t>
            </a:r>
          </a:p>
        </p:txBody>
      </p:sp>
      <p:sp>
        <p:nvSpPr>
          <p:cNvPr id="15" name="Rectangle 14"/>
          <p:cNvSpPr/>
          <p:nvPr/>
        </p:nvSpPr>
        <p:spPr>
          <a:xfrm>
            <a:off x="6163056" y="3453384"/>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3453384"/>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3563112"/>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Approve before sending</a:t>
            </a:r>
          </a:p>
          <a:p>
            <a:pPr algn="l">
              <a:spcAft>
                <a:spcPts val="300"/>
              </a:spcAft>
            </a:pPr>
            <a:r>
              <a:rPr sz="1150" b="0">
                <a:solidFill>
                  <a:srgbClr val="6B6862"/>
                </a:solidFill>
                <a:latin typeface="Calibri"/>
              </a:rPr>
              <a:t>Read each drafted email and post in full; approve it only when the facts match.</a:t>
            </a:r>
          </a:p>
        </p:txBody>
      </p:sp>
      <p:sp>
        <p:nvSpPr>
          <p:cNvPr id="18" name="Rectangle 17"/>
          <p:cNvSpPr/>
          <p:nvPr/>
        </p:nvSpPr>
        <p:spPr>
          <a:xfrm>
            <a:off x="548640"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Use a test recipient</a:t>
            </a:r>
          </a:p>
          <a:p>
            <a:pPr algn="l">
              <a:spcAft>
                <a:spcPts val="300"/>
              </a:spcAft>
            </a:pPr>
            <a:r>
              <a:rPr sz="1150" b="0">
                <a:solidFill>
                  <a:srgbClr val="6B6862"/>
                </a:solidFill>
                <a:latin typeface="Calibri"/>
              </a:rPr>
              <a:t>Send class exercises to yourself, never to a real customer.</a:t>
            </a:r>
          </a:p>
        </p:txBody>
      </p:sp>
      <p:sp>
        <p:nvSpPr>
          <p:cNvPr id="21" name="Rectangle 20"/>
          <p:cNvSpPr/>
          <p:nvPr/>
        </p:nvSpPr>
        <p:spPr>
          <a:xfrm>
            <a:off x="6163056" y="4757928"/>
            <a:ext cx="5449824" cy="113995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63056" y="4757928"/>
            <a:ext cx="54864" cy="113995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4867656"/>
            <a:ext cx="4946904" cy="92049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Watch thread usage</a:t>
            </a:r>
          </a:p>
          <a:p>
            <a:pPr algn="l">
              <a:spcAft>
                <a:spcPts val="300"/>
              </a:spcAft>
            </a:pPr>
            <a:r>
              <a:rPr sz="1150" b="0">
                <a:solidFill>
                  <a:srgbClr val="6B6862"/>
                </a:solidFill>
                <a:latin typeface="Calibri"/>
              </a:rPr>
              <a:t>Parallel threads multiply usage — check Project settings → Usage.</a:t>
            </a:r>
          </a:p>
        </p:txBody>
      </p:sp>
      <p:sp>
        <p:nvSpPr>
          <p:cNvPr id="24" name="TextBox 23"/>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25" name="TextBox 24"/>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26" name="TextBox 25"/>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151</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84048"/>
            <a:ext cx="10058400" cy="274320"/>
          </a:xfrm>
          <a:prstGeom prst="rect">
            <a:avLst/>
          </a:prstGeom>
          <a:noFill/>
        </p:spPr>
        <p:txBody>
          <a:bodyPr wrap="square" anchor="t" lIns="0" rIns="0" tIns="0" bIns="0">
            <a:spAutoFit/>
          </a:bodyPr>
          <a:lstStyle/>
          <a:p>
            <a:pPr algn="l">
              <a:spcAft>
                <a:spcPts val="400"/>
              </a:spcAft>
            </a:pPr>
            <a:r>
              <a:rPr sz="1200" b="1">
                <a:solidFill>
                  <a:srgbClr val="D97757"/>
                </a:solidFill>
                <a:latin typeface="Calibri"/>
              </a:rPr>
              <a:t>AFTER THE COURSE</a:t>
            </a:r>
          </a:p>
        </p:txBody>
      </p:sp>
      <p:sp>
        <p:nvSpPr>
          <p:cNvPr id="4" name="TextBox 3"/>
          <p:cNvSpPr txBox="1"/>
          <p:nvPr/>
        </p:nvSpPr>
        <p:spPr>
          <a:xfrm>
            <a:off x="548640" y="658368"/>
            <a:ext cx="11064240" cy="731520"/>
          </a:xfrm>
          <a:prstGeom prst="rect">
            <a:avLst/>
          </a:prstGeom>
          <a:noFill/>
        </p:spPr>
        <p:txBody>
          <a:bodyPr wrap="square" anchor="ctr" lIns="0" rIns="0" tIns="0" bIns="0">
            <a:spAutoFit/>
          </a:bodyPr>
          <a:lstStyle/>
          <a:p>
            <a:pPr algn="l">
              <a:spcAft>
                <a:spcPts val="400"/>
              </a:spcAft>
            </a:pPr>
            <a:r>
              <a:rPr sz="3000" b="1">
                <a:solidFill>
                  <a:srgbClr val="21201C"/>
                </a:solidFill>
                <a:latin typeface="Cambria"/>
              </a:rPr>
              <a:t>Next Steps</a:t>
            </a:r>
          </a:p>
        </p:txBody>
      </p:sp>
      <p:sp>
        <p:nvSpPr>
          <p:cNvPr id="5" name="Rectangle 4"/>
          <p:cNvSpPr/>
          <p:nvPr/>
        </p:nvSpPr>
        <p:spPr>
          <a:xfrm>
            <a:off x="548640"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22960"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1</a:t>
            </a:r>
          </a:p>
        </p:txBody>
      </p:sp>
      <p:sp>
        <p:nvSpPr>
          <p:cNvPr id="9" name="TextBox 8"/>
          <p:cNvSpPr txBox="1"/>
          <p:nvPr/>
        </p:nvSpPr>
        <p:spPr>
          <a:xfrm>
            <a:off x="1335024"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Start one real Project</a:t>
            </a:r>
          </a:p>
          <a:p>
            <a:pPr algn="l">
              <a:spcAft>
                <a:spcPts val="300"/>
              </a:spcAft>
            </a:pPr>
            <a:r>
              <a:rPr sz="1150" b="0">
                <a:solidFill>
                  <a:srgbClr val="6B6862"/>
                </a:solidFill>
                <a:latin typeface="Calibri"/>
              </a:rPr>
              <a:t>Give your next campaign a project with a goal, instructions and context.</a:t>
            </a:r>
          </a:p>
        </p:txBody>
      </p:sp>
      <p:sp>
        <p:nvSpPr>
          <p:cNvPr id="10" name="Rectangle 9"/>
          <p:cNvSpPr/>
          <p:nvPr/>
        </p:nvSpPr>
        <p:spPr>
          <a:xfrm>
            <a:off x="6163056" y="1783080"/>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783080"/>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37376" y="2240280"/>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2240280"/>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2</a:t>
            </a:r>
          </a:p>
        </p:txBody>
      </p:sp>
      <p:sp>
        <p:nvSpPr>
          <p:cNvPr id="14" name="TextBox 13"/>
          <p:cNvSpPr txBox="1"/>
          <p:nvPr/>
        </p:nvSpPr>
        <p:spPr>
          <a:xfrm>
            <a:off x="6949440" y="1892808"/>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Split one job into threads</a:t>
            </a:r>
          </a:p>
          <a:p>
            <a:pPr algn="l">
              <a:spcAft>
                <a:spcPts val="300"/>
              </a:spcAft>
            </a:pPr>
            <a:r>
              <a:rPr sz="1150" b="0">
                <a:solidFill>
                  <a:srgbClr val="6B6862"/>
                </a:solidFill>
                <a:latin typeface="Calibri"/>
              </a:rPr>
              <a:t>Next time you research competitors, give each one its own thread.</a:t>
            </a:r>
          </a:p>
        </p:txBody>
      </p:sp>
      <p:sp>
        <p:nvSpPr>
          <p:cNvPr id="15" name="Rectangle 14"/>
          <p:cNvSpPr/>
          <p:nvPr/>
        </p:nvSpPr>
        <p:spPr>
          <a:xfrm>
            <a:off x="548640"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3</a:t>
            </a:r>
          </a:p>
        </p:txBody>
      </p:sp>
      <p:sp>
        <p:nvSpPr>
          <p:cNvPr id="19" name="TextBox 18"/>
          <p:cNvSpPr txBox="1"/>
          <p:nvPr/>
        </p:nvSpPr>
        <p:spPr>
          <a:xfrm>
            <a:off x="1335024"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Capture your brand voice</a:t>
            </a:r>
          </a:p>
          <a:p>
            <a:pPr algn="l">
              <a:spcAft>
                <a:spcPts val="300"/>
              </a:spcAft>
            </a:pPr>
            <a:r>
              <a:rPr sz="1150" b="0">
                <a:solidFill>
                  <a:srgbClr val="6B6862"/>
                </a:solidFill>
                <a:latin typeface="Calibri"/>
              </a:rPr>
              <a:t>Turn your real brand guide into a skill your whole team shares.</a:t>
            </a:r>
          </a:p>
        </p:txBody>
      </p:sp>
      <p:sp>
        <p:nvSpPr>
          <p:cNvPr id="20" name="Rectangle 19"/>
          <p:cNvSpPr/>
          <p:nvPr/>
        </p:nvSpPr>
        <p:spPr>
          <a:xfrm>
            <a:off x="6163056" y="3209544"/>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63056" y="3209544"/>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37376" y="3666744"/>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7376" y="3666744"/>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4</a:t>
            </a:r>
          </a:p>
        </p:txBody>
      </p:sp>
      <p:sp>
        <p:nvSpPr>
          <p:cNvPr id="24" name="TextBox 23"/>
          <p:cNvSpPr txBox="1"/>
          <p:nvPr/>
        </p:nvSpPr>
        <p:spPr>
          <a:xfrm>
            <a:off x="6949440" y="3319272"/>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Schedule one routine</a:t>
            </a:r>
          </a:p>
          <a:p>
            <a:pPr algn="l">
              <a:spcAft>
                <a:spcPts val="300"/>
              </a:spcAft>
            </a:pPr>
            <a:r>
              <a:rPr sz="1150" b="0">
                <a:solidFill>
                  <a:srgbClr val="6B6862"/>
                </a:solidFill>
                <a:latin typeface="Calibri"/>
              </a:rPr>
              <a:t>Pick the post or report you produce every week and schedule the draft.</a:t>
            </a:r>
          </a:p>
        </p:txBody>
      </p:sp>
      <p:sp>
        <p:nvSpPr>
          <p:cNvPr id="25" name="Rectangle 24"/>
          <p:cNvSpPr/>
          <p:nvPr/>
        </p:nvSpPr>
        <p:spPr>
          <a:xfrm>
            <a:off x="548640" y="4636008"/>
            <a:ext cx="5449824" cy="12618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4636008"/>
            <a:ext cx="54864" cy="1261872"/>
          </a:xfrm>
          <a:prstGeom prst="rect">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22960" y="5093208"/>
            <a:ext cx="347472" cy="347472"/>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093208"/>
            <a:ext cx="347472" cy="347472"/>
          </a:xfrm>
          <a:prstGeom prst="rect">
            <a:avLst/>
          </a:prstGeom>
          <a:noFill/>
        </p:spPr>
        <p:txBody>
          <a:bodyPr wrap="square" anchor="ctr" lIns="0" rIns="0" tIns="0" bIns="0">
            <a:spAutoFit/>
          </a:bodyPr>
          <a:lstStyle/>
          <a:p>
            <a:pPr algn="ctr">
              <a:spcAft>
                <a:spcPts val="400"/>
              </a:spcAft>
            </a:pPr>
            <a:r>
              <a:rPr sz="1200" b="1">
                <a:solidFill>
                  <a:srgbClr val="FFFFFF"/>
                </a:solidFill>
                <a:latin typeface="Calibri"/>
              </a:rPr>
              <a:t>5</a:t>
            </a:r>
          </a:p>
        </p:txBody>
      </p:sp>
      <p:sp>
        <p:nvSpPr>
          <p:cNvPr id="29" name="TextBox 28"/>
          <p:cNvSpPr txBox="1"/>
          <p:nvPr/>
        </p:nvSpPr>
        <p:spPr>
          <a:xfrm>
            <a:off x="1335024" y="4745736"/>
            <a:ext cx="4434840" cy="1042416"/>
          </a:xfrm>
          <a:prstGeom prst="rect">
            <a:avLst/>
          </a:prstGeom>
          <a:noFill/>
        </p:spPr>
        <p:txBody>
          <a:bodyPr wrap="square" anchor="ctr" lIns="0" rIns="0" tIns="0" bIns="0">
            <a:spAutoFit/>
          </a:bodyPr>
          <a:lstStyle/>
          <a:p>
            <a:pPr algn="l">
              <a:spcAft>
                <a:spcPts val="300"/>
              </a:spcAft>
            </a:pPr>
            <a:r>
              <a:rPr sz="1400" b="1">
                <a:solidFill>
                  <a:srgbClr val="21201C"/>
                </a:solidFill>
                <a:latin typeface="Cambria"/>
              </a:rPr>
              <a:t>Browse Discover</a:t>
            </a:r>
          </a:p>
          <a:p>
            <a:pPr algn="l">
              <a:spcAft>
                <a:spcPts val="300"/>
              </a:spcAft>
            </a:pPr>
            <a:r>
              <a:rPr sz="1150" b="0">
                <a:solidFill>
                  <a:srgbClr val="6B6862"/>
                </a:solidFill>
                <a:latin typeface="Calibri"/>
              </a:rPr>
              <a:t>See which plugins already exist before you write a skill someone has packaged.</a:t>
            </a:r>
          </a:p>
        </p:txBody>
      </p:sp>
      <p:sp>
        <p:nvSpPr>
          <p:cNvPr id="30" name="TextBox 29"/>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6B6862"/>
                </a:solidFill>
                <a:latin typeface="Calibri"/>
              </a:rPr>
              <a:t>© Tertiary Infotech Academy Pte Ltd</a:t>
            </a:r>
          </a:p>
        </p:txBody>
      </p:sp>
      <p:sp>
        <p:nvSpPr>
          <p:cNvPr id="31" name="TextBox 30"/>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Claude AI Masterclass - Threads Edition</a:t>
            </a:r>
          </a:p>
        </p:txBody>
      </p:sp>
      <p:sp>
        <p:nvSpPr>
          <p:cNvPr id="32" name="TextBox 31"/>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6B6862"/>
                </a:solidFill>
                <a:latin typeface="Calibri"/>
              </a:rPr>
              <a:t>152</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0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32720" y="3703320"/>
            <a:ext cx="2651760" cy="2651760"/>
          </a:xfrm>
          <a:prstGeom prst="ellipse">
            <a:avLst/>
          </a:prstGeom>
          <a:solidFill>
            <a:srgbClr val="D977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011680"/>
            <a:ext cx="10058400" cy="411480"/>
          </a:xfrm>
          <a:prstGeom prst="rect">
            <a:avLst/>
          </a:prstGeom>
          <a:noFill/>
        </p:spPr>
        <p:txBody>
          <a:bodyPr wrap="square" anchor="t" lIns="0" rIns="0" tIns="0" bIns="0">
            <a:spAutoFit/>
          </a:bodyPr>
          <a:lstStyle/>
          <a:p>
            <a:pPr algn="l">
              <a:spcAft>
                <a:spcPts val="400"/>
              </a:spcAft>
            </a:pPr>
            <a:r>
              <a:rPr sz="1500" b="1">
                <a:solidFill>
                  <a:srgbClr val="D97757"/>
                </a:solidFill>
                <a:latin typeface="Calibri"/>
              </a:rPr>
              <a:t>THANK YOU FOR ATTENDING</a:t>
            </a:r>
          </a:p>
        </p:txBody>
      </p:sp>
      <p:sp>
        <p:nvSpPr>
          <p:cNvPr id="5" name="TextBox 4"/>
          <p:cNvSpPr txBox="1"/>
          <p:nvPr/>
        </p:nvSpPr>
        <p:spPr>
          <a:xfrm>
            <a:off x="914400" y="2514600"/>
            <a:ext cx="9509760" cy="1554480"/>
          </a:xfrm>
          <a:prstGeom prst="rect">
            <a:avLst/>
          </a:prstGeom>
          <a:noFill/>
        </p:spPr>
        <p:txBody>
          <a:bodyPr wrap="square" anchor="ctr" lIns="0" rIns="0" tIns="0" bIns="0">
            <a:spAutoFit/>
          </a:bodyPr>
          <a:lstStyle/>
          <a:p>
            <a:pPr algn="l">
              <a:spcAft>
                <a:spcPts val="400"/>
              </a:spcAft>
            </a:pPr>
            <a:r>
              <a:rPr sz="4000" b="1">
                <a:solidFill>
                  <a:srgbClr val="FFFFFF"/>
                </a:solidFill>
                <a:latin typeface="Cambria"/>
              </a:rPr>
              <a:t>Your launch project is ready</a:t>
            </a:r>
          </a:p>
        </p:txBody>
      </p:sp>
      <p:sp>
        <p:nvSpPr>
          <p:cNvPr id="6" name="TextBox 5"/>
          <p:cNvSpPr txBox="1"/>
          <p:nvPr/>
        </p:nvSpPr>
        <p:spPr>
          <a:xfrm>
            <a:off x="932688" y="4206240"/>
            <a:ext cx="9326880" cy="914400"/>
          </a:xfrm>
          <a:prstGeom prst="rect">
            <a:avLst/>
          </a:prstGeom>
          <a:noFill/>
        </p:spPr>
        <p:txBody>
          <a:bodyPr wrap="square" anchor="t" lIns="0" rIns="0" tIns="0" bIns="0">
            <a:spAutoFit/>
          </a:bodyPr>
          <a:lstStyle/>
          <a:p>
            <a:pPr algn="l">
              <a:spcAft>
                <a:spcPts val="400"/>
              </a:spcAft>
            </a:pPr>
            <a:r>
              <a:rPr sz="1700" b="0">
                <a:solidFill>
                  <a:srgbClr val="B9B4A9"/>
                </a:solidFill>
                <a:latin typeface="Calibri"/>
              </a:rPr>
              <a:t>A Claude Project with a lead agent and threads, verified market research, a Live Artefact dashboard, a deck and brief, a brand-voice skill, two weeks of social posts, a launch video and the scheduled tasks that keep it all moving.</a:t>
            </a:r>
          </a:p>
        </p:txBody>
      </p:sp>
      <p:sp>
        <p:nvSpPr>
          <p:cNvPr id="7" name="TextBox 6"/>
          <p:cNvSpPr txBox="1"/>
          <p:nvPr/>
        </p:nvSpPr>
        <p:spPr>
          <a:xfrm>
            <a:off x="457200" y="6473952"/>
            <a:ext cx="6400800" cy="274320"/>
          </a:xfrm>
          <a:prstGeom prst="rect">
            <a:avLst/>
          </a:prstGeom>
          <a:noFill/>
        </p:spPr>
        <p:txBody>
          <a:bodyPr wrap="square" anchor="t" lIns="0" rIns="0" tIns="0" bIns="0">
            <a:spAutoFit/>
          </a:bodyPr>
          <a:lstStyle/>
          <a:p>
            <a:pPr algn="l">
              <a:spcAft>
                <a:spcPts val="400"/>
              </a:spcAft>
            </a:pPr>
            <a:r>
              <a:rPr sz="900" b="0">
                <a:solidFill>
                  <a:srgbClr val="B9B4A9"/>
                </a:solidFill>
                <a:latin typeface="Calibri"/>
              </a:rPr>
              <a:t>© Tertiary Infotech Academy Pte Ltd</a:t>
            </a:r>
          </a:p>
        </p:txBody>
      </p:sp>
      <p:sp>
        <p:nvSpPr>
          <p:cNvPr id="8" name="TextBox 7"/>
          <p:cNvSpPr txBox="1"/>
          <p:nvPr/>
        </p:nvSpPr>
        <p:spPr>
          <a:xfrm>
            <a:off x="6400800" y="6473952"/>
            <a:ext cx="484632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Claude AI Masterclass - Threads Edition</a:t>
            </a:r>
          </a:p>
        </p:txBody>
      </p:sp>
      <p:sp>
        <p:nvSpPr>
          <p:cNvPr id="9" name="TextBox 8"/>
          <p:cNvSpPr txBox="1"/>
          <p:nvPr/>
        </p:nvSpPr>
        <p:spPr>
          <a:xfrm>
            <a:off x="11365992" y="6473952"/>
            <a:ext cx="457200" cy="274320"/>
          </a:xfrm>
          <a:prstGeom prst="rect">
            <a:avLst/>
          </a:prstGeom>
          <a:noFill/>
        </p:spPr>
        <p:txBody>
          <a:bodyPr wrap="square" anchor="t" lIns="0" rIns="0" tIns="0" bIns="0">
            <a:spAutoFit/>
          </a:bodyPr>
          <a:lstStyle/>
          <a:p>
            <a:pPr algn="r">
              <a:spcAft>
                <a:spcPts val="400"/>
              </a:spcAft>
            </a:pPr>
            <a:r>
              <a:rPr sz="900" b="0">
                <a:solidFill>
                  <a:srgbClr val="B9B4A9"/>
                </a:solidFill>
                <a:latin typeface="Calibri"/>
              </a:rPr>
              <a:t>153</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Claude AI Masterclass</dc:title>
  <dc:subject>C1382 · v5.2</dc:subject>
  <dc:creator>Tertiary Infotech Academy Pte Ltd</dc:creator>
  <cp:keywords/>
  <dc:description/>
  <cp:lastModifiedBy>Tertiary Infotech Academy Pte Ltd</cp:lastModifiedBy>
  <cp:revision>1</cp:revision>
  <dcterms:created xsi:type="dcterms:W3CDTF">2013-01-27T09:14:16Z</dcterms:created>
  <dcterms:modified xsi:type="dcterms:W3CDTF">2013-01-27T09:15:58Z</dcterms:modified>
  <cp:category/>
</cp:coreProperties>
</file>