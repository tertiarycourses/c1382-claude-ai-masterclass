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v6.0  ·  28 October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AI Masterclass</a:t>
            </a:r>
          </a:p>
        </p:txBody>
      </p:sp>
      <p:sp>
        <p:nvSpPr>
          <p:cNvPr id="8" name="TextBox 7"/>
          <p:cNvSpPr txBox="1"/>
          <p:nvPr/>
        </p:nvSpPr>
        <p:spPr>
          <a:xfrm>
            <a:off x="822960" y="3931920"/>
            <a:ext cx="8229600" cy="457200"/>
          </a:xfrm>
          <a:prstGeom prst="rect">
            <a:avLst/>
          </a:prstGeom>
          <a:noFill/>
        </p:spPr>
        <p:txBody>
          <a:bodyPr wrap="square" anchor="t" lIns="0" rIns="0" tIns="0" bIns="0">
            <a:spAutoFit/>
          </a:bodyPr>
          <a:lstStyle/>
          <a:p>
            <a:pPr algn="l">
              <a:spcAft>
                <a:spcPts val="400"/>
              </a:spcAft>
            </a:pPr>
            <a:r>
              <a:rPr sz="2200" b="1">
                <a:solidFill>
                  <a:srgbClr val="D97757"/>
                </a:solidFill>
                <a:latin typeface="Cambria"/>
              </a:rPr>
              <a:t>Threads Edition</a:t>
            </a:r>
          </a:p>
        </p:txBody>
      </p:sp>
      <p:sp>
        <p:nvSpPr>
          <p:cNvPr id="9" name="TextBox 8"/>
          <p:cNvSpPr txBox="1"/>
          <p:nvPr/>
        </p:nvSpPr>
        <p:spPr>
          <a:xfrm>
            <a:off x="822960" y="443484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Projects, threads, artefacts, connectors, skills and content — for marketing teams</a:t>
            </a:r>
          </a:p>
        </p:txBody>
      </p:sp>
      <p:sp>
        <p:nvSpPr>
          <p:cNvPr id="10" name="TextBox 9"/>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1" name="TextBox 10"/>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2" name="TextBox 11"/>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marketing work</a:t>
            </a:r>
          </a:p>
          <a:p>
            <a:pPr algn="l">
              <a:spcAft>
                <a:spcPts val="300"/>
              </a:spcAft>
            </a:pPr>
            <a:r>
              <a:rPr sz="1150" b="0">
                <a:solidFill>
                  <a:srgbClr val="6B6862"/>
                </a:solidFill>
                <a:latin typeface="Calibri"/>
              </a:rPr>
              <a:t>One piece of content or report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channels</a:t>
            </a:r>
          </a:p>
          <a:p>
            <a:pPr algn="l">
              <a:spcAft>
                <a:spcPts val="300"/>
              </a:spcAft>
            </a:pPr>
            <a:r>
              <a:rPr sz="1150" b="0">
                <a:solidFill>
                  <a:srgbClr val="6B6862"/>
                </a:solidFill>
                <a:latin typeface="Calibri"/>
              </a:rPr>
              <a:t>Which social platforms and tools your team actually uses.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Claude to take off your plate.</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61188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pic>
        <p:nvPicPr>
          <p:cNvPr id="10" name="Picture 9" descr="Claude Certified Associate"/>
          <p:cNvPicPr>
            <a:picLocks noChangeAspect="1"/>
          </p:cNvPicPr>
          <p:nvPr/>
        </p:nvPicPr>
        <p:blipFill>
          <a:blip r:embed="rId2"/>
          <a:stretch>
            <a:fillRect/>
          </a:stretch>
        </p:blipFill>
        <p:spPr>
          <a:xfrm>
            <a:off x="1691640" y="4005072"/>
            <a:ext cx="1005840" cy="1005840"/>
          </a:xfrm>
          <a:prstGeom prst="rect">
            <a:avLst/>
          </a:prstGeom>
        </p:spPr>
      </p:pic>
      <p:sp>
        <p:nvSpPr>
          <p:cNvPr id="11" name="Rectangle 10"/>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3" name="TextBox 12"/>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4" name="Rectangle 13"/>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6" name="TextBox 15"/>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7" name="Rectangle 16"/>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9" name="TextBox 18"/>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20" name="Rectangle 19"/>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2" name="TextBox 21"/>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Claude Certified Associate (Foundations), PMP, AWS, Microsoft, CompTIA, CKA, CKAD.</a:t>
            </a:r>
          </a:p>
        </p:txBody>
      </p:sp>
      <p:sp>
        <p:nvSpPr>
          <p:cNvPr id="23" name="Rectangle 22"/>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5" name="TextBox 24"/>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6" name="Rectangle 25"/>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8" name="TextBox 27"/>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block of theory is followed by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customer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publish</a:t>
            </a:r>
          </a:p>
          <a:p>
            <a:pPr algn="l">
              <a:spcAft>
                <a:spcPts val="300"/>
              </a:spcAft>
            </a:pPr>
            <a:r>
              <a:rPr sz="1150" b="0">
                <a:solidFill>
                  <a:srgbClr val="6B6862"/>
                </a:solidFill>
                <a:latin typeface="Calibri"/>
              </a:rPr>
              <a:t>Approve every post and email against the source facts.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Market Research</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family and setup</a:t>
            </a:r>
          </a:p>
          <a:p>
            <a:pPr algn="l">
              <a:spcAft>
                <a:spcPts val="800"/>
              </a:spcAft>
            </a:pPr>
            <a:r>
              <a:rPr sz="1200" b="0">
                <a:solidFill>
                  <a:srgbClr val="6B6862"/>
                </a:solidFill>
                <a:latin typeface="Calibri"/>
              </a:rPr>
              <a:t>•  Projects: goal, instructions, context, memory</a:t>
            </a:r>
          </a:p>
          <a:p>
            <a:pPr algn="l">
              <a:spcAft>
                <a:spcPts val="800"/>
              </a:spcAft>
            </a:pPr>
            <a:r>
              <a:rPr sz="1200" b="0">
                <a:solidFill>
                  <a:srgbClr val="6B6862"/>
                </a:solidFill>
                <a:latin typeface="Calibri"/>
              </a:rPr>
              <a:t>•  Lead agent and parallel threads</a:t>
            </a:r>
          </a:p>
          <a:p>
            <a:pPr algn="l">
              <a:spcAft>
                <a:spcPts val="800"/>
              </a:spcAft>
            </a:pPr>
            <a:r>
              <a:rPr sz="1200" b="0">
                <a:solidFill>
                  <a:srgbClr val="6B6862"/>
                </a:solidFill>
                <a:latin typeface="Calibri"/>
              </a:rPr>
              <a:t>•  Market research and Live Artefacts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Connectors, Skills and Plugins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Tools: built in, and added by connectors</a:t>
            </a:r>
          </a:p>
          <a:p>
            <a:pPr algn="l">
              <a:spcAft>
                <a:spcPts val="800"/>
              </a:spcAft>
            </a:pPr>
            <a:r>
              <a:rPr sz="1200" b="0">
                <a:solidFill>
                  <a:srgbClr val="6B6862"/>
                </a:solidFill>
                <a:latin typeface="Calibri"/>
              </a:rPr>
              <a:t>•  Drive and Gmail, tool calls and the context window</a:t>
            </a:r>
          </a:p>
          <a:p>
            <a:pPr algn="l">
              <a:spcAft>
                <a:spcPts val="800"/>
              </a:spcAft>
            </a:pPr>
            <a:r>
              <a:rPr sz="1200" b="0">
                <a:solidFill>
                  <a:srgbClr val="6B6862"/>
                </a:solidFill>
                <a:latin typeface="Calibri"/>
              </a:rPr>
              <a:t>•  Data analysis, Slides, Docs and built-in skills</a:t>
            </a:r>
          </a:p>
          <a:p>
            <a:pPr algn="l">
              <a:spcAft>
                <a:spcPts val="800"/>
              </a:spcAft>
            </a:pPr>
            <a:r>
              <a:rPr sz="1200" b="0">
                <a:solidFill>
                  <a:srgbClr val="6B6862"/>
                </a:solidFill>
                <a:latin typeface="Calibri"/>
              </a:rPr>
              <a:t>•  Agent Skills, plugins and mods</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Content Production and Scheduled Work</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One thread per channel</a:t>
            </a:r>
          </a:p>
          <a:p>
            <a:pPr algn="l">
              <a:spcAft>
                <a:spcPts val="800"/>
              </a:spcAft>
            </a:pPr>
            <a:r>
              <a:rPr sz="1200" b="0">
                <a:solidFill>
                  <a:srgbClr val="6B6862"/>
                </a:solidFill>
                <a:latin typeface="Calibri"/>
              </a:rPr>
              <a:t>•  Social post specs and brand checks</a:t>
            </a:r>
          </a:p>
          <a:p>
            <a:pPr algn="l">
              <a:spcAft>
                <a:spcPts val="800"/>
              </a:spcAft>
            </a:pPr>
            <a:r>
              <a:rPr sz="1200" b="0">
                <a:solidFill>
                  <a:srgbClr val="6B6862"/>
                </a:solidFill>
                <a:latin typeface="Calibri"/>
              </a:rPr>
              <a:t>•  Script, storyboard, render: the video pipeline</a:t>
            </a:r>
          </a:p>
          <a:p>
            <a:pPr algn="l">
              <a:spcAft>
                <a:spcPts val="800"/>
              </a:spcAft>
            </a:pPr>
            <a:r>
              <a:rPr sz="1200" b="0">
                <a:solidFill>
                  <a:srgbClr val="6B6862"/>
                </a:solidFill>
                <a:latin typeface="Calibri"/>
              </a:rPr>
              <a:t>•  Scheduled tasks, memory and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Tools: Drive and Gmail</a:t>
            </a:r>
          </a:p>
          <a:p>
            <a:pPr algn="l">
              <a:spcAft>
                <a:spcPts val="300"/>
              </a:spcAft>
            </a:pPr>
            <a:r>
              <a:rPr sz="950" b="0">
                <a:solidFill>
                  <a:srgbClr val="6B6862"/>
                </a:solidFill>
                <a:latin typeface="Calibri"/>
              </a:rPr>
              <a:t>Connect Google Drive and Gmail and use their tools to reconcile, search, save and draft, sending only what you approve.</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Analysis, Slides and Docs</a:t>
            </a:r>
          </a:p>
          <a:p>
            <a:pPr algn="l">
              <a:spcAft>
                <a:spcPts val="300"/>
              </a:spcAft>
            </a:pPr>
            <a:r>
              <a:rPr sz="950" b="0">
                <a:solidFill>
                  <a:srgbClr val="6B6862"/>
                </a:solidFill>
                <a:latin typeface="Calibri"/>
              </a:rPr>
              <a:t>Analyse survey data with Claude's code tool and Excel, and produce a launch deck and campaign brief with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use and update it on workplace messages,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9:00  Welcome</a:t>
            </a:r>
          </a:p>
          <a:p>
            <a:pPr algn="l">
              <a:spcAft>
                <a:spcPts val="300"/>
              </a:spcAft>
            </a:pPr>
            <a:r>
              <a:rPr sz="950" b="0">
                <a:solidFill>
                  <a:srgbClr val="21201C"/>
                </a:solidFill>
                <a:latin typeface="Calibri"/>
              </a:rPr>
              <a:t>•  9:15  Topic 1 — Claude Projects and Market Research</a:t>
            </a:r>
          </a:p>
          <a:p>
            <a:pPr algn="l">
              <a:spcAft>
                <a:spcPts val="300"/>
              </a:spcAft>
            </a:pPr>
            <a:r>
              <a:rPr sz="950" b="0">
                <a:solidFill>
                  <a:srgbClr val="21201C"/>
                </a:solidFill>
                <a:latin typeface="Calibri"/>
              </a:rPr>
              <a:t>•  9:45  Hands-on: Lab 1</a:t>
            </a:r>
          </a:p>
          <a:p>
            <a:pPr algn="l">
              <a:spcAft>
                <a:spcPts val="300"/>
              </a:spcAft>
            </a:pPr>
            <a:r>
              <a:rPr sz="950" b="0">
                <a:solidFill>
                  <a:srgbClr val="21201C"/>
                </a:solidFill>
                <a:latin typeface="Calibri"/>
              </a:rPr>
              <a:t>•  10:10  Tea break</a:t>
            </a:r>
          </a:p>
          <a:p>
            <a:pPr algn="l">
              <a:spcAft>
                <a:spcPts val="300"/>
              </a:spcAft>
            </a:pPr>
            <a:r>
              <a:rPr sz="950" b="0">
                <a:solidFill>
                  <a:srgbClr val="21201C"/>
                </a:solidFill>
                <a:latin typeface="Calibri"/>
              </a:rPr>
              <a:t>•  10:25  Hands-on: Lab 2</a:t>
            </a:r>
          </a:p>
          <a:p>
            <a:pPr algn="l">
              <a:spcAft>
                <a:spcPts val="300"/>
              </a:spcAft>
            </a:pPr>
            <a:r>
              <a:rPr sz="950" b="0">
                <a:solidFill>
                  <a:srgbClr val="21201C"/>
                </a:solidFill>
                <a:latin typeface="Calibri"/>
              </a:rPr>
              <a:t>•  11:00  Topic 1 — Live Artefacts</a:t>
            </a:r>
          </a:p>
          <a:p>
            <a:pPr algn="l">
              <a:spcAft>
                <a:spcPts val="300"/>
              </a:spcAft>
            </a:pPr>
            <a:r>
              <a:rPr sz="950" b="0">
                <a:solidFill>
                  <a:srgbClr val="21201C"/>
                </a:solidFill>
                <a:latin typeface="Calibri"/>
              </a:rPr>
              <a:t>•  11:10  Hands-on: Lab 3</a:t>
            </a:r>
          </a:p>
          <a:p>
            <a:pPr algn="l">
              <a:spcAft>
                <a:spcPts val="300"/>
              </a:spcAft>
            </a:pPr>
            <a:r>
              <a:rPr sz="950" b="0">
                <a:solidFill>
                  <a:srgbClr val="21201C"/>
                </a:solidFill>
                <a:latin typeface="Calibri"/>
              </a:rPr>
              <a:t>•  11:50  Topic 2 — Tools and Connectors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12:30  Lunch break</a:t>
            </a:r>
          </a:p>
          <a:p>
            <a:pPr algn="l">
              <a:spcAft>
                <a:spcPts val="300"/>
              </a:spcAft>
            </a:pPr>
            <a:r>
              <a:rPr sz="950" b="0">
                <a:solidFill>
                  <a:srgbClr val="21201C"/>
                </a:solidFill>
                <a:latin typeface="Calibri"/>
              </a:rPr>
              <a:t>•  13:30  Hands-on: Lab 4</a:t>
            </a:r>
          </a:p>
          <a:p>
            <a:pPr algn="l">
              <a:spcAft>
                <a:spcPts val="300"/>
              </a:spcAft>
            </a:pPr>
            <a:r>
              <a:rPr sz="950" b="0">
                <a:solidFill>
                  <a:srgbClr val="21201C"/>
                </a:solidFill>
                <a:latin typeface="Calibri"/>
              </a:rPr>
              <a:t>•  14:05  Topic 2 — Data Analysis, Slides, Docs and Agent Skills</a:t>
            </a:r>
          </a:p>
          <a:p>
            <a:pPr algn="l">
              <a:spcAft>
                <a:spcPts val="300"/>
              </a:spcAft>
            </a:pPr>
            <a:r>
              <a:rPr sz="950" b="0">
                <a:solidFill>
                  <a:srgbClr val="21201C"/>
                </a:solidFill>
                <a:latin typeface="Calibri"/>
              </a:rPr>
              <a:t>•  14:20  Hands-on: Lab 5</a:t>
            </a:r>
          </a:p>
          <a:p>
            <a:pPr algn="l">
              <a:spcAft>
                <a:spcPts val="300"/>
              </a:spcAft>
            </a:pPr>
            <a:r>
              <a:rPr sz="950" b="0">
                <a:solidFill>
                  <a:srgbClr val="21201C"/>
                </a:solidFill>
                <a:latin typeface="Calibri"/>
              </a:rPr>
              <a:t>•  14:55  Hands-on: Lab 6</a:t>
            </a:r>
          </a:p>
          <a:p>
            <a:pPr algn="l">
              <a:spcAft>
                <a:spcPts val="300"/>
              </a:spcAft>
            </a:pPr>
            <a:r>
              <a:rPr sz="950" b="0">
                <a:solidFill>
                  <a:srgbClr val="21201C"/>
                </a:solidFill>
                <a:latin typeface="Calibri"/>
              </a:rPr>
              <a:t>•  15:30  Tea break</a:t>
            </a:r>
          </a:p>
          <a:p>
            <a:pPr algn="l">
              <a:spcAft>
                <a:spcPts val="300"/>
              </a:spcAft>
            </a:pPr>
            <a:r>
              <a:rPr sz="950" b="0">
                <a:solidFill>
                  <a:srgbClr val="21201C"/>
                </a:solidFill>
                <a:latin typeface="Calibri"/>
              </a:rPr>
              <a:t>•  15:45  Topic 2 — Plugins and mods</a:t>
            </a:r>
          </a:p>
          <a:p>
            <a:pPr algn="l">
              <a:spcAft>
                <a:spcPts val="300"/>
              </a:spcAft>
            </a:pPr>
            <a:r>
              <a:rPr sz="950" b="0">
                <a:solidFill>
                  <a:srgbClr val="21201C"/>
                </a:solidFill>
                <a:latin typeface="Calibri"/>
              </a:rPr>
              <a:t>•  15:55  Hands-on: Lab 7</a:t>
            </a:r>
          </a:p>
          <a:p>
            <a:pPr algn="l">
              <a:spcAft>
                <a:spcPts val="300"/>
              </a:spcAft>
            </a:pPr>
            <a:r>
              <a:rPr sz="950" b="0">
                <a:solidFill>
                  <a:srgbClr val="21201C"/>
                </a:solidFill>
                <a:latin typeface="Calibri"/>
              </a:rPr>
              <a:t>•  16:20  Topic 3 — Content Production and Scheduled Work</a:t>
            </a:r>
          </a:p>
          <a:p>
            <a:pPr algn="l">
              <a:spcAft>
                <a:spcPts val="300"/>
              </a:spcAft>
            </a:pPr>
            <a:r>
              <a:rPr sz="950" b="0">
                <a:solidFill>
                  <a:srgbClr val="21201C"/>
                </a:solidFill>
                <a:latin typeface="Calibri"/>
              </a:rPr>
              <a:t>•  16:30  Hands-on: Lab 8</a:t>
            </a:r>
          </a:p>
          <a:p>
            <a:pPr algn="l">
              <a:spcAft>
                <a:spcPts val="300"/>
              </a:spcAft>
            </a:pPr>
            <a:r>
              <a:rPr sz="950" b="0">
                <a:solidFill>
                  <a:srgbClr val="21201C"/>
                </a:solidFill>
                <a:latin typeface="Calibri"/>
              </a:rPr>
              <a:t>•  17:05  Hands-on: Lab 9</a:t>
            </a:r>
          </a:p>
          <a:p>
            <a:pPr algn="l">
              <a:spcAft>
                <a:spcPts val="300"/>
              </a:spcAft>
            </a:pPr>
            <a:r>
              <a:rPr sz="950" b="0">
                <a:solidFill>
                  <a:srgbClr val="21201C"/>
                </a:solidFill>
                <a:latin typeface="Calibri"/>
              </a:rPr>
              <a:t>•  17:30  Hands-on: Lab 10</a:t>
            </a:r>
          </a:p>
          <a:p>
            <a:pPr algn="l">
              <a:spcAft>
                <a:spcPts val="300"/>
              </a:spcAft>
            </a:pPr>
            <a:r>
              <a:rPr sz="950" b="0">
                <a:solidFill>
                  <a:srgbClr val="21201C"/>
                </a:solidFill>
                <a:latin typeface="Calibri"/>
              </a:rPr>
              <a:t>•  17:50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BEFORE WE START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Course Materials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Open the prompts page now — you will paste from it in every lab.</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Copy-ready prompts</a:t>
            </a:r>
          </a:p>
          <a:p>
            <a:pPr algn="l">
              <a:spcAft>
                <a:spcPts val="300"/>
              </a:spcAft>
            </a:pPr>
            <a:r>
              <a:rPr sz="1150" b="0">
                <a:solidFill>
                  <a:srgbClr val="6B6862"/>
                </a:solidFill>
                <a:latin typeface="Calibri"/>
              </a:rPr>
              <a:t>https://tertiarycourses.github.io/C1382-Claude-AI-Masterclass/prompts/threads/ — every lab's prompt with a copy button. Keep it open in a browser tab all day.</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files and data</a:t>
            </a:r>
          </a:p>
          <a:p>
            <a:pPr algn="l">
              <a:spcAft>
                <a:spcPts val="300"/>
              </a:spcAft>
            </a:pPr>
            <a:r>
              <a:rPr sz="1150" b="0">
                <a:solidFill>
                  <a:srgbClr val="6B6862"/>
                </a:solidFill>
                <a:latin typeface="Calibri"/>
              </a:rPr>
              <a:t>https://github.com/tertiarycourses/C1382-Claude-AI-Masterclass — each lab folder holds its prompt PDF and, where needed, a data folder of mock files.</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Learner Guide</a:t>
            </a:r>
          </a:p>
          <a:p>
            <a:pPr algn="l">
              <a:spcAft>
                <a:spcPts val="300"/>
              </a:spcAft>
            </a:pPr>
            <a:r>
              <a:rPr sz="1150" b="0">
                <a:solidFill>
                  <a:srgbClr val="6B6862"/>
                </a:solidFill>
                <a:latin typeface="Calibri"/>
              </a:rPr>
              <a:t>The full step-by-step for every lab, the reason for each step, and the check to run at the end.</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The Lumo Cold Kopi launch</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It is late October 2026. Lumo Kopi Co. launches Lumo Cold Kopi, its first ready-to-drink canned kopi, in Singapore on 1 December — six weeks away — and in Kuala Lumpur in January. The marketing team is small, the budget is S$60,000, and nothing has been produced yet: no research, no deck, no posts, no video.</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THE SCENARIO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Brand, Ten Labs, One Project</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role</a:t>
            </a:r>
          </a:p>
          <a:p>
            <a:pPr algn="l">
              <a:spcAft>
                <a:spcPts val="300"/>
              </a:spcAft>
            </a:pPr>
            <a:r>
              <a:rPr sz="1150" b="0">
                <a:solidFill>
                  <a:srgbClr val="6B6862"/>
                </a:solidFill>
                <a:latin typeface="Calibri"/>
              </a:rPr>
              <a:t>You are the Lumo marketing team. Instead of juggling a dozen separate chats, you run the whole launch from one Claude Project. Its lead agent plans each job, starts parallel threads for the pieces, and brings the results back for you to check and approve.</a:t>
            </a:r>
          </a:p>
        </p:txBody>
      </p:sp>
      <p:sp>
        <p:nvSpPr>
          <p:cNvPr id="8" name="Rectangle 7"/>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19272"/>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mission</a:t>
            </a:r>
          </a:p>
          <a:p>
            <a:pPr algn="l">
              <a:spcAft>
                <a:spcPts val="300"/>
              </a:spcAft>
            </a:pPr>
            <a:r>
              <a:rPr sz="1150" b="0">
                <a:solidFill>
                  <a:srgbClr val="6B6862"/>
                </a:solidFill>
                <a:latin typeface="Calibri"/>
              </a:rPr>
              <a:t>By the end of the day the project holds everything the launch needs — verified market research, a dashboard, a deck and brief, a brand-voice skill, two weeks of social posts, a launch video — and scheduled tasks that keep it moving while you are away.</a:t>
            </a:r>
          </a:p>
        </p:txBody>
      </p:sp>
      <p:sp>
        <p:nvSpPr>
          <p:cNvPr id="11" name="Rectangle 10"/>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45736"/>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Synthetic data only</a:t>
            </a:r>
          </a:p>
          <a:p>
            <a:pPr algn="l">
              <a:spcAft>
                <a:spcPts val="300"/>
              </a:spcAft>
            </a:pPr>
            <a:r>
              <a:rPr sz="1150" b="0">
                <a:solidFill>
                  <a:srgbClr val="6B6862"/>
                </a:solidFill>
                <a:latin typeface="Calibri"/>
              </a:rPr>
              <a:t>All brands, figures, survey answers and documents in this course are synthetic and used for training only.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Claude Projects and Market Research</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family and setup</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Projects: goal, instructions, context, memory</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Lead agent and parallel threads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Market research and Live Artefacts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9" name="TextBox 8"/>
          <p:cNvSpPr txBox="1"/>
          <p:nvPr/>
        </p:nvSpPr>
        <p:spPr>
          <a:xfrm>
            <a:off x="82296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(Chat + Cowork)</a:t>
            </a:r>
          </a:p>
        </p:txBody>
      </p:sp>
      <p:sp>
        <p:nvSpPr>
          <p:cNvPr id="10" name="TextBox 9"/>
          <p:cNvSpPr txBox="1"/>
          <p:nvPr/>
        </p:nvSpPr>
        <p:spPr>
          <a:xfrm>
            <a:off x="82296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Chat + Cowork in one app — web, desktop &amp; mobile.</a:t>
            </a:r>
          </a:p>
        </p:txBody>
      </p:sp>
      <p:sp>
        <p:nvSpPr>
          <p:cNvPr id="11" name="Rectangle 10"/>
          <p:cNvSpPr/>
          <p:nvPr/>
        </p:nvSpPr>
        <p:spPr>
          <a:xfrm>
            <a:off x="429768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47802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Co</a:t>
            </a:r>
          </a:p>
        </p:txBody>
      </p:sp>
      <p:sp>
        <p:nvSpPr>
          <p:cNvPr id="14" name="TextBox 13"/>
          <p:cNvSpPr txBox="1"/>
          <p:nvPr/>
        </p:nvSpPr>
        <p:spPr>
          <a:xfrm>
            <a:off x="457200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457200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agentic tool for building — terminal, IDE &amp; web.</a:t>
            </a:r>
          </a:p>
        </p:txBody>
      </p:sp>
      <p:sp>
        <p:nvSpPr>
          <p:cNvPr id="16" name="Rectangle 15"/>
          <p:cNvSpPr/>
          <p:nvPr/>
        </p:nvSpPr>
        <p:spPr>
          <a:xfrm>
            <a:off x="804672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19" name="TextBox 18"/>
          <p:cNvSpPr txBox="1"/>
          <p:nvPr/>
        </p:nvSpPr>
        <p:spPr>
          <a:xfrm>
            <a:off x="832104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0" name="TextBox 19"/>
          <p:cNvSpPr txBox="1"/>
          <p:nvPr/>
        </p:nvSpPr>
        <p:spPr>
          <a:xfrm>
            <a:off x="832104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Polished UI, prototypes &amp; front-end designs.</a:t>
            </a:r>
          </a:p>
        </p:txBody>
      </p:sp>
      <p:sp>
        <p:nvSpPr>
          <p:cNvPr id="21" name="Rectangle 20"/>
          <p:cNvSpPr/>
          <p:nvPr/>
        </p:nvSpPr>
        <p:spPr>
          <a:xfrm>
            <a:off x="54864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4" name="TextBox 23"/>
          <p:cNvSpPr txBox="1"/>
          <p:nvPr/>
        </p:nvSpPr>
        <p:spPr>
          <a:xfrm>
            <a:off x="82296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25" name="TextBox 24"/>
          <p:cNvSpPr txBox="1"/>
          <p:nvPr/>
        </p:nvSpPr>
        <p:spPr>
          <a:xfrm>
            <a:off x="82296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Excel, PowerPoint, Word &amp; Outlook.</a:t>
            </a:r>
          </a:p>
        </p:txBody>
      </p:sp>
      <p:sp>
        <p:nvSpPr>
          <p:cNvPr id="26" name="Rectangle 25"/>
          <p:cNvSpPr/>
          <p:nvPr/>
        </p:nvSpPr>
        <p:spPr>
          <a:xfrm>
            <a:off x="429768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966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Ch</a:t>
            </a:r>
          </a:p>
        </p:txBody>
      </p:sp>
      <p:sp>
        <p:nvSpPr>
          <p:cNvPr id="29" name="TextBox 28"/>
          <p:cNvSpPr txBox="1"/>
          <p:nvPr/>
        </p:nvSpPr>
        <p:spPr>
          <a:xfrm>
            <a:off x="457200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0" name="TextBox 29"/>
          <p:cNvSpPr txBox="1"/>
          <p:nvPr/>
        </p:nvSpPr>
        <p:spPr>
          <a:xfrm>
            <a:off x="457200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clicks &amp; fills forms in Chrome.</a:t>
            </a:r>
          </a:p>
        </p:txBody>
      </p:sp>
      <p:sp>
        <p:nvSpPr>
          <p:cNvPr id="31" name="Rectangle 30"/>
          <p:cNvSpPr/>
          <p:nvPr/>
        </p:nvSpPr>
        <p:spPr>
          <a:xfrm>
            <a:off x="804672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210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4" name="TextBox 33"/>
          <p:cNvSpPr txBox="1"/>
          <p:nvPr/>
        </p:nvSpPr>
        <p:spPr>
          <a:xfrm>
            <a:off x="832104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35" name="TextBox 34"/>
          <p:cNvSpPr txBox="1"/>
          <p:nvPr/>
        </p:nvSpPr>
        <p:spPr>
          <a:xfrm>
            <a:off x="832104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36" name="TextBox 35"/>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 Projects span Claude and Claude Code.</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(Chat + Cowork) and Claude Code</a:t>
            </a:r>
          </a:p>
        </p:txBody>
      </p:sp>
      <p:sp>
        <p:nvSpPr>
          <p:cNvPr id="5" name="Oval 4"/>
          <p:cNvSpPr/>
          <p:nvPr/>
        </p:nvSpPr>
        <p:spPr>
          <a:xfrm>
            <a:off x="285521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5521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7" name="TextBox 6"/>
          <p:cNvSpPr txBox="1"/>
          <p:nvPr/>
        </p:nvSpPr>
        <p:spPr>
          <a:xfrm>
            <a:off x="54864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 + Cowork)</a:t>
            </a:r>
          </a:p>
        </p:txBody>
      </p:sp>
      <p:sp>
        <p:nvSpPr>
          <p:cNvPr id="8" name="TextBox 7"/>
          <p:cNvSpPr txBox="1"/>
          <p:nvPr/>
        </p:nvSpPr>
        <p:spPr>
          <a:xfrm>
            <a:off x="54864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and work partner — this course”</a:t>
            </a:r>
          </a:p>
        </p:txBody>
      </p:sp>
      <p:sp>
        <p:nvSpPr>
          <p:cNvPr id="9" name="Rectangle 8"/>
          <p:cNvSpPr/>
          <p:nvPr/>
        </p:nvSpPr>
        <p:spPr>
          <a:xfrm>
            <a:off x="320268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268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268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5745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Chat: ask, draft, analyse and research with web search</a:t>
            </a:r>
          </a:p>
          <a:p>
            <a:pPr algn="l">
              <a:spcAft>
                <a:spcPts val="700"/>
              </a:spcAft>
            </a:pPr>
            <a:r>
              <a:rPr sz="1250" b="0">
                <a:solidFill>
                  <a:srgbClr val="21201C"/>
                </a:solidFill>
                <a:latin typeface="Calibri"/>
              </a:rPr>
              <a:t>•  Cowork: plans and runs multi-step tasks on your files</a:t>
            </a:r>
          </a:p>
          <a:p>
            <a:pPr algn="l">
              <a:spcAft>
                <a:spcPts val="700"/>
              </a:spcAft>
            </a:pPr>
            <a:r>
              <a:rPr sz="1250" b="0">
                <a:solidFill>
                  <a:srgbClr val="21201C"/>
                </a:solidFill>
                <a:latin typeface="Calibri"/>
              </a:rPr>
              <a:t>•  Projects, connectors and skills: Drive, Gmail, Calendar</a:t>
            </a:r>
          </a:p>
          <a:p>
            <a:pPr algn="l">
              <a:spcAft>
                <a:spcPts val="700"/>
              </a:spcAft>
            </a:pPr>
            <a:r>
              <a:rPr sz="1250" b="0">
                <a:solidFill>
                  <a:srgbClr val="21201C"/>
                </a:solidFill>
                <a:latin typeface="Calibri"/>
              </a:rPr>
              <a:t>•  For everyone — web, desktop and mobile apps</a:t>
            </a:r>
          </a:p>
        </p:txBody>
      </p:sp>
      <p:sp>
        <p:nvSpPr>
          <p:cNvPr id="16" name="Oval 15"/>
          <p:cNvSpPr/>
          <p:nvPr/>
        </p:nvSpPr>
        <p:spPr>
          <a:xfrm>
            <a:off x="859307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307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a:t>
            </a:r>
          </a:p>
        </p:txBody>
      </p:sp>
      <p:sp>
        <p:nvSpPr>
          <p:cNvPr id="18" name="TextBox 17"/>
          <p:cNvSpPr txBox="1"/>
          <p:nvPr/>
        </p:nvSpPr>
        <p:spPr>
          <a:xfrm>
            <a:off x="628650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19" name="TextBox 18"/>
          <p:cNvSpPr txBox="1"/>
          <p:nvPr/>
        </p:nvSpPr>
        <p:spPr>
          <a:xfrm>
            <a:off x="628650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20" name="Rectangle 19"/>
          <p:cNvSpPr/>
          <p:nvPr/>
        </p:nvSpPr>
        <p:spPr>
          <a:xfrm>
            <a:off x="894054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054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054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8650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531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31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656082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Builds software, sites and automations</a:t>
            </a:r>
          </a:p>
          <a:p>
            <a:pPr algn="l">
              <a:spcAft>
                <a:spcPts val="700"/>
              </a:spcAft>
            </a:pPr>
            <a:r>
              <a:rPr sz="1250" b="0">
                <a:solidFill>
                  <a:srgbClr val="21201C"/>
                </a:solidFill>
                <a:latin typeface="Calibri"/>
              </a:rPr>
              <a:t>•  Runs in the terminal, VS Code, desktop app and web</a:t>
            </a:r>
          </a:p>
          <a:p>
            <a:pPr algn="l">
              <a:spcAft>
                <a:spcPts val="700"/>
              </a:spcAft>
            </a:pPr>
            <a:r>
              <a:rPr sz="1250" b="0">
                <a:solidFill>
                  <a:srgbClr val="21201C"/>
                </a:solidFill>
                <a:latin typeface="Calibri"/>
              </a:rPr>
              <a:t>•  Edits files, runs commands and calls MCP tools</a:t>
            </a:r>
          </a:p>
          <a:p>
            <a:pPr algn="l">
              <a:spcAft>
                <a:spcPts val="700"/>
              </a:spcAft>
            </a:pPr>
            <a:r>
              <a:rPr sz="1250" b="0">
                <a:solidFill>
                  <a:srgbClr val="21201C"/>
                </a:solidFill>
                <a:latin typeface="Calibri"/>
              </a:rPr>
              <a:t>•  Extended with CLAUDE.md, skills, sub agents and hooks</a:t>
            </a:r>
          </a:p>
        </p:txBody>
      </p:sp>
      <p:sp>
        <p:nvSpPr>
          <p:cNvPr id="27" name="TextBox 26"/>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Chat and Cowork are now one app: Claude. A marketing team works there — and a Project ties the work together around one goal.</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Brief History of AI, 2023–2026</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ChatGPT goes mainstream; results depend on the prompt wording.</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Models call tools and MCP launches; results depend on context.</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Claude Code &amp; Codex: systems that plan, act and check their work.</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AI Agents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Always-on agents work 24/7 — OpenClaw, Hermes Agent, agent teams.</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From wording one prompt → curating context → engineering the harness → AI agents that work around the clock.</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Cowork Mode Adds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 a chart, a video — and runs it for you.</a:t>
            </a:r>
          </a:p>
        </p:txBody>
      </p:sp>
      <p:sp>
        <p:nvSpPr>
          <p:cNvPr id="16" name="Rectangle 15"/>
          <p:cNvSpPr/>
          <p:nvPr/>
        </p:nvSpPr>
        <p:spPr>
          <a:xfrm>
            <a:off x="548640"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514088"/>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14088"/>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8493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493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623816"/>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Together these are why Claude finishes a task instead of describing how to do it.</a:t>
            </a:r>
          </a:p>
        </p:txBody>
      </p:sp>
      <p:sp>
        <p:nvSpPr>
          <p:cNvPr id="32" name="TextBox 3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4" name="TextBox 3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Plans and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Free lets you try Claude; Cowork, scheduled tasks and full Projects need Pro or Max.</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F</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Free</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$0. Chat, Slides, Docs, connectors and skills, up to five projects. Sonnet and Haiku.</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billed annually · $20 monthly. Cowork, scheduled tasks, the new Projects (beta), Opus.</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Pro's usage, priority at busy times, $100–$200/mo API credits.</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 · 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Team $20/seat annual ($25 monthly), premium seats $100. Enterprise $20/seat + usage.</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Parallel threads multiply usage: four threads cost roughly four times one chat. Watch Project settings → Usage.</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Usage resets every five hours, with weekly limits on paid plans. US$ prices as of 27 October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Your Plan and Usage</a:t>
            </a:r>
          </a:p>
        </p:txBody>
      </p:sp>
      <p:sp>
        <p:nvSpPr>
          <p:cNvPr id="5" name="Rectangle 4"/>
          <p:cNvSpPr/>
          <p:nvPr/>
        </p:nvSpPr>
        <p:spPr>
          <a:xfrm>
            <a:off x="1438864" y="1600200"/>
            <a:ext cx="5123271" cy="4297679"/>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38864" y="1600200"/>
            <a:ext cx="512327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ccount-menu.png"/>
          <p:cNvPicPr>
            <a:picLocks noChangeAspect="1"/>
          </p:cNvPicPr>
          <p:nvPr/>
        </p:nvPicPr>
        <p:blipFill>
          <a:blip r:embed="rId2"/>
          <a:stretch>
            <a:fillRect/>
          </a:stretch>
        </p:blipFill>
        <p:spPr>
          <a:xfrm>
            <a:off x="1548592" y="1709928"/>
            <a:ext cx="4903815" cy="4078223"/>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Usage</a:t>
            </a:r>
          </a:p>
          <a:p>
            <a:pPr algn="l">
              <a:spcAft>
                <a:spcPts val="300"/>
              </a:spcAft>
            </a:pPr>
            <a:r>
              <a:rPr sz="1250" b="0">
                <a:solidFill>
                  <a:srgbClr val="6B6862"/>
                </a:solidFill>
                <a:latin typeface="Calibri"/>
              </a:rPr>
              <a:t>How much of your five-hour and weekly limits you have used.</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View all plans</a:t>
            </a:r>
          </a:p>
          <a:p>
            <a:pPr algn="l">
              <a:spcAft>
                <a:spcPts val="300"/>
              </a:spcAft>
            </a:pPr>
            <a:r>
              <a:rPr sz="1250" b="0">
                <a:solidFill>
                  <a:srgbClr val="6B6862"/>
                </a:solidFill>
                <a:latin typeface="Calibri"/>
              </a:rPr>
              <a:t>Compare Free, Pro, Max, Team and Enterprise, and upgrade.</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Settings</a:t>
            </a:r>
          </a:p>
          <a:p>
            <a:pPr algn="l">
              <a:spcAft>
                <a:spcPts val="300"/>
              </a:spcAft>
            </a:pPr>
            <a:r>
              <a:rPr sz="1250" b="0">
                <a:solidFill>
                  <a:srgbClr val="6B6862"/>
                </a:solidFill>
                <a:latin typeface="Calibri"/>
              </a:rPr>
              <a:t>Your profile, connectors and capabilities. Shortcut: Ctrl + comma.</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Click your name at the bottom of the sidebar — the plan shows beside it (here, Max).</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Models: Haiku, Sonnet, Opus and Fable</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families, smallest to most capable; all read up to 1M tokens. API prices are US$ per million tokens, input · output.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Model</a:t>
            </a:r>
          </a:p>
        </p:txBody>
      </p:sp>
      <p:sp>
        <p:nvSpPr>
          <p:cNvPr id="7" name="TextBox 6"/>
          <p:cNvSpPr txBox="1"/>
          <p:nvPr/>
        </p:nvSpPr>
        <p:spPr>
          <a:xfrm>
            <a:off x="3154680" y="2194560"/>
            <a:ext cx="244381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it is</a:t>
            </a:r>
          </a:p>
        </p:txBody>
      </p:sp>
      <p:sp>
        <p:nvSpPr>
          <p:cNvPr id="8" name="TextBox 7"/>
          <p:cNvSpPr txBox="1"/>
          <p:nvPr/>
        </p:nvSpPr>
        <p:spPr>
          <a:xfrm>
            <a:off x="5827098" y="2194560"/>
            <a:ext cx="283260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Use it for</a:t>
            </a:r>
          </a:p>
        </p:txBody>
      </p:sp>
      <p:sp>
        <p:nvSpPr>
          <p:cNvPr id="9" name="TextBox 8"/>
          <p:cNvSpPr txBox="1"/>
          <p:nvPr/>
        </p:nvSpPr>
        <p:spPr>
          <a:xfrm>
            <a:off x="8888306" y="2194560"/>
            <a:ext cx="77757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API price</a:t>
            </a:r>
          </a:p>
        </p:txBody>
      </p:sp>
      <p:sp>
        <p:nvSpPr>
          <p:cNvPr id="10" name="TextBox 9"/>
          <p:cNvSpPr txBox="1"/>
          <p:nvPr/>
        </p:nvSpPr>
        <p:spPr>
          <a:xfrm>
            <a:off x="9894484" y="2194560"/>
            <a:ext cx="144407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On plans</a:t>
            </a:r>
          </a:p>
        </p:txBody>
      </p:sp>
      <p:sp>
        <p:nvSpPr>
          <p:cNvPr id="11" name="Rectangle 10"/>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5176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Haiku 5.5</a:t>
            </a:r>
          </a:p>
        </p:txBody>
      </p:sp>
      <p:sp>
        <p:nvSpPr>
          <p:cNvPr id="13" name="TextBox 12"/>
          <p:cNvSpPr txBox="1"/>
          <p:nvPr/>
        </p:nvSpPr>
        <p:spPr>
          <a:xfrm>
            <a:off x="3154680" y="265176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Fastest, most cost-efficient</a:t>
            </a:r>
          </a:p>
        </p:txBody>
      </p:sp>
      <p:sp>
        <p:nvSpPr>
          <p:cNvPr id="14" name="TextBox 13"/>
          <p:cNvSpPr txBox="1"/>
          <p:nvPr/>
        </p:nvSpPr>
        <p:spPr>
          <a:xfrm>
            <a:off x="5827098" y="265176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Quick, high-volume jobs: tagging, short replies</a:t>
            </a:r>
          </a:p>
        </p:txBody>
      </p:sp>
      <p:sp>
        <p:nvSpPr>
          <p:cNvPr id="15" name="TextBox 14"/>
          <p:cNvSpPr txBox="1"/>
          <p:nvPr/>
        </p:nvSpPr>
        <p:spPr>
          <a:xfrm>
            <a:off x="8888306" y="265176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$0.10 / $0.50</a:t>
            </a:r>
          </a:p>
        </p:txBody>
      </p:sp>
      <p:sp>
        <p:nvSpPr>
          <p:cNvPr id="16" name="TextBox 15"/>
          <p:cNvSpPr txBox="1"/>
          <p:nvPr/>
        </p:nvSpPr>
        <p:spPr>
          <a:xfrm>
            <a:off x="9894484" y="265176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All plans</a:t>
            </a:r>
          </a:p>
        </p:txBody>
      </p:sp>
      <p:sp>
        <p:nvSpPr>
          <p:cNvPr id="17" name="Rectangle 16"/>
          <p:cNvSpPr/>
          <p:nvPr/>
        </p:nvSpPr>
        <p:spPr>
          <a:xfrm>
            <a:off x="822960" y="339471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39471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Sonnet 5.5</a:t>
            </a:r>
          </a:p>
        </p:txBody>
      </p:sp>
      <p:sp>
        <p:nvSpPr>
          <p:cNvPr id="19" name="TextBox 18"/>
          <p:cNvSpPr txBox="1"/>
          <p:nvPr/>
        </p:nvSpPr>
        <p:spPr>
          <a:xfrm>
            <a:off x="3154680" y="339471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 performance for coding and agents</a:t>
            </a:r>
          </a:p>
        </p:txBody>
      </p:sp>
      <p:sp>
        <p:nvSpPr>
          <p:cNvPr id="20" name="TextBox 19"/>
          <p:cNvSpPr txBox="1"/>
          <p:nvPr/>
        </p:nvSpPr>
        <p:spPr>
          <a:xfrm>
            <a:off x="5827098" y="339471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Everyday drafting, research and analysis</a:t>
            </a:r>
          </a:p>
        </p:txBody>
      </p:sp>
      <p:sp>
        <p:nvSpPr>
          <p:cNvPr id="21" name="TextBox 20"/>
          <p:cNvSpPr txBox="1"/>
          <p:nvPr/>
        </p:nvSpPr>
        <p:spPr>
          <a:xfrm>
            <a:off x="8888306" y="339471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$2 / $10</a:t>
            </a:r>
          </a:p>
        </p:txBody>
      </p:sp>
      <p:sp>
        <p:nvSpPr>
          <p:cNvPr id="22" name="TextBox 21"/>
          <p:cNvSpPr txBox="1"/>
          <p:nvPr/>
        </p:nvSpPr>
        <p:spPr>
          <a:xfrm>
            <a:off x="9894484" y="339471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All plans</a:t>
            </a:r>
          </a:p>
        </p:txBody>
      </p:sp>
      <p:sp>
        <p:nvSpPr>
          <p:cNvPr id="23" name="Rectangle 22"/>
          <p:cNvSpPr/>
          <p:nvPr/>
        </p:nvSpPr>
        <p:spPr>
          <a:xfrm>
            <a:off x="822960" y="41376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13766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Opus 5.5</a:t>
            </a:r>
          </a:p>
        </p:txBody>
      </p:sp>
      <p:sp>
        <p:nvSpPr>
          <p:cNvPr id="25" name="TextBox 24"/>
          <p:cNvSpPr txBox="1"/>
          <p:nvPr/>
        </p:nvSpPr>
        <p:spPr>
          <a:xfrm>
            <a:off x="3154680" y="413766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Daily driver for agentic and enterprise work</a:t>
            </a:r>
          </a:p>
        </p:txBody>
      </p:sp>
      <p:sp>
        <p:nvSpPr>
          <p:cNvPr id="26" name="TextBox 25"/>
          <p:cNvSpPr txBox="1"/>
          <p:nvPr/>
        </p:nvSpPr>
        <p:spPr>
          <a:xfrm>
            <a:off x="5827098" y="413766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Multi-step projects, parallel work, careful reviews</a:t>
            </a:r>
          </a:p>
        </p:txBody>
      </p:sp>
      <p:sp>
        <p:nvSpPr>
          <p:cNvPr id="27" name="TextBox 26"/>
          <p:cNvSpPr txBox="1"/>
          <p:nvPr/>
        </p:nvSpPr>
        <p:spPr>
          <a:xfrm>
            <a:off x="8888306" y="413766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$4 / $20</a:t>
            </a:r>
          </a:p>
        </p:txBody>
      </p:sp>
      <p:sp>
        <p:nvSpPr>
          <p:cNvPr id="28" name="TextBox 27"/>
          <p:cNvSpPr txBox="1"/>
          <p:nvPr/>
        </p:nvSpPr>
        <p:spPr>
          <a:xfrm>
            <a:off x="9894484" y="413766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 and above</a:t>
            </a:r>
          </a:p>
        </p:txBody>
      </p:sp>
      <p:sp>
        <p:nvSpPr>
          <p:cNvPr id="29" name="Rectangle 28"/>
          <p:cNvSpPr/>
          <p:nvPr/>
        </p:nvSpPr>
        <p:spPr>
          <a:xfrm>
            <a:off x="822960" y="488061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88061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Fable 5.1</a:t>
            </a:r>
          </a:p>
        </p:txBody>
      </p:sp>
      <p:sp>
        <p:nvSpPr>
          <p:cNvPr id="31" name="TextBox 30"/>
          <p:cNvSpPr txBox="1"/>
          <p:nvPr/>
        </p:nvSpPr>
        <p:spPr>
          <a:xfrm>
            <a:off x="3154680" y="488061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Most capable, for long-running agents</a:t>
            </a:r>
          </a:p>
        </p:txBody>
      </p:sp>
      <p:sp>
        <p:nvSpPr>
          <p:cNvPr id="32" name="TextBox 31"/>
          <p:cNvSpPr txBox="1"/>
          <p:nvPr/>
        </p:nvSpPr>
        <p:spPr>
          <a:xfrm>
            <a:off x="5827098" y="488061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hardest, longest jobs</a:t>
            </a:r>
          </a:p>
        </p:txBody>
      </p:sp>
      <p:sp>
        <p:nvSpPr>
          <p:cNvPr id="33" name="TextBox 32"/>
          <p:cNvSpPr txBox="1"/>
          <p:nvPr/>
        </p:nvSpPr>
        <p:spPr>
          <a:xfrm>
            <a:off x="8888306" y="488061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$10 / $50</a:t>
            </a:r>
          </a:p>
        </p:txBody>
      </p:sp>
      <p:sp>
        <p:nvSpPr>
          <p:cNvPr id="34" name="TextBox 33"/>
          <p:cNvSpPr txBox="1"/>
          <p:nvPr/>
        </p:nvSpPr>
        <p:spPr>
          <a:xfrm>
            <a:off x="9894484" y="488061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Max; Pro via usage credits</a:t>
            </a:r>
          </a:p>
        </p:txBody>
      </p:sp>
      <p:sp>
        <p:nvSpPr>
          <p:cNvPr id="35" name="Rectangle 34"/>
          <p:cNvSpPr/>
          <p:nvPr/>
        </p:nvSpPr>
        <p:spPr>
          <a:xfrm>
            <a:off x="822960" y="56235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Pick the model from the model menu. Bigger models think harder and use more of your plan — save Fable for the jobs that need it.</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Pick a Model in the App</a:t>
            </a:r>
          </a:p>
        </p:txBody>
      </p:sp>
      <p:sp>
        <p:nvSpPr>
          <p:cNvPr id="5" name="Rectangle 4"/>
          <p:cNvSpPr/>
          <p:nvPr/>
        </p:nvSpPr>
        <p:spPr>
          <a:xfrm>
            <a:off x="548640" y="1811137"/>
            <a:ext cx="6903720" cy="3875805"/>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11137"/>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model-menu.png"/>
          <p:cNvPicPr>
            <a:picLocks noChangeAspect="1"/>
          </p:cNvPicPr>
          <p:nvPr/>
        </p:nvPicPr>
        <p:blipFill>
          <a:blip r:embed="rId2"/>
          <a:stretch>
            <a:fillRect/>
          </a:stretch>
        </p:blipFill>
        <p:spPr>
          <a:xfrm>
            <a:off x="658368" y="1920865"/>
            <a:ext cx="6684264" cy="3656349"/>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Fable 5.1</a:t>
            </a:r>
          </a:p>
          <a:p>
            <a:pPr algn="l">
              <a:spcAft>
                <a:spcPts val="300"/>
              </a:spcAft>
            </a:pPr>
            <a:r>
              <a:rPr sz="1250" b="0">
                <a:solidFill>
                  <a:srgbClr val="6B6862"/>
                </a:solidFill>
                <a:latin typeface="Calibri"/>
              </a:rPr>
              <a:t>For your toughest challenges — uses the most of your plan.</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Opus 5.5</a:t>
            </a:r>
          </a:p>
          <a:p>
            <a:pPr algn="l">
              <a:spcAft>
                <a:spcPts val="300"/>
              </a:spcAft>
            </a:pPr>
            <a:r>
              <a:rPr sz="1250" b="0">
                <a:solidFill>
                  <a:srgbClr val="6B6862"/>
                </a:solidFill>
                <a:latin typeface="Calibri"/>
              </a:rPr>
              <a:t>Complex work and everyday tasks.</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Sonnet 5.5</a:t>
            </a:r>
          </a:p>
          <a:p>
            <a:pPr algn="l">
              <a:spcAft>
                <a:spcPts val="300"/>
              </a:spcAft>
            </a:pPr>
            <a:r>
              <a:rPr sz="1250" b="0">
                <a:solidFill>
                  <a:srgbClr val="6B6862"/>
                </a:solidFill>
                <a:latin typeface="Calibri"/>
              </a:rPr>
              <a:t>Efficient for most jobs — a sensible default.</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Haiku 5.5</a:t>
            </a:r>
          </a:p>
          <a:p>
            <a:pPr algn="l">
              <a:spcAft>
                <a:spcPts val="300"/>
              </a:spcAft>
            </a:pPr>
            <a:r>
              <a:rPr sz="1250" b="0">
                <a:solidFill>
                  <a:srgbClr val="6B6862"/>
                </a:solidFill>
                <a:latin typeface="Calibri"/>
              </a:rPr>
              <a:t>Fastest, for quick answers.</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model menu sits under the message box of every new session.</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Effort: How Hard Claude Thinks</a:t>
            </a:r>
          </a:p>
        </p:txBody>
      </p:sp>
      <p:sp>
        <p:nvSpPr>
          <p:cNvPr id="5" name="Rectangle 4"/>
          <p:cNvSpPr/>
          <p:nvPr/>
        </p:nvSpPr>
        <p:spPr>
          <a:xfrm>
            <a:off x="548640" y="1624329"/>
            <a:ext cx="6903720" cy="4249422"/>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24329"/>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effort-menu.png"/>
          <p:cNvPicPr>
            <a:picLocks noChangeAspect="1"/>
          </p:cNvPicPr>
          <p:nvPr/>
        </p:nvPicPr>
        <p:blipFill>
          <a:blip r:embed="rId2"/>
          <a:stretch>
            <a:fillRect/>
          </a:stretch>
        </p:blipFill>
        <p:spPr>
          <a:xfrm>
            <a:off x="658368" y="1734057"/>
            <a:ext cx="6684264" cy="4029966"/>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Low · Medium</a:t>
            </a:r>
          </a:p>
          <a:p>
            <a:pPr algn="l">
              <a:spcAft>
                <a:spcPts val="300"/>
              </a:spcAft>
            </a:pPr>
            <a:r>
              <a:rPr sz="1250" b="0">
                <a:solidFill>
                  <a:srgbClr val="6B6862"/>
                </a:solidFill>
                <a:latin typeface="Calibri"/>
              </a:rPr>
              <a:t>Quick, everyday work. Medium is the recommended default.</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High · Extra</a:t>
            </a:r>
          </a:p>
          <a:p>
            <a:pPr algn="l">
              <a:spcAft>
                <a:spcPts val="300"/>
              </a:spcAft>
            </a:pPr>
            <a:r>
              <a:rPr sz="1250" b="0">
                <a:solidFill>
                  <a:srgbClr val="6B6862"/>
                </a:solidFill>
                <a:latin typeface="Calibri"/>
              </a:rPr>
              <a:t>Harder problems: more thorough, but slower and uses your limits faster.</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Max</a:t>
            </a:r>
          </a:p>
          <a:p>
            <a:pPr algn="l">
              <a:spcAft>
                <a:spcPts val="300"/>
              </a:spcAft>
            </a:pPr>
            <a:r>
              <a:rPr sz="1250" b="0">
                <a:solidFill>
                  <a:srgbClr val="6B6862"/>
                </a:solidFill>
                <a:latin typeface="Calibri"/>
              </a:rPr>
              <a:t>Five times or more the usage — save it for the hardest job.</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Model menu → Effort. Medium is recommended for most work.</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mode and Live Artefacts run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Projects, Cowork and Live Artefacts all run there.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Use the account that has your Pro or Max subscription — the new Projects are in beta on those plans.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Find Projects</a:t>
            </a:r>
          </a:p>
          <a:p>
            <a:pPr algn="l">
              <a:spcAft>
                <a:spcPts val="300"/>
              </a:spcAft>
            </a:pPr>
            <a:r>
              <a:rPr sz="1150" b="0">
                <a:solidFill>
                  <a:srgbClr val="6B6862"/>
                </a:solidFill>
                <a:latin typeface="Calibri"/>
              </a:rPr>
              <a:t>Open Projects from the sidebar. If you cannot see it yet, the beta has not reached your account — use Cowork mode instead.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the lab files</a:t>
            </a:r>
          </a:p>
          <a:p>
            <a:pPr algn="l">
              <a:spcAft>
                <a:spcPts val="300"/>
              </a:spcAft>
            </a:pPr>
            <a:r>
              <a:rPr sz="1150" b="0">
                <a:solidFill>
                  <a:srgbClr val="6B6862"/>
                </a:solidFill>
                <a:latin typeface="Calibri"/>
              </a:rPr>
              <a:t>Get the course labs from the GitHub repository; each lab has a prompt PDF and a data folder.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a lab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Local work stops when the app closes. Cloud environments keep going — covered in Topic 3.</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Permission Mode: Manual or Auto</a:t>
            </a:r>
          </a:p>
        </p:txBody>
      </p:sp>
      <p:sp>
        <p:nvSpPr>
          <p:cNvPr id="5" name="Rectangle 4"/>
          <p:cNvSpPr/>
          <p:nvPr/>
        </p:nvSpPr>
        <p:spPr>
          <a:xfrm>
            <a:off x="1206371" y="1600200"/>
            <a:ext cx="5588257"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6371" y="1600200"/>
            <a:ext cx="5588257"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ermission-mode.png"/>
          <p:cNvPicPr>
            <a:picLocks noChangeAspect="1"/>
          </p:cNvPicPr>
          <p:nvPr/>
        </p:nvPicPr>
        <p:blipFill>
          <a:blip r:embed="rId2"/>
          <a:stretch>
            <a:fillRect/>
          </a:stretch>
        </p:blipFill>
        <p:spPr>
          <a:xfrm>
            <a:off x="1316099" y="1709928"/>
            <a:ext cx="5368801"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Manual</a:t>
            </a:r>
          </a:p>
          <a:p>
            <a:pPr algn="l">
              <a:spcAft>
                <a:spcPts val="300"/>
              </a:spcAft>
            </a:pPr>
            <a:r>
              <a:rPr sz="1250" b="0">
                <a:solidFill>
                  <a:srgbClr val="6B6862"/>
                </a:solidFill>
                <a:latin typeface="Calibri"/>
              </a:rPr>
              <a:t>Claude asks before it uses a new tool or opens a new site.</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Auto</a:t>
            </a:r>
          </a:p>
          <a:p>
            <a:pPr algn="l">
              <a:spcAft>
                <a:spcPts val="300"/>
              </a:spcAft>
            </a:pPr>
            <a:r>
              <a:rPr sz="1250" b="0">
                <a:solidFill>
                  <a:srgbClr val="6B6862"/>
                </a:solidFill>
                <a:latin typeface="Calibri"/>
              </a:rPr>
              <a:t>Claude runs on its own and pauses to ask only if something looks unsafe.</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Which to use</a:t>
            </a:r>
          </a:p>
          <a:p>
            <a:pPr algn="l">
              <a:spcAft>
                <a:spcPts val="300"/>
              </a:spcAft>
            </a:pPr>
            <a:r>
              <a:rPr sz="1250" b="0">
                <a:solidFill>
                  <a:srgbClr val="6B6862"/>
                </a:solidFill>
                <a:latin typeface="Calibri"/>
              </a:rPr>
              <a:t>Manual while you learn a new connector; Auto once you trust the job.</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menu beside the model sets how freely Claude acts in a session.</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New Claude Projects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You stop managing chats and start briefing a team.</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Before — one chat per job</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chat for copy, one for visuals, one for competitors.</a:t>
            </a:r>
          </a:p>
          <a:p>
            <a:pPr algn="l">
              <a:spcAft>
                <a:spcPts val="900"/>
              </a:spcAft>
            </a:pPr>
            <a:r>
              <a:rPr sz="1250" b="0">
                <a:solidFill>
                  <a:srgbClr val="21201C"/>
                </a:solidFill>
                <a:latin typeface="Calibri"/>
              </a:rPr>
              <a:t>•  Re-explain the brand in every new chat.</a:t>
            </a:r>
          </a:p>
          <a:p>
            <a:pPr algn="l">
              <a:spcAft>
                <a:spcPts val="900"/>
              </a:spcAft>
            </a:pPr>
            <a:r>
              <a:rPr sz="1250" b="0">
                <a:solidFill>
                  <a:srgbClr val="21201C"/>
                </a:solidFill>
                <a:latin typeface="Calibri"/>
              </a:rPr>
              <a:t>•  Copy and paste results between chats yourself.</a:t>
            </a:r>
          </a:p>
          <a:p>
            <a:pPr algn="l">
              <a:spcAft>
                <a:spcPts val="900"/>
              </a:spcAft>
            </a:pPr>
            <a:r>
              <a:rPr sz="1250" b="0">
                <a:solidFill>
                  <a:srgbClr val="21201C"/>
                </a:solidFill>
                <a:latin typeface="Calibri"/>
              </a:rPr>
              <a:t>•  Nothing happens while your laptop is closed.</a:t>
            </a:r>
          </a:p>
          <a:p>
            <a:pPr algn="l">
              <a:spcAft>
                <a:spcPts val="900"/>
              </a:spcAft>
            </a:pPr>
            <a:r>
              <a:rPr sz="1250" b="0">
                <a:solidFill>
                  <a:srgbClr val="21201C"/>
                </a:solidFill>
                <a:latin typeface="Calibri"/>
              </a:rPr>
              <a:t>•  You are the project manager.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Now — a Project with a lead agent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state the goal once, to the lead agent.</a:t>
            </a:r>
          </a:p>
          <a:p>
            <a:pPr algn="l">
              <a:spcAft>
                <a:spcPts val="900"/>
              </a:spcAft>
            </a:pPr>
            <a:r>
              <a:rPr sz="1250" b="0">
                <a:solidFill>
                  <a:srgbClr val="21201C"/>
                </a:solidFill>
                <a:latin typeface="Calibri"/>
              </a:rPr>
              <a:t>•  It splits the work and starts parallel threads.</a:t>
            </a:r>
          </a:p>
          <a:p>
            <a:pPr algn="l">
              <a:spcAft>
                <a:spcPts val="900"/>
              </a:spcAft>
            </a:pPr>
            <a:r>
              <a:rPr sz="1250" b="0">
                <a:solidFill>
                  <a:srgbClr val="21201C"/>
                </a:solidFill>
                <a:latin typeface="Calibri"/>
              </a:rPr>
              <a:t>•  Each thread reports back; the lead merges the results.</a:t>
            </a:r>
          </a:p>
          <a:p>
            <a:pPr algn="l">
              <a:spcAft>
                <a:spcPts val="900"/>
              </a:spcAft>
            </a:pPr>
            <a:r>
              <a:rPr sz="1250" b="0">
                <a:solidFill>
                  <a:srgbClr val="21201C"/>
                </a:solidFill>
                <a:latin typeface="Calibri"/>
              </a:rPr>
              <a:t>•  Goal, memory and context persist across every thread.</a:t>
            </a:r>
          </a:p>
          <a:p>
            <a:pPr algn="l">
              <a:spcAft>
                <a:spcPts val="900"/>
              </a:spcAft>
            </a:pPr>
            <a:r>
              <a:rPr sz="1250" b="0">
                <a:solidFill>
                  <a:srgbClr val="21201C"/>
                </a:solidFill>
                <a:latin typeface="Calibri"/>
              </a:rPr>
              <a:t>•  It only comes back to you when it needs a decision.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vs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keeps the setup; a session does one piece of work inside it.</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session — one piece of work</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One conversation with Claude: a chat, or a thread the lead agent starts.</a:t>
            </a:r>
          </a:p>
          <a:p>
            <a:pPr algn="l">
              <a:spcAft>
                <a:spcPts val="900"/>
              </a:spcAft>
            </a:pPr>
            <a:r>
              <a:rPr sz="1250" b="0">
                <a:solidFill>
                  <a:srgbClr val="21201C"/>
                </a:solidFill>
                <a:latin typeface="Calibri"/>
              </a:rPr>
              <a:t>•  Has its own context window, which fills up as you work.</a:t>
            </a:r>
          </a:p>
          <a:p>
            <a:pPr algn="l">
              <a:spcAft>
                <a:spcPts val="900"/>
              </a:spcAft>
            </a:pPr>
            <a:r>
              <a:rPr sz="1250" b="0">
                <a:solidFill>
                  <a:srgbClr val="21201C"/>
                </a:solidFill>
                <a:latin typeface="Calibri"/>
              </a:rPr>
              <a:t>•  Ends when the job is done; the next session starts blank.</a:t>
            </a:r>
          </a:p>
          <a:p>
            <a:pPr algn="l">
              <a:spcAft>
                <a:spcPts val="900"/>
              </a:spcAft>
            </a:pPr>
            <a:r>
              <a:rPr sz="1250" b="0">
                <a:solidFill>
                  <a:srgbClr val="21201C"/>
                </a:solidFill>
                <a:latin typeface="Calibri"/>
              </a:rPr>
              <a:t>•  Remembers only what was said inside it.</a:t>
            </a:r>
          </a:p>
          <a:p>
            <a:pPr algn="l">
              <a:spcAft>
                <a:spcPts val="900"/>
              </a:spcAft>
            </a:pPr>
            <a:r>
              <a:rPr sz="1250" b="0">
                <a:solidFill>
                  <a:srgbClr val="21201C"/>
                </a:solidFill>
                <a:latin typeface="Calibri"/>
              </a:rPr>
              <a:t>•  Lumo: “Draft the Instagram launch post.”</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project — the whole goal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lasting workspace that holds many sessions.</a:t>
            </a:r>
          </a:p>
          <a:p>
            <a:pPr algn="l">
              <a:spcAft>
                <a:spcPts val="900"/>
              </a:spcAft>
            </a:pPr>
            <a:r>
              <a:rPr sz="1250" b="0">
                <a:solidFill>
                  <a:srgbClr val="21201C"/>
                </a:solidFill>
                <a:latin typeface="Calibri"/>
              </a:rPr>
              <a:t>•  Its goal, instructions, context and memory load into every session.</a:t>
            </a:r>
          </a:p>
          <a:p>
            <a:pPr algn="l">
              <a:spcAft>
                <a:spcPts val="900"/>
              </a:spcAft>
            </a:pPr>
            <a:r>
              <a:rPr sz="1250" b="0">
                <a:solidFill>
                  <a:srgbClr val="21201C"/>
                </a:solidFill>
                <a:latin typeface="Calibri"/>
              </a:rPr>
              <a:t>•  Stays until you delete it — for weeks or months.</a:t>
            </a:r>
          </a:p>
          <a:p>
            <a:pPr algn="l">
              <a:spcAft>
                <a:spcPts val="900"/>
              </a:spcAft>
            </a:pPr>
            <a:r>
              <a:rPr sz="1250" b="0">
                <a:solidFill>
                  <a:srgbClr val="21201C"/>
                </a:solidFill>
                <a:latin typeface="Calibri"/>
              </a:rPr>
              <a:t>•  What one session learns, the next can use, through memory.</a:t>
            </a:r>
          </a:p>
          <a:p>
            <a:pPr algn="l">
              <a:spcAft>
                <a:spcPts val="900"/>
              </a:spcAft>
            </a:pPr>
            <a:r>
              <a:rPr sz="1250" b="0">
                <a:solidFill>
                  <a:srgbClr val="21201C"/>
                </a:solidFill>
                <a:latin typeface="Calibri"/>
              </a:rPr>
              <a:t>•  Lumo: “Lumo Cold Kopi Launch.”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Session, Thread and Agent</a:t>
            </a:r>
          </a:p>
        </p:txBody>
      </p:sp>
      <p:sp>
        <p:nvSpPr>
          <p:cNvPr id="5" name="Rectangle 4"/>
          <p:cNvSpPr/>
          <p:nvPr/>
        </p:nvSpPr>
        <p:spPr>
          <a:xfrm>
            <a:off x="548640" y="2057400"/>
            <a:ext cx="11091672"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31436"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31436"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Rectangle 7"/>
          <p:cNvSpPr/>
          <p:nvPr/>
        </p:nvSpPr>
        <p:spPr>
          <a:xfrm>
            <a:off x="914400" y="2560320"/>
            <a:ext cx="2103120" cy="914400"/>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78992" y="2386584"/>
            <a:ext cx="57150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386584"/>
            <a:ext cx="57150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You</a:t>
            </a:r>
          </a:p>
        </p:txBody>
      </p:sp>
      <p:sp>
        <p:nvSpPr>
          <p:cNvPr id="11" name="TextBox 10"/>
          <p:cNvSpPr txBox="1"/>
          <p:nvPr/>
        </p:nvSpPr>
        <p:spPr>
          <a:xfrm>
            <a:off x="1024128" y="2706624"/>
            <a:ext cx="1883664"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Brief the goal;</a:t>
            </a:r>
          </a:p>
          <a:p>
            <a:pPr algn="ctr">
              <a:spcAft>
                <a:spcPts val="100"/>
              </a:spcAft>
            </a:pPr>
            <a:r>
              <a:rPr sz="1150" b="0">
                <a:solidFill>
                  <a:srgbClr val="21201C"/>
                </a:solidFill>
                <a:latin typeface="Courier New"/>
              </a:rPr>
              <a:t>approve decisions</a:t>
            </a:r>
          </a:p>
        </p:txBody>
      </p:sp>
      <p:sp>
        <p:nvSpPr>
          <p:cNvPr id="12" name="TextBox 11"/>
          <p:cNvSpPr txBox="1"/>
          <p:nvPr/>
        </p:nvSpPr>
        <p:spPr>
          <a:xfrm>
            <a:off x="3017520" y="2834640"/>
            <a:ext cx="548640" cy="365760"/>
          </a:xfrm>
          <a:prstGeom prst="rect">
            <a:avLst/>
          </a:prstGeom>
          <a:noFill/>
        </p:spPr>
        <p:txBody>
          <a:bodyPr wrap="square" anchor="ctr" lIns="0" rIns="0" tIns="0" bIns="0">
            <a:spAutoFit/>
          </a:bodyPr>
          <a:lstStyle/>
          <a:p>
            <a:pPr algn="ctr">
              <a:spcAft>
                <a:spcPts val="400"/>
              </a:spcAft>
            </a:pPr>
            <a:r>
              <a:rPr sz="1200" b="1">
                <a:solidFill>
                  <a:srgbClr val="D97757"/>
                </a:solidFill>
                <a:latin typeface="Calibri"/>
              </a:rPr>
              <a:t>◀ ▶</a:t>
            </a:r>
          </a:p>
        </p:txBody>
      </p:sp>
      <p:sp>
        <p:nvSpPr>
          <p:cNvPr id="13" name="Rectangle 12"/>
          <p:cNvSpPr/>
          <p:nvPr/>
        </p:nvSpPr>
        <p:spPr>
          <a:xfrm>
            <a:off x="3566160" y="2560320"/>
            <a:ext cx="3291840" cy="914400"/>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30752" y="2386584"/>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30752" y="2386584"/>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Lead agent</a:t>
            </a:r>
          </a:p>
        </p:txBody>
      </p:sp>
      <p:sp>
        <p:nvSpPr>
          <p:cNvPr id="16" name="TextBox 15"/>
          <p:cNvSpPr txBox="1"/>
          <p:nvPr/>
        </p:nvSpPr>
        <p:spPr>
          <a:xfrm>
            <a:off x="3675888" y="2706624"/>
            <a:ext cx="3072384"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Your session: it plans,</a:t>
            </a:r>
          </a:p>
          <a:p>
            <a:pPr algn="ctr">
              <a:spcAft>
                <a:spcPts val="100"/>
              </a:spcAft>
            </a:pPr>
            <a:r>
              <a:rPr sz="1150" b="0">
                <a:solidFill>
                  <a:srgbClr val="21201C"/>
                </a:solidFill>
                <a:latin typeface="Courier New"/>
              </a:rPr>
              <a:t>splits and merges</a:t>
            </a:r>
          </a:p>
        </p:txBody>
      </p:sp>
      <p:sp>
        <p:nvSpPr>
          <p:cNvPr id="17" name="Rectangle 16"/>
          <p:cNvSpPr/>
          <p:nvPr/>
        </p:nvSpPr>
        <p:spPr>
          <a:xfrm>
            <a:off x="7223760" y="2560320"/>
            <a:ext cx="4050792" cy="914400"/>
          </a:xfrm>
          <a:prstGeom prst="rect">
            <a:avLst/>
          </a:prstGeom>
          <a:solidFill>
            <a:srgbClr val="D6E6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88352" y="2386584"/>
            <a:ext cx="57150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2386584"/>
            <a:ext cx="57150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Key</a:t>
            </a:r>
          </a:p>
        </p:txBody>
      </p:sp>
      <p:sp>
        <p:nvSpPr>
          <p:cNvPr id="20" name="TextBox 19"/>
          <p:cNvSpPr txBox="1"/>
          <p:nvPr/>
        </p:nvSpPr>
        <p:spPr>
          <a:xfrm>
            <a:off x="7333488" y="2706624"/>
            <a:ext cx="3831336"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Session = one conversation</a:t>
            </a:r>
          </a:p>
          <a:p>
            <a:pPr algn="ctr">
              <a:spcAft>
                <a:spcPts val="100"/>
              </a:spcAft>
            </a:pPr>
            <a:r>
              <a:rPr sz="1150" b="0">
                <a:solidFill>
                  <a:srgbClr val="21201C"/>
                </a:solidFill>
                <a:latin typeface="Courier New"/>
              </a:rPr>
              <a:t>Thread = a session for one job</a:t>
            </a:r>
          </a:p>
          <a:p>
            <a:pPr algn="ctr">
              <a:spcAft>
                <a:spcPts val="100"/>
              </a:spcAft>
            </a:pPr>
            <a:r>
              <a:rPr sz="1150" b="0">
                <a:solidFill>
                  <a:srgbClr val="21201C"/>
                </a:solidFill>
                <a:latin typeface="Courier New"/>
              </a:rPr>
              <a:t>Agent = the Claude doing it</a:t>
            </a:r>
          </a:p>
        </p:txBody>
      </p:sp>
      <p:sp>
        <p:nvSpPr>
          <p:cNvPr id="21" name="Rectangle 20"/>
          <p:cNvSpPr/>
          <p:nvPr/>
        </p:nvSpPr>
        <p:spPr>
          <a:xfrm>
            <a:off x="5200650" y="3474720"/>
            <a:ext cx="22860" cy="20116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06549" y="3675887"/>
            <a:ext cx="7975854" cy="2286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95119"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78992"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992"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1</a:t>
            </a:r>
          </a:p>
        </p:txBody>
      </p:sp>
      <p:sp>
        <p:nvSpPr>
          <p:cNvPr id="27" name="TextBox 26"/>
          <p:cNvSpPr txBox="1"/>
          <p:nvPr/>
        </p:nvSpPr>
        <p:spPr>
          <a:xfrm>
            <a:off x="1024128"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Competitors</a:t>
            </a:r>
          </a:p>
          <a:p>
            <a:pPr algn="ctr">
              <a:spcAft>
                <a:spcPts val="100"/>
              </a:spcAft>
            </a:pPr>
            <a:r>
              <a:rPr sz="1150" b="0">
                <a:solidFill>
                  <a:srgbClr val="21201C"/>
                </a:solidFill>
                <a:latin typeface="Courier New"/>
              </a:rPr>
              <a:t>agent · own session</a:t>
            </a:r>
          </a:p>
        </p:txBody>
      </p:sp>
      <p:sp>
        <p:nvSpPr>
          <p:cNvPr id="28" name="Rectangle 27"/>
          <p:cNvSpPr/>
          <p:nvPr/>
        </p:nvSpPr>
        <p:spPr>
          <a:xfrm>
            <a:off x="4753737"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73018"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37610"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37610"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2</a:t>
            </a:r>
          </a:p>
        </p:txBody>
      </p:sp>
      <p:sp>
        <p:nvSpPr>
          <p:cNvPr id="32" name="TextBox 31"/>
          <p:cNvSpPr txBox="1"/>
          <p:nvPr/>
        </p:nvSpPr>
        <p:spPr>
          <a:xfrm>
            <a:off x="3682746"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Customer survey</a:t>
            </a:r>
          </a:p>
          <a:p>
            <a:pPr algn="ctr">
              <a:spcAft>
                <a:spcPts val="100"/>
              </a:spcAft>
            </a:pPr>
            <a:r>
              <a:rPr sz="1150" b="0">
                <a:solidFill>
                  <a:srgbClr val="21201C"/>
                </a:solidFill>
                <a:latin typeface="Courier New"/>
              </a:rPr>
              <a:t>agent · own session</a:t>
            </a:r>
          </a:p>
        </p:txBody>
      </p:sp>
      <p:sp>
        <p:nvSpPr>
          <p:cNvPr id="33" name="Rectangle 32"/>
          <p:cNvSpPr/>
          <p:nvPr/>
        </p:nvSpPr>
        <p:spPr>
          <a:xfrm>
            <a:off x="7412355"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31636"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96228"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96228"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3</a:t>
            </a:r>
          </a:p>
        </p:txBody>
      </p:sp>
      <p:sp>
        <p:nvSpPr>
          <p:cNvPr id="37" name="TextBox 36"/>
          <p:cNvSpPr txBox="1"/>
          <p:nvPr/>
        </p:nvSpPr>
        <p:spPr>
          <a:xfrm>
            <a:off x="6341364"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Pricing</a:t>
            </a:r>
          </a:p>
          <a:p>
            <a:pPr algn="ctr">
              <a:spcAft>
                <a:spcPts val="100"/>
              </a:spcAft>
            </a:pPr>
            <a:r>
              <a:rPr sz="1150" b="0">
                <a:solidFill>
                  <a:srgbClr val="21201C"/>
                </a:solidFill>
                <a:latin typeface="Courier New"/>
              </a:rPr>
              <a:t>agent · own session</a:t>
            </a:r>
          </a:p>
        </p:txBody>
      </p:sp>
      <p:sp>
        <p:nvSpPr>
          <p:cNvPr id="38" name="Rectangle 37"/>
          <p:cNvSpPr/>
          <p:nvPr/>
        </p:nvSpPr>
        <p:spPr>
          <a:xfrm>
            <a:off x="10070973"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90254"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54846"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54846"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4</a:t>
            </a:r>
          </a:p>
        </p:txBody>
      </p:sp>
      <p:sp>
        <p:nvSpPr>
          <p:cNvPr id="42" name="TextBox 41"/>
          <p:cNvSpPr txBox="1"/>
          <p:nvPr/>
        </p:nvSpPr>
        <p:spPr>
          <a:xfrm>
            <a:off x="8999982"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Social trends</a:t>
            </a:r>
          </a:p>
          <a:p>
            <a:pPr algn="ctr">
              <a:spcAft>
                <a:spcPts val="100"/>
              </a:spcAft>
            </a:pPr>
            <a:r>
              <a:rPr sz="1150" b="0">
                <a:solidFill>
                  <a:srgbClr val="21201C"/>
                </a:solidFill>
                <a:latin typeface="Courier New"/>
              </a:rPr>
              <a:t>agent · own session</a:t>
            </a:r>
          </a:p>
        </p:txBody>
      </p:sp>
      <p:sp>
        <p:nvSpPr>
          <p:cNvPr id="43" name="Rectangle 42"/>
          <p:cNvSpPr/>
          <p:nvPr/>
        </p:nvSpPr>
        <p:spPr>
          <a:xfrm>
            <a:off x="914400" y="5074920"/>
            <a:ext cx="10360152" cy="411480"/>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074920"/>
            <a:ext cx="10360152" cy="411480"/>
          </a:xfrm>
          <a:prstGeom prst="rect">
            <a:avLst/>
          </a:prstGeom>
          <a:noFill/>
        </p:spPr>
        <p:txBody>
          <a:bodyPr wrap="square" anchor="ctr" lIns="0" rIns="0" tIns="0" bIns="0">
            <a:spAutoFit/>
          </a:bodyPr>
          <a:lstStyle/>
          <a:p>
            <a:pPr algn="ctr">
              <a:spcAft>
                <a:spcPts val="400"/>
              </a:spcAft>
            </a:pPr>
            <a:r>
              <a:rPr sz="1200" b="1">
                <a:solidFill>
                  <a:srgbClr val="21201C"/>
                </a:solidFill>
                <a:latin typeface="Courier New"/>
              </a:rPr>
              <a:t>Shared by every session: goal · instructions · context · memory</a:t>
            </a:r>
          </a:p>
        </p:txBody>
      </p:sp>
      <p:sp>
        <p:nvSpPr>
          <p:cNvPr id="45" name="TextBox 44"/>
          <p:cNvSpPr txBox="1"/>
          <p:nvPr/>
        </p:nvSpPr>
        <p:spPr>
          <a:xfrm>
            <a:off x="548640" y="58338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Each thread has its own agent and context window. The lead agent merges what they return into one answer for you.</a:t>
            </a:r>
          </a:p>
        </p:txBody>
      </p:sp>
      <p:sp>
        <p:nvSpPr>
          <p:cNvPr id="46" name="TextBox 4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7" name="TextBox 4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8" name="TextBox 4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LEAD AGENT AND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Is a Team</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One goal, one lead agent, many threads</a:t>
            </a:r>
          </a:p>
        </p:txBody>
      </p:sp>
      <p:sp>
        <p:nvSpPr>
          <p:cNvPr id="9" name="Rectangle 8"/>
          <p:cNvSpPr/>
          <p:nvPr/>
        </p:nvSpPr>
        <p:spPr>
          <a:xfrm>
            <a:off x="1417320" y="2926080"/>
            <a:ext cx="2926080" cy="996696"/>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Lead agent</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Plans, splits</a:t>
            </a:r>
          </a:p>
          <a:p>
            <a:pPr algn="ctr">
              <a:spcAft>
                <a:spcPts val="200"/>
              </a:spcAft>
            </a:pPr>
            <a:r>
              <a:rPr sz="1200" b="0">
                <a:solidFill>
                  <a:srgbClr val="21201C"/>
                </a:solidFill>
                <a:latin typeface="Courier New"/>
              </a:rPr>
              <a:t>and merges</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1</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Competitors</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2</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Customer</a:t>
            </a:r>
          </a:p>
          <a:p>
            <a:pPr algn="ctr">
              <a:spcAft>
                <a:spcPts val="200"/>
              </a:spcAft>
            </a:pPr>
            <a:r>
              <a:rPr sz="1200" b="0">
                <a:solidFill>
                  <a:srgbClr val="21201C"/>
                </a:solidFill>
                <a:latin typeface="Courier New"/>
              </a:rPr>
              <a:t>survey</a:t>
            </a:r>
          </a:p>
        </p:txBody>
      </p:sp>
      <p:sp>
        <p:nvSpPr>
          <p:cNvPr id="21" name="Rectangle 20"/>
          <p:cNvSpPr/>
          <p:nvPr/>
        </p:nvSpPr>
        <p:spPr>
          <a:xfrm>
            <a:off x="14173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3</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Pricing</a:t>
            </a:r>
          </a:p>
        </p:txBody>
      </p:sp>
      <p:sp>
        <p:nvSpPr>
          <p:cNvPr id="25" name="Rectangle 24"/>
          <p:cNvSpPr/>
          <p:nvPr/>
        </p:nvSpPr>
        <p:spPr>
          <a:xfrm>
            <a:off x="46177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4</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Social</a:t>
            </a:r>
          </a:p>
          <a:p>
            <a:pPr algn="ctr">
              <a:spcAft>
                <a:spcPts val="200"/>
              </a:spcAft>
            </a:pPr>
            <a:r>
              <a:rPr sz="1200" b="0">
                <a:solidFill>
                  <a:srgbClr val="21201C"/>
                </a:solidFill>
                <a:latin typeface="Courier New"/>
              </a:rPr>
              <a:t>trends</a:t>
            </a:r>
          </a:p>
        </p:txBody>
      </p:sp>
      <p:sp>
        <p:nvSpPr>
          <p:cNvPr id="29" name="Rectangle 28"/>
          <p:cNvSpPr/>
          <p:nvPr/>
        </p:nvSpPr>
        <p:spPr>
          <a:xfrm>
            <a:off x="78181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Memory</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Shared by</a:t>
            </a:r>
          </a:p>
          <a:p>
            <a:pPr algn="ctr">
              <a:spcAft>
                <a:spcPts val="200"/>
              </a:spcAft>
            </a:pPr>
            <a:r>
              <a:rPr sz="1200" b="0">
                <a:solidFill>
                  <a:srgbClr val="21201C"/>
                </a:solidFill>
                <a:latin typeface="Courier New"/>
              </a:rPr>
              <a:t>every thread</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talk to the lead agent. It decides how many threads a job needs, gives each a focused brief, and brings one merged answer back to you.</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Answers Four Questions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Set these up once and every session in the project starts from them.</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How Claude must work: brand voice, prices in S$, ask before sending — rules every session follows.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What Claude needs to know: brand guidelines, product sheet, launch brief — read, never edited.</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Where Claude works and saves: the project files on your computer, or a cloud environment.</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When work runs without you: Monday 9am the week's post drafts, Friday the weekly report.</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goal says WHY; memory keeps what each session learns for the next.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Project Page in the App</a:t>
            </a:r>
          </a:p>
        </p:txBody>
      </p:sp>
      <p:sp>
        <p:nvSpPr>
          <p:cNvPr id="5" name="Rectangle 4"/>
          <p:cNvSpPr/>
          <p:nvPr/>
        </p:nvSpPr>
        <p:spPr>
          <a:xfrm>
            <a:off x="2951468" y="1600200"/>
            <a:ext cx="6258584"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51468" y="1600200"/>
            <a:ext cx="625858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dd-folder.png"/>
          <p:cNvPicPr>
            <a:picLocks noChangeAspect="1"/>
          </p:cNvPicPr>
          <p:nvPr/>
        </p:nvPicPr>
        <p:blipFill>
          <a:blip r:embed="rId2"/>
          <a:stretch>
            <a:fillRect/>
          </a:stretch>
        </p:blipFill>
        <p:spPr>
          <a:xfrm>
            <a:off x="3061196" y="1709928"/>
            <a:ext cx="6039128"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Instructions · Context</a:t>
            </a:r>
          </a:p>
          <a:p>
            <a:pPr algn="l">
              <a:spcAft>
                <a:spcPts val="300"/>
              </a:spcAft>
            </a:pPr>
            <a:r>
              <a:rPr sz="1250" b="0">
                <a:solidFill>
                  <a:srgbClr val="6B6862"/>
                </a:solidFill>
                <a:latin typeface="Calibri"/>
              </a:rPr>
              <a:t>HOW and WHAT — click Add to write the rules or attach reference files.</a:t>
            </a:r>
          </a:p>
        </p:txBody>
      </p:sp>
      <p:sp>
        <p:nvSpPr>
          <p:cNvPr id="11" name="Oval 10"/>
          <p:cNvSpPr/>
          <p:nvPr/>
        </p:nvSpPr>
        <p:spPr>
          <a:xfrm>
            <a:off x="33832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384048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Add folder</a:t>
            </a:r>
          </a:p>
          <a:p>
            <a:pPr algn="l">
              <a:spcAft>
                <a:spcPts val="300"/>
              </a:spcAft>
            </a:pPr>
            <a:r>
              <a:rPr sz="1250" b="0">
                <a:solidFill>
                  <a:srgbClr val="6B6862"/>
                </a:solidFill>
                <a:latin typeface="Calibri"/>
              </a:rPr>
              <a:t>WHERE — under the message box, pick the folder Claude reads from and saves to.</a:t>
            </a:r>
          </a:p>
        </p:txBody>
      </p:sp>
      <p:sp>
        <p:nvSpPr>
          <p:cNvPr id="14" name="Oval 13"/>
          <p:cNvSpPr/>
          <p:nvPr/>
        </p:nvSpPr>
        <p:spPr>
          <a:xfrm>
            <a:off x="621792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667512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Memory · Scheduled</a:t>
            </a:r>
          </a:p>
          <a:p>
            <a:pPr algn="l">
              <a:spcAft>
                <a:spcPts val="300"/>
              </a:spcAft>
            </a:pPr>
            <a:r>
              <a:rPr sz="1250" b="0">
                <a:solidFill>
                  <a:srgbClr val="6B6862"/>
                </a:solidFill>
                <a:latin typeface="Calibri"/>
              </a:rPr>
              <a:t>What Claude has learned about the project, and WHEN tasks run on their own.</a:t>
            </a:r>
          </a:p>
        </p:txBody>
      </p:sp>
      <p:sp>
        <p:nvSpPr>
          <p:cNvPr id="17" name="Oval 16"/>
          <p:cNvSpPr/>
          <p:nvPr/>
        </p:nvSpPr>
        <p:spPr>
          <a:xfrm>
            <a:off x="90525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950976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New session</a:t>
            </a:r>
          </a:p>
          <a:p>
            <a:pPr algn="l">
              <a:spcAft>
                <a:spcPts val="300"/>
              </a:spcAft>
            </a:pPr>
            <a:r>
              <a:rPr sz="1250" b="0">
                <a:solidFill>
                  <a:srgbClr val="6B6862"/>
                </a:solidFill>
                <a:latin typeface="Calibri"/>
              </a:rPr>
              <a:t>Type in the box to start a session; earlier sessions are listed beneath it.</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project from the class: the goal under its name, the project's panels on the right.</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 Menu: What a Session Can Use</a:t>
            </a:r>
          </a:p>
        </p:txBody>
      </p:sp>
      <p:sp>
        <p:nvSpPr>
          <p:cNvPr id="5" name="Rectangle 4"/>
          <p:cNvSpPr/>
          <p:nvPr/>
        </p:nvSpPr>
        <p:spPr>
          <a:xfrm>
            <a:off x="548640" y="1855436"/>
            <a:ext cx="6903720" cy="3787208"/>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55436"/>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lus-menu.png"/>
          <p:cNvPicPr>
            <a:picLocks noChangeAspect="1"/>
          </p:cNvPicPr>
          <p:nvPr/>
        </p:nvPicPr>
        <p:blipFill>
          <a:blip r:embed="rId2"/>
          <a:stretch>
            <a:fillRect/>
          </a:stretch>
        </p:blipFill>
        <p:spPr>
          <a:xfrm>
            <a:off x="658368" y="1965164"/>
            <a:ext cx="6684264" cy="3567752"/>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Files and folders</a:t>
            </a:r>
          </a:p>
          <a:p>
            <a:pPr algn="l">
              <a:spcAft>
                <a:spcPts val="300"/>
              </a:spcAft>
            </a:pPr>
            <a:r>
              <a:rPr sz="1250" b="0">
                <a:solidFill>
                  <a:srgbClr val="6B6862"/>
                </a:solidFill>
                <a:latin typeface="Calibri"/>
              </a:rPr>
              <a:t>Upload a file, or add a folder, for this session.</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Skills · Connectors · Plugins</a:t>
            </a:r>
          </a:p>
          <a:p>
            <a:pPr algn="l">
              <a:spcAft>
                <a:spcPts val="300"/>
              </a:spcAft>
            </a:pPr>
            <a:r>
              <a:rPr sz="1250" b="0">
                <a:solidFill>
                  <a:srgbClr val="6B6862"/>
                </a:solidFill>
                <a:latin typeface="Calibri"/>
              </a:rPr>
              <a:t>Choose what the session may use — the brand-voice skill, Gmail, a plugin.</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Record a skill</a:t>
            </a:r>
          </a:p>
          <a:p>
            <a:pPr algn="l">
              <a:spcAft>
                <a:spcPts val="300"/>
              </a:spcAft>
            </a:pPr>
            <a:r>
              <a:rPr sz="1250" b="0">
                <a:solidFill>
                  <a:srgbClr val="6B6862"/>
                </a:solidFill>
                <a:latin typeface="Calibri"/>
              </a:rPr>
              <a:t>Capture a routine you show Claude as a new skill.</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Research · Memory</a:t>
            </a:r>
          </a:p>
          <a:p>
            <a:pPr algn="l">
              <a:spcAft>
                <a:spcPts val="300"/>
              </a:spcAft>
            </a:pPr>
            <a:r>
              <a:rPr sz="1250" b="0">
                <a:solidFill>
                  <a:srgbClr val="6B6862"/>
                </a:solidFill>
                <a:latin typeface="Calibri"/>
              </a:rPr>
              <a:t>Deeper web research; the tick shows the session uses project memory.</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Click + in the message box to bring files and tools into the session.</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to Use a Project</a:t>
            </a:r>
          </a:p>
        </p:txBody>
      </p:sp>
      <p:sp>
        <p:nvSpPr>
          <p:cNvPr id="5" name="Rectangle 4"/>
          <p:cNvSpPr/>
          <p:nvPr/>
        </p:nvSpPr>
        <p:spPr>
          <a:xfrm>
            <a:off x="548640"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long-running goal</a:t>
            </a:r>
          </a:p>
          <a:p>
            <a:pPr algn="l">
              <a:spcAft>
                <a:spcPts val="300"/>
              </a:spcAft>
            </a:pPr>
            <a:r>
              <a:rPr sz="1150" b="0">
                <a:solidFill>
                  <a:srgbClr val="6B6862"/>
                </a:solidFill>
                <a:latin typeface="Calibri"/>
              </a:rPr>
              <a:t>Work keeps arriving for weeks — a product launch, a channel, an app.</a:t>
            </a:r>
          </a:p>
        </p:txBody>
      </p:sp>
      <p:sp>
        <p:nvSpPr>
          <p:cNvPr id="10" name="Rectangle 9"/>
          <p:cNvSpPr/>
          <p:nvPr/>
        </p:nvSpPr>
        <p:spPr>
          <a:xfrm>
            <a:off x="6163056"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job that splits</a:t>
            </a:r>
          </a:p>
          <a:p>
            <a:pPr algn="l">
              <a:spcAft>
                <a:spcPts val="300"/>
              </a:spcAft>
            </a:pPr>
            <a:r>
              <a:rPr sz="1150" b="0">
                <a:solidFill>
                  <a:srgbClr val="6B6862"/>
                </a:solidFill>
                <a:latin typeface="Calibri"/>
              </a:rPr>
              <a:t>One big job breaks into pieces that can run at once — assets, ads, competitors, email.</a:t>
            </a:r>
          </a:p>
        </p:txBody>
      </p:sp>
      <p:sp>
        <p:nvSpPr>
          <p:cNvPr id="15" name="Rectangle 14"/>
          <p:cNvSpPr/>
          <p:nvPr/>
        </p:nvSpPr>
        <p:spPr>
          <a:xfrm>
            <a:off x="548640"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Lots of research</a:t>
            </a:r>
          </a:p>
          <a:p>
            <a:pPr algn="l">
              <a:spcAft>
                <a:spcPts val="300"/>
              </a:spcAft>
            </a:pPr>
            <a:r>
              <a:rPr sz="1150" b="0">
                <a:solidFill>
                  <a:srgbClr val="6B6862"/>
                </a:solidFill>
                <a:latin typeface="Calibri"/>
              </a:rPr>
              <a:t>Many subjects to look into — one thread per competitor, market or segment.</a:t>
            </a:r>
          </a:p>
        </p:txBody>
      </p:sp>
      <p:sp>
        <p:nvSpPr>
          <p:cNvPr id="20" name="Rectangle 19"/>
          <p:cNvSpPr/>
          <p:nvPr/>
        </p:nvSpPr>
        <p:spPr>
          <a:xfrm>
            <a:off x="6163056"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Regular check-ins</a:t>
            </a:r>
          </a:p>
          <a:p>
            <a:pPr algn="l">
              <a:spcAft>
                <a:spcPts val="300"/>
              </a:spcAft>
            </a:pPr>
            <a:r>
              <a:rPr sz="1150" b="0">
                <a:solidFill>
                  <a:srgbClr val="6B6862"/>
                </a:solidFill>
                <a:latin typeface="Calibri"/>
              </a:rPr>
              <a:t>You want to review each workstream's progress, not one long chat.</a:t>
            </a:r>
          </a:p>
        </p:txBody>
      </p:sp>
      <p:sp>
        <p:nvSpPr>
          <p:cNvPr id="25" name="TextBox 24"/>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one-off question that is done in one reply? Use an ordinary chat.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Six parts — the first four you set up in Lab 1, the last two run the work.</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What the project must achieve. The lead agent steers every decision toward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you write: brand voice, currency, never publish without approval.</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What Claude reads: files, folders, a Google Drive folder or a GitHub repository.</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Memory</a:t>
            </a:r>
          </a:p>
          <a:p>
            <a:pPr algn="l">
              <a:spcAft>
                <a:spcPts val="300"/>
              </a:spcAft>
            </a:pPr>
            <a:r>
              <a:rPr sz="1150" b="0">
                <a:solidFill>
                  <a:srgbClr val="6B6862"/>
                </a:solidFill>
                <a:latin typeface="Calibri"/>
              </a:rPr>
              <a:t>What the project learns and keeps between threads. Open the memory files to edit them.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The parallel workers the lead agent starts for each piece of a job.</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Tasks that run on a timetable inside the project — the daily post, the weekly report.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opens the Create a project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Name</a:t>
            </a:r>
          </a:p>
          <a:p>
            <a:pPr algn="l">
              <a:spcAft>
                <a:spcPts val="500"/>
              </a:spcAft>
            </a:pPr>
            <a:r>
              <a:rPr sz="1250" b="0">
                <a:solidFill>
                  <a:srgbClr val="6B6862"/>
                </a:solidFill>
                <a:latin typeface="Calibri"/>
              </a:rPr>
              <a:t>What you are working on — Lumo Cold Kopi Launch. This is how you find it in the sidebar.</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Goal</a:t>
            </a:r>
          </a:p>
          <a:p>
            <a:pPr algn="l">
              <a:spcAft>
                <a:spcPts val="500"/>
              </a:spcAft>
            </a:pPr>
            <a:r>
              <a:rPr sz="1250" b="0">
                <a:solidFill>
                  <a:srgbClr val="6B6862"/>
                </a:solidFill>
                <a:latin typeface="Calibri"/>
              </a:rPr>
              <a:t>What the project must achieve, in two or three sentences. You can type it or dictate 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Context</a:t>
            </a:r>
          </a:p>
          <a:p>
            <a:pPr algn="l">
              <a:spcAft>
                <a:spcPts val="500"/>
              </a:spcAft>
            </a:pPr>
            <a:r>
              <a:rPr sz="1250" b="0">
                <a:solidFill>
                  <a:srgbClr val="6B6862"/>
                </a:solidFill>
                <a:latin typeface="Calibri"/>
              </a:rPr>
              <a:t>Add the brand kit files now, or a folder or Drive folder. You can skip and add them later.</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Create project</a:t>
            </a:r>
          </a:p>
          <a:p>
            <a:pPr algn="l">
              <a:spcAft>
                <a:spcPts val="500"/>
              </a:spcAft>
            </a:pPr>
            <a:r>
              <a:rPr sz="1250" b="0">
                <a:solidFill>
                  <a:srgbClr val="6B6862"/>
                </a:solidFill>
                <a:latin typeface="Calibri"/>
              </a:rPr>
              <a:t>The lead agent opens, reads the goal and context, and is ready for its first job.</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New project is at the top right of the Projects page. Instructions and memory are edited afterwards, in Project settings.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Settings</a:t>
            </a:r>
          </a:p>
        </p:txBody>
      </p:sp>
      <p:sp>
        <p:nvSpPr>
          <p:cNvPr id="5" name="Rectangle 4"/>
          <p:cNvSpPr/>
          <p:nvPr/>
        </p:nvSpPr>
        <p:spPr>
          <a:xfrm>
            <a:off x="548640" y="182880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96504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04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8" name="TextBox 7"/>
          <p:cNvSpPr txBox="1"/>
          <p:nvPr/>
        </p:nvSpPr>
        <p:spPr>
          <a:xfrm>
            <a:off x="1508760" y="182880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General</a:t>
            </a:r>
          </a:p>
          <a:p>
            <a:pPr algn="l">
              <a:spcAft>
                <a:spcPts val="500"/>
              </a:spcAft>
            </a:pPr>
            <a:r>
              <a:rPr sz="1250" b="0">
                <a:solidFill>
                  <a:srgbClr val="6B6862"/>
                </a:solidFill>
                <a:latin typeface="Calibri"/>
              </a:rPr>
              <a:t>The project name, the goal, and the models and effort for the lead agent and the threads.</a:t>
            </a:r>
          </a:p>
        </p:txBody>
      </p:sp>
      <p:sp>
        <p:nvSpPr>
          <p:cNvPr id="9" name="Rectangle 8"/>
          <p:cNvSpPr/>
          <p:nvPr/>
        </p:nvSpPr>
        <p:spPr>
          <a:xfrm>
            <a:off x="548640" y="261335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74960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960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2" name="TextBox 11"/>
          <p:cNvSpPr txBox="1"/>
          <p:nvPr/>
        </p:nvSpPr>
        <p:spPr>
          <a:xfrm>
            <a:off x="1508760" y="261335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Memory</a:t>
            </a:r>
          </a:p>
          <a:p>
            <a:pPr algn="l">
              <a:spcAft>
                <a:spcPts val="500"/>
              </a:spcAft>
            </a:pPr>
            <a:r>
              <a:rPr sz="1250" b="0">
                <a:solidFill>
                  <a:srgbClr val="6B6862"/>
                </a:solidFill>
                <a:latin typeface="Calibri"/>
              </a:rPr>
              <a:t>The project instructions and the memory files the project has written — open one to edit it.</a:t>
            </a:r>
          </a:p>
        </p:txBody>
      </p:sp>
      <p:sp>
        <p:nvSpPr>
          <p:cNvPr id="13" name="Rectangle 12"/>
          <p:cNvSpPr/>
          <p:nvPr/>
        </p:nvSpPr>
        <p:spPr>
          <a:xfrm>
            <a:off x="548640" y="339791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53415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3415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6" name="TextBox 15"/>
          <p:cNvSpPr txBox="1"/>
          <p:nvPr/>
        </p:nvSpPr>
        <p:spPr>
          <a:xfrm>
            <a:off x="1508760" y="339791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Environment</a:t>
            </a:r>
          </a:p>
          <a:p>
            <a:pPr algn="l">
              <a:spcAft>
                <a:spcPts val="500"/>
              </a:spcAft>
            </a:pPr>
            <a:r>
              <a:rPr sz="1250" b="0">
                <a:solidFill>
                  <a:srgbClr val="6B6862"/>
                </a:solidFill>
                <a:latin typeface="Calibri"/>
              </a:rPr>
              <a:t>Local, or a cloud environment so threads keep working with your laptop closed.</a:t>
            </a:r>
          </a:p>
        </p:txBody>
      </p:sp>
      <p:sp>
        <p:nvSpPr>
          <p:cNvPr id="17" name="Rectangle 16"/>
          <p:cNvSpPr/>
          <p:nvPr/>
        </p:nvSpPr>
        <p:spPr>
          <a:xfrm>
            <a:off x="548640" y="418246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31871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1871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0" name="TextBox 19"/>
          <p:cNvSpPr txBox="1"/>
          <p:nvPr/>
        </p:nvSpPr>
        <p:spPr>
          <a:xfrm>
            <a:off x="1508760" y="418246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Usage</a:t>
            </a:r>
          </a:p>
          <a:p>
            <a:pPr algn="l">
              <a:spcAft>
                <a:spcPts val="500"/>
              </a:spcAft>
            </a:pPr>
            <a:r>
              <a:rPr sz="1250" b="0">
                <a:solidFill>
                  <a:srgbClr val="6B6862"/>
                </a:solidFill>
                <a:latin typeface="Calibri"/>
              </a:rPr>
              <a:t>Input and output tokens, for the lead agent and for each thread separately.</a:t>
            </a:r>
          </a:p>
        </p:txBody>
      </p:sp>
      <p:sp>
        <p:nvSpPr>
          <p:cNvPr id="21" name="Rectangle 20"/>
          <p:cNvSpPr/>
          <p:nvPr/>
        </p:nvSpPr>
        <p:spPr>
          <a:xfrm>
            <a:off x="548640" y="496702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510326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0326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4" name="TextBox 23"/>
          <p:cNvSpPr txBox="1"/>
          <p:nvPr/>
        </p:nvSpPr>
        <p:spPr>
          <a:xfrm>
            <a:off x="1508760" y="496702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Debug access</a:t>
            </a:r>
          </a:p>
          <a:p>
            <a:pPr algn="l">
              <a:spcAft>
                <a:spcPts val="500"/>
              </a:spcAft>
            </a:pPr>
            <a:r>
              <a:rPr sz="1250" b="0">
                <a:solidFill>
                  <a:srgbClr val="6B6862"/>
                </a:solidFill>
                <a:latin typeface="Calibri"/>
              </a:rPr>
              <a:t>Let another project read this one's conversations, read-only, to help diagnose a problem.</a:t>
            </a:r>
          </a:p>
        </p:txBody>
      </p:sp>
      <p:sp>
        <p:nvSpPr>
          <p:cNvPr id="25" name="TextBox 24"/>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Open Project settings from the gear icon at the top right of the project.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 SETTINGS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Models and Effort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lead agent and the threads each have their own model and effort.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Role</a:t>
            </a:r>
          </a:p>
        </p:txBody>
      </p:sp>
      <p:sp>
        <p:nvSpPr>
          <p:cNvPr id="7" name="TextBox 6"/>
          <p:cNvSpPr txBox="1"/>
          <p:nvPr/>
        </p:nvSpPr>
        <p:spPr>
          <a:xfrm>
            <a:off x="3154680" y="2194560"/>
            <a:ext cx="128778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Typical default</a:t>
            </a:r>
          </a:p>
        </p:txBody>
      </p:sp>
      <p:sp>
        <p:nvSpPr>
          <p:cNvPr id="8" name="TextBox 7"/>
          <p:cNvSpPr txBox="1"/>
          <p:nvPr/>
        </p:nvSpPr>
        <p:spPr>
          <a:xfrm>
            <a:off x="4671060" y="2194560"/>
            <a:ext cx="163118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Effort</a:t>
            </a:r>
          </a:p>
        </p:txBody>
      </p:sp>
      <p:sp>
        <p:nvSpPr>
          <p:cNvPr id="9" name="TextBox 8"/>
          <p:cNvSpPr txBox="1"/>
          <p:nvPr/>
        </p:nvSpPr>
        <p:spPr>
          <a:xfrm>
            <a:off x="6530848" y="2194560"/>
            <a:ext cx="480771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Change it when</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Lead agent</a:t>
            </a:r>
          </a:p>
        </p:txBody>
      </p:sp>
      <p:sp>
        <p:nvSpPr>
          <p:cNvPr id="12" name="TextBox 11"/>
          <p:cNvSpPr txBox="1"/>
          <p:nvPr/>
        </p:nvSpPr>
        <p:spPr>
          <a:xfrm>
            <a:off x="3154680" y="2651760"/>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3" name="TextBox 12"/>
          <p:cNvSpPr txBox="1"/>
          <p:nvPr/>
        </p:nvSpPr>
        <p:spPr>
          <a:xfrm>
            <a:off x="4671060" y="2651760"/>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a:t>
            </a:r>
          </a:p>
        </p:txBody>
      </p:sp>
      <p:sp>
        <p:nvSpPr>
          <p:cNvPr id="14" name="TextBox 13"/>
          <p:cNvSpPr txBox="1"/>
          <p:nvPr/>
        </p:nvSpPr>
        <p:spPr>
          <a:xfrm>
            <a:off x="6530848" y="2651760"/>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It misreads your requests — raise to Medium.</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Threads</a:t>
            </a:r>
          </a:p>
        </p:txBody>
      </p:sp>
      <p:sp>
        <p:nvSpPr>
          <p:cNvPr id="17" name="TextBox 16"/>
          <p:cNvSpPr txBox="1"/>
          <p:nvPr/>
        </p:nvSpPr>
        <p:spPr>
          <a:xfrm>
            <a:off x="3154680" y="3387852"/>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8" name="TextBox 17"/>
          <p:cNvSpPr txBox="1"/>
          <p:nvPr/>
        </p:nvSpPr>
        <p:spPr>
          <a:xfrm>
            <a:off x="4671060" y="3387852"/>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Medium</a:t>
            </a:r>
          </a:p>
        </p:txBody>
      </p:sp>
      <p:sp>
        <p:nvSpPr>
          <p:cNvPr id="19" name="TextBox 18"/>
          <p:cNvSpPr txBox="1"/>
          <p:nvPr/>
        </p:nvSpPr>
        <p:spPr>
          <a:xfrm>
            <a:off x="6530848" y="3387852"/>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Research is shallow — raise; drafts are simple — lower.</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Effort</a:t>
            </a:r>
          </a:p>
        </p:txBody>
      </p:sp>
      <p:sp>
        <p:nvSpPr>
          <p:cNvPr id="22" name="TextBox 21"/>
          <p:cNvSpPr txBox="1"/>
          <p:nvPr/>
        </p:nvSpPr>
        <p:spPr>
          <a:xfrm>
            <a:off x="3154680" y="4123944"/>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
            </a:r>
          </a:p>
        </p:txBody>
      </p:sp>
      <p:sp>
        <p:nvSpPr>
          <p:cNvPr id="23" name="TextBox 22"/>
          <p:cNvSpPr txBox="1"/>
          <p:nvPr/>
        </p:nvSpPr>
        <p:spPr>
          <a:xfrm>
            <a:off x="4671060" y="4123944"/>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 · Medium · High</a:t>
            </a:r>
          </a:p>
        </p:txBody>
      </p:sp>
      <p:sp>
        <p:nvSpPr>
          <p:cNvPr id="24" name="TextBox 23"/>
          <p:cNvSpPr txBox="1"/>
          <p:nvPr/>
        </p:nvSpPr>
        <p:spPr>
          <a:xfrm>
            <a:off x="6530848" y="4123944"/>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Higher effort thinks harder and uses more of your limit.</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Defaults vary by account and change over time — read yours in Project settings → General → Models.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vs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Quick test: a sentence that starts Always, Never or Write in… is an instruction. A document is context.</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Instructions — how to behave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Short standing rules you write yourself.</a:t>
            </a:r>
          </a:p>
          <a:p>
            <a:pPr algn="l">
              <a:spcAft>
                <a:spcPts val="900"/>
              </a:spcAft>
            </a:pPr>
            <a:r>
              <a:rPr sz="1250" b="0">
                <a:solidFill>
                  <a:srgbClr val="21201C"/>
                </a:solidFill>
                <a:latin typeface="Calibri"/>
              </a:rPr>
              <a:t>•  Followed by every session in the project.</a:t>
            </a:r>
          </a:p>
          <a:p>
            <a:pPr algn="l">
              <a:spcAft>
                <a:spcPts val="900"/>
              </a:spcAft>
            </a:pPr>
            <a:r>
              <a:rPr sz="1250" b="0">
                <a:solidFill>
                  <a:srgbClr val="21201C"/>
                </a:solidFill>
                <a:latin typeface="Calibri"/>
              </a:rPr>
              <a:t>•  If an output breaks a rule, fix the instruction here.</a:t>
            </a:r>
          </a:p>
          <a:p>
            <a:pPr algn="l">
              <a:spcAft>
                <a:spcPts val="900"/>
              </a:spcAft>
            </a:pPr>
            <a:r>
              <a:rPr sz="1250" b="0">
                <a:solidFill>
                  <a:srgbClr val="21201C"/>
                </a:solidFill>
                <a:latin typeface="Calibri"/>
              </a:rPr>
              <a:t>•  Keep them short: they are loaded into every session.</a:t>
            </a:r>
          </a:p>
          <a:p>
            <a:pPr algn="l">
              <a:spcAft>
                <a:spcPts val="900"/>
              </a:spcAft>
            </a:pPr>
            <a:r>
              <a:rPr sz="1250" b="0">
                <a:solidFill>
                  <a:srgbClr val="21201C"/>
                </a:solidFill>
                <a:latin typeface="Calibri"/>
              </a:rPr>
              <a:t>•  Lumo: “Prices in S$. No health claims. Ask before sending.”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Context — what to know</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Reference material Claude reads but never edits.</a:t>
            </a:r>
          </a:p>
          <a:p>
            <a:pPr algn="l">
              <a:spcAft>
                <a:spcPts val="900"/>
              </a:spcAft>
            </a:pPr>
            <a:r>
              <a:rPr sz="1250" b="0">
                <a:solidFill>
                  <a:srgbClr val="21201C"/>
                </a:solidFill>
                <a:latin typeface="Calibri"/>
              </a:rPr>
              <a:t>•  Files, a folder, a Google Drive folder or a GitHub repository.</a:t>
            </a:r>
          </a:p>
          <a:p>
            <a:pPr algn="l">
              <a:spcAft>
                <a:spcPts val="900"/>
              </a:spcAft>
            </a:pPr>
            <a:r>
              <a:rPr sz="1250" b="0">
                <a:solidFill>
                  <a:srgbClr val="21201C"/>
                </a:solidFill>
                <a:latin typeface="Calibri"/>
              </a:rPr>
              <a:t>•  If a fact in an output is wrong, fix or replace the file.</a:t>
            </a:r>
          </a:p>
          <a:p>
            <a:pPr algn="l">
              <a:spcAft>
                <a:spcPts val="900"/>
              </a:spcAft>
            </a:pPr>
            <a:r>
              <a:rPr sz="1250" b="0">
                <a:solidFill>
                  <a:srgbClr val="21201C"/>
                </a:solidFill>
                <a:latin typeface="Calibri"/>
              </a:rPr>
              <a:t>•  Add it once; you never re-attach it again.</a:t>
            </a:r>
          </a:p>
          <a:p>
            <a:pPr algn="l">
              <a:spcAft>
                <a:spcPts val="900"/>
              </a:spcAft>
            </a:pPr>
            <a:r>
              <a:rPr sz="1250" b="0">
                <a:solidFill>
                  <a:srgbClr val="21201C"/>
                </a:solidFill>
                <a:latin typeface="Calibri"/>
              </a:rPr>
              <a:t>•  Lumo: brand guidelines, product sheet, launch brief.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Context or Memory?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When the output is wrong, this tells you which one to edit.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Instructions</a:t>
            </a:r>
          </a:p>
        </p:txBody>
      </p:sp>
      <p:sp>
        <p:nvSpPr>
          <p:cNvPr id="8" name="TextBox 7"/>
          <p:cNvSpPr txBox="1"/>
          <p:nvPr/>
        </p:nvSpPr>
        <p:spPr>
          <a:xfrm>
            <a:off x="5823284"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Context</a:t>
            </a:r>
          </a:p>
        </p:txBody>
      </p:sp>
      <p:sp>
        <p:nvSpPr>
          <p:cNvPr id="9" name="TextBox 8"/>
          <p:cNvSpPr txBox="1"/>
          <p:nvPr/>
        </p:nvSpPr>
        <p:spPr>
          <a:xfrm>
            <a:off x="8491888" y="2194560"/>
            <a:ext cx="2846671"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Memory</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Who writes it</a:t>
            </a:r>
          </a:p>
        </p:txBody>
      </p:sp>
      <p:sp>
        <p:nvSpPr>
          <p:cNvPr id="12" name="TextBox 11"/>
          <p:cNvSpPr txBox="1"/>
          <p:nvPr/>
        </p:nvSpPr>
        <p:spPr>
          <a:xfrm>
            <a:off x="3154680"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a:t>
            </a:r>
          </a:p>
        </p:txBody>
      </p:sp>
      <p:sp>
        <p:nvSpPr>
          <p:cNvPr id="13" name="TextBox 12"/>
          <p:cNvSpPr txBox="1"/>
          <p:nvPr/>
        </p:nvSpPr>
        <p:spPr>
          <a:xfrm>
            <a:off x="5823284"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add it</a:t>
            </a:r>
          </a:p>
        </p:txBody>
      </p:sp>
      <p:sp>
        <p:nvSpPr>
          <p:cNvPr id="14" name="TextBox 13"/>
          <p:cNvSpPr txBox="1"/>
          <p:nvPr/>
        </p:nvSpPr>
        <p:spPr>
          <a:xfrm>
            <a:off x="8491888" y="2651760"/>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project, as it works</a:t>
            </a:r>
          </a:p>
        </p:txBody>
      </p:sp>
      <p:sp>
        <p:nvSpPr>
          <p:cNvPr id="15" name="Rectangle 14"/>
          <p:cNvSpPr/>
          <p:nvPr/>
        </p:nvSpPr>
        <p:spPr>
          <a:xfrm>
            <a:off x="822960" y="331927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19272"/>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What it holds</a:t>
            </a:r>
          </a:p>
        </p:txBody>
      </p:sp>
      <p:sp>
        <p:nvSpPr>
          <p:cNvPr id="17" name="TextBox 16"/>
          <p:cNvSpPr txBox="1"/>
          <p:nvPr/>
        </p:nvSpPr>
        <p:spPr>
          <a:xfrm>
            <a:off x="3154680"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Rules and style</a:t>
            </a:r>
          </a:p>
        </p:txBody>
      </p:sp>
      <p:sp>
        <p:nvSpPr>
          <p:cNvPr id="18" name="TextBox 17"/>
          <p:cNvSpPr txBox="1"/>
          <p:nvPr/>
        </p:nvSpPr>
        <p:spPr>
          <a:xfrm>
            <a:off x="5823284"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Files and folders to read</a:t>
            </a:r>
          </a:p>
        </p:txBody>
      </p:sp>
      <p:sp>
        <p:nvSpPr>
          <p:cNvPr id="19" name="TextBox 18"/>
          <p:cNvSpPr txBox="1"/>
          <p:nvPr/>
        </p:nvSpPr>
        <p:spPr>
          <a:xfrm>
            <a:off x="8491888" y="3319272"/>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Facts and decisions learned</a:t>
            </a:r>
          </a:p>
        </p:txBody>
      </p:sp>
      <p:sp>
        <p:nvSpPr>
          <p:cNvPr id="20" name="Rectangle 19"/>
          <p:cNvSpPr/>
          <p:nvPr/>
        </p:nvSpPr>
        <p:spPr>
          <a:xfrm>
            <a:off x="822960" y="398678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86784"/>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2" name="TextBox 21"/>
          <p:cNvSpPr txBox="1"/>
          <p:nvPr/>
        </p:nvSpPr>
        <p:spPr>
          <a:xfrm>
            <a:off x="3154680"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3" name="TextBox 22"/>
          <p:cNvSpPr txBox="1"/>
          <p:nvPr/>
        </p:nvSpPr>
        <p:spPr>
          <a:xfrm>
            <a:off x="5823284"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launch brief</a:t>
            </a:r>
          </a:p>
        </p:txBody>
      </p:sp>
      <p:sp>
        <p:nvSpPr>
          <p:cNvPr id="24" name="TextBox 23"/>
          <p:cNvSpPr txBox="1"/>
          <p:nvPr/>
        </p:nvSpPr>
        <p:spPr>
          <a:xfrm>
            <a:off x="8491888" y="3986784"/>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date moved; IG performs best</a:t>
            </a:r>
          </a:p>
        </p:txBody>
      </p:sp>
      <p:sp>
        <p:nvSpPr>
          <p:cNvPr id="25" name="Rectangle 24"/>
          <p:cNvSpPr/>
          <p:nvPr/>
        </p:nvSpPr>
        <p:spPr>
          <a:xfrm>
            <a:off x="822960" y="465429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54296"/>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Edit it in</a:t>
            </a:r>
          </a:p>
        </p:txBody>
      </p:sp>
      <p:sp>
        <p:nvSpPr>
          <p:cNvPr id="27" name="TextBox 26"/>
          <p:cNvSpPr txBox="1"/>
          <p:nvPr/>
        </p:nvSpPr>
        <p:spPr>
          <a:xfrm>
            <a:off x="3154680"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a:t>
            </a:r>
          </a:p>
        </p:txBody>
      </p:sp>
      <p:sp>
        <p:nvSpPr>
          <p:cNvPr id="28" name="TextBox 27"/>
          <p:cNvSpPr txBox="1"/>
          <p:nvPr/>
        </p:nvSpPr>
        <p:spPr>
          <a:xfrm>
            <a:off x="5823284"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Context panel</a:t>
            </a:r>
          </a:p>
        </p:txBody>
      </p:sp>
      <p:sp>
        <p:nvSpPr>
          <p:cNvPr id="29" name="TextBox 28"/>
          <p:cNvSpPr txBox="1"/>
          <p:nvPr/>
        </p:nvSpPr>
        <p:spPr>
          <a:xfrm>
            <a:off x="8491888" y="4654296"/>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 → memory files</a:t>
            </a:r>
          </a:p>
        </p:txBody>
      </p:sp>
      <p:sp>
        <p:nvSpPr>
          <p:cNvPr id="30" name="Rectangle 29"/>
          <p:cNvSpPr/>
          <p:nvPr/>
        </p:nvSpPr>
        <p:spPr>
          <a:xfrm>
            <a:off x="822960" y="532180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21808"/>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When output is wrong</a:t>
            </a:r>
          </a:p>
        </p:txBody>
      </p:sp>
      <p:sp>
        <p:nvSpPr>
          <p:cNvPr id="32" name="TextBox 31"/>
          <p:cNvSpPr txBox="1"/>
          <p:nvPr/>
        </p:nvSpPr>
        <p:spPr>
          <a:xfrm>
            <a:off x="3154680"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Tighten the rule</a:t>
            </a:r>
          </a:p>
        </p:txBody>
      </p:sp>
      <p:sp>
        <p:nvSpPr>
          <p:cNvPr id="33" name="TextBox 32"/>
          <p:cNvSpPr txBox="1"/>
          <p:nvPr/>
        </p:nvSpPr>
        <p:spPr>
          <a:xfrm>
            <a:off x="5823284"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missing file</a:t>
            </a:r>
          </a:p>
        </p:txBody>
      </p:sp>
      <p:sp>
        <p:nvSpPr>
          <p:cNvPr id="34" name="TextBox 33"/>
          <p:cNvSpPr txBox="1"/>
          <p:nvPr/>
        </p:nvSpPr>
        <p:spPr>
          <a:xfrm>
            <a:off x="8491888" y="5321808"/>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Correct or delete the fact</a:t>
            </a:r>
          </a:p>
        </p:txBody>
      </p:sp>
      <p:sp>
        <p:nvSpPr>
          <p:cNvPr id="35" name="Rectangle 34"/>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Where Each Part Lives in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Every part of a project, where you click to find it, and the Lumo example.</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Part</a:t>
            </a:r>
          </a:p>
        </p:txBody>
      </p:sp>
      <p:sp>
        <p:nvSpPr>
          <p:cNvPr id="7" name="TextBox 6"/>
          <p:cNvSpPr txBox="1"/>
          <p:nvPr/>
        </p:nvSpPr>
        <p:spPr>
          <a:xfrm>
            <a:off x="3154680" y="2194560"/>
            <a:ext cx="283547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Where you find it in Claude</a:t>
            </a:r>
          </a:p>
        </p:txBody>
      </p:sp>
      <p:sp>
        <p:nvSpPr>
          <p:cNvPr id="8" name="TextBox 7"/>
          <p:cNvSpPr txBox="1"/>
          <p:nvPr/>
        </p:nvSpPr>
        <p:spPr>
          <a:xfrm>
            <a:off x="6218758" y="2194560"/>
            <a:ext cx="262281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it does</a:t>
            </a:r>
          </a:p>
        </p:txBody>
      </p:sp>
      <p:sp>
        <p:nvSpPr>
          <p:cNvPr id="9" name="TextBox 8"/>
          <p:cNvSpPr txBox="1"/>
          <p:nvPr/>
        </p:nvSpPr>
        <p:spPr>
          <a:xfrm>
            <a:off x="9070175" y="2194560"/>
            <a:ext cx="2268383"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Lumo example</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Project</a:t>
            </a:r>
          </a:p>
        </p:txBody>
      </p:sp>
      <p:sp>
        <p:nvSpPr>
          <p:cNvPr id="12" name="TextBox 11"/>
          <p:cNvSpPr txBox="1"/>
          <p:nvPr/>
        </p:nvSpPr>
        <p:spPr>
          <a:xfrm>
            <a:off x="3154680" y="2651760"/>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Projects in the sidebar → the project</a:t>
            </a:r>
          </a:p>
        </p:txBody>
      </p:sp>
      <p:sp>
        <p:nvSpPr>
          <p:cNvPr id="13" name="TextBox 12"/>
          <p:cNvSpPr txBox="1"/>
          <p:nvPr/>
        </p:nvSpPr>
        <p:spPr>
          <a:xfrm>
            <a:off x="6218758" y="2651760"/>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Stays set up for weeks</a:t>
            </a:r>
          </a:p>
        </p:txBody>
      </p:sp>
      <p:sp>
        <p:nvSpPr>
          <p:cNvPr id="14" name="TextBox 13"/>
          <p:cNvSpPr txBox="1"/>
          <p:nvPr/>
        </p:nvSpPr>
        <p:spPr>
          <a:xfrm>
            <a:off x="9070175" y="2651760"/>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Lumo Cold Kopi Launch</a:t>
            </a:r>
          </a:p>
        </p:txBody>
      </p:sp>
      <p:sp>
        <p:nvSpPr>
          <p:cNvPr id="15" name="Rectangle 14"/>
          <p:cNvSpPr/>
          <p:nvPr/>
        </p:nvSpPr>
        <p:spPr>
          <a:xfrm>
            <a:off x="822960" y="31285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128554"/>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Session</a:t>
            </a:r>
          </a:p>
        </p:txBody>
      </p:sp>
      <p:sp>
        <p:nvSpPr>
          <p:cNvPr id="17" name="TextBox 16"/>
          <p:cNvSpPr txBox="1"/>
          <p:nvPr/>
        </p:nvSpPr>
        <p:spPr>
          <a:xfrm>
            <a:off x="3154680" y="3128554"/>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A new conversation inside the project</a:t>
            </a:r>
          </a:p>
        </p:txBody>
      </p:sp>
      <p:sp>
        <p:nvSpPr>
          <p:cNvPr id="18" name="TextBox 17"/>
          <p:cNvSpPr txBox="1"/>
          <p:nvPr/>
        </p:nvSpPr>
        <p:spPr>
          <a:xfrm>
            <a:off x="6218758" y="3128554"/>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Starts fresh; the setup still applies</a:t>
            </a:r>
          </a:p>
        </p:txBody>
      </p:sp>
      <p:sp>
        <p:nvSpPr>
          <p:cNvPr id="19" name="TextBox 18"/>
          <p:cNvSpPr txBox="1"/>
          <p:nvPr/>
        </p:nvSpPr>
        <p:spPr>
          <a:xfrm>
            <a:off x="9070175" y="3128554"/>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Draft the Instagram post</a:t>
            </a:r>
          </a:p>
        </p:txBody>
      </p:sp>
      <p:sp>
        <p:nvSpPr>
          <p:cNvPr id="20" name="Rectangle 19"/>
          <p:cNvSpPr/>
          <p:nvPr/>
        </p:nvSpPr>
        <p:spPr>
          <a:xfrm>
            <a:off x="822960" y="360534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605348"/>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Lead agent</a:t>
            </a:r>
          </a:p>
        </p:txBody>
      </p:sp>
      <p:sp>
        <p:nvSpPr>
          <p:cNvPr id="22" name="TextBox 21"/>
          <p:cNvSpPr txBox="1"/>
          <p:nvPr/>
        </p:nvSpPr>
        <p:spPr>
          <a:xfrm>
            <a:off x="3154680" y="3605348"/>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The project conversation you talk to</a:t>
            </a:r>
          </a:p>
        </p:txBody>
      </p:sp>
      <p:sp>
        <p:nvSpPr>
          <p:cNvPr id="23" name="TextBox 22"/>
          <p:cNvSpPr txBox="1"/>
          <p:nvPr/>
        </p:nvSpPr>
        <p:spPr>
          <a:xfrm>
            <a:off x="6218758" y="3605348"/>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Splits the job, merges the results</a:t>
            </a:r>
          </a:p>
        </p:txBody>
      </p:sp>
      <p:sp>
        <p:nvSpPr>
          <p:cNvPr id="24" name="TextBox 23"/>
          <p:cNvSpPr txBox="1"/>
          <p:nvPr/>
        </p:nvSpPr>
        <p:spPr>
          <a:xfrm>
            <a:off x="9070175" y="3605348"/>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Four research threads, one brief</a:t>
            </a:r>
          </a:p>
        </p:txBody>
      </p:sp>
      <p:sp>
        <p:nvSpPr>
          <p:cNvPr id="25" name="Rectangle 24"/>
          <p:cNvSpPr/>
          <p:nvPr/>
        </p:nvSpPr>
        <p:spPr>
          <a:xfrm>
            <a:off x="822960" y="408214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082142"/>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Instructions</a:t>
            </a:r>
          </a:p>
        </p:txBody>
      </p:sp>
      <p:sp>
        <p:nvSpPr>
          <p:cNvPr id="27" name="TextBox 26"/>
          <p:cNvSpPr txBox="1"/>
          <p:nvPr/>
        </p:nvSpPr>
        <p:spPr>
          <a:xfrm>
            <a:off x="3154680" y="4082142"/>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Project settings → Memory → instructions</a:t>
            </a:r>
          </a:p>
        </p:txBody>
      </p:sp>
      <p:sp>
        <p:nvSpPr>
          <p:cNvPr id="28" name="TextBox 27"/>
          <p:cNvSpPr txBox="1"/>
          <p:nvPr/>
        </p:nvSpPr>
        <p:spPr>
          <a:xfrm>
            <a:off x="6218758" y="4082142"/>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How every session must behave</a:t>
            </a:r>
          </a:p>
        </p:txBody>
      </p:sp>
      <p:sp>
        <p:nvSpPr>
          <p:cNvPr id="29" name="TextBox 28"/>
          <p:cNvSpPr txBox="1"/>
          <p:nvPr/>
        </p:nvSpPr>
        <p:spPr>
          <a:xfrm>
            <a:off x="9070175" y="4082142"/>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Prices in S$; no health claims</a:t>
            </a:r>
          </a:p>
        </p:txBody>
      </p:sp>
      <p:sp>
        <p:nvSpPr>
          <p:cNvPr id="30" name="Rectangle 29"/>
          <p:cNvSpPr/>
          <p:nvPr/>
        </p:nvSpPr>
        <p:spPr>
          <a:xfrm>
            <a:off x="822960" y="45589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558936"/>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Context</a:t>
            </a:r>
          </a:p>
        </p:txBody>
      </p:sp>
      <p:sp>
        <p:nvSpPr>
          <p:cNvPr id="32" name="TextBox 31"/>
          <p:cNvSpPr txBox="1"/>
          <p:nvPr/>
        </p:nvSpPr>
        <p:spPr>
          <a:xfrm>
            <a:off x="3154680" y="4558936"/>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Added in Create project, or later</a:t>
            </a:r>
          </a:p>
        </p:txBody>
      </p:sp>
      <p:sp>
        <p:nvSpPr>
          <p:cNvPr id="33" name="TextBox 32"/>
          <p:cNvSpPr txBox="1"/>
          <p:nvPr/>
        </p:nvSpPr>
        <p:spPr>
          <a:xfrm>
            <a:off x="6218758" y="4558936"/>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What Claude reads, never edits</a:t>
            </a:r>
          </a:p>
        </p:txBody>
      </p:sp>
      <p:sp>
        <p:nvSpPr>
          <p:cNvPr id="34" name="TextBox 33"/>
          <p:cNvSpPr txBox="1"/>
          <p:nvPr/>
        </p:nvSpPr>
        <p:spPr>
          <a:xfrm>
            <a:off x="9070175" y="4558936"/>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Brand guidelines, product sheet</a:t>
            </a:r>
          </a:p>
        </p:txBody>
      </p:sp>
      <p:sp>
        <p:nvSpPr>
          <p:cNvPr id="35" name="Rectangle 34"/>
          <p:cNvSpPr/>
          <p:nvPr/>
        </p:nvSpPr>
        <p:spPr>
          <a:xfrm>
            <a:off x="822960" y="503573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035730"/>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Memory</a:t>
            </a:r>
          </a:p>
        </p:txBody>
      </p:sp>
      <p:sp>
        <p:nvSpPr>
          <p:cNvPr id="37" name="TextBox 36"/>
          <p:cNvSpPr txBox="1"/>
          <p:nvPr/>
        </p:nvSpPr>
        <p:spPr>
          <a:xfrm>
            <a:off x="3154680" y="5035730"/>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Project settings → Memory → memory files</a:t>
            </a:r>
          </a:p>
        </p:txBody>
      </p:sp>
      <p:sp>
        <p:nvSpPr>
          <p:cNvPr id="38" name="TextBox 37"/>
          <p:cNvSpPr txBox="1"/>
          <p:nvPr/>
        </p:nvSpPr>
        <p:spPr>
          <a:xfrm>
            <a:off x="6218758" y="5035730"/>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Decisions kept between sessions</a:t>
            </a:r>
          </a:p>
        </p:txBody>
      </p:sp>
      <p:sp>
        <p:nvSpPr>
          <p:cNvPr id="39" name="TextBox 38"/>
          <p:cNvSpPr txBox="1"/>
          <p:nvPr/>
        </p:nvSpPr>
        <p:spPr>
          <a:xfrm>
            <a:off x="9070175" y="5035730"/>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Launch price confirmed at S$3.90</a:t>
            </a:r>
          </a:p>
        </p:txBody>
      </p:sp>
      <p:sp>
        <p:nvSpPr>
          <p:cNvPr id="40" name="Rectangle 39"/>
          <p:cNvSpPr/>
          <p:nvPr/>
        </p:nvSpPr>
        <p:spPr>
          <a:xfrm>
            <a:off x="822960" y="551252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512524"/>
            <a:ext cx="2103120" cy="476794"/>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Scheduled</a:t>
            </a:r>
          </a:p>
        </p:txBody>
      </p:sp>
      <p:sp>
        <p:nvSpPr>
          <p:cNvPr id="42" name="TextBox 41"/>
          <p:cNvSpPr txBox="1"/>
          <p:nvPr/>
        </p:nvSpPr>
        <p:spPr>
          <a:xfrm>
            <a:off x="3154680" y="5512524"/>
            <a:ext cx="2835478"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Scheduled, inside the project</a:t>
            </a:r>
          </a:p>
        </p:txBody>
      </p:sp>
      <p:sp>
        <p:nvSpPr>
          <p:cNvPr id="43" name="TextBox 42"/>
          <p:cNvSpPr txBox="1"/>
          <p:nvPr/>
        </p:nvSpPr>
        <p:spPr>
          <a:xfrm>
            <a:off x="6218758" y="5512524"/>
            <a:ext cx="2622817"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Work that runs on a timetable</a:t>
            </a:r>
          </a:p>
        </p:txBody>
      </p:sp>
      <p:sp>
        <p:nvSpPr>
          <p:cNvPr id="44" name="TextBox 43"/>
          <p:cNvSpPr txBox="1"/>
          <p:nvPr/>
        </p:nvSpPr>
        <p:spPr>
          <a:xfrm>
            <a:off x="9070175" y="5512524"/>
            <a:ext cx="2268383" cy="476794"/>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Monday 9am: the week's posts</a:t>
            </a:r>
          </a:p>
        </p:txBody>
      </p:sp>
      <p:sp>
        <p:nvSpPr>
          <p:cNvPr id="45" name="Rectangle 44"/>
          <p:cNvSpPr/>
          <p:nvPr/>
        </p:nvSpPr>
        <p:spPr>
          <a:xfrm>
            <a:off x="822960" y="59893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7" name="TextBox 4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8" name="TextBox 4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brand kit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Research, posts and artefacts are scattered.</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Work stops when you stop typing.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Context is added once and read by every thread.</a:t>
            </a:r>
          </a:p>
          <a:p>
            <a:pPr algn="l">
              <a:spcAft>
                <a:spcPts val="900"/>
              </a:spcAft>
            </a:pPr>
            <a:r>
              <a:rPr sz="1250" b="0">
                <a:solidFill>
                  <a:srgbClr val="21201C"/>
                </a:solidFill>
                <a:latin typeface="Calibri"/>
              </a:rPr>
              <a:t>•  Instructions apply to every job in the project.</a:t>
            </a:r>
          </a:p>
          <a:p>
            <a:pPr algn="l">
              <a:spcAft>
                <a:spcPts val="900"/>
              </a:spcAft>
            </a:pPr>
            <a:r>
              <a:rPr sz="1250" b="0">
                <a:solidFill>
                  <a:srgbClr val="21201C"/>
                </a:solidFill>
                <a:latin typeface="Calibri"/>
              </a:rPr>
              <a:t>•  Artefacts, skills and outputs live together.</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Scheduled tasks run while you are away.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Claude Projects and Market Research</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Project</a:t>
            </a:r>
          </a:p>
          <a:p>
            <a:pPr algn="l">
              <a:spcAft>
                <a:spcPts val="300"/>
              </a:spcAft>
            </a:pPr>
            <a:r>
              <a:rPr sz="1150" b="0">
                <a:solidFill>
                  <a:srgbClr val="6B6862"/>
                </a:solidFill>
                <a:latin typeface="Calibri"/>
              </a:rPr>
              <a:t>A home for a long-running goal. Context, memory and work build up over time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Lead agent</a:t>
            </a:r>
          </a:p>
          <a:p>
            <a:pPr algn="l">
              <a:spcAft>
                <a:spcPts val="300"/>
              </a:spcAft>
            </a:pPr>
            <a:r>
              <a:rPr sz="1150" b="0">
                <a:solidFill>
                  <a:srgbClr val="6B6862"/>
                </a:solidFill>
                <a:latin typeface="Calibri"/>
              </a:rPr>
              <a:t>The project's coordinator. You tell it the goal; it plans, splits the work and reports back.</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Parallel workers the lead agent starts — one per subject — each with its own focused context.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One clear statement of what the project must achieve. Every decision the lead agent makes points at it.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vs memory</a:t>
            </a:r>
          </a:p>
          <a:p>
            <a:pPr algn="l">
              <a:spcAft>
                <a:spcPts val="300"/>
              </a:spcAft>
            </a:pPr>
            <a:r>
              <a:rPr sz="1150" b="0">
                <a:solidFill>
                  <a:srgbClr val="6B6862"/>
                </a:solidFill>
                <a:latin typeface="Calibri"/>
              </a:rPr>
              <a:t>Instructions are the rules you write. Memory is what the project learns and keeps — and you can edit it.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 dashboards, trackers — that persist in your workspace instead of scrolling away in chat.</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Create a Claude Project with a goal, instructions, context and memory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Lumo Kopi Co. launches Lumo Cold Kopi in six weeks, and the marketing work will keep coming until launch day — exactly what a Claude Project is for. You create the Lumo Cold Kopi Launch project, give it a goal, add the brand kit as context, write its standing instructions, and check that its lead agent understood all three. Every later lab runs inside this project.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Lumo Cold Kopi Launch project, with a goal, instructions, three context files and a first memory entry.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Projects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01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Set up: paste Block 2 into Project settings → Memory — S$ prices, brand guidelines, no health claims, approval first.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Set up: add the brand kit — guidelines, product sheet and launch brief.</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Outputs are saved in the project. Local by default; Topic 3 adds a cloud environment.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yet — Lab 8 adds the first scheduled task.</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GOAL</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Launch Lumo Cold Kopi in Singapore on 1 December 2026.</a:t>
            </a:r>
          </a:p>
          <a:p>
            <a:pPr algn="l">
              <a:spcAft>
                <a:spcPts val="200"/>
              </a:spcAft>
            </a:pPr>
            <a:r>
              <a:rPr sz="1500" b="0">
                <a:solidFill>
                  <a:srgbClr val="21201C"/>
                </a:solidFill>
                <a:latin typeface="Calibri"/>
              </a:rPr>
              <a:t>Produce the market research, a launch deck, a campaign brief,</a:t>
            </a:r>
          </a:p>
          <a:p>
            <a:pPr algn="l">
              <a:spcAft>
                <a:spcPts val="200"/>
              </a:spcAft>
            </a:pPr>
            <a:r>
              <a:rPr sz="1500" b="0">
                <a:solidFill>
                  <a:srgbClr val="21201C"/>
                </a:solidFill>
                <a:latin typeface="Calibri"/>
              </a:rPr>
              <a:t>two weeks of social media posts and a 15-second launch video,</a:t>
            </a:r>
          </a:p>
          <a:p>
            <a:pPr algn="l">
              <a:spcAft>
                <a:spcPts val="200"/>
              </a:spcAft>
            </a:pPr>
            <a:r>
              <a:rPr sz="1500" b="0">
                <a:solidFill>
                  <a:srgbClr val="21201C"/>
                </a:solidFill>
                <a:latin typeface="Calibri"/>
              </a:rPr>
              <a:t>within a S$60,000 budget, so that 25-34 year-olds on Instagram</a:t>
            </a:r>
          </a:p>
          <a:p>
            <a:pPr algn="l">
              <a:spcAft>
                <a:spcPts val="200"/>
              </a:spcAft>
            </a:pPr>
            <a:r>
              <a:rPr sz="1500" b="0">
                <a:solidFill>
                  <a:srgbClr val="21201C"/>
                </a:solidFill>
                <a:latin typeface="Calibri"/>
              </a:rPr>
              <a:t>and TikTok know the product exists by launch day.</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Name: Lumo Cold Kopi Launch. Add the three brand-kit files as Context.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You are the marketing team for Lumo Kopi Co.</a:t>
            </a:r>
          </a:p>
          <a:p>
            <a:pPr algn="l">
              <a:spcAft>
                <a:spcPts val="200"/>
              </a:spcAft>
            </a:pPr>
            <a:r>
              <a:rPr sz="1500" b="0">
                <a:solidFill>
                  <a:srgbClr val="21201C"/>
                </a:solidFill>
                <a:latin typeface="Calibri"/>
              </a:rPr>
              <a:t>- Prices are in Singapore dollars: S$3.90 per can, S$42.00 per</a:t>
            </a:r>
          </a:p>
          <a:p>
            <a:pPr algn="l">
              <a:spcAft>
                <a:spcPts val="200"/>
              </a:spcAft>
            </a:pPr>
            <a:r>
              <a:rPr sz="1500" b="0">
                <a:solidFill>
                  <a:srgbClr val="21201C"/>
                </a:solidFill>
                <a:latin typeface="Calibri"/>
              </a:rPr>
              <a:t>  12-pack. Always two decimals.</a:t>
            </a:r>
          </a:p>
          <a:p>
            <a:pPr algn="l">
              <a:spcAft>
                <a:spcPts val="200"/>
              </a:spcAft>
            </a:pPr>
            <a:r>
              <a:rPr sz="1500" b="0">
                <a:solidFill>
                  <a:srgbClr val="21201C"/>
                </a:solidFill>
                <a:latin typeface="Calibri"/>
              </a:rPr>
              <a:t>- Follow lumo-brand-guidelines.md for anything customer-facing.</a:t>
            </a:r>
          </a:p>
          <a:p>
            <a:pPr algn="l">
              <a:spcAft>
                <a:spcPts val="200"/>
              </a:spcAft>
            </a:pPr>
            <a:r>
              <a:rPr sz="1500" b="0">
                <a:solidFill>
                  <a:srgbClr val="21201C"/>
                </a:solidFill>
                <a:latin typeface="Calibri"/>
              </a:rPr>
              <a:t>- Never describe the product as healthy. You may say 5 g sugar.</a:t>
            </a:r>
          </a:p>
          <a:p>
            <a:pPr algn="l">
              <a:spcAft>
                <a:spcPts val="200"/>
              </a:spcAft>
            </a:pPr>
            <a:r>
              <a:rPr sz="1500" b="0">
                <a:solidFill>
                  <a:srgbClr val="21201C"/>
                </a:solidFill>
                <a:latin typeface="Calibri"/>
              </a:rPr>
              <a:t>- Never send an email or publish a post without my approval.</a:t>
            </a:r>
          </a:p>
          <a:p>
            <a:pPr algn="l">
              <a:spcAft>
                <a:spcPts val="200"/>
              </a:spcAft>
            </a:pPr>
            <a:r>
              <a:rPr sz="1500" b="0">
                <a:solidFill>
                  <a:srgbClr val="21201C"/>
                </a:solidFill>
                <a:latin typeface="Calibri"/>
              </a:rPr>
              <a:t>- When a job has several independent subjects, give each one</a:t>
            </a:r>
          </a:p>
          <a:p>
            <a:pPr algn="l">
              <a:spcAft>
                <a:spcPts val="200"/>
              </a:spcAft>
            </a:pPr>
            <a:r>
              <a:rPr sz="1500" b="0">
                <a:solidFill>
                  <a:srgbClr val="21201C"/>
                </a:solidFill>
                <a:latin typeface="Calibri"/>
              </a:rPr>
              <a:t>  its own thread and merge the results for me.</a:t>
            </a:r>
          </a:p>
          <a:p>
            <a:pPr algn="l">
              <a:spcAft>
                <a:spcPts val="200"/>
              </a:spcAft>
            </a:pPr>
            <a:r>
              <a:rPr sz="1500" b="0">
                <a:solidFill>
                  <a:srgbClr val="21201C"/>
                </a:solidFill>
                <a:latin typeface="Calibri"/>
              </a:rPr>
              <a:t>- Flag any figure that two sources disagree on. Do not pick one.</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Save the instructions before you send Block 3.</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FIRST MESSAGE</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Before we start work, check your setup:</a:t>
            </a:r>
          </a:p>
          <a:p>
            <a:pPr algn="l">
              <a:spcAft>
                <a:spcPts val="200"/>
              </a:spcAft>
            </a:pPr>
            <a:r>
              <a:rPr sz="1500" b="0">
                <a:solidFill>
                  <a:srgbClr val="21201C"/>
                </a:solidFill>
                <a:latin typeface="Calibri"/>
              </a:rPr>
              <a:t>1. Restate the project goal in one line.</a:t>
            </a:r>
          </a:p>
          <a:p>
            <a:pPr algn="l">
              <a:spcAft>
                <a:spcPts val="200"/>
              </a:spcAft>
            </a:pPr>
            <a:r>
              <a:rPr sz="1500" b="0">
                <a:solidFill>
                  <a:srgbClr val="21201C"/>
                </a:solidFill>
                <a:latin typeface="Calibri"/>
              </a:rPr>
              <a:t>2. List the context files you can read and what each is for.</a:t>
            </a:r>
          </a:p>
          <a:p>
            <a:pPr algn="l">
              <a:spcAft>
                <a:spcPts val="200"/>
              </a:spcAft>
            </a:pPr>
            <a:r>
              <a:rPr sz="1500" b="0">
                <a:solidFill>
                  <a:srgbClr val="21201C"/>
                </a:solidFill>
                <a:latin typeface="Calibri"/>
              </a:rPr>
              <a:t>3. List the three instructions you think matter most.</a:t>
            </a:r>
          </a:p>
          <a:p>
            <a:pPr algn="l">
              <a:spcAft>
                <a:spcPts val="200"/>
              </a:spcAft>
            </a:pPr>
            <a:r>
              <a:rPr sz="1500" b="0">
                <a:solidFill>
                  <a:srgbClr val="21201C"/>
                </a:solidFill>
                <a:latin typeface="Calibri"/>
              </a:rPr>
              <a:t>4. From the product sheet, give me the price per can, the sugar</a:t>
            </a:r>
          </a:p>
          <a:p>
            <a:pPr algn="l">
              <a:spcAft>
                <a:spcPts val="200"/>
              </a:spcAft>
            </a:pPr>
            <a:r>
              <a:rPr sz="1500" b="0">
                <a:solidFill>
                  <a:srgbClr val="21201C"/>
                </a:solidFill>
                <a:latin typeface="Calibri"/>
              </a:rPr>
              <a:t>   per can and the launch date.</a:t>
            </a:r>
          </a:p>
          <a:p>
            <a:pPr algn="l">
              <a:spcAft>
                <a:spcPts val="200"/>
              </a:spcAft>
            </a:pPr>
            <a:r>
              <a:rPr sz="1500" b="0">
                <a:solidFill>
                  <a:srgbClr val="21201C"/>
                </a:solidFill>
                <a:latin typeface="Calibri"/>
              </a:rPr>
              <a:t>Then remember this for the project: our primary audience is</a:t>
            </a:r>
          </a:p>
          <a:p>
            <a:pPr algn="l">
              <a:spcAft>
                <a:spcPts val="200"/>
              </a:spcAft>
            </a:pPr>
            <a:r>
              <a:rPr sz="1500" b="0">
                <a:solidFill>
                  <a:srgbClr val="21201C"/>
                </a:solidFill>
                <a:latin typeface="Calibri"/>
              </a:rPr>
              <a:t>25-34 year-olds in Singapore, and our secondary market is</a:t>
            </a:r>
          </a:p>
          <a:p>
            <a:pPr algn="l">
              <a:spcAft>
                <a:spcPts val="200"/>
              </a:spcAft>
            </a:pPr>
            <a:r>
              <a:rPr sz="1500" b="0">
                <a:solidFill>
                  <a:srgbClr val="21201C"/>
                </a:solidFill>
                <a:latin typeface="Calibri"/>
              </a:rPr>
              <a:t>Kuala Lumpur, launching 15 January 2027.</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Check the four answers, then find the new entry in the memory files.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course labs and open the Lab 01 data/brand-kit folder.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Claude desktop app, open Projects from the sidebar and click New project.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the project Lumo Cold Kopi Launch and paste Block 1 into the Goal field.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Context, add the three brand-kit files, then click Create project.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the gear icon to open Project settings, choose Memory, and paste Block 2 into Project instructions. Save.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While you are in settings, open General and look at Models.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Back in the project, send Block 3 to the lead agent.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answers: S$3.90 per can, 5 g sugar, launch 1 December 2026.</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memory entry about the audience and Kuala Lumpur.</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Lumo Cold Kopi Launch project exists with the goal from Block 1, the three brand-kit files under Context and the Block 2 instructions saved. The lead agent restated the goal, listed all three context files, and quoted S$3.90 per can, 5 g sugar and a 1 December 2026 launch. A memory file now records the 25-34 audience and the 15 January 2027 Kuala Lumpur launch.</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RESEARCH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 Research in Four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subjects, none depending on another — so they can run at once.</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Competitors</a:t>
            </a:r>
          </a:p>
          <a:p>
            <a:pPr algn="l">
              <a:spcAft>
                <a:spcPts val="300"/>
              </a:spcAft>
            </a:pPr>
            <a:r>
              <a:rPr sz="1150" b="0">
                <a:solidFill>
                  <a:srgbClr val="6B6862"/>
                </a:solidFill>
                <a:latin typeface="Calibri"/>
              </a:rPr>
              <a:t>Six cold-brew brands: price, pack, positioning, and the gap Lumo can own.</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Customer survey</a:t>
            </a:r>
          </a:p>
          <a:p>
            <a:pPr algn="l">
              <a:spcAft>
                <a:spcPts val="300"/>
              </a:spcAft>
            </a:pPr>
            <a:r>
              <a:rPr sz="1150" b="0">
                <a:solidFill>
                  <a:srgbClr val="6B6862"/>
                </a:solidFill>
                <a:latin typeface="Calibri"/>
              </a:rPr>
              <a:t>400 respondents: who is likely to buy, why, and where they discover drinks.</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Pricing</a:t>
            </a:r>
          </a:p>
          <a:p>
            <a:pPr algn="l">
              <a:spcAft>
                <a:spcPts val="300"/>
              </a:spcAft>
            </a:pPr>
            <a:r>
              <a:rPr sz="1150" b="0">
                <a:solidFill>
                  <a:srgbClr val="6B6862"/>
                </a:solidFill>
                <a:latin typeface="Calibri"/>
              </a:rPr>
              <a:t>Where S$3.90 sits against the market, and what the survey says people will pay.</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trends</a:t>
            </a:r>
          </a:p>
          <a:p>
            <a:pPr algn="l">
              <a:spcAft>
                <a:spcPts val="300"/>
              </a:spcAft>
            </a:pPr>
            <a:r>
              <a:rPr sz="1150" b="0">
                <a:solidFill>
                  <a:srgbClr val="6B6862"/>
                </a:solidFill>
                <a:latin typeface="Calibri"/>
              </a:rPr>
              <a:t>Which content themes earn the most engagement in the category right now.</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Each thread gets one subject and its own data file. The lead agent merges the four findings into one research brief — and flags where they disagree.</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Hand a multi-subject research job to the lead agent and verify the merged brief</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anyone writes a post, the team needs to know the market. Four subjects need research — competitors, the customer survey, pricing and social trends — and none depends on another. You give the whole job to the lead agent in one message. It starts one thread per subject, each with its own data file, then merges the four findings into one research brief, which you check against the data.</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research brief (lumo-research-brief.docx) merged from four parallel threads, saved in the project.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web search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02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one thread per subject, and flag any figure two sources disagree on.</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launch brief, so every thread knows the product, price and audience.</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attach the three CSVs; lumo-research-brief.docx is saved in the project.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the four threads run now, in parallel.</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Research the market in four threads</a:t>
            </a:r>
          </a:p>
        </p:txBody>
      </p:sp>
      <p:sp>
        <p:nvSpPr>
          <p:cNvPr id="5" name="Rectangle 4"/>
          <p:cNvSpPr/>
          <p:nvPr/>
        </p:nvSpPr>
        <p:spPr>
          <a:xfrm>
            <a:off x="548640" y="1828800"/>
            <a:ext cx="11064240" cy="3368039"/>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368039"/>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Research the market for the Lumo Cold Kopi launch. The data is in</a:t>
            </a:r>
          </a:p>
          <a:p>
            <a:pPr algn="l">
              <a:spcAft>
                <a:spcPts val="200"/>
              </a:spcAft>
            </a:pPr>
            <a:r>
              <a:rPr sz="1200" b="0">
                <a:solidFill>
                  <a:srgbClr val="21201C"/>
                </a:solidFill>
                <a:latin typeface="Calibri"/>
              </a:rPr>
              <a:t>the three files I have attached. Split this into four threads,</a:t>
            </a:r>
          </a:p>
          <a:p>
            <a:pPr algn="l">
              <a:spcAft>
                <a:spcPts val="200"/>
              </a:spcAft>
            </a:pPr>
            <a:r>
              <a:rPr sz="1200" b="0">
                <a:solidFill>
                  <a:srgbClr val="21201C"/>
                </a:solidFill>
                <a:latin typeface="Calibri"/>
              </a:rPr>
              <a:t>one per subject, and run them in parallel:</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Thread 1 - COMPETITORS (lumo-competitors.csv): price per can, pack,</a:t>
            </a:r>
          </a:p>
          <a:p>
            <a:pPr algn="l">
              <a:spcAft>
                <a:spcPts val="200"/>
              </a:spcAft>
            </a:pPr>
            <a:r>
              <a:rPr sz="1200" b="0">
                <a:solidFill>
                  <a:srgbClr val="21201C"/>
                </a:solidFill>
                <a:latin typeface="Calibri"/>
              </a:rPr>
              <a:t>  positioning and channel for each brand. Where is the gap Lumo</a:t>
            </a:r>
          </a:p>
          <a:p>
            <a:pPr algn="l">
              <a:spcAft>
                <a:spcPts val="200"/>
              </a:spcAft>
            </a:pPr>
            <a:r>
              <a:rPr sz="1200" b="0">
                <a:solidFill>
                  <a:srgbClr val="21201C"/>
                </a:solidFill>
                <a:latin typeface="Calibri"/>
              </a:rPr>
              <a:t>  can own?</a:t>
            </a:r>
          </a:p>
          <a:p>
            <a:pPr algn="l">
              <a:spcAft>
                <a:spcPts val="200"/>
              </a:spcAft>
            </a:pPr>
            <a:r>
              <a:rPr sz="1200" b="0">
                <a:solidFill>
                  <a:srgbClr val="21201C"/>
                </a:solidFill>
                <a:latin typeface="Calibri"/>
              </a:rPr>
              <a:t>Thread 2 - CUSTOMERS (lumo-consumer-survey-2026.csv): share likely</a:t>
            </a:r>
          </a:p>
          <a:p>
            <a:pPr algn="l">
              <a:spcAft>
                <a:spcPts val="200"/>
              </a:spcAft>
            </a:pPr>
            <a:r>
              <a:rPr sz="1200" b="0">
                <a:solidFill>
                  <a:srgbClr val="21201C"/>
                </a:solidFill>
                <a:latin typeface="Calibri"/>
              </a:rPr>
              <a:t>  to buy (intent 4 or 5), split by age band and city; top purchase</a:t>
            </a:r>
          </a:p>
          <a:p>
            <a:pPr algn="l">
              <a:spcAft>
                <a:spcPts val="200"/>
              </a:spcAft>
            </a:pPr>
            <a:r>
              <a:rPr sz="1200" b="0">
                <a:solidFill>
                  <a:srgbClr val="21201C"/>
                </a:solidFill>
                <a:latin typeface="Calibri"/>
              </a:rPr>
              <a:t>  drivers; top discovery channels.</a:t>
            </a:r>
          </a:p>
        </p:txBody>
      </p:sp>
      <p:sp>
        <p:nvSpPr>
          <p:cNvPr id="9" name="TextBox 8"/>
          <p:cNvSpPr txBox="1"/>
          <p:nvPr/>
        </p:nvSpPr>
        <p:spPr>
          <a:xfrm>
            <a:off x="628650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3 - PRICING: where S$3.90 sits against the competitor</a:t>
            </a:r>
          </a:p>
          <a:p>
            <a:pPr algn="l">
              <a:spcAft>
                <a:spcPts val="200"/>
              </a:spcAft>
            </a:pPr>
            <a:r>
              <a:rPr sz="1200" b="0">
                <a:solidFill>
                  <a:srgbClr val="21201C"/>
                </a:solidFill>
                <a:latin typeface="Calibri"/>
              </a:rPr>
              <a:t>  median, and the share of respondents willing to pay S$3.50 or</a:t>
            </a:r>
          </a:p>
          <a:p>
            <a:pPr algn="l">
              <a:spcAft>
                <a:spcPts val="200"/>
              </a:spcAft>
            </a:pPr>
            <a:r>
              <a:rPr sz="1200" b="0">
                <a:solidFill>
                  <a:srgbClr val="21201C"/>
                </a:solidFill>
                <a:latin typeface="Calibri"/>
              </a:rPr>
              <a:t>  more.</a:t>
            </a:r>
          </a:p>
          <a:p>
            <a:pPr algn="l">
              <a:spcAft>
                <a:spcPts val="200"/>
              </a:spcAft>
            </a:pPr>
            <a:r>
              <a:rPr sz="1200" b="0">
                <a:solidFill>
                  <a:srgbClr val="21201C"/>
                </a:solidFill>
                <a:latin typeface="Calibri"/>
              </a:rPr>
              <a:t>Thread 4 - SOCIAL TRENDS (lumo-social-trends.csv): the three content</a:t>
            </a:r>
          </a:p>
          <a:p>
            <a:pPr algn="l">
              <a:spcAft>
                <a:spcPts val="200"/>
              </a:spcAft>
            </a:pPr>
            <a:r>
              <a:rPr sz="1200" b="0">
                <a:solidFill>
                  <a:srgbClr val="21201C"/>
                </a:solidFill>
                <a:latin typeface="Calibri"/>
              </a:rPr>
              <a:t>  themes with the highest engagement, with one post idea each.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When all four threads are done, merge them into one research brief,</a:t>
            </a:r>
          </a:p>
          <a:p>
            <a:pPr algn="l">
              <a:spcAft>
                <a:spcPts val="200"/>
              </a:spcAft>
            </a:pPr>
            <a:r>
              <a:rPr sz="1200" b="0">
                <a:solidFill>
                  <a:srgbClr val="21201C"/>
                </a:solidFill>
                <a:latin typeface="Calibri"/>
              </a:rPr>
              <a:t>lumo-research-brief.docx: a one-paragraph summary, one section per</a:t>
            </a:r>
          </a:p>
          <a:p>
            <a:pPr algn="l">
              <a:spcAft>
                <a:spcPts val="200"/>
              </a:spcAft>
            </a:pPr>
            <a:r>
              <a:rPr sz="1200" b="0">
                <a:solidFill>
                  <a:srgbClr val="21201C"/>
                </a:solidFill>
                <a:latin typeface="Calibri"/>
              </a:rPr>
              <a:t>thread with the key numbers, and three recommendations for the</a:t>
            </a:r>
          </a:p>
          <a:p>
            <a:pPr algn="l">
              <a:spcAft>
                <a:spcPts val="200"/>
              </a:spcAft>
            </a:pPr>
            <a:r>
              <a:rPr sz="1200" b="0">
                <a:solidFill>
                  <a:srgbClr val="21201C"/>
                </a:solidFill>
                <a:latin typeface="Calibri"/>
              </a:rPr>
              <a:t>launch. Show your working for every percentage. Tell me which</a:t>
            </a:r>
          </a:p>
          <a:p>
            <a:pPr algn="l">
              <a:spcAft>
                <a:spcPts val="200"/>
              </a:spcAft>
            </a:pPr>
            <a:r>
              <a:rPr sz="1200" b="0">
                <a:solidFill>
                  <a:srgbClr val="21201C"/>
                </a:solidFill>
                <a:latin typeface="Calibri"/>
              </a:rPr>
              <a:t>thread produced each section, and flag anything the threads</a:t>
            </a:r>
          </a:p>
          <a:p>
            <a:pPr algn="l">
              <a:spcAft>
                <a:spcPts val="200"/>
              </a:spcAft>
            </a:pPr>
            <a:r>
              <a:rPr sz="1200" b="0">
                <a:solidFill>
                  <a:srgbClr val="21201C"/>
                </a:solidFill>
                <a:latin typeface="Calibri"/>
              </a:rPr>
              <a:t>disagree on.</a:t>
            </a:r>
          </a:p>
        </p:txBody>
      </p:sp>
      <p:sp>
        <p:nvSpPr>
          <p:cNvPr id="10" name="Rectangle 9"/>
          <p:cNvSpPr/>
          <p:nvPr/>
        </p:nvSpPr>
        <p:spPr>
          <a:xfrm>
            <a:off x="6080760" y="2395728"/>
            <a:ext cx="9144" cy="2590799"/>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471159"/>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three CSV files from the Lab 02 data folder, or add them to the project's Context first.</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02 data folder and glance at the three CSV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Lumo Cold Kopi Launch project, attach the three files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announce the threads it starts.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one thread while it works and read its brief.</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brief arrives, check the survey numbers.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channel and driver findings.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pricing section.</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trends section and the recommendations.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lumo-research-brief.docx and confirm each section names its thread.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lumo-research-brief.docx has a summary, four thread sections and three recommendations. It reports 400 respondents, 248 likely to buy (62%), 112 of 152 aged 25-34 (74%), Instagram as the top discovery channel at 34%, Taste as the top driver at 31%, a competitor median of S$4.30 with Lumo's S$3.90 below it, 228 respondents (57%) willing to pay S$3.50 or more, and Taste tests and first-sip reactions as the top content theme.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place in the workspace.</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Can refresh from connected data when reopened.</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planner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Turn research data into an interactive Live Artefact dashboard and save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research brief is a document; the launch team wants something they can explore. You turn the survey and competitor data into a Live Artefact — KPI tiles, a channel chart, a price ladder and a city filter — refine it in plain English, save it and download a copy. The launch deck in Lab 5 quotes this dashboard's numbers.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Market Insights Live Artefact, plus a downloaded HTML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Live Artefacts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03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S$ prices with two decimals on every tile and chart.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product sheet, for Lumo's own price beside the competitors.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survey and competitor CSVs; the HTML copy downloads to your computer.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dashboard</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lumo-consumer-survey-2026.csv and lumo-competitors.csv, build</a:t>
            </a:r>
          </a:p>
          <a:p>
            <a:pPr algn="l">
              <a:spcAft>
                <a:spcPts val="200"/>
              </a:spcAft>
            </a:pPr>
            <a:r>
              <a:rPr sz="1200" b="0">
                <a:solidFill>
                  <a:srgbClr val="21201C"/>
                </a:solidFill>
                <a:latin typeface="Calibri"/>
              </a:rPr>
              <a:t>a Live Artefact: an interactive Market Insights dashboard for the</a:t>
            </a:r>
          </a:p>
          <a:p>
            <a:pPr algn="l">
              <a:spcAft>
                <a:spcPts val="200"/>
              </a:spcAft>
            </a:pPr>
            <a:r>
              <a:rPr sz="1200" b="0">
                <a:solidFill>
                  <a:srgbClr val="21201C"/>
                </a:solidFill>
                <a:latin typeface="Calibri"/>
              </a:rPr>
              <a:t>Lumo Cold Kopi launch.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Include:</a:t>
            </a:r>
          </a:p>
          <a:p>
            <a:pPr algn="l">
              <a:spcAft>
                <a:spcPts val="200"/>
              </a:spcAft>
            </a:pPr>
            <a:r>
              <a:rPr sz="1200" b="0">
                <a:solidFill>
                  <a:srgbClr val="21201C"/>
                </a:solidFill>
                <a:latin typeface="Calibri"/>
              </a:rPr>
              <a:t>- KPI tiles: respondents, % likely to buy (intent 4 or 5), top</a:t>
            </a:r>
          </a:p>
          <a:p>
            <a:pPr algn="l">
              <a:spcAft>
                <a:spcPts val="200"/>
              </a:spcAft>
            </a:pPr>
            <a:r>
              <a:rPr sz="1200" b="0">
                <a:solidFill>
                  <a:srgbClr val="21201C"/>
                </a:solidFill>
                <a:latin typeface="Calibri"/>
              </a:rPr>
              <a:t>  discovery channel, competitor median price.</a:t>
            </a:r>
          </a:p>
          <a:p>
            <a:pPr algn="l">
              <a:spcAft>
                <a:spcPts val="200"/>
              </a:spcAft>
            </a:pPr>
            <a:r>
              <a:rPr sz="1200" b="0">
                <a:solidFill>
                  <a:srgbClr val="21201C"/>
                </a:solidFill>
                <a:latin typeface="Calibri"/>
              </a:rPr>
              <a:t>- A bar chart of discovery channels.</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 A bar chart of purchase drivers.</a:t>
            </a:r>
          </a:p>
          <a:p>
            <a:pPr algn="l">
              <a:spcAft>
                <a:spcPts val="200"/>
              </a:spcAft>
            </a:pPr>
            <a:r>
              <a:rPr sz="1200" b="0">
                <a:solidFill>
                  <a:srgbClr val="21201C"/>
                </a:solidFill>
                <a:latin typeface="Calibri"/>
              </a:rPr>
              <a:t>- A price ladder: the six competitors and Lumo at S$3.90, cheapest</a:t>
            </a:r>
          </a:p>
          <a:p>
            <a:pPr algn="l">
              <a:spcAft>
                <a:spcPts val="200"/>
              </a:spcAft>
            </a:pPr>
            <a:r>
              <a:rPr sz="1200" b="0">
                <a:solidFill>
                  <a:srgbClr val="21201C"/>
                </a:solidFill>
                <a:latin typeface="Calibri"/>
              </a:rPr>
              <a:t>  to dearest, with Lumo highlighted.</a:t>
            </a:r>
          </a:p>
          <a:p>
            <a:pPr algn="l">
              <a:spcAft>
                <a:spcPts val="200"/>
              </a:spcAft>
            </a:pPr>
            <a:r>
              <a:rPr sz="1200" b="0">
                <a:solidFill>
                  <a:srgbClr val="21201C"/>
                </a:solidFill>
                <a:latin typeface="Calibri"/>
              </a:rPr>
              <a:t>- A filter for city: All, Singapore, Kuala Lumpur. The KPI tiles and</a:t>
            </a:r>
          </a:p>
          <a:p>
            <a:pPr algn="l">
              <a:spcAft>
                <a:spcPts val="200"/>
              </a:spcAft>
            </a:pPr>
            <a:r>
              <a:rPr sz="1200" b="0">
                <a:solidFill>
                  <a:srgbClr val="21201C"/>
                </a:solidFill>
                <a:latin typeface="Calibri"/>
              </a:rPr>
              <a:t>  both survey charts must follow the filter.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Bake the data into the artefact - do not fetch anything. Use the</a:t>
            </a:r>
          </a:p>
          <a:p>
            <a:pPr algn="l">
              <a:spcAft>
                <a:spcPts val="200"/>
              </a:spcAft>
            </a:pPr>
            <a:r>
              <a:rPr sz="1200" b="0">
                <a:solidFill>
                  <a:srgbClr val="21201C"/>
                </a:solidFill>
                <a:latin typeface="Calibri"/>
              </a:rPr>
              <a:t>Lumo brand colours from the brand guidelines. Title it</a:t>
            </a:r>
          </a:p>
          <a:p>
            <a:pPr algn="l">
              <a:spcAft>
                <a:spcPts val="200"/>
              </a:spcAft>
            </a:pPr>
            <a:r>
              <a:rPr sz="1200" b="0">
                <a:solidFill>
                  <a:srgbClr val="21201C"/>
                </a:solidFill>
                <a:latin typeface="Calibri"/>
              </a:rPr>
              <a:t>"Lumo Cold Kopi - Market Insights".</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Artefacts run in a sandbox and cannot call the internet, which is why the prompt says to bake the data in.</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 with the two CSV files attached or in Context.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with the filter on 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Switch the filter to Singapore, then Kuala Lumpur.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price ladder.</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for example: Put the price ladder beside the channel chart.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then download a copy as HTML.</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 Insights artefact shows 400 respondents, 62% likely to buy, Instagram as the top channel and a S$4.30 competitor median. The city filter changes the respondent count to 240 (Singapore) and 160 (Kuala Lumpur) and both survey charts follow it. The price ladder runs from S$3.20 to S$5.60 with Lumo highlighted at S$3.90. The artefact is saved and an HTML copy is downloaded.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Lumo Social Trends</a:t>
            </a:r>
          </a:p>
        </p:txBody>
      </p:sp>
      <p:sp>
        <p:nvSpPr>
          <p:cNvPr id="5" name="Rectangle 4"/>
          <p:cNvSpPr/>
          <p:nvPr/>
        </p:nvSpPr>
        <p:spPr>
          <a:xfrm>
            <a:off x="1121180" y="1600200"/>
            <a:ext cx="5758639"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1180" y="1600200"/>
            <a:ext cx="5758639"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social-trends.png"/>
          <p:cNvPicPr>
            <a:picLocks noChangeAspect="1"/>
          </p:cNvPicPr>
          <p:nvPr/>
        </p:nvPicPr>
        <p:blipFill>
          <a:blip r:embed="rId2"/>
          <a:stretch>
            <a:fillRect/>
          </a:stretch>
        </p:blipFill>
        <p:spPr>
          <a:xfrm>
            <a:off x="1230908" y="1709928"/>
            <a:ext cx="5539183" cy="4078224"/>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Filters</a:t>
            </a:r>
          </a:p>
          <a:p>
            <a:pPr algn="l">
              <a:spcAft>
                <a:spcPts val="300"/>
              </a:spcAft>
            </a:pPr>
            <a:r>
              <a:rPr sz="1250" b="0">
                <a:solidFill>
                  <a:srgbClr val="6B6862"/>
                </a:solidFill>
                <a:latin typeface="Calibri"/>
              </a:rPr>
              <a:t>Rank by engagement, views or posts; filter by platform and trend.</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Themes ranked</a:t>
            </a:r>
          </a:p>
          <a:p>
            <a:pPr algn="l">
              <a:spcAft>
                <a:spcPts val="300"/>
              </a:spcAft>
            </a:pPr>
            <a:r>
              <a:rPr sz="1250" b="0">
                <a:solidFill>
                  <a:srgbClr val="6B6862"/>
                </a:solidFill>
                <a:latin typeface="Calibri"/>
              </a:rPr>
              <a:t>Taste tests and first-sip reactions lead at 7.4%, and are rising.</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Pick a bar</a:t>
            </a:r>
          </a:p>
          <a:p>
            <a:pPr algn="l">
              <a:spcAft>
                <a:spcPts val="300"/>
              </a:spcAft>
            </a:pPr>
            <a:r>
              <a:rPr sz="1250" b="0">
                <a:solidFill>
                  <a:srgbClr val="6B6862"/>
                </a:solidFill>
                <a:latin typeface="Calibri"/>
              </a:rPr>
              <a:t>The right-hand card shows that theme's numbers and a draft post idea.</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Spot the gap</a:t>
            </a:r>
          </a:p>
          <a:p>
            <a:pPr algn="l">
              <a:spcAft>
                <a:spcPts val="300"/>
              </a:spcAft>
            </a:pPr>
            <a:r>
              <a:rPr sz="1250" b="0">
                <a:solidFill>
                  <a:srgbClr val="6B6862"/>
                </a:solidFill>
                <a:latin typeface="Calibri"/>
              </a:rPr>
              <a:t>The summary cards show '—'. Ask Claude to fix them — always check the numbers.</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Live Artefact built in class from the social trends research.</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Who Is Likely to Buy?</a:t>
            </a:r>
          </a:p>
        </p:txBody>
      </p:sp>
      <p:sp>
        <p:nvSpPr>
          <p:cNvPr id="5" name="Rectangle 4"/>
          <p:cNvSpPr/>
          <p:nvPr/>
        </p:nvSpPr>
        <p:spPr>
          <a:xfrm>
            <a:off x="971428" y="1600200"/>
            <a:ext cx="6058144"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1428" y="1600200"/>
            <a:ext cx="605814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customer-intent.png"/>
          <p:cNvPicPr>
            <a:picLocks noChangeAspect="1"/>
          </p:cNvPicPr>
          <p:nvPr/>
        </p:nvPicPr>
        <p:blipFill>
          <a:blip r:embed="rId2"/>
          <a:stretch>
            <a:fillRect/>
          </a:stretch>
        </p:blipFill>
        <p:spPr>
          <a:xfrm>
            <a:off x="1081156" y="1709928"/>
            <a:ext cx="5838688" cy="4078224"/>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Filters</a:t>
            </a:r>
          </a:p>
          <a:p>
            <a:pPr algn="l">
              <a:spcAft>
                <a:spcPts val="300"/>
              </a:spcAft>
            </a:pPr>
            <a:r>
              <a:rPr sz="1250" b="0">
                <a:solidFill>
                  <a:srgbClr val="6B6862"/>
                </a:solidFill>
                <a:latin typeface="Calibri"/>
              </a:rPr>
              <a:t>City and age band; Jump to opens the primary and secondary audiences.</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Headline</a:t>
            </a:r>
          </a:p>
          <a:p>
            <a:pPr algn="l">
              <a:spcAft>
                <a:spcPts val="300"/>
              </a:spcAft>
            </a:pPr>
            <a:r>
              <a:rPr sz="1250" b="0">
                <a:solidFill>
                  <a:srgbClr val="6B6862"/>
                </a:solidFill>
                <a:latin typeface="Calibri"/>
              </a:rPr>
              <a:t>60.0% of 160 KL respondents are likely to buy — 2 points below the overall average.</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Price tolerance</a:t>
            </a:r>
          </a:p>
          <a:p>
            <a:pPr algn="l">
              <a:spcAft>
                <a:spcPts val="300"/>
              </a:spcAft>
            </a:pPr>
            <a:r>
              <a:rPr sz="1250" b="0">
                <a:solidFill>
                  <a:srgbClr val="6B6862"/>
                </a:solidFill>
                <a:latin typeface="Calibri"/>
              </a:rPr>
              <a:t>A third of likely buyers would pay S$3.90 or more.</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Explore</a:t>
            </a:r>
          </a:p>
          <a:p>
            <a:pPr algn="l">
              <a:spcAft>
                <a:spcPts val="300"/>
              </a:spcAft>
            </a:pPr>
            <a:r>
              <a:rPr sz="1250" b="0">
                <a:solidFill>
                  <a:srgbClr val="6B6862"/>
                </a:solidFill>
                <a:latin typeface="Calibri"/>
              </a:rPr>
              <a:t>Click any city and age cell to open that segment; small samples are flagged.</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Live Artefact on the consumer survey, filtered here to Kuala Lumpur.</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Lumo Pricing Explorer</a:t>
            </a:r>
          </a:p>
        </p:txBody>
      </p:sp>
      <p:sp>
        <p:nvSpPr>
          <p:cNvPr id="5" name="Rectangle 4"/>
          <p:cNvSpPr/>
          <p:nvPr/>
        </p:nvSpPr>
        <p:spPr>
          <a:xfrm>
            <a:off x="840885" y="1600200"/>
            <a:ext cx="6319230"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885" y="1600200"/>
            <a:ext cx="631923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pricing-explorer.png"/>
          <p:cNvPicPr>
            <a:picLocks noChangeAspect="1"/>
          </p:cNvPicPr>
          <p:nvPr/>
        </p:nvPicPr>
        <p:blipFill>
          <a:blip r:embed="rId2"/>
          <a:stretch>
            <a:fillRect/>
          </a:stretch>
        </p:blipFill>
        <p:spPr>
          <a:xfrm>
            <a:off x="950613" y="1709928"/>
            <a:ext cx="6099774"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Price slider</a:t>
            </a:r>
          </a:p>
          <a:p>
            <a:pPr algn="l">
              <a:spcAft>
                <a:spcPts val="300"/>
              </a:spcAft>
            </a:pPr>
            <a:r>
              <a:rPr sz="1250" b="0">
                <a:solidFill>
                  <a:srgbClr val="6B6862"/>
                </a:solidFill>
                <a:latin typeface="Calibri"/>
              </a:rPr>
              <a:t>Drag it, or pick S$3.50 (12-pack) or S$3.90 (single can).</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Against competitors</a:t>
            </a:r>
          </a:p>
          <a:p>
            <a:pPr algn="l">
              <a:spcAft>
                <a:spcPts val="300"/>
              </a:spcAft>
            </a:pPr>
            <a:r>
              <a:rPr sz="1250" b="0">
                <a:solidFill>
                  <a:srgbClr val="6B6862"/>
                </a:solidFill>
                <a:latin typeface="Calibri"/>
              </a:rPr>
              <a:t>Lumo's S$3.90 can is 9.3% below the S$4.30 competitor median.</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chart</a:t>
            </a:r>
          </a:p>
          <a:p>
            <a:pPr algn="l">
              <a:spcAft>
                <a:spcPts val="300"/>
              </a:spcAft>
            </a:pPr>
            <a:r>
              <a:rPr sz="1250" b="0">
                <a:solidFill>
                  <a:srgbClr val="6B6862"/>
                </a:solidFill>
                <a:latin typeface="Calibri"/>
              </a:rPr>
              <a:t>Listed and pack prices per can, with both medians as dashed lines.</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Drag the price and every card recalculates who would still buy.</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All Your Artefacts in One Place</a:t>
            </a:r>
          </a:p>
        </p:txBody>
      </p:sp>
      <p:sp>
        <p:nvSpPr>
          <p:cNvPr id="5" name="Rectangle 4"/>
          <p:cNvSpPr/>
          <p:nvPr/>
        </p:nvSpPr>
        <p:spPr>
          <a:xfrm>
            <a:off x="2467789" y="1600200"/>
            <a:ext cx="7225941"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67789" y="1600200"/>
            <a:ext cx="722594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ifacts-gallery.png"/>
          <p:cNvPicPr>
            <a:picLocks noChangeAspect="1"/>
          </p:cNvPicPr>
          <p:nvPr/>
        </p:nvPicPr>
        <p:blipFill>
          <a:blip r:embed="rId2"/>
          <a:stretch>
            <a:fillRect/>
          </a:stretch>
        </p:blipFill>
        <p:spPr>
          <a:xfrm>
            <a:off x="2577517" y="1709928"/>
            <a:ext cx="7006485"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Artifacts</a:t>
            </a:r>
          </a:p>
          <a:p>
            <a:pPr algn="l">
              <a:spcAft>
                <a:spcPts val="300"/>
              </a:spcAft>
            </a:pPr>
            <a:r>
              <a:rPr sz="1250" b="0">
                <a:solidFill>
                  <a:srgbClr val="6B6862"/>
                </a:solidFill>
                <a:latin typeface="Calibri"/>
              </a:rPr>
              <a:t>Open, search, sort and filter all your artefacts.</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Lock or globe</a:t>
            </a:r>
          </a:p>
          <a:p>
            <a:pPr algn="l">
              <a:spcAft>
                <a:spcPts val="300"/>
              </a:spcAft>
            </a:pPr>
            <a:r>
              <a:rPr sz="1250" b="0">
                <a:solidFill>
                  <a:srgbClr val="6B6862"/>
                </a:solidFill>
                <a:latin typeface="Calibri"/>
              </a:rPr>
              <a:t>A lock means private; a globe means shared by link.</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Pinned</a:t>
            </a:r>
          </a:p>
          <a:p>
            <a:pPr algn="l">
              <a:spcAft>
                <a:spcPts val="300"/>
              </a:spcAft>
            </a:pPr>
            <a:r>
              <a:rPr sz="1250" b="0">
                <a:solidFill>
                  <a:srgbClr val="6B6862"/>
                </a:solidFill>
                <a:latin typeface="Calibri"/>
              </a:rPr>
              <a:t>The Lumo project and its sessions stay pinned in the sidebar.</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Artifacts in the sidebar lists everything you have built, across every project.</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Market Research</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create a Claude Project with a goal, instructions, context and memory.</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hand a multi-subject research job to the lead agent and verify the merged brief.</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research data into an interactive Live Artefact dashboard and save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Connectors, Skills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Tools: built in, and added by connectors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Drive and Gmail, tool calls and the context window</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Data analysis, Slides, Docs and built-in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plugins and mods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Tools and Skills: The Difference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words you will meet all afternoon — and how Claude uses each.</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tool — what Claude can DO</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One action: search, read, run code, create a file, send.</a:t>
            </a:r>
          </a:p>
          <a:p>
            <a:pPr algn="l">
              <a:spcAft>
                <a:spcPts val="900"/>
              </a:spcAft>
            </a:pPr>
            <a:r>
              <a:rPr sz="1250" b="0">
                <a:solidFill>
                  <a:srgbClr val="21201C"/>
                </a:solidFill>
                <a:latin typeface="Calibri"/>
              </a:rPr>
              <a:t>•  Built in (web search, code, files) or added by a connector.</a:t>
            </a:r>
          </a:p>
          <a:p>
            <a:pPr algn="l">
              <a:spcAft>
                <a:spcPts val="900"/>
              </a:spcAft>
            </a:pPr>
            <a:r>
              <a:rPr sz="1250" b="0">
                <a:solidFill>
                  <a:srgbClr val="21201C"/>
                </a:solidFill>
                <a:latin typeface="Calibri"/>
              </a:rPr>
              <a:t>•  Claude picks one by matching your request to its description.</a:t>
            </a:r>
          </a:p>
          <a:p>
            <a:pPr algn="l">
              <a:spcAft>
                <a:spcPts val="900"/>
              </a:spcAft>
            </a:pPr>
            <a:r>
              <a:rPr sz="1250" b="0">
                <a:solidFill>
                  <a:srgbClr val="21201C"/>
                </a:solidFill>
                <a:latin typeface="Calibri"/>
              </a:rPr>
              <a:t>•  Each call shows in the reply: the tool, its input, its result.</a:t>
            </a:r>
          </a:p>
          <a:p>
            <a:pPr algn="l">
              <a:spcAft>
                <a:spcPts val="900"/>
              </a:spcAft>
            </a:pPr>
            <a:r>
              <a:rPr sz="1250" b="0">
                <a:solidFill>
                  <a:srgbClr val="21201C"/>
                </a:solidFill>
                <a:latin typeface="Calibri"/>
              </a:rPr>
              <a:t>•  Lumo: Google Drive search_files finds the budget sheet.</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skill — HOW Claude does a job</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SKILL.md of steps, rules and checks for one kind of job.</a:t>
            </a:r>
          </a:p>
          <a:p>
            <a:pPr algn="l">
              <a:spcAft>
                <a:spcPts val="900"/>
              </a:spcAft>
            </a:pPr>
            <a:r>
              <a:rPr sz="1250" b="0">
                <a:solidFill>
                  <a:srgbClr val="21201C"/>
                </a:solidFill>
                <a:latin typeface="Calibri"/>
              </a:rPr>
              <a:t>•  Built in (pptx, xlsx), written by you, or from a plugin.</a:t>
            </a:r>
          </a:p>
          <a:p>
            <a:pPr algn="l">
              <a:spcAft>
                <a:spcPts val="900"/>
              </a:spcAft>
            </a:pPr>
            <a:r>
              <a:rPr sz="1250" b="0">
                <a:solidFill>
                  <a:srgbClr val="21201C"/>
                </a:solidFill>
                <a:latin typeface="Calibri"/>
              </a:rPr>
              <a:t>•  Loads when your request matches its description.</a:t>
            </a:r>
          </a:p>
          <a:p>
            <a:pPr algn="l">
              <a:spcAft>
                <a:spcPts val="900"/>
              </a:spcAft>
            </a:pPr>
            <a:r>
              <a:rPr sz="1250" b="0">
                <a:solidFill>
                  <a:srgbClr val="21201C"/>
                </a:solidFill>
                <a:latin typeface="Calibri"/>
              </a:rPr>
              <a:t>•  Tells Claude which tools to use, in what order.</a:t>
            </a:r>
          </a:p>
          <a:p>
            <a:pPr algn="l">
              <a:spcAft>
                <a:spcPts val="900"/>
              </a:spcAft>
            </a:pPr>
            <a:r>
              <a:rPr sz="1250" b="0">
                <a:solidFill>
                  <a:srgbClr val="21201C"/>
                </a:solidFill>
                <a:latin typeface="Calibri"/>
              </a:rPr>
              <a:t>•  Lumo: lumo-brand-voice applies the rules to every post.</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Claude's Built-in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Claude can already do before you connect anything.</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Web search and fetch</a:t>
            </a:r>
          </a:p>
          <a:p>
            <a:pPr algn="l">
              <a:spcAft>
                <a:spcPts val="300"/>
              </a:spcAft>
            </a:pPr>
            <a:r>
              <a:rPr sz="1150" b="0">
                <a:solidFill>
                  <a:srgbClr val="6B6862"/>
                </a:solidFill>
                <a:latin typeface="Calibri"/>
              </a:rPr>
              <a:t>Finds and reads current web pages — competitor news, prices, trends — and cites them.</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Code execution</a:t>
            </a:r>
          </a:p>
          <a:p>
            <a:pPr algn="l">
              <a:spcAft>
                <a:spcPts val="300"/>
              </a:spcAft>
            </a:pPr>
            <a:r>
              <a:rPr sz="1150" b="0">
                <a:solidFill>
                  <a:srgbClr val="6B6862"/>
                </a:solidFill>
                <a:latin typeface="Calibri"/>
              </a:rPr>
              <a:t>Writes and runs Python on your files: counts, tables, charts. Lab 3's dashboard, Lab 5's analysis and Lab 9's video.</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File creation</a:t>
            </a:r>
          </a:p>
          <a:p>
            <a:pPr algn="l">
              <a:spcAft>
                <a:spcPts val="300"/>
              </a:spcAft>
            </a:pPr>
            <a:r>
              <a:rPr sz="1150" b="0">
                <a:solidFill>
                  <a:srgbClr val="6B6862"/>
                </a:solidFill>
                <a:latin typeface="Calibri"/>
              </a:rPr>
              <a:t>Makes real .xlsx, .pptx, .docx and .pdf files you download and open. Lab 5.</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Artefacts</a:t>
            </a:r>
          </a:p>
          <a:p>
            <a:pPr algn="l">
              <a:spcAft>
                <a:spcPts val="300"/>
              </a:spcAft>
            </a:pPr>
            <a:r>
              <a:rPr sz="1150" b="0">
                <a:solidFill>
                  <a:srgbClr val="6B6862"/>
                </a:solidFill>
                <a:latin typeface="Calibri"/>
              </a:rPr>
              <a:t>Builds an interactive page — a dashboard, a tracker — that stays in your workspace. Lab 3.</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files</a:t>
            </a:r>
          </a:p>
          <a:p>
            <a:pPr algn="l">
              <a:spcAft>
                <a:spcPts val="300"/>
              </a:spcAft>
            </a:pPr>
            <a:r>
              <a:rPr sz="1150" b="0">
                <a:solidFill>
                  <a:srgbClr val="6B6862"/>
                </a:solidFill>
                <a:latin typeface="Calibri"/>
              </a:rPr>
              <a:t>Reads the project's context and writes outputs to its files — the brief, the calendar. Every lab.</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Add more tools from outside apps: Google Drive, Gmail, Calendar and others. Lab 4.</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Claude Uses a Tool</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You ask</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“Compare the Drive budget with the brief.”</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Claude picks a tool</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It matches the job to each tool's description — here, Google Drive.</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It calls the tool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With inputs it chooses: search_files, query “Lumo Launch”.</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It reads the result</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Two CSV files come back — so it calls read_file_content next.</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It answers, or asks</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Reading just runs. Sending an email waits for your approval.</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Click any step in Claude's reply to see the tool, the input and what came back.</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Reading a Tool Call</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WHAT CLAUDE DID — the tool calls behind Lab 4, Block 1</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1. Google Drive · search_files("Lumo Launch")</a:t>
            </a:r>
          </a:p>
          <a:p>
            <a:pPr algn="l">
              <a:spcAft>
                <a:spcPts val="200"/>
              </a:spcAft>
            </a:pPr>
            <a:r>
              <a:rPr sz="1500" b="0">
                <a:solidFill>
                  <a:srgbClr val="21201C"/>
                </a:solidFill>
                <a:latin typeface="Calibri"/>
              </a:rPr>
              <a:t>   → 1 folder with 2 CSV files</a:t>
            </a:r>
          </a:p>
          <a:p>
            <a:pPr algn="l">
              <a:spcAft>
                <a:spcPts val="200"/>
              </a:spcAft>
            </a:pPr>
            <a:r>
              <a:rPr sz="1500" b="0">
                <a:solidFill>
                  <a:srgbClr val="21201C"/>
                </a:solidFill>
                <a:latin typeface="Calibri"/>
              </a:rPr>
              <a:t>2. Google Drive · read_file_content(lumo-launch-budget.csv)</a:t>
            </a:r>
          </a:p>
          <a:p>
            <a:pPr algn="l">
              <a:spcAft>
                <a:spcPts val="200"/>
              </a:spcAft>
            </a:pPr>
            <a:r>
              <a:rPr sz="1500" b="0">
                <a:solidFill>
                  <a:srgbClr val="21201C"/>
                </a:solidFill>
                <a:latin typeface="Calibri"/>
              </a:rPr>
              <a:t>   → 5 lines, total S$60,000</a:t>
            </a:r>
          </a:p>
          <a:p>
            <a:pPr algn="l">
              <a:spcAft>
                <a:spcPts val="200"/>
              </a:spcAft>
            </a:pPr>
            <a:r>
              <a:rPr sz="1500" b="0">
                <a:solidFill>
                  <a:srgbClr val="21201C"/>
                </a:solidFill>
                <a:latin typeface="Calibri"/>
              </a:rPr>
              <a:t>3. Google Drive · read_file_content(lumo-launch-timeline.csv)</a:t>
            </a:r>
          </a:p>
          <a:p>
            <a:pPr algn="l">
              <a:spcAft>
                <a:spcPts val="200"/>
              </a:spcAft>
            </a:pPr>
            <a:r>
              <a:rPr sz="1500" b="0">
                <a:solidFill>
                  <a:srgbClr val="21201C"/>
                </a:solidFill>
                <a:latin typeface="Calibri"/>
              </a:rPr>
              <a:t>   → 11 milestones; the next is 30 October</a:t>
            </a:r>
          </a:p>
          <a:p>
            <a:pPr algn="l">
              <a:spcAft>
                <a:spcPts val="200"/>
              </a:spcAft>
            </a:pPr>
            <a:r>
              <a:rPr sz="1500" b="0">
                <a:solidFill>
                  <a:srgbClr val="21201C"/>
                </a:solidFill>
                <a:latin typeface="Calibri"/>
              </a:rPr>
              <a:t>4. Project file · read(lumo-launch-brief.md)</a:t>
            </a:r>
          </a:p>
          <a:p>
            <a:pPr algn="l">
              <a:spcAft>
                <a:spcPts val="200"/>
              </a:spcAft>
            </a:pPr>
            <a:r>
              <a:rPr sz="1500" b="0">
                <a:solidFill>
                  <a:srgbClr val="21201C"/>
                </a:solidFill>
                <a:latin typeface="Calibri"/>
              </a:rPr>
              <a:t>   → budget table, total S$60,000</a:t>
            </a:r>
          </a:p>
          <a:p>
            <a:pPr algn="l">
              <a:spcAft>
                <a:spcPts val="200"/>
              </a:spcAft>
            </a:pPr>
            <a:r>
              <a:rPr sz="1500" b="0">
                <a:solidFill>
                  <a:srgbClr val="21201C"/>
                </a:solidFill>
                <a:latin typeface="Calibri"/>
              </a:rPr>
              <a:t>   Claude compares the two → 2 lines disagree</a:t>
            </a:r>
          </a:p>
          <a:p>
            <a:pPr algn="l">
              <a:spcAft>
                <a:spcPts val="200"/>
              </a:spcAft>
            </a:pPr>
            <a:r>
              <a:rPr sz="1500" b="0">
                <a:solidFill>
                  <a:srgbClr val="21201C"/>
                </a:solidFill>
                <a:latin typeface="Calibri"/>
              </a:rPr>
              <a:t>5. Google Drive · create_file(lumo-research-brief.docx)</a:t>
            </a:r>
          </a:p>
          <a:p>
            <a:pPr algn="l">
              <a:spcAft>
                <a:spcPts val="200"/>
              </a:spcAft>
            </a:pPr>
            <a:r>
              <a:rPr sz="1500" b="0">
                <a:solidFill>
                  <a:srgbClr val="21201C"/>
                </a:solidFill>
                <a:latin typeface="Calibri"/>
              </a:rPr>
              <a:t>6. Gmail · create_draft("Lumo launch - research and budget check")</a:t>
            </a:r>
          </a:p>
          <a:p>
            <a:pPr algn="l">
              <a:spcAft>
                <a:spcPts val="200"/>
              </a:spcAft>
            </a:pPr>
            <a:r>
              <a:rPr sz="1500" b="0">
                <a:solidFill>
                  <a:srgbClr val="21201C"/>
                </a:solidFill>
                <a:latin typeface="Calibri"/>
              </a:rPr>
              <a:t>7. Gmail · send_message → waits for your approval</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Click any step in Claude's reply to see this for yourself. Tool names can differ slightly between connector versions; the pattern does not.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and ads tools</a:t>
            </a:r>
          </a:p>
          <a:p>
            <a:pPr algn="l">
              <a:spcAft>
                <a:spcPts val="300"/>
              </a:spcAft>
            </a:pPr>
            <a:r>
              <a:rPr sz="1150" b="0">
                <a:solidFill>
                  <a:srgbClr val="6B6862"/>
                </a:solidFill>
                <a:latin typeface="Calibri"/>
              </a:rPr>
              <a:t>Where your workspace has them, connectors for scheduling and ad platforms reach the same way — always with approval.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and Gmail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each on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 — including file read access.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Connector at Work: Gmail</a:t>
            </a:r>
          </a:p>
        </p:txBody>
      </p:sp>
      <p:sp>
        <p:nvSpPr>
          <p:cNvPr id="5" name="Rectangle 4"/>
          <p:cNvSpPr/>
          <p:nvPr/>
        </p:nvSpPr>
        <p:spPr>
          <a:xfrm>
            <a:off x="548640" y="1600200"/>
            <a:ext cx="11064240" cy="2105505"/>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106424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gmail-send-prompt.png"/>
          <p:cNvPicPr>
            <a:picLocks noChangeAspect="1"/>
          </p:cNvPicPr>
          <p:nvPr/>
        </p:nvPicPr>
        <p:blipFill>
          <a:blip r:embed="rId2"/>
          <a:stretch>
            <a:fillRect/>
          </a:stretch>
        </p:blipFill>
        <p:spPr>
          <a:xfrm>
            <a:off x="658368" y="1709928"/>
            <a:ext cx="10844784" cy="1886049"/>
          </a:xfrm>
          <a:prstGeom prst="rect">
            <a:avLst/>
          </a:prstGeom>
        </p:spPr>
      </p:pic>
      <p:sp>
        <p:nvSpPr>
          <p:cNvPr id="8" name="Oval 7"/>
          <p:cNvSpPr/>
          <p:nvPr/>
        </p:nvSpPr>
        <p:spPr>
          <a:xfrm>
            <a:off x="54864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Ask in plain English</a:t>
            </a:r>
          </a:p>
          <a:p>
            <a:pPr algn="l">
              <a:spcAft>
                <a:spcPts val="300"/>
              </a:spcAft>
            </a:pPr>
            <a:r>
              <a:rPr sz="1250" b="0">
                <a:solidFill>
                  <a:srgbClr val="6B6862"/>
                </a:solidFill>
                <a:latin typeface="Calibri"/>
              </a:rPr>
              <a:t>Say what to send and to whom; no menus to find.</a:t>
            </a:r>
          </a:p>
        </p:txBody>
      </p:sp>
      <p:sp>
        <p:nvSpPr>
          <p:cNvPr id="11" name="Oval 10"/>
          <p:cNvSpPr/>
          <p:nvPr/>
        </p:nvSpPr>
        <p:spPr>
          <a:xfrm>
            <a:off x="432816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Watch the tool call</a:t>
            </a:r>
          </a:p>
          <a:p>
            <a:pPr algn="l">
              <a:spcAft>
                <a:spcPts val="300"/>
              </a:spcAft>
            </a:pPr>
            <a:r>
              <a:rPr sz="1250" b="0">
                <a:solidFill>
                  <a:srgbClr val="6B6862"/>
                </a:solidFill>
                <a:latin typeface="Calibri"/>
              </a:rPr>
              <a:t>'Using Gmail: Send email message' names the connector and action. Click › for detail.</a:t>
            </a:r>
          </a:p>
        </p:txBody>
      </p:sp>
      <p:sp>
        <p:nvSpPr>
          <p:cNvPr id="14" name="Oval 13"/>
          <p:cNvSpPr/>
          <p:nvPr/>
        </p:nvSpPr>
        <p:spPr>
          <a:xfrm>
            <a:off x="810768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Stay in control</a:t>
            </a:r>
          </a:p>
          <a:p>
            <a:pPr algn="l">
              <a:spcAft>
                <a:spcPts val="300"/>
              </a:spcAft>
            </a:pPr>
            <a:r>
              <a:rPr sz="1250" b="0">
                <a:solidFill>
                  <a:srgbClr val="6B6862"/>
                </a:solidFill>
                <a:latin typeface="Calibri"/>
              </a:rPr>
              <a:t>Ask for a draft first when the email goes to anyone but you.</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One plain request — Claude chose the Gmail connector's Send email action.</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Result in Gmail</a:t>
            </a:r>
          </a:p>
        </p:txBody>
      </p:sp>
      <p:sp>
        <p:nvSpPr>
          <p:cNvPr id="5" name="Rectangle 4"/>
          <p:cNvSpPr/>
          <p:nvPr/>
        </p:nvSpPr>
        <p:spPr>
          <a:xfrm>
            <a:off x="548640" y="1876849"/>
            <a:ext cx="6903720" cy="3744382"/>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76849"/>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gmail-result.png"/>
          <p:cNvPicPr>
            <a:picLocks noChangeAspect="1"/>
          </p:cNvPicPr>
          <p:nvPr/>
        </p:nvPicPr>
        <p:blipFill>
          <a:blip r:embed="rId2"/>
          <a:stretch>
            <a:fillRect/>
          </a:stretch>
        </p:blipFill>
        <p:spPr>
          <a:xfrm>
            <a:off x="658368" y="1986577"/>
            <a:ext cx="6684264" cy="3524926"/>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Read from the file</a:t>
            </a:r>
          </a:p>
          <a:p>
            <a:pPr algn="l">
              <a:spcAft>
                <a:spcPts val="300"/>
              </a:spcAft>
            </a:pPr>
            <a:r>
              <a:rPr sz="1250" b="0">
                <a:solidFill>
                  <a:srgbClr val="6B6862"/>
                </a:solidFill>
                <a:latin typeface="Calibri"/>
              </a:rPr>
              <a:t>Claude summarised the workbook: 14 facilities in 9 countries, 2023–2025.</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Ready to read</a:t>
            </a:r>
          </a:p>
          <a:p>
            <a:pPr algn="l">
              <a:spcAft>
                <a:spcPts val="300"/>
              </a:spcAft>
            </a:pPr>
            <a:r>
              <a:rPr sz="1250" b="0">
                <a:solidFill>
                  <a:srgbClr val="6B6862"/>
                </a:solidFill>
                <a:latin typeface="Calibri"/>
              </a:rPr>
              <a:t>Headings and bullets, formatted for email.</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Verify</a:t>
            </a:r>
          </a:p>
          <a:p>
            <a:pPr algn="l">
              <a:spcAft>
                <a:spcPts val="300"/>
              </a:spcAft>
            </a:pPr>
            <a:r>
              <a:rPr sz="1250" b="0">
                <a:solidFill>
                  <a:srgbClr val="6B6862"/>
                </a:solidFill>
                <a:latin typeface="Calibri"/>
              </a:rPr>
              <a:t>Spot-check one total against the source file before you forward it.</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summary arrived seconds later, written from the project's sustainability workbook.</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Tool Permissions and Approval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Reading is safe to run; anything that changes the world waits for you.</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Read tools run</a:t>
            </a:r>
          </a:p>
          <a:p>
            <a:pPr algn="l">
              <a:spcAft>
                <a:spcPts val="300"/>
              </a:spcAft>
            </a:pPr>
            <a:r>
              <a:rPr sz="1150" b="0">
                <a:solidFill>
                  <a:srgbClr val="6B6862"/>
                </a:solidFill>
                <a:latin typeface="Calibri"/>
              </a:rPr>
              <a:t>Search, read and list change nothing, so they run without asking.</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tools ask</a:t>
            </a:r>
          </a:p>
          <a:p>
            <a:pPr algn="l">
              <a:spcAft>
                <a:spcPts val="300"/>
              </a:spcAft>
            </a:pPr>
            <a:r>
              <a:rPr sz="1150" b="0">
                <a:solidFill>
                  <a:srgbClr val="6B6862"/>
                </a:solidFill>
                <a:latin typeface="Calibri"/>
              </a:rPr>
              <a:t>Send, reply, create an event or delete ask for your approval by default.</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See every tool</a:t>
            </a:r>
          </a:p>
          <a:p>
            <a:pPr algn="l">
              <a:spcAft>
                <a:spcPts val="300"/>
              </a:spcAft>
            </a:pPr>
            <a:r>
              <a:rPr sz="1150" b="0">
                <a:solidFill>
                  <a:srgbClr val="6B6862"/>
                </a:solidFill>
                <a:latin typeface="Calibri"/>
              </a:rPr>
              <a:t>Customize → Connectors → open a connector to see each tool it adds and what it may do.</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 per session</a:t>
            </a:r>
          </a:p>
          <a:p>
            <a:pPr algn="l">
              <a:spcAft>
                <a:spcPts val="300"/>
              </a:spcAft>
            </a:pPr>
            <a:r>
              <a:rPr sz="1150" b="0">
                <a:solidFill>
                  <a:srgbClr val="6B6862"/>
                </a:solidFill>
                <a:latin typeface="Calibri"/>
              </a:rPr>
              <a:t>Toggle a connector on from the + menu only for the jobs that need it.</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data</a:t>
            </a:r>
          </a:p>
          <a:p>
            <a:pPr algn="l">
              <a:spcAft>
                <a:spcPts val="300"/>
              </a:spcAft>
            </a:pPr>
            <a:r>
              <a:rPr sz="1150" b="0">
                <a:solidFill>
                  <a:srgbClr val="6B6862"/>
                </a:solidFill>
                <a:latin typeface="Calibri"/>
              </a:rPr>
              <a:t>Name the folder, label or dates — “the Lumo Launch folder”, not “my Drive”.</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 approve</a:t>
            </a:r>
          </a:p>
          <a:p>
            <a:pPr algn="l">
              <a:spcAft>
                <a:spcPts val="300"/>
              </a:spcAft>
            </a:pPr>
            <a:r>
              <a:rPr sz="1150" b="0">
                <a:solidFill>
                  <a:srgbClr val="6B6862"/>
                </a:solidFill>
                <a:latin typeface="Calibri"/>
              </a:rPr>
              <a:t>Read the draft before you click. Claude drafts; the decision stays yours.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USE CASES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Connectors at Work: Six Everyday Jobs</a:t>
            </a:r>
          </a:p>
        </p:txBody>
      </p:sp>
      <p:sp>
        <p:nvSpPr>
          <p:cNvPr id="5" name="TextBox 4"/>
          <p:cNvSpPr txBox="1"/>
          <p:nvPr/>
        </p:nvSpPr>
        <p:spPr>
          <a:xfrm>
            <a:off x="822960" y="1874519"/>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Everyday job</a:t>
            </a:r>
          </a:p>
        </p:txBody>
      </p:sp>
      <p:sp>
        <p:nvSpPr>
          <p:cNvPr id="6" name="TextBox 5"/>
          <p:cNvSpPr txBox="1"/>
          <p:nvPr/>
        </p:nvSpPr>
        <p:spPr>
          <a:xfrm>
            <a:off x="3154680" y="1874519"/>
            <a:ext cx="1087901"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Tools</a:t>
            </a:r>
          </a:p>
        </p:txBody>
      </p:sp>
      <p:sp>
        <p:nvSpPr>
          <p:cNvPr id="7" name="TextBox 6"/>
          <p:cNvSpPr txBox="1"/>
          <p:nvPr/>
        </p:nvSpPr>
        <p:spPr>
          <a:xfrm>
            <a:off x="4471181" y="1874519"/>
            <a:ext cx="686737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The prompt you would send</a:t>
            </a:r>
          </a:p>
        </p:txBody>
      </p:sp>
      <p:sp>
        <p:nvSpPr>
          <p:cNvPr id="8" name="Rectangle 7"/>
          <p:cNvSpPr/>
          <p:nvPr/>
        </p:nvSpPr>
        <p:spPr>
          <a:xfrm>
            <a:off x="822960" y="2240279"/>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31719"/>
            <a:ext cx="2103120" cy="548640"/>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Meeting prep</a:t>
            </a:r>
          </a:p>
        </p:txBody>
      </p:sp>
      <p:sp>
        <p:nvSpPr>
          <p:cNvPr id="10" name="TextBox 9"/>
          <p:cNvSpPr txBox="1"/>
          <p:nvPr/>
        </p:nvSpPr>
        <p:spPr>
          <a:xfrm>
            <a:off x="3154680" y="2331719"/>
            <a:ext cx="1087901"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Gmail · Calendar</a:t>
            </a:r>
          </a:p>
        </p:txBody>
      </p:sp>
      <p:sp>
        <p:nvSpPr>
          <p:cNvPr id="11" name="TextBox 10"/>
          <p:cNvSpPr txBox="1"/>
          <p:nvPr/>
        </p:nvSpPr>
        <p:spPr>
          <a:xfrm>
            <a:off x="4471181" y="2331719"/>
            <a:ext cx="6867378"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Before my 3pm with Kopi Corner, summarise this month's emails with them and list the open questions.</a:t>
            </a:r>
          </a:p>
        </p:txBody>
      </p:sp>
      <p:sp>
        <p:nvSpPr>
          <p:cNvPr id="12" name="Rectangle 11"/>
          <p:cNvSpPr/>
          <p:nvPr/>
        </p:nvSpPr>
        <p:spPr>
          <a:xfrm>
            <a:off x="822960" y="288035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80359"/>
            <a:ext cx="2103120" cy="548640"/>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Inbox triage</a:t>
            </a:r>
          </a:p>
        </p:txBody>
      </p:sp>
      <p:sp>
        <p:nvSpPr>
          <p:cNvPr id="14" name="TextBox 13"/>
          <p:cNvSpPr txBox="1"/>
          <p:nvPr/>
        </p:nvSpPr>
        <p:spPr>
          <a:xfrm>
            <a:off x="3154680" y="2880359"/>
            <a:ext cx="1087901"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Gmail</a:t>
            </a:r>
          </a:p>
        </p:txBody>
      </p:sp>
      <p:sp>
        <p:nvSpPr>
          <p:cNvPr id="15" name="TextBox 14"/>
          <p:cNvSpPr txBox="1"/>
          <p:nvPr/>
        </p:nvSpPr>
        <p:spPr>
          <a:xfrm>
            <a:off x="4471181" y="2880359"/>
            <a:ext cx="6867378"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Find customer emails from the last three days that have no reply, and draft replies for my approval.</a:t>
            </a:r>
          </a:p>
        </p:txBody>
      </p:sp>
      <p:sp>
        <p:nvSpPr>
          <p:cNvPr id="16" name="Rectangle 15"/>
          <p:cNvSpPr/>
          <p:nvPr/>
        </p:nvSpPr>
        <p:spPr>
          <a:xfrm>
            <a:off x="822960" y="342899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428999"/>
            <a:ext cx="2103120" cy="548640"/>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Budget check</a:t>
            </a:r>
          </a:p>
        </p:txBody>
      </p:sp>
      <p:sp>
        <p:nvSpPr>
          <p:cNvPr id="18" name="TextBox 17"/>
          <p:cNvSpPr txBox="1"/>
          <p:nvPr/>
        </p:nvSpPr>
        <p:spPr>
          <a:xfrm>
            <a:off x="3154680" y="3428999"/>
            <a:ext cx="1087901"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Drive</a:t>
            </a:r>
          </a:p>
        </p:txBody>
      </p:sp>
      <p:sp>
        <p:nvSpPr>
          <p:cNvPr id="19" name="TextBox 18"/>
          <p:cNvSpPr txBox="1"/>
          <p:nvPr/>
        </p:nvSpPr>
        <p:spPr>
          <a:xfrm>
            <a:off x="4471181" y="3428999"/>
            <a:ext cx="6867378"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Compare the Q4 budget sheet with the brief, line by line, and flag every difference. Do not pick one.</a:t>
            </a:r>
          </a:p>
        </p:txBody>
      </p:sp>
      <p:sp>
        <p:nvSpPr>
          <p:cNvPr id="20" name="Rectangle 19"/>
          <p:cNvSpPr/>
          <p:nvPr/>
        </p:nvSpPr>
        <p:spPr>
          <a:xfrm>
            <a:off x="822960" y="397763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77639"/>
            <a:ext cx="2103120" cy="548640"/>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Find a file</a:t>
            </a:r>
          </a:p>
        </p:txBody>
      </p:sp>
      <p:sp>
        <p:nvSpPr>
          <p:cNvPr id="22" name="TextBox 21"/>
          <p:cNvSpPr txBox="1"/>
          <p:nvPr/>
        </p:nvSpPr>
        <p:spPr>
          <a:xfrm>
            <a:off x="3154680" y="3977639"/>
            <a:ext cx="1087901"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Drive</a:t>
            </a:r>
          </a:p>
        </p:txBody>
      </p:sp>
      <p:sp>
        <p:nvSpPr>
          <p:cNvPr id="23" name="TextBox 22"/>
          <p:cNvSpPr txBox="1"/>
          <p:nvPr/>
        </p:nvSpPr>
        <p:spPr>
          <a:xfrm>
            <a:off x="4471181" y="3977639"/>
            <a:ext cx="6867378"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Find the latest signed stockist agreement and tell me its renewal date and notice period.</a:t>
            </a:r>
          </a:p>
        </p:txBody>
      </p:sp>
      <p:sp>
        <p:nvSpPr>
          <p:cNvPr id="24" name="Rectangle 23"/>
          <p:cNvSpPr/>
          <p:nvPr/>
        </p:nvSpPr>
        <p:spPr>
          <a:xfrm>
            <a:off x="822960" y="452627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526279"/>
            <a:ext cx="2103120" cy="548640"/>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Book a meeting</a:t>
            </a:r>
          </a:p>
        </p:txBody>
      </p:sp>
      <p:sp>
        <p:nvSpPr>
          <p:cNvPr id="26" name="TextBox 25"/>
          <p:cNvSpPr txBox="1"/>
          <p:nvPr/>
        </p:nvSpPr>
        <p:spPr>
          <a:xfrm>
            <a:off x="3154680" y="4526279"/>
            <a:ext cx="1087901"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Calendar · Gmail</a:t>
            </a:r>
          </a:p>
        </p:txBody>
      </p:sp>
      <p:sp>
        <p:nvSpPr>
          <p:cNvPr id="27" name="TextBox 26"/>
          <p:cNvSpPr txBox="1"/>
          <p:nvPr/>
        </p:nvSpPr>
        <p:spPr>
          <a:xfrm>
            <a:off x="4471181" y="4526279"/>
            <a:ext cx="6867378"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Find 45 minutes next week when the four leads are free, and draft the invite.</a:t>
            </a:r>
          </a:p>
        </p:txBody>
      </p:sp>
      <p:sp>
        <p:nvSpPr>
          <p:cNvPr id="28" name="Rectangle 27"/>
          <p:cNvSpPr/>
          <p:nvPr/>
        </p:nvSpPr>
        <p:spPr>
          <a:xfrm>
            <a:off x="822960" y="507491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4919"/>
            <a:ext cx="2103120" cy="548640"/>
          </a:xfrm>
          <a:prstGeom prst="rect">
            <a:avLst/>
          </a:prstGeom>
          <a:noFill/>
        </p:spPr>
        <p:txBody>
          <a:bodyPr wrap="square" anchor="ctr" lIns="0" rIns="0" tIns="0" bIns="0">
            <a:spAutoFit/>
          </a:bodyPr>
          <a:lstStyle/>
          <a:p>
            <a:pPr algn="l">
              <a:spcAft>
                <a:spcPts val="400"/>
              </a:spcAft>
            </a:pPr>
            <a:r>
              <a:rPr sz="1150" b="1">
                <a:solidFill>
                  <a:srgbClr val="21201C"/>
                </a:solidFill>
                <a:latin typeface="Calibri"/>
              </a:rPr>
              <a:t>Weekly update</a:t>
            </a:r>
          </a:p>
        </p:txBody>
      </p:sp>
      <p:sp>
        <p:nvSpPr>
          <p:cNvPr id="30" name="TextBox 29"/>
          <p:cNvSpPr txBox="1"/>
          <p:nvPr/>
        </p:nvSpPr>
        <p:spPr>
          <a:xfrm>
            <a:off x="3154680" y="5074919"/>
            <a:ext cx="1087901"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Drive · Gmail</a:t>
            </a:r>
          </a:p>
        </p:txBody>
      </p:sp>
      <p:sp>
        <p:nvSpPr>
          <p:cNvPr id="31" name="TextBox 30"/>
          <p:cNvSpPr txBox="1"/>
          <p:nvPr/>
        </p:nvSpPr>
        <p:spPr>
          <a:xfrm>
            <a:off x="4471181" y="5074919"/>
            <a:ext cx="6867378" cy="548640"/>
          </a:xfrm>
          <a:prstGeom prst="rect">
            <a:avLst/>
          </a:prstGeom>
          <a:noFill/>
        </p:spPr>
        <p:txBody>
          <a:bodyPr wrap="square" anchor="ctr" lIns="0" rIns="0" tIns="0" bIns="0">
            <a:spAutoFit/>
          </a:bodyPr>
          <a:lstStyle/>
          <a:p>
            <a:pPr algn="l">
              <a:spcAft>
                <a:spcPts val="400"/>
              </a:spcAft>
            </a:pPr>
            <a:r>
              <a:rPr sz="1150" b="0">
                <a:solidFill>
                  <a:srgbClr val="21201C"/>
                </a:solidFill>
                <a:latin typeface="Calibri"/>
              </a:rPr>
              <a:t>Summarise what changed in the Lumo Launch folder this week and draft the email to my manager.</a:t>
            </a:r>
          </a:p>
        </p:txBody>
      </p:sp>
      <p:sp>
        <p:nvSpPr>
          <p:cNvPr id="32" name="Rectangle 31"/>
          <p:cNvSpPr/>
          <p:nvPr/>
        </p:nvSpPr>
        <p:spPr>
          <a:xfrm>
            <a:off x="822960" y="562355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Lab 4 runs three of these on the Lumo files: a budget check, a Drive search and a Gmail draft.</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TROUBLESHOOTING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a Tool Goes Wrong</a:t>
            </a:r>
          </a:p>
        </p:txBody>
      </p:sp>
      <p:sp>
        <p:nvSpPr>
          <p:cNvPr id="5" name="TextBox 4"/>
          <p:cNvSpPr txBox="1"/>
          <p:nvPr/>
        </p:nvSpPr>
        <p:spPr>
          <a:xfrm>
            <a:off x="822960" y="1874519"/>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What you see</a:t>
            </a:r>
          </a:p>
        </p:txBody>
      </p:sp>
      <p:sp>
        <p:nvSpPr>
          <p:cNvPr id="6" name="TextBox 5"/>
          <p:cNvSpPr txBox="1"/>
          <p:nvPr/>
        </p:nvSpPr>
        <p:spPr>
          <a:xfrm>
            <a:off x="3154680" y="1874519"/>
            <a:ext cx="259764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Likely cause</a:t>
            </a:r>
          </a:p>
        </p:txBody>
      </p:sp>
      <p:sp>
        <p:nvSpPr>
          <p:cNvPr id="7" name="TextBox 6"/>
          <p:cNvSpPr txBox="1"/>
          <p:nvPr/>
        </p:nvSpPr>
        <p:spPr>
          <a:xfrm>
            <a:off x="5980922" y="1874519"/>
            <a:ext cx="53576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to do</a:t>
            </a:r>
          </a:p>
        </p:txBody>
      </p:sp>
      <p:sp>
        <p:nvSpPr>
          <p:cNvPr id="8" name="Rectangle 7"/>
          <p:cNvSpPr/>
          <p:nvPr/>
        </p:nvSpPr>
        <p:spPr>
          <a:xfrm>
            <a:off x="822960" y="2240279"/>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31719"/>
            <a:ext cx="2103120" cy="645566"/>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“Insufficient scope”</a:t>
            </a:r>
          </a:p>
        </p:txBody>
      </p:sp>
      <p:sp>
        <p:nvSpPr>
          <p:cNvPr id="10" name="TextBox 9"/>
          <p:cNvSpPr txBox="1"/>
          <p:nvPr/>
        </p:nvSpPr>
        <p:spPr>
          <a:xfrm>
            <a:off x="3154680" y="2331719"/>
            <a:ext cx="2597642"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Connected without file access</a:t>
            </a:r>
          </a:p>
        </p:txBody>
      </p:sp>
      <p:sp>
        <p:nvSpPr>
          <p:cNvPr id="11" name="TextBox 10"/>
          <p:cNvSpPr txBox="1"/>
          <p:nvPr/>
        </p:nvSpPr>
        <p:spPr>
          <a:xfrm>
            <a:off x="5980922" y="2331719"/>
            <a:ext cx="5357637"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Connectors → Reconnect, and accept read access.</a:t>
            </a:r>
          </a:p>
        </p:txBody>
      </p:sp>
      <p:sp>
        <p:nvSpPr>
          <p:cNvPr id="12" name="Rectangle 11"/>
          <p:cNvSpPr/>
          <p:nvPr/>
        </p:nvSpPr>
        <p:spPr>
          <a:xfrm>
            <a:off x="822960" y="297728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77285"/>
            <a:ext cx="2103120" cy="8604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An answer with no Drive step</a:t>
            </a:r>
          </a:p>
        </p:txBody>
      </p:sp>
      <p:sp>
        <p:nvSpPr>
          <p:cNvPr id="14" name="TextBox 13"/>
          <p:cNvSpPr txBox="1"/>
          <p:nvPr/>
        </p:nvSpPr>
        <p:spPr>
          <a:xfrm>
            <a:off x="3154680" y="2977285"/>
            <a:ext cx="2597642"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Connector off for this session</a:t>
            </a:r>
          </a:p>
        </p:txBody>
      </p:sp>
      <p:sp>
        <p:nvSpPr>
          <p:cNvPr id="15" name="TextBox 14"/>
          <p:cNvSpPr txBox="1"/>
          <p:nvPr/>
        </p:nvSpPr>
        <p:spPr>
          <a:xfrm>
            <a:off x="5980922" y="2977285"/>
            <a:ext cx="5357637"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 → Connectors → switch it on; start with “Using Google Drive…”.</a:t>
            </a:r>
          </a:p>
        </p:txBody>
      </p:sp>
      <p:sp>
        <p:nvSpPr>
          <p:cNvPr id="16" name="Rectangle 15"/>
          <p:cNvSpPr/>
          <p:nvPr/>
        </p:nvSpPr>
        <p:spPr>
          <a:xfrm>
            <a:off x="822960" y="383773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37735"/>
            <a:ext cx="2103120" cy="645566"/>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It read the wrong file</a:t>
            </a:r>
          </a:p>
        </p:txBody>
      </p:sp>
      <p:sp>
        <p:nvSpPr>
          <p:cNvPr id="18" name="TextBox 17"/>
          <p:cNvSpPr txBox="1"/>
          <p:nvPr/>
        </p:nvSpPr>
        <p:spPr>
          <a:xfrm>
            <a:off x="3154680" y="3837735"/>
            <a:ext cx="2597642"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search matched several files</a:t>
            </a:r>
          </a:p>
        </p:txBody>
      </p:sp>
      <p:sp>
        <p:nvSpPr>
          <p:cNvPr id="19" name="TextBox 18"/>
          <p:cNvSpPr txBox="1"/>
          <p:nvPr/>
        </p:nvSpPr>
        <p:spPr>
          <a:xfrm>
            <a:off x="5980922" y="3837735"/>
            <a:ext cx="5357637"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the folder and file: Lumo Launch/lumo-launch-budget.csv.</a:t>
            </a:r>
          </a:p>
        </p:txBody>
      </p:sp>
      <p:sp>
        <p:nvSpPr>
          <p:cNvPr id="20" name="Rectangle 19"/>
          <p:cNvSpPr/>
          <p:nvPr/>
        </p:nvSpPr>
        <p:spPr>
          <a:xfrm>
            <a:off x="822960" y="4483301"/>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483301"/>
            <a:ext cx="2103120" cy="645566"/>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Numbers that look estimated</a:t>
            </a:r>
          </a:p>
        </p:txBody>
      </p:sp>
      <p:sp>
        <p:nvSpPr>
          <p:cNvPr id="22" name="TextBox 21"/>
          <p:cNvSpPr txBox="1"/>
          <p:nvPr/>
        </p:nvSpPr>
        <p:spPr>
          <a:xfrm>
            <a:off x="3154680" y="4483301"/>
            <a:ext cx="2597642"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No code was run</a:t>
            </a:r>
          </a:p>
        </p:txBody>
      </p:sp>
      <p:sp>
        <p:nvSpPr>
          <p:cNvPr id="23" name="TextBox 22"/>
          <p:cNvSpPr txBox="1"/>
          <p:nvPr/>
        </p:nvSpPr>
        <p:spPr>
          <a:xfrm>
            <a:off x="5980922" y="4483301"/>
            <a:ext cx="5357637"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it to use code and show the totals; check one figure yourself.</a:t>
            </a:r>
          </a:p>
        </p:txBody>
      </p:sp>
      <p:sp>
        <p:nvSpPr>
          <p:cNvPr id="24" name="Rectangle 23"/>
          <p:cNvSpPr/>
          <p:nvPr/>
        </p:nvSpPr>
        <p:spPr>
          <a:xfrm>
            <a:off x="822960" y="512886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128867"/>
            <a:ext cx="2103120" cy="8604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Slow replies, usage drains fast</a:t>
            </a:r>
          </a:p>
        </p:txBody>
      </p:sp>
      <p:sp>
        <p:nvSpPr>
          <p:cNvPr id="26" name="TextBox 25"/>
          <p:cNvSpPr txBox="1"/>
          <p:nvPr/>
        </p:nvSpPr>
        <p:spPr>
          <a:xfrm>
            <a:off x="3154680" y="5128867"/>
            <a:ext cx="2597642"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Too many connectors switched on</a:t>
            </a:r>
          </a:p>
        </p:txBody>
      </p:sp>
      <p:sp>
        <p:nvSpPr>
          <p:cNvPr id="27" name="TextBox 26"/>
          <p:cNvSpPr txBox="1"/>
          <p:nvPr/>
        </p:nvSpPr>
        <p:spPr>
          <a:xfrm>
            <a:off x="5980922" y="5128867"/>
            <a:ext cx="5357637"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Turn off the ones this job does not need.</a:t>
            </a:r>
          </a:p>
        </p:txBody>
      </p:sp>
      <p:sp>
        <p:nvSpPr>
          <p:cNvPr id="28" name="Rectangle 27"/>
          <p:cNvSpPr/>
          <p:nvPr/>
        </p:nvSpPr>
        <p:spPr>
          <a:xfrm>
            <a:off x="822960" y="598931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thread.</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thread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Thread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This is why a project splits big jobs into threads: each thread gets a fresh window.</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job per thread, only the connectors you need, and only the files the job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Project context</a:t>
            </a:r>
          </a:p>
          <a:p>
            <a:pPr algn="l">
              <a:spcAft>
                <a:spcPts val="500"/>
              </a:spcAft>
            </a:pPr>
            <a:r>
              <a:rPr sz="1250" b="0">
                <a:solidFill>
                  <a:srgbClr val="6B6862"/>
                </a:solidFill>
                <a:latin typeface="Calibri"/>
              </a:rPr>
              <a:t>The files, folders and Drive folder the project reads from.</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 &amp; memory</a:t>
            </a:r>
          </a:p>
          <a:p>
            <a:pPr algn="l">
              <a:spcAft>
                <a:spcPts val="500"/>
              </a:spcAft>
            </a:pPr>
            <a:r>
              <a:rPr sz="1250" b="0">
                <a:solidFill>
                  <a:srgbClr val="6B6862"/>
                </a:solidFill>
                <a:latin typeface="Calibri"/>
              </a:rPr>
              <a:t>Project rules you wrote, and facts the project has learned.</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context in Lab 1, connectors in Lab 4, skills in Labs 5–7, and memory in Lab 10.</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In Claude Code, 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Connectors, Skills and Plugins</a:t>
            </a:r>
          </a:p>
        </p:txBody>
      </p:sp>
      <p:sp>
        <p:nvSpPr>
          <p:cNvPr id="5" name="Rectangle 4"/>
          <p:cNvSpPr/>
          <p:nvPr/>
        </p:nvSpPr>
        <p:spPr>
          <a:xfrm>
            <a:off x="548640"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Tools</a:t>
            </a:r>
          </a:p>
          <a:p>
            <a:pPr algn="l">
              <a:spcAft>
                <a:spcPts val="300"/>
              </a:spcAft>
            </a:pPr>
            <a:r>
              <a:rPr sz="1150" b="0">
                <a:solidFill>
                  <a:srgbClr val="6B6862"/>
                </a:solidFill>
                <a:latin typeface="Calibri"/>
              </a:rPr>
              <a:t>What Claude can DO: search the web, run code, create files — and reach Drive or Gmail through a connector.</a:t>
            </a:r>
          </a:p>
        </p:txBody>
      </p:sp>
      <p:sp>
        <p:nvSpPr>
          <p:cNvPr id="10" name="Rectangle 9"/>
          <p:cNvSpPr/>
          <p:nvPr/>
        </p:nvSpPr>
        <p:spPr>
          <a:xfrm>
            <a:off x="6163056"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Tool calls</a:t>
            </a:r>
          </a:p>
          <a:p>
            <a:pPr algn="l">
              <a:spcAft>
                <a:spcPts val="300"/>
              </a:spcAft>
            </a:pPr>
            <a:r>
              <a:rPr sz="1150" b="0">
                <a:solidFill>
                  <a:srgbClr val="6B6862"/>
                </a:solidFill>
                <a:latin typeface="Calibri"/>
              </a:rPr>
              <a:t>Each action shows as a step in Claude's reply. Click it to see the tool, its input and what came back.</a:t>
            </a:r>
          </a:p>
        </p:txBody>
      </p:sp>
      <p:sp>
        <p:nvSpPr>
          <p:cNvPr id="15" name="Rectangle 14"/>
          <p:cNvSpPr/>
          <p:nvPr/>
        </p:nvSpPr>
        <p:spPr>
          <a:xfrm>
            <a:off x="548640"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 and approval</a:t>
            </a:r>
          </a:p>
          <a:p>
            <a:pPr algn="l">
              <a:spcAft>
                <a:spcPts val="300"/>
              </a:spcAft>
            </a:pPr>
            <a:r>
              <a:rPr sz="1150" b="0">
                <a:solidFill>
                  <a:srgbClr val="6B6862"/>
                </a:solidFill>
                <a:latin typeface="Calibri"/>
              </a:rPr>
              <a:t>Drive and Gmail add their own tools. Reading runs freely; sending an email waits for your approval.</a:t>
            </a:r>
          </a:p>
        </p:txBody>
      </p:sp>
      <p:sp>
        <p:nvSpPr>
          <p:cNvPr id="20" name="Rectangle 19"/>
          <p:cNvSpPr/>
          <p:nvPr/>
        </p:nvSpPr>
        <p:spPr>
          <a:xfrm>
            <a:off x="6163056"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Data analysis</a:t>
            </a:r>
          </a:p>
          <a:p>
            <a:pPr algn="l">
              <a:spcAft>
                <a:spcPts val="300"/>
              </a:spcAft>
            </a:pPr>
            <a:r>
              <a:rPr sz="1150" b="0">
                <a:solidFill>
                  <a:srgbClr val="6B6862"/>
                </a:solidFill>
                <a:latin typeface="Calibri"/>
              </a:rPr>
              <a:t>Claude writes and runs code on your CSV or Excel file, so the numbers are calculated — and you can check the code.</a:t>
            </a:r>
          </a:p>
        </p:txBody>
      </p:sp>
      <p:sp>
        <p:nvSpPr>
          <p:cNvPr id="25" name="Rectangle 24"/>
          <p:cNvSpPr/>
          <p:nvPr/>
        </p:nvSpPr>
        <p:spPr>
          <a:xfrm>
            <a:off x="548640"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a:t>
            </a:r>
          </a:p>
          <a:p>
            <a:pPr algn="l">
              <a:spcAft>
                <a:spcPts val="300"/>
              </a:spcAft>
            </a:pPr>
            <a:r>
              <a:rPr sz="1150" b="0">
                <a:solidFill>
                  <a:srgbClr val="6B6862"/>
                </a:solidFill>
                <a:latin typeface="Calibri"/>
              </a:rPr>
              <a:t>HOW Claude does a job: a SKILL.md of steps, rules and checks, loaded when your request matches its description.</a:t>
            </a:r>
          </a:p>
        </p:txBody>
      </p:sp>
      <p:sp>
        <p:nvSpPr>
          <p:cNvPr id="30" name="Rectangle 29"/>
          <p:cNvSpPr/>
          <p:nvPr/>
        </p:nvSpPr>
        <p:spPr>
          <a:xfrm>
            <a:off x="6163056"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pptx, xlsx and docx load by themselves when you ask for a deck, a workbook or a document.</a:t>
            </a:r>
          </a:p>
        </p:txBody>
      </p:sp>
      <p:sp>
        <p:nvSpPr>
          <p:cNvPr id="35" name="Rectangle 34"/>
          <p:cNvSpPr/>
          <p:nvPr/>
        </p:nvSpPr>
        <p:spPr>
          <a:xfrm>
            <a:off x="548640"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it, save it as a skill — then use it, find the gaps and update it.</a:t>
            </a:r>
          </a:p>
        </p:txBody>
      </p:sp>
      <p:sp>
        <p:nvSpPr>
          <p:cNvPr id="40" name="Rectangle 39"/>
          <p:cNvSpPr/>
          <p:nvPr/>
        </p:nvSpPr>
        <p:spPr>
          <a:xfrm>
            <a:off x="6163056"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Plugins and mods</a:t>
            </a:r>
          </a:p>
          <a:p>
            <a:pPr algn="l">
              <a:spcAft>
                <a:spcPts val="300"/>
              </a:spcAft>
            </a:pPr>
            <a:r>
              <a:rPr sz="1150" b="0">
                <a:solidFill>
                  <a:srgbClr val="6B6862"/>
                </a:solidFill>
                <a:latin typeface="Calibri"/>
              </a:rPr>
              <a:t>A plugin bundles skills and tools someone packaged. A mod changes Claude's own interface.</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Connect Google Drive and Gmail and use their tools to reconcile, search, save and draft, sending only what you approve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budget and timeline live in Google Drive. You connect Drive and Gmail, and the project reconciles the Drive budget against the launch brief — they disagree on two lines — saves the research brief to Drive and emails you an approved summary. Then two everyday jobs: find the next milestones in Drive and draft a reminder in Gmail, reading the tool calls behind each.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Drive and Gmail connected, the budget reconciled, an approved summary emailed to yourself, a milestone list from Drive and a reminder saved as a Gmail draft.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Google Drive connector, Gmail connector, tool calls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04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never send without approval — Claude drafts the email, you approve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launch brief's budget, compared line by line with the Drive sheet.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Reaches out: the Lumo Launch folder in Google Drive and your Gmail, by connector.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RECONCILE</a:t>
            </a:r>
          </a:p>
        </p:txBody>
      </p:sp>
      <p:sp>
        <p:nvSpPr>
          <p:cNvPr id="5" name="Rectangle 4"/>
          <p:cNvSpPr/>
          <p:nvPr/>
        </p:nvSpPr>
        <p:spPr>
          <a:xfrm>
            <a:off x="548640" y="1828800"/>
            <a:ext cx="11064240" cy="28117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811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Google Drive, open the "Lumo Launch" folder.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Read lumo-launch-budget.csv and lumo-launch-timeline.csv.</a:t>
            </a:r>
          </a:p>
          <a:p>
            <a:pPr algn="l">
              <a:spcAft>
                <a:spcPts val="200"/>
              </a:spcAft>
            </a:pPr>
            <a:r>
              <a:rPr sz="1250" b="0">
                <a:solidFill>
                  <a:srgbClr val="21201C"/>
                </a:solidFill>
                <a:latin typeface="Calibri"/>
              </a:rPr>
              <a:t>2. Compare the budget sheet, line by line, with the budget in</a:t>
            </a:r>
          </a:p>
          <a:p>
            <a:pPr algn="l">
              <a:spcAft>
                <a:spcPts val="200"/>
              </a:spcAft>
            </a:pPr>
            <a:r>
              <a:rPr sz="1250" b="0">
                <a:solidFill>
                  <a:srgbClr val="21201C"/>
                </a:solidFill>
                <a:latin typeface="Calibri"/>
              </a:rPr>
              <a:t>   lumo-launch-brief.md from our project context. Show both in one</a:t>
            </a:r>
          </a:p>
          <a:p>
            <a:pPr algn="l">
              <a:spcAft>
                <a:spcPts val="200"/>
              </a:spcAft>
            </a:pPr>
            <a:r>
              <a:rPr sz="1250" b="0">
                <a:solidFill>
                  <a:srgbClr val="21201C"/>
                </a:solidFill>
                <a:latin typeface="Calibri"/>
              </a:rPr>
              <a:t>   table and flag every line where they disagree. Do not decide</a:t>
            </a:r>
          </a:p>
          <a:p>
            <a:pPr algn="l">
              <a:spcAft>
                <a:spcPts val="200"/>
              </a:spcAft>
            </a:pPr>
            <a:r>
              <a:rPr sz="1250" b="0">
                <a:solidFill>
                  <a:srgbClr val="21201C"/>
                </a:solidFill>
                <a:latin typeface="Calibri"/>
              </a:rPr>
              <a:t>   which is right.</a:t>
            </a:r>
          </a:p>
        </p:txBody>
      </p:sp>
      <p:sp>
        <p:nvSpPr>
          <p:cNvPr id="9" name="TextBox 8"/>
          <p:cNvSpPr txBox="1"/>
          <p:nvPr/>
        </p:nvSpPr>
        <p:spPr>
          <a:xfrm>
            <a:off x="628650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3. Upload lumo-research-brief.docx from Lab 2 into the same Drive</a:t>
            </a:r>
          </a:p>
          <a:p>
            <a:pPr algn="l">
              <a:spcAft>
                <a:spcPts val="200"/>
              </a:spcAft>
            </a:pPr>
            <a:r>
              <a:rPr sz="1250" b="0">
                <a:solidFill>
                  <a:srgbClr val="21201C"/>
                </a:solidFill>
                <a:latin typeface="Calibri"/>
              </a:rPr>
              <a:t>   folder.</a:t>
            </a:r>
          </a:p>
          <a:p>
            <a:pPr algn="l">
              <a:spcAft>
                <a:spcPts val="200"/>
              </a:spcAft>
            </a:pPr>
            <a:r>
              <a:rPr sz="1250" b="0">
                <a:solidFill>
                  <a:srgbClr val="21201C"/>
                </a:solidFill>
                <a:latin typeface="Calibri"/>
              </a:rPr>
              <a:t>4. Draft an email to &lt;YOUR EMAIL&gt; with the subject</a:t>
            </a:r>
          </a:p>
          <a:p>
            <a:pPr algn="l">
              <a:spcAft>
                <a:spcPts val="200"/>
              </a:spcAft>
            </a:pPr>
            <a:r>
              <a:rPr sz="1250" b="0">
                <a:solidFill>
                  <a:srgbClr val="21201C"/>
                </a:solidFill>
                <a:latin typeface="Calibri"/>
              </a:rPr>
              <a:t>   "Lumo launch - research and budget check": three bullet points</a:t>
            </a:r>
          </a:p>
          <a:p>
            <a:pPr algn="l">
              <a:spcAft>
                <a:spcPts val="200"/>
              </a:spcAft>
            </a:pPr>
            <a:r>
              <a:rPr sz="1250" b="0">
                <a:solidFill>
                  <a:srgbClr val="21201C"/>
                </a:solidFill>
                <a:latin typeface="Calibri"/>
              </a:rPr>
              <a:t>   from the research brief, the budget table with the disagreements</a:t>
            </a:r>
          </a:p>
          <a:p>
            <a:pPr algn="l">
              <a:spcAft>
                <a:spcPts val="200"/>
              </a:spcAft>
            </a:pPr>
            <a:r>
              <a:rPr sz="1250" b="0">
                <a:solidFill>
                  <a:srgbClr val="21201C"/>
                </a:solidFill>
                <a:latin typeface="Calibri"/>
              </a:rPr>
              <a:t>   flagged, the next milestone from the timeline, and a link to the</a:t>
            </a:r>
          </a:p>
          <a:p>
            <a:pPr algn="l">
              <a:spcAft>
                <a:spcPts val="200"/>
              </a:spcAft>
            </a:pPr>
            <a:r>
              <a:rPr sz="1250" b="0">
                <a:solidFill>
                  <a:srgbClr val="21201C"/>
                </a:solidFill>
                <a:latin typeface="Calibri"/>
              </a:rPr>
              <a:t>   brief in Drive.</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Show me the draft. Do not send it until I approve.</a:t>
            </a:r>
          </a:p>
        </p:txBody>
      </p:sp>
      <p:sp>
        <p:nvSpPr>
          <p:cNvPr id="10" name="Rectangle 9"/>
          <p:cNvSpPr/>
          <p:nvPr/>
        </p:nvSpPr>
        <p:spPr>
          <a:xfrm>
            <a:off x="6080760" y="2395728"/>
            <a:ext cx="9144" cy="20345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9149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with your own address. Send lab emails only to yourself.</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9</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FIND</a:t>
            </a:r>
          </a:p>
        </p:txBody>
      </p:sp>
      <p:sp>
        <p:nvSpPr>
          <p:cNvPr id="5" name="Rectangle 4"/>
          <p:cNvSpPr/>
          <p:nvPr/>
        </p:nvSpPr>
        <p:spPr>
          <a:xfrm>
            <a:off x="548640" y="1828800"/>
            <a:ext cx="11064240" cy="2392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392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706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Search my Google Drive for the Lumo launch timeline.</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1. List every milestone due from 6 to 20 November 2026 in a</a:t>
            </a:r>
          </a:p>
          <a:p>
            <a:pPr algn="l">
              <a:spcAft>
                <a:spcPts val="200"/>
              </a:spcAft>
            </a:pPr>
            <a:r>
              <a:rPr sz="1500" b="0">
                <a:solidFill>
                  <a:srgbClr val="21201C"/>
                </a:solidFill>
                <a:latin typeface="Calibri"/>
              </a:rPr>
              <a:t>   table: date, milestone, owner and status.</a:t>
            </a:r>
          </a:p>
          <a:p>
            <a:pPr algn="l">
              <a:spcAft>
                <a:spcPts val="200"/>
              </a:spcAft>
            </a:pPr>
            <a:r>
              <a:rPr sz="1500" b="0">
                <a:solidFill>
                  <a:srgbClr val="21201C"/>
                </a:solidFill>
                <a:latin typeface="Calibri"/>
              </a:rPr>
              <a:t>2. Then list the tools you called to answer this, in order:</a:t>
            </a:r>
          </a:p>
          <a:p>
            <a:pPr algn="l">
              <a:spcAft>
                <a:spcPts val="200"/>
              </a:spcAft>
            </a:pPr>
            <a:r>
              <a:rPr sz="1500" b="0">
                <a:solidFill>
                  <a:srgbClr val="21201C"/>
                </a:solidFill>
                <a:latin typeface="Calibri"/>
              </a:rPr>
              <a:t>   the tool's name, what you passed to it, and what it returned.</a:t>
            </a:r>
          </a:p>
        </p:txBody>
      </p:sp>
      <p:sp>
        <p:nvSpPr>
          <p:cNvPr id="9" name="TextBox 8"/>
          <p:cNvSpPr txBox="1"/>
          <p:nvPr/>
        </p:nvSpPr>
        <p:spPr>
          <a:xfrm>
            <a:off x="548640" y="4495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No file named — Claude has to search Drive first, then read what it found.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12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REMIND</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Using Gmail and Google Drive:</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1. Search my Gmail for the email with the subject</a:t>
            </a:r>
          </a:p>
          <a:p>
            <a:pPr algn="l">
              <a:spcAft>
                <a:spcPts val="200"/>
              </a:spcAft>
            </a:pPr>
            <a:r>
              <a:rPr sz="1500" b="0">
                <a:solidFill>
                  <a:srgbClr val="21201C"/>
                </a:solidFill>
                <a:latin typeface="Calibri"/>
              </a:rPr>
              <a:t>   "Lumo launch - research and budget check" and tell me when</a:t>
            </a:r>
          </a:p>
          <a:p>
            <a:pPr algn="l">
              <a:spcAft>
                <a:spcPts val="200"/>
              </a:spcAft>
            </a:pPr>
            <a:r>
              <a:rPr sz="1500" b="0">
                <a:solidFill>
                  <a:srgbClr val="21201C"/>
                </a:solidFill>
                <a:latin typeface="Calibri"/>
              </a:rPr>
              <a:t>   it arrived.</a:t>
            </a:r>
          </a:p>
          <a:p>
            <a:pPr algn="l">
              <a:spcAft>
                <a:spcPts val="200"/>
              </a:spcAft>
            </a:pPr>
            <a:r>
              <a:rPr sz="1500" b="0">
                <a:solidFill>
                  <a:srgbClr val="21201C"/>
                </a:solidFill>
                <a:latin typeface="Calibri"/>
              </a:rPr>
              <a:t>2. From lumo-launch-timeline.csv in Drive, find the milestone for</a:t>
            </a:r>
          </a:p>
          <a:p>
            <a:pPr algn="l">
              <a:spcAft>
                <a:spcPts val="200"/>
              </a:spcAft>
            </a:pPr>
            <a:r>
              <a:rPr sz="1500" b="0">
                <a:solidFill>
                  <a:srgbClr val="21201C"/>
                </a:solidFill>
                <a:latin typeface="Calibri"/>
              </a:rPr>
              <a:t>   the Shopee and Lazada store pages: its owner and due date.</a:t>
            </a:r>
          </a:p>
          <a:p>
            <a:pPr algn="l">
              <a:spcAft>
                <a:spcPts val="200"/>
              </a:spcAft>
            </a:pPr>
            <a:r>
              <a:rPr sz="1500" b="0">
                <a:solidFill>
                  <a:srgbClr val="21201C"/>
                </a:solidFill>
                <a:latin typeface="Calibri"/>
              </a:rPr>
              <a:t>3. Draft an email to &lt;YOUR EMAIL&gt; with the subject</a:t>
            </a:r>
          </a:p>
          <a:p>
            <a:pPr algn="l">
              <a:spcAft>
                <a:spcPts val="200"/>
              </a:spcAft>
            </a:pPr>
            <a:r>
              <a:rPr sz="1500" b="0">
                <a:solidFill>
                  <a:srgbClr val="21201C"/>
                </a:solidFill>
                <a:latin typeface="Calibri"/>
              </a:rPr>
              <a:t>   "Reminder: store pages due &lt;due date&gt;", reminding its owner</a:t>
            </a:r>
          </a:p>
          <a:p>
            <a:pPr algn="l">
              <a:spcAft>
                <a:spcPts val="200"/>
              </a:spcAft>
            </a:pPr>
            <a:r>
              <a:rPr sz="1500" b="0">
                <a:solidFill>
                  <a:srgbClr val="21201C"/>
                </a:solidFill>
                <a:latin typeface="Calibri"/>
              </a:rPr>
              <a:t>   of what is due and when.</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Save the reminder as a Gmail draft. Do not send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Two Gmail tools: one searches, one drafts. Neither sends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Upload the Lab 04 data/Lumo Launch folder to your Google Drive.</a:t>
            </a:r>
          </a:p>
        </p:txBody>
      </p:sp>
      <p:sp>
        <p:nvSpPr>
          <p:cNvPr id="9" name="Oval 8"/>
          <p:cNvSpPr/>
          <p:nvPr/>
        </p:nvSpPr>
        <p:spPr>
          <a:xfrm>
            <a:off x="54864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In the project, click + → Connectors and switch on Google Drive and Gmail, signing in to Google.</a:t>
            </a:r>
          </a:p>
        </p:txBody>
      </p:sp>
      <p:sp>
        <p:nvSpPr>
          <p:cNvPr id="12" name="Oval 11"/>
          <p:cNvSpPr/>
          <p:nvPr/>
        </p:nvSpPr>
        <p:spPr>
          <a:xfrm>
            <a:off x="54864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Send Block 1 with your own email address in place of &lt;YOUR EMAIL&gt;.</a:t>
            </a:r>
          </a:p>
        </p:txBody>
      </p:sp>
      <p:sp>
        <p:nvSpPr>
          <p:cNvPr id="15" name="Oval 14"/>
          <p:cNvSpPr/>
          <p:nvPr/>
        </p:nvSpPr>
        <p:spPr>
          <a:xfrm>
            <a:off x="54864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the budget table Claude produces.</a:t>
            </a:r>
          </a:p>
        </p:txBody>
      </p:sp>
      <p:sp>
        <p:nvSpPr>
          <p:cNvPr id="18" name="Oval 17"/>
          <p:cNvSpPr/>
          <p:nvPr/>
        </p:nvSpPr>
        <p:spPr>
          <a:xfrm>
            <a:off x="54864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Confirm Claude flagged both lines instead of choosing one.</a:t>
            </a:r>
          </a:p>
        </p:txBody>
      </p:sp>
      <p:sp>
        <p:nvSpPr>
          <p:cNvPr id="21" name="Oval 20"/>
          <p:cNvSpPr/>
          <p:nvPr/>
        </p:nvSpPr>
        <p:spPr>
          <a:xfrm>
            <a:off x="54864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Check that lumo-research-brief.docx now sits in the Lumo Launch folder in Drive.</a:t>
            </a:r>
          </a:p>
        </p:txBody>
      </p:sp>
      <p:sp>
        <p:nvSpPr>
          <p:cNvPr id="24" name="Oval 23"/>
          <p:cNvSpPr/>
          <p:nvPr/>
        </p:nvSpPr>
        <p:spPr>
          <a:xfrm>
            <a:off x="548640" y="549946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49946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969264" y="537536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Read the draft email in full, then approve it.</a:t>
            </a:r>
          </a:p>
        </p:txBody>
      </p:sp>
      <p:sp>
        <p:nvSpPr>
          <p:cNvPr id="27" name="Oval 26"/>
          <p:cNvSpPr/>
          <p:nvPr/>
        </p:nvSpPr>
        <p:spPr>
          <a:xfrm>
            <a:off x="6240780" y="236437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36437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24028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Open your inbox and confirm the email arrived with the Drive link working.</a:t>
            </a:r>
          </a:p>
        </p:txBody>
      </p:sp>
      <p:sp>
        <p:nvSpPr>
          <p:cNvPr id="30" name="Oval 29"/>
          <p:cNvSpPr/>
          <p:nvPr/>
        </p:nvSpPr>
        <p:spPr>
          <a:xfrm>
            <a:off x="6240780" y="2886891"/>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2886891"/>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2762794"/>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Send Block 2 to find the milestones due from 6 to 20 November.</a:t>
            </a:r>
          </a:p>
        </p:txBody>
      </p:sp>
      <p:sp>
        <p:nvSpPr>
          <p:cNvPr id="33" name="Oval 32"/>
          <p:cNvSpPr/>
          <p:nvPr/>
        </p:nvSpPr>
        <p:spPr>
          <a:xfrm>
            <a:off x="6240780" y="3409405"/>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3409405"/>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285308"/>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Click the Drive steps in Claude's reply and compare them with the tool list it gave you.</a:t>
            </a:r>
          </a:p>
        </p:txBody>
      </p:sp>
      <p:sp>
        <p:nvSpPr>
          <p:cNvPr id="36" name="Oval 35"/>
          <p:cNvSpPr/>
          <p:nvPr/>
        </p:nvSpPr>
        <p:spPr>
          <a:xfrm>
            <a:off x="6240780" y="3931919"/>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3931919"/>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3807822"/>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Check the milestone table.</a:t>
            </a:r>
          </a:p>
        </p:txBody>
      </p:sp>
      <p:sp>
        <p:nvSpPr>
          <p:cNvPr id="39" name="Oval 38"/>
          <p:cNvSpPr/>
          <p:nvPr/>
        </p:nvSpPr>
        <p:spPr>
          <a:xfrm>
            <a:off x="6240780" y="4454433"/>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4454433"/>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4330336"/>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Send Block 3 with your own email address in place of &lt;YOUR EMAIL&gt;.</a:t>
            </a:r>
          </a:p>
        </p:txBody>
      </p:sp>
      <p:sp>
        <p:nvSpPr>
          <p:cNvPr id="42" name="Oval 41"/>
          <p:cNvSpPr/>
          <p:nvPr/>
        </p:nvSpPr>
        <p:spPr>
          <a:xfrm>
            <a:off x="6240780" y="4976947"/>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4976947"/>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13</a:t>
            </a:r>
          </a:p>
        </p:txBody>
      </p:sp>
      <p:sp>
        <p:nvSpPr>
          <p:cNvPr id="44" name="TextBox 43"/>
          <p:cNvSpPr txBox="1"/>
          <p:nvPr/>
        </p:nvSpPr>
        <p:spPr>
          <a:xfrm>
            <a:off x="6661404" y="4852850"/>
            <a:ext cx="4860036" cy="522514"/>
          </a:xfrm>
          <a:prstGeom prst="rect">
            <a:avLst/>
          </a:prstGeom>
          <a:noFill/>
        </p:spPr>
        <p:txBody>
          <a:bodyPr wrap="square" anchor="ctr" lIns="0" rIns="0" tIns="0" bIns="0">
            <a:spAutoFit/>
          </a:bodyPr>
          <a:lstStyle/>
          <a:p>
            <a:pPr algn="l">
              <a:spcAft>
                <a:spcPts val="400"/>
              </a:spcAft>
            </a:pPr>
            <a:r>
              <a:rPr sz="1200" b="0">
                <a:solidFill>
                  <a:srgbClr val="21201C"/>
                </a:solidFill>
                <a:latin typeface="Calibri"/>
              </a:rPr>
              <a:t>Open Gmail → Drafts and check the reminder.</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Google Drive and Gmail are connected. Claude read both CSV files from the Lumo Launch folder, showed a budget table totalling S$60,000 on both sides, and flagged Instagram (S$18,000 vs S$20,000) and Influencers (S$12,000 vs S$10,000) without choosing between them. lumo-research-brief.docx is in the Drive folder, and the approved summary email arrived in your own inbox with a working link. Block 2 listed the three milestones due from 6 to 20 November with their owners and named the Drive tools it called. Block 3 found the Block 1 email in Gmail and saved a reminder about the E-commerce lead's store pages, due 27 November 2026, as a draft — nothing else was sent.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4 in Class: Reading from Google Drive</a:t>
            </a:r>
          </a:p>
        </p:txBody>
      </p:sp>
      <p:sp>
        <p:nvSpPr>
          <p:cNvPr id="5" name="Rectangle 4"/>
          <p:cNvSpPr/>
          <p:nvPr/>
        </p:nvSpPr>
        <p:spPr>
          <a:xfrm>
            <a:off x="2067973" y="1600200"/>
            <a:ext cx="8025574"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67973" y="1600200"/>
            <a:ext cx="802557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drive-read.png"/>
          <p:cNvPicPr>
            <a:picLocks noChangeAspect="1"/>
          </p:cNvPicPr>
          <p:nvPr/>
        </p:nvPicPr>
        <p:blipFill>
          <a:blip r:embed="rId2"/>
          <a:stretch>
            <a:fillRect/>
          </a:stretch>
        </p:blipFill>
        <p:spPr>
          <a:xfrm>
            <a:off x="2177701" y="1709928"/>
            <a:ext cx="7806118"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Plan first</a:t>
            </a:r>
          </a:p>
          <a:p>
            <a:pPr algn="l">
              <a:spcAft>
                <a:spcPts val="300"/>
              </a:spcAft>
            </a:pPr>
            <a:r>
              <a:rPr sz="1250" b="0">
                <a:solidFill>
                  <a:srgbClr val="6B6862"/>
                </a:solidFill>
                <a:latin typeface="Calibri"/>
              </a:rPr>
              <a:t>Open the Lumo Launch folder, read both CSVs, compare the budget with the brief, then email.</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tool call</a:t>
            </a:r>
          </a:p>
          <a:p>
            <a:pPr algn="l">
              <a:spcAft>
                <a:spcPts val="300"/>
              </a:spcAft>
            </a:pPr>
            <a:r>
              <a:rPr sz="1250" b="0">
                <a:solidFill>
                  <a:srgbClr val="6B6862"/>
                </a:solidFill>
                <a:latin typeface="Calibri"/>
              </a:rPr>
              <a:t>'Using Google Drive: Read file content' — the connector at work.</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Watch it</a:t>
            </a:r>
          </a:p>
          <a:p>
            <a:pPr algn="l">
              <a:spcAft>
                <a:spcPts val="300"/>
              </a:spcAft>
            </a:pPr>
            <a:r>
              <a:rPr sz="1250" b="0">
                <a:solidFill>
                  <a:srgbClr val="6B6862"/>
                </a:solidFill>
                <a:latin typeface="Calibri"/>
              </a:rPr>
              <a:t>Each tool call shows its time; click › to see what was read.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Claude states its plan, then calls the Google Drive connector.</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Following the Progress Panel</a:t>
            </a:r>
          </a:p>
        </p:txBody>
      </p:sp>
      <p:sp>
        <p:nvSpPr>
          <p:cNvPr id="5" name="Rectangle 4"/>
          <p:cNvSpPr/>
          <p:nvPr/>
        </p:nvSpPr>
        <p:spPr>
          <a:xfrm>
            <a:off x="1536083" y="1600200"/>
            <a:ext cx="4928833" cy="4297679"/>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36083" y="1600200"/>
            <a:ext cx="4928833"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rogress-panel.png"/>
          <p:cNvPicPr>
            <a:picLocks noChangeAspect="1"/>
          </p:cNvPicPr>
          <p:nvPr/>
        </p:nvPicPr>
        <p:blipFill>
          <a:blip r:embed="rId2"/>
          <a:stretch>
            <a:fillRect/>
          </a:stretch>
        </p:blipFill>
        <p:spPr>
          <a:xfrm>
            <a:off x="1645811" y="1709928"/>
            <a:ext cx="4709377" cy="4078223"/>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Steps</a:t>
            </a:r>
          </a:p>
          <a:p>
            <a:pPr algn="l">
              <a:spcAft>
                <a:spcPts val="300"/>
              </a:spcAft>
            </a:pPr>
            <a:r>
              <a:rPr sz="1250" b="0">
                <a:solidFill>
                  <a:srgbClr val="6B6862"/>
                </a:solidFill>
                <a:latin typeface="Calibri"/>
              </a:rPr>
              <a:t>Find the folder → compare budget and brief → prepare the email.</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Current step</a:t>
            </a:r>
          </a:p>
          <a:p>
            <a:pPr algn="l">
              <a:spcAft>
                <a:spcPts val="300"/>
              </a:spcAft>
            </a:pPr>
            <a:r>
              <a:rPr sz="1250" b="0">
                <a:solidFill>
                  <a:srgbClr val="6B6862"/>
                </a:solidFill>
                <a:latin typeface="Calibri"/>
              </a:rPr>
              <a:t>The orange dot marks the step in progress.</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Used in this session</a:t>
            </a:r>
          </a:p>
          <a:p>
            <a:pPr algn="l">
              <a:spcAft>
                <a:spcPts val="300"/>
              </a:spcAft>
            </a:pPr>
            <a:r>
              <a:rPr sz="1250" b="0">
                <a:solidFill>
                  <a:srgbClr val="6B6862"/>
                </a:solidFill>
                <a:latin typeface="Calibri"/>
              </a:rPr>
              <a:t>The connectors it called: Gmail and Google Drive.</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progress panel ticks off each step and lists what the session used.</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Lab 4 Email</a:t>
            </a:r>
          </a:p>
        </p:txBody>
      </p:sp>
      <p:sp>
        <p:nvSpPr>
          <p:cNvPr id="5" name="Rectangle 4"/>
          <p:cNvSpPr/>
          <p:nvPr/>
        </p:nvSpPr>
        <p:spPr>
          <a:xfrm>
            <a:off x="1415839" y="1600200"/>
            <a:ext cx="5169321"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15839" y="1600200"/>
            <a:ext cx="516932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email-draft.png"/>
          <p:cNvPicPr>
            <a:picLocks noChangeAspect="1"/>
          </p:cNvPicPr>
          <p:nvPr/>
        </p:nvPicPr>
        <p:blipFill>
          <a:blip r:embed="rId2"/>
          <a:stretch>
            <a:fillRect/>
          </a:stretch>
        </p:blipFill>
        <p:spPr>
          <a:xfrm>
            <a:off x="1525567" y="1709928"/>
            <a:ext cx="4949865"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From the brief</a:t>
            </a:r>
          </a:p>
          <a:p>
            <a:pPr algn="l">
              <a:spcAft>
                <a:spcPts val="300"/>
              </a:spcAft>
            </a:pPr>
            <a:r>
              <a:rPr sz="1250" b="0">
                <a:solidFill>
                  <a:srgbClr val="6B6862"/>
                </a:solidFill>
                <a:latin typeface="Calibri"/>
              </a:rPr>
              <a:t>Price position, audience and sales goal, quoted from the research brief.</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FLAG</a:t>
            </a:r>
          </a:p>
          <a:p>
            <a:pPr algn="l">
              <a:spcAft>
                <a:spcPts val="300"/>
              </a:spcAft>
            </a:pPr>
            <a:r>
              <a:rPr sz="1250" b="0">
                <a:solidFill>
                  <a:srgbClr val="6B6862"/>
                </a:solidFill>
                <a:latin typeface="Calibri"/>
              </a:rPr>
              <a:t>Conflicting Instagram figures are flagged, not hidden — resolve each FLAG.</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numbers</a:t>
            </a:r>
          </a:p>
          <a:p>
            <a:pPr algn="l">
              <a:spcAft>
                <a:spcPts val="300"/>
              </a:spcAft>
            </a:pPr>
            <a:r>
              <a:rPr sz="1250" b="0">
                <a:solidFill>
                  <a:srgbClr val="6B6862"/>
                </a:solidFill>
                <a:latin typeface="Calibri"/>
              </a:rPr>
              <a:t>8,000 cans is S$28,000–31,200 at retail, below the S$60,000 spend.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research and budget check, written into Gmail from the Drive files.</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DATA ANALYSIS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Analysing Data with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code tool turns a question about a file into calculated answers.</a:t>
            </a:r>
          </a:p>
        </p:txBody>
      </p:sp>
      <p:sp>
        <p:nvSpPr>
          <p:cNvPr id="6" name="Rectangle 5"/>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Attach the data</a:t>
            </a:r>
          </a:p>
        </p:txBody>
      </p:sp>
      <p:sp>
        <p:nvSpPr>
          <p:cNvPr id="11" name="TextBox 10"/>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 CSV or Excel file — the 400-row Lumo survey.</a:t>
            </a:r>
          </a:p>
        </p:txBody>
      </p:sp>
      <p:sp>
        <p:nvSpPr>
          <p:cNvPr id="12" name="TextBox 11"/>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Define the terms</a:t>
            </a:r>
          </a:p>
        </p:txBody>
      </p:sp>
      <p:sp>
        <p:nvSpPr>
          <p:cNvPr id="18" name="TextBox 17"/>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“Likely to buy” means intent 4 or 5 — say so.</a:t>
            </a:r>
          </a:p>
        </p:txBody>
      </p:sp>
      <p:sp>
        <p:nvSpPr>
          <p:cNvPr id="19" name="TextBox 18"/>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Claude runs code</a:t>
            </a:r>
          </a:p>
        </p:txBody>
      </p:sp>
      <p:sp>
        <p:nvSpPr>
          <p:cNvPr id="25" name="TextBox 24"/>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Python reads the file, counts, and draws the chart.</a:t>
            </a:r>
          </a:p>
        </p:txBody>
      </p:sp>
      <p:sp>
        <p:nvSpPr>
          <p:cNvPr id="26" name="TextBox 25"/>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the method</a:t>
            </a:r>
          </a:p>
        </p:txBody>
      </p:sp>
      <p:sp>
        <p:nvSpPr>
          <p:cNvPr id="32" name="TextBox 31"/>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Click the code step: right column, right filter?</a:t>
            </a:r>
          </a:p>
        </p:txBody>
      </p:sp>
      <p:sp>
        <p:nvSpPr>
          <p:cNvPr id="33" name="TextBox 32"/>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4" name="Rectangle 33"/>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8" name="TextBox 37"/>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Take the output</a:t>
            </a:r>
          </a:p>
        </p:txBody>
      </p:sp>
      <p:sp>
        <p:nvSpPr>
          <p:cNvPr id="39" name="TextBox 38"/>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Tables, a chart, and an .xlsx workbook to download.</a:t>
            </a:r>
          </a:p>
        </p:txBody>
      </p:sp>
      <p:sp>
        <p:nvSpPr>
          <p:cNvPr id="40" name="TextBox 39"/>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numbers come from code that ran on your file — not from the model's memory.</a:t>
            </a:r>
          </a:p>
        </p:txBody>
      </p:sp>
      <p:sp>
        <p:nvSpPr>
          <p:cNvPr id="41" name="TextBox 4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2" name="TextBox 4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3" name="TextBox 4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DATA ANALYSIS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Six Questions to Ask of Your Data</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one works on the Lumo survey — and on your own exports at work.</a:t>
            </a:r>
          </a:p>
        </p:txBody>
      </p:sp>
      <p:sp>
        <p:nvSpPr>
          <p:cNvPr id="6" name="TextBox 5"/>
          <p:cNvSpPr txBox="1"/>
          <p:nvPr/>
        </p:nvSpPr>
        <p:spPr>
          <a:xfrm>
            <a:off x="822960" y="2194560"/>
            <a:ext cx="257175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Question type</a:t>
            </a:r>
          </a:p>
        </p:txBody>
      </p:sp>
      <p:sp>
        <p:nvSpPr>
          <p:cNvPr id="7" name="TextBox 6"/>
          <p:cNvSpPr txBox="1"/>
          <p:nvPr/>
        </p:nvSpPr>
        <p:spPr>
          <a:xfrm>
            <a:off x="3623310" y="2194560"/>
            <a:ext cx="771525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The prompt you would send</a:t>
            </a:r>
          </a:p>
        </p:txBody>
      </p:sp>
      <p:sp>
        <p:nvSpPr>
          <p:cNvPr id="8" name="Rectangle 7"/>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51760"/>
            <a:ext cx="2571750" cy="55626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Segment</a:t>
            </a:r>
          </a:p>
        </p:txBody>
      </p:sp>
      <p:sp>
        <p:nvSpPr>
          <p:cNvPr id="10" name="TextBox 9"/>
          <p:cNvSpPr txBox="1"/>
          <p:nvPr/>
        </p:nvSpPr>
        <p:spPr>
          <a:xfrm>
            <a:off x="3623310" y="2651760"/>
            <a:ext cx="7715250" cy="55626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Likely to buy by city and by age band — count, base and %.</a:t>
            </a:r>
          </a:p>
        </p:txBody>
      </p:sp>
      <p:sp>
        <p:nvSpPr>
          <p:cNvPr id="11" name="Rectangle 10"/>
          <p:cNvSpPr/>
          <p:nvPr/>
        </p:nvSpPr>
        <p:spPr>
          <a:xfrm>
            <a:off x="822960" y="32080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208020"/>
            <a:ext cx="2571750" cy="55626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Compare</a:t>
            </a:r>
          </a:p>
        </p:txBody>
      </p:sp>
      <p:sp>
        <p:nvSpPr>
          <p:cNvPr id="13" name="TextBox 12"/>
          <p:cNvSpPr txBox="1"/>
          <p:nvPr/>
        </p:nvSpPr>
        <p:spPr>
          <a:xfrm>
            <a:off x="3623310" y="3208020"/>
            <a:ext cx="7715250" cy="55626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Which discovery channel has the highest average purchase intent?</a:t>
            </a:r>
          </a:p>
        </p:txBody>
      </p:sp>
      <p:sp>
        <p:nvSpPr>
          <p:cNvPr id="14" name="Rectangle 13"/>
          <p:cNvSpPr/>
          <p:nvPr/>
        </p:nvSpPr>
        <p:spPr>
          <a:xfrm>
            <a:off x="822960" y="376428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764280"/>
            <a:ext cx="2571750" cy="55626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Threshold</a:t>
            </a:r>
          </a:p>
        </p:txBody>
      </p:sp>
      <p:sp>
        <p:nvSpPr>
          <p:cNvPr id="16" name="TextBox 15"/>
          <p:cNvSpPr txBox="1"/>
          <p:nvPr/>
        </p:nvSpPr>
        <p:spPr>
          <a:xfrm>
            <a:off x="3623310" y="3764280"/>
            <a:ext cx="7715250" cy="55626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What share would pay S$3.50 or more, by city?</a:t>
            </a:r>
          </a:p>
        </p:txBody>
      </p:sp>
      <p:sp>
        <p:nvSpPr>
          <p:cNvPr id="17" name="Rectangle 16"/>
          <p:cNvSpPr/>
          <p:nvPr/>
        </p:nvSpPr>
        <p:spPr>
          <a:xfrm>
            <a:off x="822960" y="432054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320540"/>
            <a:ext cx="2571750" cy="55626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Clean</a:t>
            </a:r>
          </a:p>
        </p:txBody>
      </p:sp>
      <p:sp>
        <p:nvSpPr>
          <p:cNvPr id="19" name="TextBox 18"/>
          <p:cNvSpPr txBox="1"/>
          <p:nvPr/>
        </p:nvSpPr>
        <p:spPr>
          <a:xfrm>
            <a:off x="3623310" y="4320540"/>
            <a:ext cx="7715250" cy="55626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duplicate respondent IDs, blanks and impossible values. List them; do not delete.</a:t>
            </a:r>
          </a:p>
        </p:txBody>
      </p:sp>
      <p:sp>
        <p:nvSpPr>
          <p:cNvPr id="20" name="Rectangle 19"/>
          <p:cNvSpPr/>
          <p:nvPr/>
        </p:nvSpPr>
        <p:spPr>
          <a:xfrm>
            <a:off x="822960" y="48768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876800"/>
            <a:ext cx="2571750" cy="55626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Trend</a:t>
            </a:r>
          </a:p>
        </p:txBody>
      </p:sp>
      <p:sp>
        <p:nvSpPr>
          <p:cNvPr id="22" name="TextBox 21"/>
          <p:cNvSpPr txBox="1"/>
          <p:nvPr/>
        </p:nvSpPr>
        <p:spPr>
          <a:xfrm>
            <a:off x="3623310" y="4876800"/>
            <a:ext cx="7715250" cy="55626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Chart responses per week from response_date and tell me if any week is unusual.</a:t>
            </a:r>
          </a:p>
        </p:txBody>
      </p:sp>
      <p:sp>
        <p:nvSpPr>
          <p:cNvPr id="23" name="Rectangle 22"/>
          <p:cNvSpPr/>
          <p:nvPr/>
        </p:nvSpPr>
        <p:spPr>
          <a:xfrm>
            <a:off x="822960" y="54330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433060"/>
            <a:ext cx="2571750" cy="55626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Report</a:t>
            </a:r>
          </a:p>
        </p:txBody>
      </p:sp>
      <p:sp>
        <p:nvSpPr>
          <p:cNvPr id="25" name="TextBox 24"/>
          <p:cNvSpPr txBox="1"/>
          <p:nvPr/>
        </p:nvSpPr>
        <p:spPr>
          <a:xfrm>
            <a:off x="3623310" y="5433060"/>
            <a:ext cx="7715250" cy="55626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tables and one chart as an Excel workbook with a Summary sheet.</a:t>
            </a:r>
          </a:p>
        </p:txBody>
      </p:sp>
      <p:sp>
        <p:nvSpPr>
          <p:cNvPr id="26" name="Rectangle 25"/>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DATA ANALYSIS</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Trust the Numbers: Four Checks</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Define every term</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“Likely to buy” must mean intent 4 or 5 — write it in the prompt, or Claude chooses for you.</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Ask for the base</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A percentage without its count and base cannot be checked: 63% of what? Ask for 152 of 240.</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Reconcile the totals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segments must add back to the whole: 240 + 160 = 400 respondents, 152 + 96 = 248 likely to buy.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Check one figure yourself</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Filter the CSV in Excel for one row of the table. If it matches, you can trust the method.</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Lab 5 runs this on the survey everyone has, so the class can compare answers.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SLIDES AND DOCS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Slides, Docs and Built-in Skills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own formats for the things a launch meeting needs.</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a:t>
            </a:r>
          </a:p>
          <a:p>
            <a:pPr algn="l">
              <a:spcAft>
                <a:spcPts val="300"/>
              </a:spcAft>
            </a:pPr>
            <a:r>
              <a:rPr sz="1150" b="0">
                <a:solidFill>
                  <a:srgbClr val="6B6862"/>
                </a:solidFill>
                <a:latin typeface="Calibri"/>
              </a:rPr>
              <a:t>A deck Claude builds and you edit in place — download as PowerPoint or PDF for the meeting.</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Docs</a:t>
            </a:r>
          </a:p>
          <a:p>
            <a:pPr algn="l">
              <a:spcAft>
                <a:spcPts val="300"/>
              </a:spcAft>
            </a:pPr>
            <a:r>
              <a:rPr sz="1150" b="0">
                <a:solidFill>
                  <a:srgbClr val="6B6862"/>
                </a:solidFill>
                <a:latin typeface="Calibri"/>
              </a:rPr>
              <a:t>A living document — a campaign brief, a plan — that you and Claude edit and comment on together.</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Dashboards</a:t>
            </a:r>
          </a:p>
          <a:p>
            <a:pPr algn="l">
              <a:spcAft>
                <a:spcPts val="300"/>
              </a:spcAft>
            </a:pPr>
            <a:r>
              <a:rPr sz="1150" b="0">
                <a:solidFill>
                  <a:srgbClr val="6B6862"/>
                </a:solidFill>
                <a:latin typeface="Calibri"/>
              </a:rPr>
              <a:t>A page of live numbers — the Live Artefact you build in Lab 3 is one.</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Claude's pptx, docx and xlsx skills load on their own when your request needs a file.</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never name the skill. Ask for a deck or a document; Claude picks the format and the skill that builds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Analyse the Survey, Then Build the Deck and Brief</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Analyse survey data with Claude's code tool and save it to Excel, then produce a launch deck in Slides and a campaign brief in Docs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the deck, the numbers. Claude analyses the 400-row survey by writing and running code, and saves the tables and a chart as an Excel workbook. Then it builds the Friday deck in Slides and the campaign brief in Docs, choosing its built-in skills itself. You check every figure and download the deck as PowerPoint.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survey analysis workbook (lumo-survey-analysis.xlsx), an eight-slide launch deck in Slides (downloaded as .pptx) and a campaign brief in Docs.</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code execution, built-in skills (xlsx, pptx, docx), Slides, Docs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05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follow the brand guidelines for anything customer-facing.</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for the name, tagline, price and claims.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attach the survey CSV; lumo-survey-analysis.xlsx is saved and the deck downloads as .pptx.</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ANALYSE</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Analyse the attached survey with code. Count "likely to buy" as</a:t>
            </a:r>
          </a:p>
          <a:p>
            <a:pPr algn="l">
              <a:spcAft>
                <a:spcPts val="200"/>
              </a:spcAft>
            </a:pPr>
            <a:r>
              <a:rPr sz="1500" b="0">
                <a:solidFill>
                  <a:srgbClr val="21201C"/>
                </a:solidFill>
                <a:latin typeface="Calibri"/>
              </a:rPr>
              <a:t>purchase_intent 4 or 5.</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1. Likely to buy by city, and by age band: count, base and %.</a:t>
            </a:r>
          </a:p>
          <a:p>
            <a:pPr algn="l">
              <a:spcAft>
                <a:spcPts val="200"/>
              </a:spcAft>
            </a:pPr>
            <a:r>
              <a:rPr sz="1500" b="0">
                <a:solidFill>
                  <a:srgbClr val="21201C"/>
                </a:solidFill>
                <a:latin typeface="Calibri"/>
              </a:rPr>
              <a:t>2. Willing to pay S$3.50 or more (max_price_sgd), by city.</a:t>
            </a:r>
          </a:p>
          <a:p>
            <a:pPr algn="l">
              <a:spcAft>
                <a:spcPts val="200"/>
              </a:spcAft>
            </a:pPr>
            <a:r>
              <a:rPr sz="1500" b="0">
                <a:solidFill>
                  <a:srgbClr val="21201C"/>
                </a:solidFill>
                <a:latin typeface="Calibri"/>
              </a:rPr>
              <a:t>3. Likely to buy among 25-34s in Singapore only.</a:t>
            </a:r>
          </a:p>
          <a:p>
            <a:pPr algn="l">
              <a:spcAft>
                <a:spcPts val="200"/>
              </a:spcAft>
            </a:pPr>
            <a:r>
              <a:rPr sz="1500" b="0">
                <a:solidFill>
                  <a:srgbClr val="21201C"/>
                </a:solidFill>
                <a:latin typeface="Calibri"/>
              </a:rPr>
              <a:t>4. One chart: likely-to-buy % by age band.</a:t>
            </a:r>
          </a:p>
          <a:p>
            <a:pPr algn="l">
              <a:spcAft>
                <a:spcPts val="200"/>
              </a:spcAft>
            </a:pPr>
            <a:r>
              <a:rPr sz="1500" b="0">
                <a:solidFill>
                  <a:srgbClr val="21201C"/>
                </a:solidFill>
                <a:latin typeface="Calibri"/>
              </a:rPr>
              <a:t>5. Save it all as lumo-survey-analysis.xlsx: a Summary sheet,</a:t>
            </a:r>
          </a:p>
          <a:p>
            <a:pPr algn="l">
              <a:spcAft>
                <a:spcPts val="200"/>
              </a:spcAft>
            </a:pPr>
            <a:r>
              <a:rPr sz="1500" b="0">
                <a:solidFill>
                  <a:srgbClr val="21201C"/>
                </a:solidFill>
                <a:latin typeface="Calibri"/>
              </a:rPr>
              <a:t>   one sheet per table, and the chart.</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Show the totals so I can check them, then give me three</a:t>
            </a:r>
          </a:p>
          <a:p>
            <a:pPr algn="l">
              <a:spcAft>
                <a:spcPts val="200"/>
              </a:spcAft>
            </a:pPr>
            <a:r>
              <a:rPr sz="1500" b="0">
                <a:solidFill>
                  <a:srgbClr val="21201C"/>
                </a:solidFill>
                <a:latin typeface="Calibri"/>
              </a:rPr>
              <a:t>findings in one sentence each.</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Claude writes and runs the code. You check the method and the totals.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BUILD</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our research brief, the Market Insights dashboard and the</a:t>
            </a:r>
          </a:p>
          <a:p>
            <a:pPr algn="l">
              <a:spcAft>
                <a:spcPts val="200"/>
              </a:spcAft>
            </a:pPr>
            <a:r>
              <a:rPr sz="1250" b="0">
                <a:solidFill>
                  <a:srgbClr val="21201C"/>
                </a:solidFill>
                <a:latin typeface="Calibri"/>
              </a:rPr>
              <a:t>brand kit, create two things for Friday's launch meeting.</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A launch deck in Slides, eight slides:</a:t>
            </a:r>
          </a:p>
          <a:p>
            <a:pPr algn="l">
              <a:spcAft>
                <a:spcPts val="200"/>
              </a:spcAft>
            </a:pPr>
            <a:r>
              <a:rPr sz="1250" b="0">
                <a:solidFill>
                  <a:srgbClr val="21201C"/>
                </a:solidFill>
                <a:latin typeface="Calibri"/>
              </a:rPr>
              <a:t>   1 Title - Lumo Cold Kopi: Kopi, Chilled Right</a:t>
            </a:r>
          </a:p>
          <a:p>
            <a:pPr algn="l">
              <a:spcAft>
                <a:spcPts val="200"/>
              </a:spcAft>
            </a:pPr>
            <a:r>
              <a:rPr sz="1250" b="0">
                <a:solidFill>
                  <a:srgbClr val="21201C"/>
                </a:solidFill>
                <a:latin typeface="Calibri"/>
              </a:rPr>
              <a:t>   2 The opportunity - the three survey numbers that matter most</a:t>
            </a:r>
          </a:p>
          <a:p>
            <a:pPr algn="l">
              <a:spcAft>
                <a:spcPts val="200"/>
              </a:spcAft>
            </a:pPr>
            <a:r>
              <a:rPr sz="1250" b="0">
                <a:solidFill>
                  <a:srgbClr val="21201C"/>
                </a:solidFill>
                <a:latin typeface="Calibri"/>
              </a:rPr>
              <a:t>   3 Who we are for - 25-34s in Singapore, with the evidence</a:t>
            </a:r>
          </a:p>
          <a:p>
            <a:pPr algn="l">
              <a:spcAft>
                <a:spcPts val="200"/>
              </a:spcAft>
            </a:pPr>
            <a:r>
              <a:rPr sz="1250" b="0">
                <a:solidFill>
                  <a:srgbClr val="21201C"/>
                </a:solidFill>
                <a:latin typeface="Calibri"/>
              </a:rPr>
              <a:t>   4 Competitors - a price ladder chart with Lumo highlighted</a:t>
            </a:r>
          </a:p>
          <a:p>
            <a:pPr algn="l">
              <a:spcAft>
                <a:spcPts val="200"/>
              </a:spcAft>
            </a:pPr>
            <a:r>
              <a:rPr sz="1250" b="0">
                <a:solidFill>
                  <a:srgbClr val="21201C"/>
                </a:solidFill>
                <a:latin typeface="Calibri"/>
              </a:rPr>
              <a:t>   5 Where they find us - a discovery channel chart</a:t>
            </a:r>
          </a:p>
          <a:p>
            <a:pPr algn="l">
              <a:spcAft>
                <a:spcPts val="200"/>
              </a:spcAft>
            </a:pPr>
            <a:r>
              <a:rPr sz="1250" b="0">
                <a:solidFill>
                  <a:srgbClr val="21201C"/>
                </a:solidFill>
                <a:latin typeface="Calibri"/>
              </a:rPr>
              <a:t>   6 The campaign - message, channels and dates</a:t>
            </a:r>
          </a:p>
          <a:p>
            <a:pPr algn="l">
              <a:spcAft>
                <a:spcPts val="200"/>
              </a:spcAft>
            </a:pPr>
            <a:r>
              <a:rPr sz="1250" b="0">
                <a:solidFill>
                  <a:srgbClr val="21201C"/>
                </a:solidFill>
                <a:latin typeface="Calibri"/>
              </a:rPr>
              <a:t>   7 Budget - the S$60,000 split, noting the two open questions</a:t>
            </a:r>
          </a:p>
          <a:p>
            <a:pPr algn="l">
              <a:spcAft>
                <a:spcPts val="200"/>
              </a:spcAft>
            </a:pPr>
            <a:r>
              <a:rPr sz="1250" b="0">
                <a:solidFill>
                  <a:srgbClr val="21201C"/>
                </a:solidFill>
                <a:latin typeface="Calibri"/>
              </a:rPr>
              <a:t>   8 Next steps and owners</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Use the Lumo brand colours. Real charts, not pictures of charts.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2. A campaign brief in Docs: objective, audience, key message,</a:t>
            </a:r>
          </a:p>
          <a:p>
            <a:pPr algn="l">
              <a:spcAft>
                <a:spcPts val="200"/>
              </a:spcAft>
            </a:pPr>
            <a:r>
              <a:rPr sz="1250" b="0">
                <a:solidFill>
                  <a:srgbClr val="21201C"/>
                </a:solidFill>
                <a:latin typeface="Calibri"/>
              </a:rPr>
              <a:t>   proof points, channels, budget, timeline, KPIs, and a "claims</a:t>
            </a:r>
          </a:p>
          <a:p>
            <a:pPr algn="l">
              <a:spcAft>
                <a:spcPts val="200"/>
              </a:spcAft>
            </a:pPr>
            <a:r>
              <a:rPr sz="1250" b="0">
                <a:solidFill>
                  <a:srgbClr val="21201C"/>
                </a:solidFill>
                <a:latin typeface="Calibri"/>
              </a:rPr>
              <a:t>   we must not make" section.</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number must come from the research brief or the dashboard.</a:t>
            </a:r>
          </a:p>
          <a:p>
            <a:pPr algn="l">
              <a:spcAft>
                <a:spcPts val="200"/>
              </a:spcAft>
            </a:pPr>
            <a:r>
              <a:rPr sz="1250" b="0">
                <a:solidFill>
                  <a:srgbClr val="21201C"/>
                </a:solidFill>
                <a:latin typeface="Calibri"/>
              </a:rPr>
              <a:t>List the source of each number at the end of the brief.</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No skill named: ask for a deck and a document, and Claude picks the built-in skill.</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Analyse the Survey, Then Build the Deck and Brief</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lumo-consumer-survey-2026.csv and send Block 1.</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the code step in Claude's reply and read what it ran.</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tables against these figures.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lumo-survey-analysis.xlsx and open it in Excel.</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one follow-up question about the data: Which coffee frequency group is most likely to buy?</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a:t>
            </a:r>
          </a:p>
        </p:txBody>
      </p:sp>
      <p:sp>
        <p:nvSpPr>
          <p:cNvPr id="24" name="Oval 23"/>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deck when it appears and page through all eight slides.</a:t>
            </a:r>
          </a:p>
        </p:txBody>
      </p:sp>
      <p:sp>
        <p:nvSpPr>
          <p:cNvPr id="27" name="Oval 26"/>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2 and slide 4 against your research.</a:t>
            </a:r>
          </a:p>
        </p:txBody>
      </p:sp>
      <p:sp>
        <p:nvSpPr>
          <p:cNvPr id="30" name="Oval 29"/>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7.</a:t>
            </a:r>
          </a:p>
        </p:txBody>
      </p:sp>
      <p:sp>
        <p:nvSpPr>
          <p:cNvPr id="33" name="Oval 32"/>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campaign brief in Docs and read the "claims we must not make" section.</a:t>
            </a:r>
          </a:p>
        </p:txBody>
      </p:sp>
      <p:sp>
        <p:nvSpPr>
          <p:cNvPr id="36" name="Oval 35"/>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to each, for example: Shorten slide 6 to three bullets.</a:t>
            </a:r>
          </a:p>
        </p:txBody>
      </p:sp>
      <p:sp>
        <p:nvSpPr>
          <p:cNvPr id="39" name="Oval 38"/>
          <p:cNvSpPr/>
          <p:nvPr/>
        </p:nvSpPr>
        <p:spPr>
          <a:xfrm>
            <a:off x="624078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deck as PowerPoint and open it.</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Analyse the Survey, Then Build the Deck and Brief</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analysis shows Singapore 152 of 240 (63%) and Kuala Lumpur 96 of 160 (60%) likely to buy, 25-34s at 112 of 152 (74%) and 72 of 96 (75%) among 25-34s in Singapore, and lumo-survey-analysis.xlsx opens in Excel with a Summary sheet, the tables and a chart. The deck has eight slides in the Lumo colours, with real charts for the price ladder and the discovery channels, the survey figures 62%, 74% and 34%, and a budget slide that shows S$60,000 with the Instagram and Influencers lines marked as open questions. The campaign brief in Docs has all nine sections, including "claims we must not make", and lists a source for every number. The deck opens in PowerPoint with its charts intact.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examples.</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lumo-brand-voice.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tone rules, words to avoid, hashtag rules, the checks to run.</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examples of on-brand and off-brand posts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Inside a Real SKILL.md</a:t>
            </a:r>
          </a:p>
        </p:txBody>
      </p:sp>
      <p:sp>
        <p:nvSpPr>
          <p:cNvPr id="5" name="Rectangle 4"/>
          <p:cNvSpPr/>
          <p:nvPr/>
        </p:nvSpPr>
        <p:spPr>
          <a:xfrm>
            <a:off x="548640" y="1828800"/>
            <a:ext cx="11064240" cy="341122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112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SKILL.md — lumo-brand-voice, as /skill-creator writes it in Lab 6</a:t>
            </a:r>
          </a:p>
        </p:txBody>
      </p:sp>
      <p:sp>
        <p:nvSpPr>
          <p:cNvPr id="8" name="TextBox 7"/>
          <p:cNvSpPr txBox="1"/>
          <p:nvPr/>
        </p:nvSpPr>
        <p:spPr>
          <a:xfrm>
            <a:off x="868680" y="2359152"/>
            <a:ext cx="5006340" cy="2725420"/>
          </a:xfrm>
          <a:prstGeom prst="rect">
            <a:avLst/>
          </a:prstGeom>
          <a:noFill/>
        </p:spPr>
        <p:txBody>
          <a:bodyPr wrap="square" anchor="t" lIns="0" rIns="0" tIns="0" bIns="0">
            <a:spAutoFit/>
          </a:bodyPr>
          <a:lstStyle/>
          <a:p>
            <a:pPr algn="l">
              <a:spcAft>
                <a:spcPts val="200"/>
              </a:spcAft>
            </a:pPr>
            <a:r>
              <a:rPr sz="1350" b="0">
                <a:solidFill>
                  <a:srgbClr val="21201C"/>
                </a:solidFill>
                <a:latin typeface="Calibri"/>
              </a:rPr>
              <a:t>---</a:t>
            </a:r>
          </a:p>
          <a:p>
            <a:pPr algn="l">
              <a:spcAft>
                <a:spcPts val="200"/>
              </a:spcAft>
            </a:pPr>
            <a:r>
              <a:rPr sz="1350" b="0">
                <a:solidFill>
                  <a:srgbClr val="21201C"/>
                </a:solidFill>
                <a:latin typeface="Calibri"/>
              </a:rPr>
              <a:t>name: lumo-brand-voice</a:t>
            </a:r>
          </a:p>
          <a:p>
            <a:pPr algn="l">
              <a:spcAft>
                <a:spcPts val="200"/>
              </a:spcAft>
            </a:pPr>
            <a:r>
              <a:rPr sz="1350" b="0">
                <a:solidFill>
                  <a:srgbClr val="21201C"/>
                </a:solidFill>
                <a:latin typeface="Calibri"/>
              </a:rPr>
              <a:t>description: Use when writing or reviewing any customer-facing</a:t>
            </a:r>
          </a:p>
          <a:p>
            <a:pPr algn="l">
              <a:spcAft>
                <a:spcPts val="200"/>
              </a:spcAft>
            </a:pPr>
            <a:r>
              <a:rPr sz="1350" b="0">
                <a:solidFill>
                  <a:srgbClr val="21201C"/>
                </a:solidFill>
                <a:latin typeface="Calibri"/>
              </a:rPr>
              <a:t>  Lumo Kopi content - social posts, captions, emails, video</a:t>
            </a:r>
          </a:p>
          <a:p>
            <a:pPr algn="l">
              <a:spcAft>
                <a:spcPts val="200"/>
              </a:spcAft>
            </a:pPr>
            <a:r>
              <a:rPr sz="1350" b="0">
                <a:solidFill>
                  <a:srgbClr val="21201C"/>
                </a:solidFill>
                <a:latin typeface="Calibri"/>
              </a:rPr>
              <a:t>  scripts or ads.</a:t>
            </a:r>
          </a:p>
          <a:p>
            <a:pPr algn="l">
              <a:spcAft>
                <a:spcPts val="200"/>
              </a:spcAft>
            </a:pPr>
            <a:r>
              <a:rPr sz="1350" b="0">
                <a:solidFill>
                  <a:srgbClr val="21201C"/>
                </a:solidFill>
                <a:latin typeface="Calibri"/>
              </a:rPr>
              <a:t>---</a:t>
            </a:r>
          </a:p>
          <a:p>
            <a:pPr algn="l">
              <a:spcAft>
                <a:spcPts val="200"/>
              </a:spcAft>
            </a:pPr>
            <a:r>
              <a:rPr sz="1350" b="0">
                <a:solidFill>
                  <a:srgbClr val="21201C"/>
                </a:solidFill>
                <a:latin typeface="Calibri"/>
              </a:rPr>
              <a:t># Lumo brand voice</a:t>
            </a:r>
          </a:p>
          <a:p>
            <a:pPr algn="l">
              <a:spcAft>
                <a:spcPts val="200"/>
              </a:spcAft>
            </a:pPr>
            <a:r>
              <a:rPr sz="1350" b="0">
                <a:solidFill>
                  <a:srgbClr val="21201C"/>
                </a:solidFill>
                <a:latin typeface="Calibri"/>
              </a:rPr>
              <a:t/>
            </a:r>
          </a:p>
          <a:p>
            <a:pPr algn="l">
              <a:spcAft>
                <a:spcPts val="200"/>
              </a:spcAft>
            </a:pPr>
            <a:r>
              <a:rPr sz="1350" b="0">
                <a:solidFill>
                  <a:srgbClr val="21201C"/>
                </a:solidFill>
                <a:latin typeface="Calibri"/>
              </a:rPr>
              <a:t>## Rules</a:t>
            </a:r>
          </a:p>
          <a:p>
            <a:pPr algn="l">
              <a:spcAft>
                <a:spcPts val="200"/>
              </a:spcAft>
            </a:pPr>
            <a:r>
              <a:rPr sz="1350" b="0">
                <a:solidFill>
                  <a:srgbClr val="21201C"/>
                </a:solidFill>
                <a:latin typeface="Calibri"/>
              </a:rPr>
              <a:t>- Prices as S$3.90 and S$42.00 - never $3.9 or SGD42.</a:t>
            </a:r>
          </a:p>
          <a:p>
            <a:pPr algn="l">
              <a:spcAft>
                <a:spcPts val="200"/>
              </a:spcAft>
            </a:pPr>
            <a:r>
              <a:rPr sz="1350" b="0">
                <a:solidFill>
                  <a:srgbClr val="21201C"/>
                </a:solidFill>
                <a:latin typeface="Calibri"/>
              </a:rPr>
              <a:t>- No "healthy", medical or weight-loss claims.</a:t>
            </a:r>
          </a:p>
        </p:txBody>
      </p:sp>
      <p:sp>
        <p:nvSpPr>
          <p:cNvPr id="9" name="TextBox 8"/>
          <p:cNvSpPr txBox="1"/>
          <p:nvPr/>
        </p:nvSpPr>
        <p:spPr>
          <a:xfrm>
            <a:off x="6286500" y="2359152"/>
            <a:ext cx="5006340" cy="2725420"/>
          </a:xfrm>
          <a:prstGeom prst="rect">
            <a:avLst/>
          </a:prstGeom>
          <a:noFill/>
        </p:spPr>
        <p:txBody>
          <a:bodyPr wrap="square" anchor="t" lIns="0" rIns="0" tIns="0" bIns="0">
            <a:spAutoFit/>
          </a:bodyPr>
          <a:lstStyle/>
          <a:p>
            <a:pPr algn="l">
              <a:spcAft>
                <a:spcPts val="200"/>
              </a:spcAft>
            </a:pPr>
            <a:r>
              <a:rPr sz="1350" b="0">
                <a:solidFill>
                  <a:srgbClr val="21201C"/>
                </a:solidFill>
                <a:latin typeface="Calibri"/>
              </a:rPr>
              <a:t>- At most one Singlish word.</a:t>
            </a:r>
          </a:p>
          <a:p>
            <a:pPr algn="l">
              <a:spcAft>
                <a:spcPts val="200"/>
              </a:spcAft>
            </a:pPr>
            <a:r>
              <a:rPr sz="1350" b="0">
                <a:solidFill>
                  <a:srgbClr val="21201C"/>
                </a:solidFill>
                <a:latin typeface="Calibri"/>
              </a:rPr>
              <a:t>- #LumoKopi on every post; no more than five hashtags.</a:t>
            </a:r>
          </a:p>
          <a:p>
            <a:pPr algn="l">
              <a:spcAft>
                <a:spcPts val="200"/>
              </a:spcAft>
            </a:pPr>
            <a:r>
              <a:rPr sz="1350" b="0">
                <a:solidFill>
                  <a:srgbClr val="21201C"/>
                </a:solidFill>
                <a:latin typeface="Calibri"/>
              </a:rPr>
              <a:t>- End with one clear call to action.</a:t>
            </a:r>
          </a:p>
          <a:p>
            <a:pPr algn="l">
              <a:spcAft>
                <a:spcPts val="200"/>
              </a:spcAft>
            </a:pPr>
            <a:r>
              <a:rPr sz="1350" b="0">
                <a:solidFill>
                  <a:srgbClr val="21201C"/>
                </a:solidFill>
                <a:latin typeface="Calibri"/>
              </a:rPr>
              <a:t/>
            </a:r>
          </a:p>
          <a:p>
            <a:pPr algn="l">
              <a:spcAft>
                <a:spcPts val="200"/>
              </a:spcAft>
            </a:pPr>
            <a:r>
              <a:rPr sz="1350" b="0">
                <a:solidFill>
                  <a:srgbClr val="21201C"/>
                </a:solidFill>
                <a:latin typeface="Calibri"/>
              </a:rPr>
              <a:t>## Steps</a:t>
            </a:r>
          </a:p>
          <a:p>
            <a:pPr algn="l">
              <a:spcAft>
                <a:spcPts val="200"/>
              </a:spcAft>
            </a:pPr>
            <a:r>
              <a:rPr sz="1350" b="0">
                <a:solidFill>
                  <a:srgbClr val="21201C"/>
                </a:solidFill>
                <a:latin typeface="Calibri"/>
              </a:rPr>
              <a:t>1. Draft or rewrite in the Lumo voice.</a:t>
            </a:r>
          </a:p>
          <a:p>
            <a:pPr algn="l">
              <a:spcAft>
                <a:spcPts val="200"/>
              </a:spcAft>
            </a:pPr>
            <a:r>
              <a:rPr sz="1350" b="0">
                <a:solidFill>
                  <a:srgbClr val="21201C"/>
                </a:solidFill>
                <a:latin typeface="Calibri"/>
              </a:rPr>
              <a:t>2. Remove any claim not in lumo-product-sheet.md.</a:t>
            </a:r>
          </a:p>
          <a:p>
            <a:pPr algn="l">
              <a:spcAft>
                <a:spcPts val="200"/>
              </a:spcAft>
            </a:pPr>
            <a:r>
              <a:rPr sz="1350" b="0">
                <a:solidFill>
                  <a:srgbClr val="21201C"/>
                </a:solidFill>
                <a:latin typeface="Calibri"/>
              </a:rPr>
              <a:t>3. Run the checklist and show the result.</a:t>
            </a:r>
          </a:p>
          <a:p>
            <a:pPr algn="l">
              <a:spcAft>
                <a:spcPts val="200"/>
              </a:spcAft>
            </a:pPr>
            <a:r>
              <a:rPr sz="1350" b="0">
                <a:solidFill>
                  <a:srgbClr val="21201C"/>
                </a:solidFill>
                <a:latin typeface="Calibri"/>
              </a:rPr>
              <a:t/>
            </a:r>
          </a:p>
          <a:p>
            <a:pPr algn="l">
              <a:spcAft>
                <a:spcPts val="200"/>
              </a:spcAft>
            </a:pPr>
            <a:r>
              <a:rPr sz="1350" b="0">
                <a:solidFill>
                  <a:srgbClr val="21201C"/>
                </a:solidFill>
                <a:latin typeface="Calibri"/>
              </a:rPr>
              <a:t>## Resources</a:t>
            </a:r>
          </a:p>
          <a:p>
            <a:pPr algn="l">
              <a:spcAft>
                <a:spcPts val="200"/>
              </a:spcAft>
            </a:pPr>
            <a:r>
              <a:rPr sz="1350" b="0">
                <a:solidFill>
                  <a:srgbClr val="21201C"/>
                </a:solidFill>
                <a:latin typeface="Calibri"/>
              </a:rPr>
              <a:t>- examples.md: two before-and-after rewrites</a:t>
            </a:r>
          </a:p>
        </p:txBody>
      </p:sp>
      <p:sp>
        <p:nvSpPr>
          <p:cNvPr id="10" name="Rectangle 9"/>
          <p:cNvSpPr/>
          <p:nvPr/>
        </p:nvSpPr>
        <p:spPr>
          <a:xfrm>
            <a:off x="6080760" y="2395728"/>
            <a:ext cx="9144" cy="263398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1434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Top: metadata, always in context. Rules and steps: loaded when the skill is used. examples.md: read only when needed.</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Four Kinds of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Every one is a SKILL.md; they differ in who writes it and how it arrives.</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Kind</a:t>
            </a:r>
          </a:p>
        </p:txBody>
      </p:sp>
      <p:sp>
        <p:nvSpPr>
          <p:cNvPr id="7" name="TextBox 6"/>
          <p:cNvSpPr txBox="1"/>
          <p:nvPr/>
        </p:nvSpPr>
        <p:spPr>
          <a:xfrm>
            <a:off x="3154680" y="2194560"/>
            <a:ext cx="1972769"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Who writes it</a:t>
            </a:r>
          </a:p>
        </p:txBody>
      </p:sp>
      <p:sp>
        <p:nvSpPr>
          <p:cNvPr id="8" name="TextBox 7"/>
          <p:cNvSpPr txBox="1"/>
          <p:nvPr/>
        </p:nvSpPr>
        <p:spPr>
          <a:xfrm>
            <a:off x="5356049" y="2194560"/>
            <a:ext cx="328794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How it loads</a:t>
            </a:r>
          </a:p>
        </p:txBody>
      </p:sp>
      <p:sp>
        <p:nvSpPr>
          <p:cNvPr id="9" name="TextBox 8"/>
          <p:cNvSpPr txBox="1"/>
          <p:nvPr/>
        </p:nvSpPr>
        <p:spPr>
          <a:xfrm>
            <a:off x="8872597" y="2194560"/>
            <a:ext cx="2465961"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 this course</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Built-in</a:t>
            </a:r>
          </a:p>
        </p:txBody>
      </p:sp>
      <p:sp>
        <p:nvSpPr>
          <p:cNvPr id="12" name="TextBox 11"/>
          <p:cNvSpPr txBox="1"/>
          <p:nvPr/>
        </p:nvSpPr>
        <p:spPr>
          <a:xfrm>
            <a:off x="3154680" y="2651760"/>
            <a:ext cx="1972769"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Anthropic</a:t>
            </a:r>
          </a:p>
        </p:txBody>
      </p:sp>
      <p:sp>
        <p:nvSpPr>
          <p:cNvPr id="13" name="TextBox 12"/>
          <p:cNvSpPr txBox="1"/>
          <p:nvPr/>
        </p:nvSpPr>
        <p:spPr>
          <a:xfrm>
            <a:off x="5356049" y="2651760"/>
            <a:ext cx="328794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By itself when you ask for a file</a:t>
            </a:r>
          </a:p>
        </p:txBody>
      </p:sp>
      <p:sp>
        <p:nvSpPr>
          <p:cNvPr id="14" name="TextBox 13"/>
          <p:cNvSpPr txBox="1"/>
          <p:nvPr/>
        </p:nvSpPr>
        <p:spPr>
          <a:xfrm>
            <a:off x="8872597" y="2651760"/>
            <a:ext cx="2465961"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pptx, xlsx, docx — Lab 5</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Your own</a:t>
            </a:r>
          </a:p>
        </p:txBody>
      </p:sp>
      <p:sp>
        <p:nvSpPr>
          <p:cNvPr id="17" name="TextBox 16"/>
          <p:cNvSpPr txBox="1"/>
          <p:nvPr/>
        </p:nvSpPr>
        <p:spPr>
          <a:xfrm>
            <a:off x="3154680" y="3387852"/>
            <a:ext cx="1972769"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with /skill-creator</a:t>
            </a:r>
          </a:p>
        </p:txBody>
      </p:sp>
      <p:sp>
        <p:nvSpPr>
          <p:cNvPr id="18" name="TextBox 17"/>
          <p:cNvSpPr txBox="1"/>
          <p:nvPr/>
        </p:nvSpPr>
        <p:spPr>
          <a:xfrm>
            <a:off x="5356049" y="3387852"/>
            <a:ext cx="328794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a request matches its description</a:t>
            </a:r>
          </a:p>
        </p:txBody>
      </p:sp>
      <p:sp>
        <p:nvSpPr>
          <p:cNvPr id="19" name="TextBox 18"/>
          <p:cNvSpPr txBox="1"/>
          <p:nvPr/>
        </p:nvSpPr>
        <p:spPr>
          <a:xfrm>
            <a:off x="8872597" y="3387852"/>
            <a:ext cx="2465961"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 — Lab 6</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From a plugin</a:t>
            </a:r>
          </a:p>
        </p:txBody>
      </p:sp>
      <p:sp>
        <p:nvSpPr>
          <p:cNvPr id="22" name="TextBox 21"/>
          <p:cNvSpPr txBox="1"/>
          <p:nvPr/>
        </p:nvSpPr>
        <p:spPr>
          <a:xfrm>
            <a:off x="3154680" y="4123944"/>
            <a:ext cx="1972769"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plugin's author</a:t>
            </a:r>
          </a:p>
        </p:txBody>
      </p:sp>
      <p:sp>
        <p:nvSpPr>
          <p:cNvPr id="23" name="TextBox 22"/>
          <p:cNvSpPr txBox="1"/>
          <p:nvPr/>
        </p:nvSpPr>
        <p:spPr>
          <a:xfrm>
            <a:off x="5356049" y="4123944"/>
            <a:ext cx="328794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same, or by its /plugin:command</a:t>
            </a:r>
          </a:p>
        </p:txBody>
      </p:sp>
      <p:sp>
        <p:nvSpPr>
          <p:cNvPr id="24" name="TextBox 23"/>
          <p:cNvSpPr txBox="1"/>
          <p:nvPr/>
        </p:nvSpPr>
        <p:spPr>
          <a:xfrm>
            <a:off x="8872597" y="4123944"/>
            <a:ext cx="2465961"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marketing:brand-review — Lab 7</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Shared by your team</a:t>
            </a:r>
          </a:p>
        </p:txBody>
      </p:sp>
      <p:sp>
        <p:nvSpPr>
          <p:cNvPr id="27" name="TextBox 26"/>
          <p:cNvSpPr txBox="1"/>
          <p:nvPr/>
        </p:nvSpPr>
        <p:spPr>
          <a:xfrm>
            <a:off x="3154680" y="4860036"/>
            <a:ext cx="1972769"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An admin or a colleague</a:t>
            </a:r>
          </a:p>
        </p:txBody>
      </p:sp>
      <p:sp>
        <p:nvSpPr>
          <p:cNvPr id="28" name="TextBox 27"/>
          <p:cNvSpPr txBox="1"/>
          <p:nvPr/>
        </p:nvSpPr>
        <p:spPr>
          <a:xfrm>
            <a:off x="5356049" y="4860036"/>
            <a:ext cx="328794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Provided to everyone in the organisation</a:t>
            </a:r>
          </a:p>
        </p:txBody>
      </p:sp>
      <p:sp>
        <p:nvSpPr>
          <p:cNvPr id="29" name="TextBox 28"/>
          <p:cNvSpPr txBox="1"/>
          <p:nvPr/>
        </p:nvSpPr>
        <p:spPr>
          <a:xfrm>
            <a:off x="8872597" y="4860036"/>
            <a:ext cx="2465961"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Your company's house style</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Description Decides When It Loads</a:t>
            </a:r>
          </a:p>
        </p:txBody>
      </p:sp>
      <p:sp>
        <p:nvSpPr>
          <p:cNvPr id="5" name="TextBox 4"/>
          <p:cNvSpPr txBox="1"/>
          <p:nvPr/>
        </p:nvSpPr>
        <p:spPr>
          <a:xfrm>
            <a:off x="822960" y="1874519"/>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Description</a:t>
            </a:r>
          </a:p>
        </p:txBody>
      </p:sp>
      <p:sp>
        <p:nvSpPr>
          <p:cNvPr id="6" name="TextBox 5"/>
          <p:cNvSpPr txBox="1"/>
          <p:nvPr/>
        </p:nvSpPr>
        <p:spPr>
          <a:xfrm>
            <a:off x="3154680" y="1874519"/>
            <a:ext cx="1687483"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Verdict</a:t>
            </a:r>
          </a:p>
        </p:txBody>
      </p:sp>
      <p:sp>
        <p:nvSpPr>
          <p:cNvPr id="7" name="TextBox 6"/>
          <p:cNvSpPr txBox="1"/>
          <p:nvPr/>
        </p:nvSpPr>
        <p:spPr>
          <a:xfrm>
            <a:off x="5070763" y="1874519"/>
            <a:ext cx="6267796"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Why</a:t>
            </a:r>
          </a:p>
        </p:txBody>
      </p:sp>
      <p:sp>
        <p:nvSpPr>
          <p:cNvPr id="8" name="Rectangle 7"/>
          <p:cNvSpPr/>
          <p:nvPr/>
        </p:nvSpPr>
        <p:spPr>
          <a:xfrm>
            <a:off x="822960" y="2240279"/>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31719"/>
            <a:ext cx="2103120" cy="554355"/>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Brand voice.</a:t>
            </a:r>
          </a:p>
        </p:txBody>
      </p:sp>
      <p:sp>
        <p:nvSpPr>
          <p:cNvPr id="10" name="TextBox 9"/>
          <p:cNvSpPr txBox="1"/>
          <p:nvPr/>
        </p:nvSpPr>
        <p:spPr>
          <a:xfrm>
            <a:off x="3154680" y="2331719"/>
            <a:ext cx="1687483" cy="554355"/>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Too vague</a:t>
            </a:r>
          </a:p>
        </p:txBody>
      </p:sp>
      <p:sp>
        <p:nvSpPr>
          <p:cNvPr id="11" name="TextBox 10"/>
          <p:cNvSpPr txBox="1"/>
          <p:nvPr/>
        </p:nvSpPr>
        <p:spPr>
          <a:xfrm>
            <a:off x="5070763" y="2331719"/>
            <a:ext cx="6267796" cy="554355"/>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Says nothing about when — Claude rarely loads it.</a:t>
            </a:r>
          </a:p>
        </p:txBody>
      </p:sp>
      <p:sp>
        <p:nvSpPr>
          <p:cNvPr id="12" name="Rectangle 11"/>
          <p:cNvSpPr/>
          <p:nvPr/>
        </p:nvSpPr>
        <p:spPr>
          <a:xfrm>
            <a:off x="822960" y="288607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886074"/>
            <a:ext cx="2103120" cy="769239"/>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Rewrites Instagram captions.</a:t>
            </a:r>
          </a:p>
        </p:txBody>
      </p:sp>
      <p:sp>
        <p:nvSpPr>
          <p:cNvPr id="14" name="TextBox 13"/>
          <p:cNvSpPr txBox="1"/>
          <p:nvPr/>
        </p:nvSpPr>
        <p:spPr>
          <a:xfrm>
            <a:off x="3154680" y="2886074"/>
            <a:ext cx="1687483" cy="769239"/>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Too narrow</a:t>
            </a:r>
          </a:p>
        </p:txBody>
      </p:sp>
      <p:sp>
        <p:nvSpPr>
          <p:cNvPr id="15" name="TextBox 14"/>
          <p:cNvSpPr txBox="1"/>
          <p:nvPr/>
        </p:nvSpPr>
        <p:spPr>
          <a:xfrm>
            <a:off x="5070763" y="2886074"/>
            <a:ext cx="6267796" cy="769239"/>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Will not load for an email, a video script or an ad.</a:t>
            </a:r>
          </a:p>
        </p:txBody>
      </p:sp>
      <p:sp>
        <p:nvSpPr>
          <p:cNvPr id="16" name="Rectangle 15"/>
          <p:cNvSpPr/>
          <p:nvPr/>
        </p:nvSpPr>
        <p:spPr>
          <a:xfrm>
            <a:off x="822960" y="365531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55313"/>
            <a:ext cx="2103120" cy="554355"/>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Use for all writing.</a:t>
            </a:r>
          </a:p>
        </p:txBody>
      </p:sp>
      <p:sp>
        <p:nvSpPr>
          <p:cNvPr id="18" name="TextBox 17"/>
          <p:cNvSpPr txBox="1"/>
          <p:nvPr/>
        </p:nvSpPr>
        <p:spPr>
          <a:xfrm>
            <a:off x="3154680" y="3655313"/>
            <a:ext cx="1687483" cy="554355"/>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Too broad</a:t>
            </a:r>
          </a:p>
        </p:txBody>
      </p:sp>
      <p:sp>
        <p:nvSpPr>
          <p:cNvPr id="19" name="TextBox 18"/>
          <p:cNvSpPr txBox="1"/>
          <p:nvPr/>
        </p:nvSpPr>
        <p:spPr>
          <a:xfrm>
            <a:off x="5070763" y="3655313"/>
            <a:ext cx="6267796" cy="554355"/>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Loads for internal notes and meeting minutes too.</a:t>
            </a:r>
          </a:p>
        </p:txBody>
      </p:sp>
      <p:sp>
        <p:nvSpPr>
          <p:cNvPr id="20" name="Rectangle 19"/>
          <p:cNvSpPr/>
          <p:nvPr/>
        </p:nvSpPr>
        <p:spPr>
          <a:xfrm>
            <a:off x="822960" y="420966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09668"/>
            <a:ext cx="2103120" cy="14138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Use when writing or reviewing any customer-facing Lumo Kopi content - social posts, captions, emails, video scripts or ads.</a:t>
            </a:r>
          </a:p>
        </p:txBody>
      </p:sp>
      <p:sp>
        <p:nvSpPr>
          <p:cNvPr id="22" name="TextBox 21"/>
          <p:cNvSpPr txBox="1"/>
          <p:nvPr/>
        </p:nvSpPr>
        <p:spPr>
          <a:xfrm>
            <a:off x="3154680" y="4209668"/>
            <a:ext cx="1687483" cy="14138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Good</a:t>
            </a:r>
          </a:p>
        </p:txBody>
      </p:sp>
      <p:sp>
        <p:nvSpPr>
          <p:cNvPr id="23" name="TextBox 22"/>
          <p:cNvSpPr txBox="1"/>
          <p:nvPr/>
        </p:nvSpPr>
        <p:spPr>
          <a:xfrm>
            <a:off x="5070763" y="4209668"/>
            <a:ext cx="6267796" cy="14138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Names the job, the brand and every format it covers.</a:t>
            </a:r>
          </a:p>
        </p:txBody>
      </p:sp>
      <p:sp>
        <p:nvSpPr>
          <p:cNvPr id="24" name="Rectangle 23"/>
          <p:cNvSpPr/>
          <p:nvPr/>
        </p:nvSpPr>
        <p:spPr>
          <a:xfrm>
            <a:off x="822960" y="562355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Lab 6 tests this: Block 3 never names the skill, so only the description can load it.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Use and 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Use it on new work, find the gap, and save the fix over it — Claude confirms first.</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Pasting the brand guide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voice again in every chat.</a:t>
            </a:r>
          </a:p>
          <a:p>
            <a:pPr algn="l">
              <a:spcAft>
                <a:spcPts val="900"/>
              </a:spcAft>
            </a:pPr>
            <a:r>
              <a:rPr sz="1250" b="0">
                <a:solidFill>
                  <a:srgbClr val="21201C"/>
                </a:solidFill>
                <a:latin typeface="Calibri"/>
              </a:rPr>
              <a:t>•  Easy to forget a rule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Four channels drift into four voices.</a:t>
            </a:r>
          </a:p>
          <a:p>
            <a:pPr algn="l">
              <a:spcAft>
                <a:spcPts val="900"/>
              </a:spcAft>
            </a:pPr>
            <a:r>
              <a:rPr sz="1250" b="0">
                <a:solidFill>
                  <a:srgbClr val="21201C"/>
                </a:solidFill>
                <a:latin typeface="Calibri"/>
              </a:rPr>
              <a:t>•  Nothing to hand to a new joiner or agency.</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brand-voice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loaded by name.</a:t>
            </a:r>
          </a:p>
          <a:p>
            <a:pPr algn="l">
              <a:spcAft>
                <a:spcPts val="900"/>
              </a:spcAft>
            </a:pPr>
            <a:r>
              <a:rPr sz="1250" b="0">
                <a:solidFill>
                  <a:srgbClr val="21201C"/>
                </a:solidFill>
                <a:latin typeface="Calibri"/>
              </a:rPr>
              <a:t>•  Claude applies every rule, every time.</a:t>
            </a:r>
          </a:p>
          <a:p>
            <a:pPr algn="l">
              <a:spcAft>
                <a:spcPts val="900"/>
              </a:spcAft>
            </a:pPr>
            <a:r>
              <a:rPr sz="1250" b="0">
                <a:solidFill>
                  <a:srgbClr val="21201C"/>
                </a:solidFill>
                <a:latin typeface="Calibri"/>
              </a:rPr>
              <a:t>•  Every thread in the project shares it.</a:t>
            </a:r>
          </a:p>
          <a:p>
            <a:pPr algn="l">
              <a:spcAft>
                <a:spcPts val="900"/>
              </a:spcAft>
            </a:pPr>
            <a:r>
              <a:rPr sz="1250" b="0">
                <a:solidFill>
                  <a:srgbClr val="21201C"/>
                </a:solidFill>
                <a:latin typeface="Calibri"/>
              </a:rPr>
              <a:t>•  Instagram and LinkedIn still sound like one brand.</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use — Drive, Gmail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returns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checks built in</a:t>
            </a:r>
          </a:p>
          <a:p>
            <a:pPr algn="l">
              <a:spcAft>
                <a:spcPts val="300"/>
              </a:spcAft>
            </a:pPr>
            <a:r>
              <a:rPr sz="1150" b="0">
                <a:solidFill>
                  <a:srgbClr val="6B6862"/>
                </a:solidFill>
                <a:latin typeface="Calibri"/>
              </a:rPr>
              <a:t>It checks claims, prices and hashtags before it hands the post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publishing anything still needs you.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USE CASES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Worth Writing at 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Any routine you repeat, with rules someone could forget, is a skill waiting to be written.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weekly-status-report</a:t>
            </a:r>
          </a:p>
          <a:p>
            <a:pPr algn="l">
              <a:spcAft>
                <a:spcPts val="300"/>
              </a:spcAft>
            </a:pPr>
            <a:r>
              <a:rPr sz="1150" b="0">
                <a:solidFill>
                  <a:srgbClr val="6B6862"/>
                </a:solidFill>
                <a:latin typeface="Calibri"/>
              </a:rPr>
              <a:t>Every Monday: reads the project folder and inbox, writes five bullets in a fixed format. Uses Drive and Gmail.</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meeting-minutes</a:t>
            </a:r>
          </a:p>
          <a:p>
            <a:pPr algn="l">
              <a:spcAft>
                <a:spcPts val="300"/>
              </a:spcAft>
            </a:pPr>
            <a:r>
              <a:rPr sz="1150" b="0">
                <a:solidFill>
                  <a:srgbClr val="6B6862"/>
                </a:solidFill>
                <a:latin typeface="Calibri"/>
              </a:rPr>
              <a:t>Turns a transcript into decisions, actions, owners and due dates — the same table every time.</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customer-reply</a:t>
            </a:r>
          </a:p>
          <a:p>
            <a:pPr algn="l">
              <a:spcAft>
                <a:spcPts val="300"/>
              </a:spcAft>
            </a:pPr>
            <a:r>
              <a:rPr sz="1150" b="0">
                <a:solidFill>
                  <a:srgbClr val="6B6862"/>
                </a:solidFill>
                <a:latin typeface="Calibri"/>
              </a:rPr>
              <a:t>Drafts replies in the house tone; never promises a refund or a price the policy does not allow.</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proposal-deck</a:t>
            </a:r>
          </a:p>
          <a:p>
            <a:pPr algn="l">
              <a:spcAft>
                <a:spcPts val="300"/>
              </a:spcAft>
            </a:pPr>
            <a:r>
              <a:rPr sz="1150" b="0">
                <a:solidFill>
                  <a:srgbClr val="6B6862"/>
                </a:solidFill>
                <a:latin typeface="Calibri"/>
              </a:rPr>
              <a:t>Builds a client proposal in the company template, using the built-in pptx skill.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expense-check</a:t>
            </a:r>
          </a:p>
          <a:p>
            <a:pPr algn="l">
              <a:spcAft>
                <a:spcPts val="300"/>
              </a:spcAft>
            </a:pPr>
            <a:r>
              <a:rPr sz="1150" b="0">
                <a:solidFill>
                  <a:srgbClr val="6B6862"/>
                </a:solidFill>
                <a:latin typeface="Calibri"/>
              </a:rPr>
              <a:t>Checks a claims spreadsheet against the policy limits and flags each breach with its rule.</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job-ad-writer</a:t>
            </a:r>
          </a:p>
          <a:p>
            <a:pPr algn="l">
              <a:spcAft>
                <a:spcPts val="300"/>
              </a:spcAft>
            </a:pPr>
            <a:r>
              <a:rPr sz="1150" b="0">
                <a:solidFill>
                  <a:srgbClr val="6B6862"/>
                </a:solidFill>
                <a:latin typeface="Calibri"/>
              </a:rPr>
              <a:t>Writes a job ad in the house format, then checks it for biased or exclusionary wording.</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TROUBLESHOOTING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a Skill Goes Wrong</a:t>
            </a:r>
          </a:p>
        </p:txBody>
      </p:sp>
      <p:sp>
        <p:nvSpPr>
          <p:cNvPr id="5" name="TextBox 4"/>
          <p:cNvSpPr txBox="1"/>
          <p:nvPr/>
        </p:nvSpPr>
        <p:spPr>
          <a:xfrm>
            <a:off x="822960" y="1874519"/>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What you see</a:t>
            </a:r>
          </a:p>
        </p:txBody>
      </p:sp>
      <p:sp>
        <p:nvSpPr>
          <p:cNvPr id="6" name="TextBox 5"/>
          <p:cNvSpPr txBox="1"/>
          <p:nvPr/>
        </p:nvSpPr>
        <p:spPr>
          <a:xfrm>
            <a:off x="3154680" y="1874519"/>
            <a:ext cx="3469856"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Likely cause</a:t>
            </a:r>
          </a:p>
        </p:txBody>
      </p:sp>
      <p:sp>
        <p:nvSpPr>
          <p:cNvPr id="7" name="TextBox 6"/>
          <p:cNvSpPr txBox="1"/>
          <p:nvPr/>
        </p:nvSpPr>
        <p:spPr>
          <a:xfrm>
            <a:off x="6853136" y="1874519"/>
            <a:ext cx="4485423"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to do</a:t>
            </a:r>
          </a:p>
        </p:txBody>
      </p:sp>
      <p:sp>
        <p:nvSpPr>
          <p:cNvPr id="8" name="Rectangle 7"/>
          <p:cNvSpPr/>
          <p:nvPr/>
        </p:nvSpPr>
        <p:spPr>
          <a:xfrm>
            <a:off x="822960" y="2240279"/>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31719"/>
            <a:ext cx="2103120" cy="645566"/>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The skill does not load</a:t>
            </a:r>
          </a:p>
        </p:txBody>
      </p:sp>
      <p:sp>
        <p:nvSpPr>
          <p:cNvPr id="10" name="TextBox 9"/>
          <p:cNvSpPr txBox="1"/>
          <p:nvPr/>
        </p:nvSpPr>
        <p:spPr>
          <a:xfrm>
            <a:off x="3154680" y="2331719"/>
            <a:ext cx="3469856"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description does not mention this job</a:t>
            </a:r>
          </a:p>
        </p:txBody>
      </p:sp>
      <p:sp>
        <p:nvSpPr>
          <p:cNvPr id="11" name="TextBox 10"/>
          <p:cNvSpPr txBox="1"/>
          <p:nvPr/>
        </p:nvSpPr>
        <p:spPr>
          <a:xfrm>
            <a:off x="6853136" y="2331719"/>
            <a:ext cx="4485423"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job and its words to the description.</a:t>
            </a:r>
          </a:p>
        </p:txBody>
      </p:sp>
      <p:sp>
        <p:nvSpPr>
          <p:cNvPr id="12" name="Rectangle 11"/>
          <p:cNvSpPr/>
          <p:nvPr/>
        </p:nvSpPr>
        <p:spPr>
          <a:xfrm>
            <a:off x="822960" y="297728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77285"/>
            <a:ext cx="2103120" cy="645566"/>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It loads when it should not</a:t>
            </a:r>
          </a:p>
        </p:txBody>
      </p:sp>
      <p:sp>
        <p:nvSpPr>
          <p:cNvPr id="14" name="TextBox 13"/>
          <p:cNvSpPr txBox="1"/>
          <p:nvPr/>
        </p:nvSpPr>
        <p:spPr>
          <a:xfrm>
            <a:off x="3154680" y="2977285"/>
            <a:ext cx="3469856"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description is too broad</a:t>
            </a:r>
          </a:p>
        </p:txBody>
      </p:sp>
      <p:sp>
        <p:nvSpPr>
          <p:cNvPr id="15" name="TextBox 14"/>
          <p:cNvSpPr txBox="1"/>
          <p:nvPr/>
        </p:nvSpPr>
        <p:spPr>
          <a:xfrm>
            <a:off x="6853136" y="2977285"/>
            <a:ext cx="4485423"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Narrow it: name the brand, the formats, the audience.</a:t>
            </a:r>
          </a:p>
        </p:txBody>
      </p:sp>
      <p:sp>
        <p:nvSpPr>
          <p:cNvPr id="16" name="Rectangle 15"/>
          <p:cNvSpPr/>
          <p:nvPr/>
        </p:nvSpPr>
        <p:spPr>
          <a:xfrm>
            <a:off x="822960" y="3622851"/>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22851"/>
            <a:ext cx="2103120" cy="645566"/>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It skips a rule</a:t>
            </a:r>
          </a:p>
        </p:txBody>
      </p:sp>
      <p:sp>
        <p:nvSpPr>
          <p:cNvPr id="18" name="TextBox 17"/>
          <p:cNvSpPr txBox="1"/>
          <p:nvPr/>
        </p:nvSpPr>
        <p:spPr>
          <a:xfrm>
            <a:off x="3154680" y="3622851"/>
            <a:ext cx="3469856"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rule is vague</a:t>
            </a:r>
          </a:p>
        </p:txBody>
      </p:sp>
      <p:sp>
        <p:nvSpPr>
          <p:cNvPr id="19" name="TextBox 18"/>
          <p:cNvSpPr txBox="1"/>
          <p:nvPr/>
        </p:nvSpPr>
        <p:spPr>
          <a:xfrm>
            <a:off x="6853136" y="3622851"/>
            <a:ext cx="4485423" cy="645566"/>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Rewrite it as a check: “price written as S$3.90”.</a:t>
            </a:r>
          </a:p>
        </p:txBody>
      </p:sp>
      <p:sp>
        <p:nvSpPr>
          <p:cNvPr id="20" name="Rectangle 19"/>
          <p:cNvSpPr/>
          <p:nvPr/>
        </p:nvSpPr>
        <p:spPr>
          <a:xfrm>
            <a:off x="822960" y="426841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68417"/>
            <a:ext cx="2103120" cy="8604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A new kind of job goes wrong</a:t>
            </a:r>
          </a:p>
        </p:txBody>
      </p:sp>
      <p:sp>
        <p:nvSpPr>
          <p:cNvPr id="22" name="TextBox 21"/>
          <p:cNvSpPr txBox="1"/>
          <p:nvPr/>
        </p:nvSpPr>
        <p:spPr>
          <a:xfrm>
            <a:off x="3154680" y="4268417"/>
            <a:ext cx="3469856"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skill has no rule for it</a:t>
            </a:r>
          </a:p>
        </p:txBody>
      </p:sp>
      <p:sp>
        <p:nvSpPr>
          <p:cNvPr id="23" name="TextBox 22"/>
          <p:cNvSpPr txBox="1"/>
          <p:nvPr/>
        </p:nvSpPr>
        <p:spPr>
          <a:xfrm>
            <a:off x="6853136" y="4268417"/>
            <a:ext cx="4485423"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Update it with /skill-creator — Lab 6, Block 4.</a:t>
            </a:r>
          </a:p>
        </p:txBody>
      </p:sp>
      <p:sp>
        <p:nvSpPr>
          <p:cNvPr id="24" name="Rectangle 23"/>
          <p:cNvSpPr/>
          <p:nvPr/>
        </p:nvSpPr>
        <p:spPr>
          <a:xfrm>
            <a:off x="822960" y="512886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128867"/>
            <a:ext cx="2103120" cy="8604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Colleagues get different results</a:t>
            </a:r>
          </a:p>
        </p:txBody>
      </p:sp>
      <p:sp>
        <p:nvSpPr>
          <p:cNvPr id="26" name="TextBox 25"/>
          <p:cNvSpPr txBox="1"/>
          <p:nvPr/>
        </p:nvSpPr>
        <p:spPr>
          <a:xfrm>
            <a:off x="3154680" y="5128867"/>
            <a:ext cx="3469856"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Each keeps a different copy</a:t>
            </a:r>
          </a:p>
        </p:txBody>
      </p:sp>
      <p:sp>
        <p:nvSpPr>
          <p:cNvPr id="27" name="TextBox 26"/>
          <p:cNvSpPr txBox="1"/>
          <p:nvPr/>
        </p:nvSpPr>
        <p:spPr>
          <a:xfrm>
            <a:off x="6853136" y="5128867"/>
            <a:ext cx="4485423" cy="8604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Share one skill, or package it in a plugin.</a:t>
            </a:r>
          </a:p>
        </p:txBody>
      </p:sp>
      <p:sp>
        <p:nvSpPr>
          <p:cNvPr id="28" name="Rectangle 27"/>
          <p:cNvSpPr/>
          <p:nvPr/>
        </p:nvSpPr>
        <p:spPr>
          <a:xfrm>
            <a:off x="822960" y="598931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Install a Published Skill</a:t>
            </a:r>
          </a:p>
        </p:txBody>
      </p:sp>
      <p:sp>
        <p:nvSpPr>
          <p:cNvPr id="5" name="Rectangle 4"/>
          <p:cNvSpPr/>
          <p:nvPr/>
        </p:nvSpPr>
        <p:spPr>
          <a:xfrm>
            <a:off x="2581969" y="1600200"/>
            <a:ext cx="6997582"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81969" y="1600200"/>
            <a:ext cx="6997582"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install-skill.png"/>
          <p:cNvPicPr>
            <a:picLocks noChangeAspect="1"/>
          </p:cNvPicPr>
          <p:nvPr/>
        </p:nvPicPr>
        <p:blipFill>
          <a:blip r:embed="rId2"/>
          <a:stretch>
            <a:fillRect/>
          </a:stretch>
        </p:blipFill>
        <p:spPr>
          <a:xfrm>
            <a:off x="2691697" y="1709928"/>
            <a:ext cx="6778126"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request</a:t>
            </a:r>
          </a:p>
          <a:p>
            <a:pPr algn="l">
              <a:spcAft>
                <a:spcPts val="300"/>
              </a:spcAft>
            </a:pPr>
            <a:r>
              <a:rPr sz="1250" b="0">
                <a:solidFill>
                  <a:srgbClr val="6B6862"/>
                </a:solidFill>
                <a:latin typeface="Calibri"/>
              </a:rPr>
              <a:t>'Install this skill in the project level', then the npx skills add command.</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Project level</a:t>
            </a:r>
          </a:p>
          <a:p>
            <a:pPr algn="l">
              <a:spcAft>
                <a:spcPts val="300"/>
              </a:spcAft>
            </a:pPr>
            <a:r>
              <a:rPr sz="1250" b="0">
                <a:solidFill>
                  <a:srgbClr val="6B6862"/>
                </a:solidFill>
                <a:latin typeface="Calibri"/>
              </a:rPr>
              <a:t>The skill is available in this project, beside the brand-voice skill you write in Lab 6.</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Check the source</a:t>
            </a:r>
          </a:p>
          <a:p>
            <a:pPr algn="l">
              <a:spcAft>
                <a:spcPts val="300"/>
              </a:spcAft>
            </a:pPr>
            <a:r>
              <a:rPr sz="1250" b="0">
                <a:solidFill>
                  <a:srgbClr val="6B6862"/>
                </a:solidFill>
                <a:latin typeface="Calibri"/>
              </a:rPr>
              <a:t>Read a third-party skill's SKILL.md first — it runs with your access.</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Ask Claude to install a skill from GitHub into the project.</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Capture the brand voice as an Agent Skill with /skill-creator, read its SKILL.md, use it on workplace messages and update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Every post and customer email has to sound like Lumo. You rewrite five off-brand captions until they are right, save the routine as a lumo-brand-voice skill with /skill-creator and read its SKILL.md. Then you use it on three waiting messages, spot the gap it leaves, and update the skill so every future reply closes 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lumo-brand-voice Agent Skill, read in its SKILL.md, used on three workplace messages, then updated with a customer-reply section and retested.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Agent Skills, /skill-creator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06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the never-say-healthy rule becomes a check inside the skill.</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guidelines the skill is written from, and the product sheet its replies may quote.</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attach the captions, then the customer messages; the skill saves to Customize → Skills.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Rewrite the five captions in the attached file in the Lumo</a:t>
            </a:r>
          </a:p>
          <a:p>
            <a:pPr algn="l">
              <a:spcAft>
                <a:spcPts val="200"/>
              </a:spcAft>
            </a:pPr>
            <a:r>
              <a:rPr sz="1400" b="0">
                <a:solidFill>
                  <a:srgbClr val="21201C"/>
                </a:solidFill>
                <a:latin typeface="Calibri"/>
              </a:rPr>
              <a:t>brand voice, following lumo-brand-guidelines.md.</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For each caption, show:</a:t>
            </a:r>
          </a:p>
          <a:p>
            <a:pPr algn="l">
              <a:spcAft>
                <a:spcPts val="200"/>
              </a:spcAft>
            </a:pPr>
            <a:r>
              <a:rPr sz="1400" b="0">
                <a:solidFill>
                  <a:srgbClr val="21201C"/>
                </a:solidFill>
                <a:latin typeface="Calibri"/>
              </a:rPr>
              <a:t>- the original</a:t>
            </a:r>
          </a:p>
          <a:p>
            <a:pPr algn="l">
              <a:spcAft>
                <a:spcPts val="200"/>
              </a:spcAft>
            </a:pPr>
            <a:r>
              <a:rPr sz="1400" b="0">
                <a:solidFill>
                  <a:srgbClr val="21201C"/>
                </a:solidFill>
                <a:latin typeface="Calibri"/>
              </a:rPr>
              <a:t>- your rewrite</a:t>
            </a:r>
          </a:p>
          <a:p>
            <a:pPr algn="l">
              <a:spcAft>
                <a:spcPts val="200"/>
              </a:spcAft>
            </a:pPr>
            <a:r>
              <a:rPr sz="1400" b="0">
                <a:solidFill>
                  <a:srgbClr val="21201C"/>
                </a:solidFill>
                <a:latin typeface="Calibri"/>
              </a:rPr>
              <a:t>- every rule you applied, by name</a:t>
            </a:r>
          </a:p>
          <a:p>
            <a:pPr algn="l">
              <a:spcAft>
                <a:spcPts val="200"/>
              </a:spcAft>
            </a:pPr>
            <a:r>
              <a:rPr sz="1400" b="0">
                <a:solidFill>
                  <a:srgbClr val="21201C"/>
                </a:solidFill>
                <a:latin typeface="Calibri"/>
              </a:rPr>
              <a:t>- any claim you removed, and why</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Then run these checks on each rewrite and show the result:</a:t>
            </a:r>
          </a:p>
          <a:p>
            <a:pPr algn="l">
              <a:spcAft>
                <a:spcPts val="200"/>
              </a:spcAft>
            </a:pPr>
            <a:r>
              <a:rPr sz="1400" b="0">
                <a:solidFill>
                  <a:srgbClr val="21201C"/>
                </a:solidFill>
                <a:latin typeface="Calibri"/>
              </a:rPr>
              <a:t>price written as S$3.90; no "healthy" or medical claims; at</a:t>
            </a:r>
          </a:p>
          <a:p>
            <a:pPr algn="l">
              <a:spcAft>
                <a:spcPts val="200"/>
              </a:spcAft>
            </a:pPr>
            <a:r>
              <a:rPr sz="1400" b="0">
                <a:solidFill>
                  <a:srgbClr val="21201C"/>
                </a:solidFill>
                <a:latin typeface="Calibri"/>
              </a:rPr>
              <a:t>most one Singlish word; #LumoKopi present; no more than five</a:t>
            </a:r>
          </a:p>
          <a:p>
            <a:pPr algn="l">
              <a:spcAft>
                <a:spcPts val="200"/>
              </a:spcAft>
            </a:pPr>
            <a:r>
              <a:rPr sz="1400" b="0">
                <a:solidFill>
                  <a:srgbClr val="21201C"/>
                </a:solidFill>
                <a:latin typeface="Calibri"/>
              </a:rPr>
              <a:t>hashtags; ends with one clear call to action.</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Refine the rewrites until they are right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Create a skill called lumo-brand-voice from what we just did.</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Description: Use when writing or reviewing any customer-facing</a:t>
            </a:r>
          </a:p>
          <a:p>
            <a:pPr algn="l">
              <a:spcAft>
                <a:spcPts val="200"/>
              </a:spcAft>
            </a:pPr>
            <a:r>
              <a:rPr sz="1500" b="0">
                <a:solidFill>
                  <a:srgbClr val="21201C"/>
                </a:solidFill>
                <a:latin typeface="Calibri"/>
              </a:rPr>
              <a:t>Lumo Kopi content - social posts, captions, emails, video</a:t>
            </a:r>
          </a:p>
          <a:p>
            <a:pPr algn="l">
              <a:spcAft>
                <a:spcPts val="200"/>
              </a:spcAft>
            </a:pPr>
            <a:r>
              <a:rPr sz="1500" b="0">
                <a:solidFill>
                  <a:srgbClr val="21201C"/>
                </a:solidFill>
                <a:latin typeface="Calibri"/>
              </a:rPr>
              <a:t>scripts or ads.</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It should rewrite or draft content in the Lumo voice, apply the</a:t>
            </a:r>
          </a:p>
          <a:p>
            <a:pPr algn="l">
              <a:spcAft>
                <a:spcPts val="200"/>
              </a:spcAft>
            </a:pPr>
            <a:r>
              <a:rPr sz="1500" b="0">
                <a:solidFill>
                  <a:srgbClr val="21201C"/>
                </a:solidFill>
                <a:latin typeface="Calibri"/>
              </a:rPr>
              <a:t>brand rules, remove claims we cannot prove, and finish with the</a:t>
            </a:r>
          </a:p>
          <a:p>
            <a:pPr algn="l">
              <a:spcAft>
                <a:spcPts val="200"/>
              </a:spcAft>
            </a:pPr>
            <a:r>
              <a:rPr sz="1500" b="0">
                <a:solidFill>
                  <a:srgbClr val="21201C"/>
                </a:solidFill>
                <a:latin typeface="Calibri"/>
              </a:rPr>
              <a:t>same checklist of checks we used. Include two of today's</a:t>
            </a:r>
          </a:p>
          <a:p>
            <a:pPr algn="l">
              <a:spcAft>
                <a:spcPts val="200"/>
              </a:spcAft>
            </a:pPr>
            <a:r>
              <a:rPr sz="1500" b="0">
                <a:solidFill>
                  <a:srgbClr val="21201C"/>
                </a:solidFill>
                <a:latin typeface="Calibri"/>
              </a:rPr>
              <a:t>before-and-after examples as a resource.</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Type /skill-creator first, then paste the block.</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USE</a:t>
            </a:r>
          </a:p>
        </p:txBody>
      </p:sp>
      <p:sp>
        <p:nvSpPr>
          <p:cNvPr id="5" name="Rectangle 4"/>
          <p:cNvSpPr/>
          <p:nvPr/>
        </p:nvSpPr>
        <p:spPr>
          <a:xfrm>
            <a:off x="548640" y="1828800"/>
            <a:ext cx="11064240" cy="137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37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69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Draft replies to messages 1 and 2 in the attached file, and</a:t>
            </a:r>
          </a:p>
          <a:p>
            <a:pPr algn="l">
              <a:spcAft>
                <a:spcPts val="200"/>
              </a:spcAft>
            </a:pPr>
            <a:r>
              <a:rPr sz="1500" b="0">
                <a:solidFill>
                  <a:srgbClr val="21201C"/>
                </a:solidFill>
                <a:latin typeface="Calibri"/>
              </a:rPr>
              <a:t>rewrite the flyer line in message 3 so it is ready to print.</a:t>
            </a:r>
          </a:p>
        </p:txBody>
      </p:sp>
      <p:sp>
        <p:nvSpPr>
          <p:cNvPr id="9" name="TextBox 8"/>
          <p:cNvSpPr txBox="1"/>
          <p:nvPr/>
        </p:nvSpPr>
        <p:spPr>
          <a:xfrm>
            <a:off x="548640" y="347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No skill named: its description alone must make it load.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4 — UPDATE</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Update the lumo-brand-voice skill. Add a section for replies to</a:t>
            </a:r>
          </a:p>
          <a:p>
            <a:pPr algn="l">
              <a:spcAft>
                <a:spcPts val="200"/>
              </a:spcAft>
            </a:pPr>
            <a:r>
              <a:rPr sz="1500" b="0">
                <a:solidFill>
                  <a:srgbClr val="21201C"/>
                </a:solidFill>
                <a:latin typeface="Calibri"/>
              </a:rPr>
              <a:t>customers and stockists:</a:t>
            </a:r>
          </a:p>
          <a:p>
            <a:pPr algn="l">
              <a:spcAft>
                <a:spcPts val="200"/>
              </a:spcAft>
            </a:pPr>
            <a:r>
              <a:rPr sz="1500" b="0">
                <a:solidFill>
                  <a:srgbClr val="21201C"/>
                </a:solidFill>
                <a:latin typeface="Calibri"/>
              </a:rPr>
              <a:t>- thank them, and apologise once if something went wrong;</a:t>
            </a:r>
          </a:p>
          <a:p>
            <a:pPr algn="l">
              <a:spcAft>
                <a:spcPts val="200"/>
              </a:spcAft>
            </a:pPr>
            <a:r>
              <a:rPr sz="1500" b="0">
                <a:solidFill>
                  <a:srgbClr val="21201C"/>
                </a:solidFill>
                <a:latin typeface="Calibri"/>
              </a:rPr>
              <a:t>- never promise a refund, replacement, discount or any price</a:t>
            </a:r>
          </a:p>
          <a:p>
            <a:pPr algn="l">
              <a:spcAft>
                <a:spcPts val="200"/>
              </a:spcAft>
            </a:pPr>
            <a:r>
              <a:rPr sz="1500" b="0">
                <a:solidFill>
                  <a:srgbClr val="21201C"/>
                </a:solidFill>
                <a:latin typeface="Calibri"/>
              </a:rPr>
              <a:t>  that is not in lumo-product-sheet.md;</a:t>
            </a:r>
          </a:p>
          <a:p>
            <a:pPr algn="l">
              <a:spcAft>
                <a:spcPts val="200"/>
              </a:spcAft>
            </a:pPr>
            <a:r>
              <a:rPr sz="1500" b="0">
                <a:solidFill>
                  <a:srgbClr val="21201C"/>
                </a:solidFill>
                <a:latin typeface="Calibri"/>
              </a:rPr>
              <a:t>- say the team will reply within two working days;</a:t>
            </a:r>
          </a:p>
          <a:p>
            <a:pPr algn="l">
              <a:spcAft>
                <a:spcPts val="200"/>
              </a:spcAft>
            </a:pPr>
            <a:r>
              <a:rPr sz="1500" b="0">
                <a:solidFill>
                  <a:srgbClr val="21201C"/>
                </a:solidFill>
                <a:latin typeface="Calibri"/>
              </a:rPr>
              <a:t>- sign off "- The Lumo Kopi team".</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Show me the change before you save over the skill.</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Do · Verify · Save · Update — this is the Update.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11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5 — RETEST</a:t>
            </a:r>
          </a:p>
        </p:txBody>
      </p:sp>
      <p:sp>
        <p:nvSpPr>
          <p:cNvPr id="5" name="Rectangle 4"/>
          <p:cNvSpPr/>
          <p:nvPr/>
        </p:nvSpPr>
        <p:spPr>
          <a:xfrm>
            <a:off x="548640" y="1828800"/>
            <a:ext cx="11064240" cy="1122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122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436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Reply to message 1 in the attached file.</a:t>
            </a:r>
          </a:p>
        </p:txBody>
      </p:sp>
      <p:sp>
        <p:nvSpPr>
          <p:cNvPr id="9" name="TextBox 8"/>
          <p:cNvSpPr txBox="1"/>
          <p:nvPr/>
        </p:nvSpPr>
        <p:spPr>
          <a:xfrm>
            <a:off x="548640" y="3225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 fresh thread proves the skill changed, not the conversation.</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lumo-sample-captions.txt and read the five captions.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file and send Block 1.</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each rewrite against the brand guidelines and refine until all five are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2 and send.</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 Claude proposes, especially its description, and approve it.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Skills, open lumo-brand-voice and read its SKILL.md.</a:t>
            </a:r>
          </a:p>
        </p:txBody>
      </p:sp>
      <p:sp>
        <p:nvSpPr>
          <p:cNvPr id="24" name="Oval 23"/>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thread, attach lumo-customer-messages.txt and send Block 3.</a:t>
            </a:r>
          </a:p>
        </p:txBody>
      </p:sp>
      <p:sp>
        <p:nvSpPr>
          <p:cNvPr id="27" name="Oval 26"/>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that lumo-brand-voice loaded, then read the flyer line and the café reply.</a:t>
            </a:r>
          </a:p>
        </p:txBody>
      </p:sp>
      <p:sp>
        <p:nvSpPr>
          <p:cNvPr id="30" name="Oval 29"/>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reply to message 1 closely.</a:t>
            </a:r>
          </a:p>
        </p:txBody>
      </p:sp>
      <p:sp>
        <p:nvSpPr>
          <p:cNvPr id="33" name="Oval 32"/>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4 and approve the change.</a:t>
            </a:r>
          </a:p>
        </p:txBody>
      </p:sp>
      <p:sp>
        <p:nvSpPr>
          <p:cNvPr id="36" name="Oval 35"/>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thread, attach the file again and send Block 5.</a:t>
            </a:r>
          </a:p>
        </p:txBody>
      </p:sp>
      <p:sp>
        <p:nvSpPr>
          <p:cNvPr id="39" name="Oval 38"/>
          <p:cNvSpPr/>
          <p:nvPr/>
        </p:nvSpPr>
        <p:spPr>
          <a:xfrm>
            <a:off x="624078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4078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12</a:t>
            </a:r>
          </a:p>
        </p:txBody>
      </p:sp>
      <p:sp>
        <p:nvSpPr>
          <p:cNvPr id="41" name="TextBox 40"/>
          <p:cNvSpPr txBox="1"/>
          <p:nvPr/>
        </p:nvSpPr>
        <p:spPr>
          <a:xfrm>
            <a:off x="666140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new reply to message 1.</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lumo-brand-voice appears under Customize → Skills, and its SKILL.md shows a name, a description that says when to use it, the brand rules and the checklist. In a fresh thread, Block 3 loaded the skill without naming it: the flyer line drops "super healthy" and "best kopi in Singapore" and shows S$3.90, and the café reply does not invent a wholesale price. After Block 4 the skill has a customer-reply section, and the Block 5 reply to message 1 promises no refund, says the team will reply within two working days and signs off "- The Lumo Kopi team".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install the Marketing plugin and you get every skill, command and tool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Mods: Changing Claude Itself</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What a mod is</a:t>
            </a:r>
          </a:p>
          <a:p>
            <a:pPr algn="l">
              <a:spcAft>
                <a:spcPts val="300"/>
              </a:spcAft>
            </a:pPr>
            <a:r>
              <a:rPr sz="1150" b="0">
                <a:solidFill>
                  <a:srgbClr val="6B6862"/>
                </a:solidFill>
                <a:latin typeface="Calibri"/>
              </a:rPr>
              <a:t>A change to Claude's own interface or behaviour, rather than to the work it does.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panel or pane</a:t>
            </a:r>
          </a:p>
          <a:p>
            <a:pPr algn="l">
              <a:spcAft>
                <a:spcPts val="300"/>
              </a:spcAft>
            </a:pPr>
            <a:r>
              <a:rPr sz="1150" b="0">
                <a:solidFill>
                  <a:srgbClr val="6B6862"/>
                </a:solidFill>
                <a:latin typeface="Calibri"/>
              </a:rPr>
              <a:t>Something that stays beside the chat and updates — a running checklist, a campaign tracker.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status line or toast</a:t>
            </a:r>
          </a:p>
          <a:p>
            <a:pPr algn="l">
              <a:spcAft>
                <a:spcPts val="300"/>
              </a:spcAft>
            </a:pPr>
            <a:r>
              <a:rPr sz="1150" b="0">
                <a:solidFill>
                  <a:srgbClr val="6B6862"/>
                </a:solidFill>
                <a:latin typeface="Calibri"/>
              </a:rPr>
              <a:t>A small always-visible signal, such as the active project or remaining usage.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slash command</a:t>
            </a:r>
          </a:p>
          <a:p>
            <a:pPr algn="l">
              <a:spcAft>
                <a:spcPts val="300"/>
              </a:spcAft>
            </a:pPr>
            <a:r>
              <a:rPr sz="1150" b="0">
                <a:solidFill>
                  <a:srgbClr val="6B6862"/>
                </a:solidFill>
                <a:latin typeface="Calibri"/>
              </a:rPr>
              <a:t>Your own /command that starts a routine you use often.</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hook</a:t>
            </a:r>
          </a:p>
          <a:p>
            <a:pPr algn="l">
              <a:spcAft>
                <a:spcPts val="300"/>
              </a:spcAft>
            </a:pPr>
            <a:r>
              <a:rPr sz="1150" b="0">
                <a:solidFill>
                  <a:srgbClr val="6B6862"/>
                </a:solidFill>
                <a:latin typeface="Calibri"/>
              </a:rPr>
              <a:t>An action that runs automatically on an event — for example, before Claude sends anything.</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find them</a:t>
            </a:r>
          </a:p>
          <a:p>
            <a:pPr algn="l">
              <a:spcAft>
                <a:spcPts val="300"/>
              </a:spcAft>
            </a:pPr>
            <a:r>
              <a:rPr sz="1150" b="0">
                <a:solidFill>
                  <a:srgbClr val="6B6862"/>
                </a:solidFill>
                <a:latin typeface="Calibri"/>
              </a:rPr>
              <a:t>Under Customize, alongside Skills, Connectors and Plugins. Ask Claude to make one for you.</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 AND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 Plugin or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Three ways to extend Claude — and which one you reach for.</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Skill</a:t>
            </a:r>
          </a:p>
        </p:txBody>
      </p:sp>
      <p:sp>
        <p:nvSpPr>
          <p:cNvPr id="8" name="TextBox 7"/>
          <p:cNvSpPr txBox="1"/>
          <p:nvPr/>
        </p:nvSpPr>
        <p:spPr>
          <a:xfrm>
            <a:off x="5823284" y="2194560"/>
            <a:ext cx="22773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Plugin</a:t>
            </a:r>
          </a:p>
        </p:txBody>
      </p:sp>
      <p:sp>
        <p:nvSpPr>
          <p:cNvPr id="9" name="TextBox 8"/>
          <p:cNvSpPr txBox="1"/>
          <p:nvPr/>
        </p:nvSpPr>
        <p:spPr>
          <a:xfrm>
            <a:off x="8329221" y="2194560"/>
            <a:ext cx="300933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Mod</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Changes</a:t>
            </a:r>
          </a:p>
        </p:txBody>
      </p:sp>
      <p:sp>
        <p:nvSpPr>
          <p:cNvPr id="12" name="TextBox 11"/>
          <p:cNvSpPr txBox="1"/>
          <p:nvPr/>
        </p:nvSpPr>
        <p:spPr>
          <a:xfrm>
            <a:off x="3154680" y="2651760"/>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a task is done</a:t>
            </a:r>
          </a:p>
        </p:txBody>
      </p:sp>
      <p:sp>
        <p:nvSpPr>
          <p:cNvPr id="13" name="TextBox 12"/>
          <p:cNvSpPr txBox="1"/>
          <p:nvPr/>
        </p:nvSpPr>
        <p:spPr>
          <a:xfrm>
            <a:off x="5823284" y="2651760"/>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whole toolkit</a:t>
            </a:r>
          </a:p>
        </p:txBody>
      </p:sp>
      <p:sp>
        <p:nvSpPr>
          <p:cNvPr id="14" name="TextBox 13"/>
          <p:cNvSpPr txBox="1"/>
          <p:nvPr/>
        </p:nvSpPr>
        <p:spPr>
          <a:xfrm>
            <a:off x="8329221" y="2651760"/>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Claude's own interface</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Contains</a:t>
            </a:r>
          </a:p>
        </p:txBody>
      </p:sp>
      <p:sp>
        <p:nvSpPr>
          <p:cNvPr id="17" name="TextBox 16"/>
          <p:cNvSpPr txBox="1"/>
          <p:nvPr/>
        </p:nvSpPr>
        <p:spPr>
          <a:xfrm>
            <a:off x="3154680" y="3387852"/>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SKILL.md + resources</a:t>
            </a:r>
          </a:p>
        </p:txBody>
      </p:sp>
      <p:sp>
        <p:nvSpPr>
          <p:cNvPr id="18" name="TextBox 17"/>
          <p:cNvSpPr txBox="1"/>
          <p:nvPr/>
        </p:nvSpPr>
        <p:spPr>
          <a:xfrm>
            <a:off x="5823284" y="3387852"/>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 tools, agents, hooks</a:t>
            </a:r>
          </a:p>
        </p:txBody>
      </p:sp>
      <p:sp>
        <p:nvSpPr>
          <p:cNvPr id="19" name="TextBox 18"/>
          <p:cNvSpPr txBox="1"/>
          <p:nvPr/>
        </p:nvSpPr>
        <p:spPr>
          <a:xfrm>
            <a:off x="8329221" y="3387852"/>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panel, command, hook or status line</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 get it by</a:t>
            </a:r>
          </a:p>
        </p:txBody>
      </p:sp>
      <p:sp>
        <p:nvSpPr>
          <p:cNvPr id="22" name="TextBox 21"/>
          <p:cNvSpPr txBox="1"/>
          <p:nvPr/>
        </p:nvSpPr>
        <p:spPr>
          <a:xfrm>
            <a:off x="3154680" y="4123944"/>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Writing it with /skill-creator</a:t>
            </a:r>
          </a:p>
        </p:txBody>
      </p:sp>
      <p:sp>
        <p:nvSpPr>
          <p:cNvPr id="23" name="TextBox 22"/>
          <p:cNvSpPr txBox="1"/>
          <p:nvPr/>
        </p:nvSpPr>
        <p:spPr>
          <a:xfrm>
            <a:off x="5823284" y="4123944"/>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Installing from Discover</a:t>
            </a:r>
          </a:p>
        </p:txBody>
      </p:sp>
      <p:sp>
        <p:nvSpPr>
          <p:cNvPr id="24" name="TextBox 23"/>
          <p:cNvSpPr txBox="1"/>
          <p:nvPr/>
        </p:nvSpPr>
        <p:spPr>
          <a:xfrm>
            <a:off x="8329221" y="4123944"/>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Asking Claude to make one</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7" name="TextBox 26"/>
          <p:cNvSpPr txBox="1"/>
          <p:nvPr/>
        </p:nvSpPr>
        <p:spPr>
          <a:xfrm>
            <a:off x="3154680" y="4860036"/>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a:t>
            </a:r>
          </a:p>
        </p:txBody>
      </p:sp>
      <p:sp>
        <p:nvSpPr>
          <p:cNvPr id="28" name="TextBox 27"/>
          <p:cNvSpPr txBox="1"/>
          <p:nvPr/>
        </p:nvSpPr>
        <p:spPr>
          <a:xfrm>
            <a:off x="5823284" y="4860036"/>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 plugin</a:t>
            </a:r>
          </a:p>
        </p:txBody>
      </p:sp>
      <p:sp>
        <p:nvSpPr>
          <p:cNvPr id="29" name="TextBox 28"/>
          <p:cNvSpPr txBox="1"/>
          <p:nvPr/>
        </p:nvSpPr>
        <p:spPr>
          <a:xfrm>
            <a:off x="8329221" y="4860036"/>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Next Lumo post panel</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Install a plugin, use its namespaced commands alongside your own skill, and build a mod that suggests the next social post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wrote one skill yourself; now you install a toolkit somebody else packaged. Anthropic's Marketing plugin bundles several marketing skills behind namespaced commands. You install it, use /marketing:campaign-plan to stress-test the launch plan, and run /marketing:brand-review on the deck copy — then compare a plugin with the skill you wrote. Last, you build a mod of your own: a Next Lumo post panel beside the chat that suggests what to post next.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Marketing plugin installed, a campaign plan review, a brand review of the launch copy, and a Next Lumo post mod.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plugins, mods, Customize</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07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plugin commands follow the same project rules.</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guidelines, for /marketing:brand-review.</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research brief, campaign brief and deck; the Next Lumo post mod reads the project.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the mod suggests a post; nothing runs on a timer.</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PLAN</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/marketing:campaign-plan Review the Lumo Cold Kopi launch using</a:t>
            </a:r>
          </a:p>
          <a:p>
            <a:pPr algn="l">
              <a:spcAft>
                <a:spcPts val="200"/>
              </a:spcAft>
            </a:pPr>
            <a:r>
              <a:rPr sz="1500" b="0">
                <a:solidFill>
                  <a:srgbClr val="21201C"/>
                </a:solidFill>
                <a:latin typeface="Calibri"/>
              </a:rPr>
              <a:t>our campaign brief and research brief. Keep our objective,</a:t>
            </a:r>
          </a:p>
          <a:p>
            <a:pPr algn="l">
              <a:spcAft>
                <a:spcPts val="200"/>
              </a:spcAft>
            </a:pPr>
            <a:r>
              <a:rPr sz="1500" b="0">
                <a:solidFill>
                  <a:srgbClr val="21201C"/>
                </a:solidFill>
                <a:latin typeface="Calibri"/>
              </a:rPr>
              <a:t>audience, budget and dates. Tell me:</a:t>
            </a:r>
          </a:p>
          <a:p>
            <a:pPr algn="l">
              <a:spcAft>
                <a:spcPts val="200"/>
              </a:spcAft>
            </a:pPr>
            <a:r>
              <a:rPr sz="1500" b="0">
                <a:solidFill>
                  <a:srgbClr val="21201C"/>
                </a:solidFill>
                <a:latin typeface="Calibri"/>
              </a:rPr>
              <a:t>- what is missing from the plan,</a:t>
            </a:r>
          </a:p>
          <a:p>
            <a:pPr algn="l">
              <a:spcAft>
                <a:spcPts val="200"/>
              </a:spcAft>
            </a:pPr>
            <a:r>
              <a:rPr sz="1500" b="0">
                <a:solidFill>
                  <a:srgbClr val="21201C"/>
                </a:solidFill>
                <a:latin typeface="Calibri"/>
              </a:rPr>
              <a:t>- the three biggest risks to the 1 December launch,</a:t>
            </a:r>
          </a:p>
          <a:p>
            <a:pPr algn="l">
              <a:spcAft>
                <a:spcPts val="200"/>
              </a:spcAft>
            </a:pPr>
            <a:r>
              <a:rPr sz="1500" b="0">
                <a:solidFill>
                  <a:srgbClr val="21201C"/>
                </a:solidFill>
                <a:latin typeface="Calibri"/>
              </a:rPr>
              <a:t>- the KPIs you would track in the first two weeks, with targets.</a:t>
            </a:r>
          </a:p>
          <a:p>
            <a:pPr algn="l">
              <a:spcAft>
                <a:spcPts val="200"/>
              </a:spcAft>
            </a:pPr>
            <a:r>
              <a:rPr sz="1500" b="0">
                <a:solidFill>
                  <a:srgbClr val="21201C"/>
                </a:solidFill>
                <a:latin typeface="Calibri"/>
              </a:rPr>
              <a:t>Do not change the S$60,000 budget.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Install the plugin first: Customize → Plugins → Browse → Marketing → Install.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REVIEW</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/marketing:brand-review Review the copy on slides 1, 2 and 6 of</a:t>
            </a:r>
          </a:p>
          <a:p>
            <a:pPr algn="l">
              <a:spcAft>
                <a:spcPts val="200"/>
              </a:spcAft>
            </a:pPr>
            <a:r>
              <a:rPr sz="1500" b="0">
                <a:solidFill>
                  <a:srgbClr val="21201C"/>
                </a:solidFill>
                <a:latin typeface="Calibri"/>
              </a:rPr>
              <a:t>our launch deck against lumo-brand-guidelines.md. List each</a:t>
            </a:r>
          </a:p>
          <a:p>
            <a:pPr algn="l">
              <a:spcAft>
                <a:spcPts val="200"/>
              </a:spcAft>
            </a:pPr>
            <a:r>
              <a:rPr sz="1500" b="0">
                <a:solidFill>
                  <a:srgbClr val="21201C"/>
                </a:solidFill>
                <a:latin typeface="Calibri"/>
              </a:rPr>
              <a:t>change you would make and the rule behind it.</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plugin reviews; your own skill holds the house rules.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9</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MOD</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Make me a mod: a panel called "Next Lumo post" that stays</a:t>
            </a:r>
          </a:p>
          <a:p>
            <a:pPr algn="l">
              <a:spcAft>
                <a:spcPts val="200"/>
              </a:spcAft>
            </a:pPr>
            <a:r>
              <a:rPr sz="1400" b="0">
                <a:solidFill>
                  <a:srgbClr val="21201C"/>
                </a:solidFill>
                <a:latin typeface="Calibri"/>
              </a:rPr>
              <a:t>beside the chat in this project.</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 If social-calendar.csv is in the project, show the next post</a:t>
            </a:r>
          </a:p>
          <a:p>
            <a:pPr algn="l">
              <a:spcAft>
                <a:spcPts val="200"/>
              </a:spcAft>
            </a:pPr>
            <a:r>
              <a:rPr sz="1400" b="0">
                <a:solidFill>
                  <a:srgbClr val="21201C"/>
                </a:solidFill>
                <a:latin typeface="Calibri"/>
              </a:rPr>
              <a:t>  due from today: date, platform, format, hook and call to action.</a:t>
            </a:r>
          </a:p>
          <a:p>
            <a:pPr algn="l">
              <a:spcAft>
                <a:spcPts val="200"/>
              </a:spcAft>
            </a:pPr>
            <a:r>
              <a:rPr sz="1400" b="0">
                <a:solidFill>
                  <a:srgbClr val="21201C"/>
                </a:solidFill>
                <a:latin typeface="Calibri"/>
              </a:rPr>
              <a:t>- If there is no calendar yet, suggest one next post instead:</a:t>
            </a:r>
          </a:p>
          <a:p>
            <a:pPr algn="l">
              <a:spcAft>
                <a:spcPts val="200"/>
              </a:spcAft>
            </a:pPr>
            <a:r>
              <a:rPr sz="1400" b="0">
                <a:solidFill>
                  <a:srgbClr val="21201C"/>
                </a:solidFill>
                <a:latin typeface="Calibri"/>
              </a:rPr>
              <a:t>  use the top content theme in lumo-research-brief.docx and the</a:t>
            </a:r>
          </a:p>
          <a:p>
            <a:pPr algn="l">
              <a:spcAft>
                <a:spcPts val="200"/>
              </a:spcAft>
            </a:pPr>
            <a:r>
              <a:rPr sz="1400" b="0">
                <a:solidFill>
                  <a:srgbClr val="21201C"/>
                </a:solidFill>
                <a:latin typeface="Calibri"/>
              </a:rPr>
              <a:t>  lumo-brand-voice skill, and say which platform and day suit it.</a:t>
            </a:r>
          </a:p>
          <a:p>
            <a:pPr algn="l">
              <a:spcAft>
                <a:spcPts val="200"/>
              </a:spcAft>
            </a:pPr>
            <a:r>
              <a:rPr sz="1400" b="0">
                <a:solidFill>
                  <a:srgbClr val="21201C"/>
                </a:solidFill>
                <a:latin typeface="Calibri"/>
              </a:rPr>
              <a:t>- Add a Refresh button and show when it last updated.</a:t>
            </a:r>
          </a:p>
          <a:p>
            <a:pPr algn="l">
              <a:spcAft>
                <a:spcPts val="200"/>
              </a:spcAft>
            </a:pPr>
            <a:r>
              <a:rPr sz="1400" b="0">
                <a:solidFill>
                  <a:srgbClr val="21201C"/>
                </a:solidFill>
                <a:latin typeface="Calibri"/>
              </a:rPr>
              <a:t>- It only suggests: never post, publish or send anything.</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Tell me what the mod will do and where it will appear before</a:t>
            </a:r>
          </a:p>
          <a:p>
            <a:pPr algn="l">
              <a:spcAft>
                <a:spcPts val="200"/>
              </a:spcAft>
            </a:pPr>
            <a:r>
              <a:rPr sz="1400" b="0">
                <a:solidFill>
                  <a:srgbClr val="21201C"/>
                </a:solidFill>
                <a:latin typeface="Calibri"/>
              </a:rPr>
              <a:t>you install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make a mod by asking Claude. It only suggests — nothing is posted.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Plugins and browse the available plugins.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Marketing plugin, read what it contains, and click Install.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composer, type /marketing and look at the commands it offers.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Marketing plugin in Customize → Plugins, list the skills it contains, and open brand-review.</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to stress-test the plan with /marketing:campaign-plan.</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risks and KPIs it proposes, and check the budget is unchanged at S$60,000.</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to review the deck copy with /marketing:brand-review.</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and look at the Mods section.</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and read what the mod will do before you let Claude install it.</a:t>
            </a:r>
          </a:p>
        </p:txBody>
      </p:sp>
      <p:sp>
        <p:nvSpPr>
          <p:cNvPr id="33" name="Oval 32"/>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Next Lumo post panel beside the chat and read its suggestion.</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Marketing plugin is installed and its /marketing: commands appear in the composer. /marketing:campaign-plan returned the gaps, three launch risks and two-week KPIs with targets while keeping the S$60,000 budget and the 1 December date. /marketing:brand-review reviewed the deck copy. You can explain the difference between lumo-brand-voice (a skill you wrote), the Marketing plugin (a packaged bundle) and a mod (a change to Claude's interface). The Next Lumo post panel sits beside the chat and suggests one on-brand post — S$ prices, no health claim — without posting anything.</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Connectors, Skills and Plugins</a:t>
            </a:r>
          </a:p>
        </p:txBody>
      </p:sp>
      <p:sp>
        <p:nvSpPr>
          <p:cNvPr id="5" name="Rectangle 4"/>
          <p:cNvSpPr/>
          <p:nvPr/>
        </p:nvSpPr>
        <p:spPr>
          <a:xfrm>
            <a:off x="548640" y="1783080"/>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connect Google Drive and Gmail and use their tools to reconcile, search, save and draft, sending only what you approve.</a:t>
            </a:r>
          </a:p>
        </p:txBody>
      </p:sp>
      <p:sp>
        <p:nvSpPr>
          <p:cNvPr id="10" name="Rectangle 9"/>
          <p:cNvSpPr/>
          <p:nvPr/>
        </p:nvSpPr>
        <p:spPr>
          <a:xfrm>
            <a:off x="548640" y="2852928"/>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962656"/>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analyse survey data with Claude's code tool and save it to Excel, then produce a launch deck in Slides and a campaign brief in Docs.</a:t>
            </a:r>
          </a:p>
        </p:txBody>
      </p:sp>
      <p:sp>
        <p:nvSpPr>
          <p:cNvPr id="15" name="Rectangle 14"/>
          <p:cNvSpPr/>
          <p:nvPr/>
        </p:nvSpPr>
        <p:spPr>
          <a:xfrm>
            <a:off x="548640" y="3922776"/>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capture the brand voice as an Agent Skill with /skill-creator, read its SKILL.md, use it on workplace messages and update it.</a:t>
            </a:r>
          </a:p>
        </p:txBody>
      </p:sp>
      <p:sp>
        <p:nvSpPr>
          <p:cNvPr id="20" name="Rectangle 19"/>
          <p:cNvSpPr/>
          <p:nvPr/>
        </p:nvSpPr>
        <p:spPr>
          <a:xfrm>
            <a:off x="548640" y="4992624"/>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5102352"/>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install a plugin, use its namespaced commands alongside your own skill, and build a mod that suggests the next social post.</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Content Production and Scheduled Work</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One thread per channel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Social post specs and brand checks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Script, storyboard, render: the video pipeline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Scheduled tasks, memory and usage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CONTENT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Thread per Channel</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Brief the lead</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message: the goal, the dates, the channels and the skill to use.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Split by channel</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starts one thread per platform with its own spec.</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Draft in parallel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Each thread drafts its posts using the brand-voice skill.</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Merge the calendar</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merges the drafts into one dated calendar.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and approve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check claims, prices and dates before anything is scheduled.</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same pattern as the Lab 2 research — one message, independent subjects — applied to production.</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SOCIAL SPECS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Each Platform Needs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thread gets its platform's spec as its brief.</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Instagram</a:t>
            </a:r>
          </a:p>
          <a:p>
            <a:pPr algn="l">
              <a:spcAft>
                <a:spcPts val="300"/>
              </a:spcAft>
            </a:pPr>
            <a:r>
              <a:rPr sz="1150" b="0">
                <a:solidFill>
                  <a:srgbClr val="6B6862"/>
                </a:solidFill>
                <a:latin typeface="Calibri"/>
              </a:rPr>
              <a:t>Carousel or Reel. Hook in the first line; caption up to 2,200 characters; 3–5 hashtags.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TikTok</a:t>
            </a:r>
          </a:p>
          <a:p>
            <a:pPr algn="l">
              <a:spcAft>
                <a:spcPts val="300"/>
              </a:spcAft>
            </a:pPr>
            <a:r>
              <a:rPr sz="1150" b="0">
                <a:solidFill>
                  <a:srgbClr val="6B6862"/>
                </a:solidFill>
                <a:latin typeface="Calibri"/>
              </a:rPr>
              <a:t>9:16 video, 15–30 s. A hook in the first 2 seconds; on-screen text; one call to action.</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LinkedIn</a:t>
            </a:r>
          </a:p>
          <a:p>
            <a:pPr algn="l">
              <a:spcAft>
                <a:spcPts val="300"/>
              </a:spcAft>
            </a:pPr>
            <a:r>
              <a:rPr sz="1150" b="0">
                <a:solidFill>
                  <a:srgbClr val="6B6862"/>
                </a:solidFill>
                <a:latin typeface="Calibri"/>
              </a:rPr>
              <a:t>Founder or team voice; the story behind the product; no more than 3 hashtags.</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Facebook</a:t>
            </a:r>
          </a:p>
          <a:p>
            <a:pPr algn="l">
              <a:spcAft>
                <a:spcPts val="300"/>
              </a:spcAft>
            </a:pPr>
            <a:r>
              <a:rPr sz="1150" b="0">
                <a:solidFill>
                  <a:srgbClr val="6B6862"/>
                </a:solidFill>
                <a:latin typeface="Calibri"/>
              </a:rPr>
              <a:t>Community and offers; a clear link to buy; questions that invite comments.</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thread loads lumo-brand-voice, so four formats still sound like one brand.</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Marketing Responsibly with AI</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Fast production is only useful if every post is safe to publish.</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Claims you can prove</a:t>
            </a:r>
          </a:p>
          <a:p>
            <a:pPr algn="l">
              <a:spcAft>
                <a:spcPts val="300"/>
              </a:spcAft>
            </a:pPr>
            <a:r>
              <a:rPr sz="1150" b="0">
                <a:solidFill>
                  <a:srgbClr val="6B6862"/>
                </a:solidFill>
                <a:latin typeface="Calibri"/>
              </a:rPr>
              <a:t>“5 g sugar” is on the label. “Healthy” is a claim Lumo cannot substantiate — never use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Consent for email</a:t>
            </a:r>
          </a:p>
          <a:p>
            <a:pPr algn="l">
              <a:spcAft>
                <a:spcPts val="300"/>
              </a:spcAft>
            </a:pPr>
            <a:r>
              <a:rPr sz="1150" b="0">
                <a:solidFill>
                  <a:srgbClr val="6B6862"/>
                </a:solidFill>
                <a:latin typeface="Calibri"/>
              </a:rPr>
              <a:t>Email only people who opted in. Lab emails go to yourself, never to real customers.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No real likenesses</a:t>
            </a:r>
          </a:p>
          <a:p>
            <a:pPr algn="l">
              <a:spcAft>
                <a:spcPts val="300"/>
              </a:spcAft>
            </a:pPr>
            <a:r>
              <a:rPr sz="1150" b="0">
                <a:solidFill>
                  <a:srgbClr val="6B6862"/>
                </a:solidFill>
                <a:latin typeface="Calibri"/>
              </a:rPr>
              <a:t>Do not generate a real person, influencer or competitor logo into an 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Disclose partnerships</a:t>
            </a:r>
          </a:p>
          <a:p>
            <a:pPr algn="l">
              <a:spcAft>
                <a:spcPts val="300"/>
              </a:spcAft>
            </a:pPr>
            <a:r>
              <a:rPr sz="1150" b="0">
                <a:solidFill>
                  <a:srgbClr val="6B6862"/>
                </a:solidFill>
                <a:latin typeface="Calibri"/>
              </a:rPr>
              <a:t>Influencer posts are labelled as paid partnerships.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human publishes</a:t>
            </a:r>
          </a:p>
          <a:p>
            <a:pPr algn="l">
              <a:spcAft>
                <a:spcPts val="300"/>
              </a:spcAft>
            </a:pPr>
            <a:r>
              <a:rPr sz="1150" b="0">
                <a:solidFill>
                  <a:srgbClr val="6B6862"/>
                </a:solidFill>
                <a:latin typeface="Calibri"/>
              </a:rPr>
              <a:t>Claude drafts and schedules drafts; a person approves every public post.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source</a:t>
            </a:r>
          </a:p>
          <a:p>
            <a:pPr algn="l">
              <a:spcAft>
                <a:spcPts val="300"/>
              </a:spcAft>
            </a:pPr>
            <a:r>
              <a:rPr sz="1150" b="0">
                <a:solidFill>
                  <a:srgbClr val="6B6862"/>
                </a:solidFill>
                <a:latin typeface="Calibri"/>
              </a:rPr>
              <a:t>Keep the research files, so every number in a post can be traced back.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Content Production and Scheduled Work</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thread per channel</a:t>
            </a:r>
          </a:p>
          <a:p>
            <a:pPr algn="l">
              <a:spcAft>
                <a:spcPts val="300"/>
              </a:spcAft>
            </a:pPr>
            <a:r>
              <a:rPr sz="1150" b="0">
                <a:solidFill>
                  <a:srgbClr val="6B6862"/>
                </a:solidFill>
                <a:latin typeface="Calibri"/>
              </a:rPr>
              <a:t>The lead agent gives Instagram, TikTok, LinkedIn and Facebook a thread each, then merges one calendar.</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 inside a thread</a:t>
            </a:r>
          </a:p>
          <a:p>
            <a:pPr algn="l">
              <a:spcAft>
                <a:spcPts val="300"/>
              </a:spcAft>
            </a:pPr>
            <a:r>
              <a:rPr sz="1150" b="0">
                <a:solidFill>
                  <a:srgbClr val="6B6862"/>
                </a:solidFill>
                <a:latin typeface="Calibri"/>
              </a:rPr>
              <a:t>Every thread loads the same brand-voice skill, so four channels still sound like one brand.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Video as code</a:t>
            </a:r>
          </a:p>
          <a:p>
            <a:pPr algn="l">
              <a:spcAft>
                <a:spcPts val="300"/>
              </a:spcAft>
            </a:pPr>
            <a:r>
              <a:rPr sz="1150" b="0">
                <a:solidFill>
                  <a:srgbClr val="6B6862"/>
                </a:solidFill>
                <a:latin typeface="Calibri"/>
              </a:rPr>
              <a:t>Claude writes and runs the code that turns a storyboard and your images into an MP4.</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tasks</a:t>
            </a:r>
          </a:p>
          <a:p>
            <a:pPr algn="l">
              <a:spcAft>
                <a:spcPts val="300"/>
              </a:spcAft>
            </a:pPr>
            <a:r>
              <a:rPr sz="1150" b="0">
                <a:solidFill>
                  <a:srgbClr val="6B6862"/>
                </a:solidFill>
                <a:latin typeface="Calibri"/>
              </a:rPr>
              <a:t>A prompt that runs on a timetable inside the project — daily, weekly or monthly — while you are away.</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stays human</a:t>
            </a:r>
          </a:p>
          <a:p>
            <a:pPr algn="l">
              <a:spcAft>
                <a:spcPts val="300"/>
              </a:spcAft>
            </a:pPr>
            <a:r>
              <a:rPr sz="1150" b="0">
                <a:solidFill>
                  <a:srgbClr val="6B6862"/>
                </a:solidFill>
                <a:latin typeface="Calibri"/>
              </a:rPr>
              <a:t>A scheduled task drafts and emails the post to you. Publishing is still your click.</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Usage per thread</a:t>
            </a:r>
          </a:p>
          <a:p>
            <a:pPr algn="l">
              <a:spcAft>
                <a:spcPts val="300"/>
              </a:spcAft>
            </a:pPr>
            <a:r>
              <a:rPr sz="1150" b="0">
                <a:solidFill>
                  <a:srgbClr val="6B6862"/>
                </a:solidFill>
                <a:latin typeface="Calibri"/>
              </a:rPr>
              <a:t>Project settings show the tokens the lead agent and each thread used — the cost of parallel work.</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Create and Schedule Social Posts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Produce a two-week, four-platform social calendar with one thread per channel, and schedule the daily post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Launch fortnight needs ten posts across Instagram, TikTok, LinkedIn and Facebook. Each platform has its own format, so you hand the job to the lead agent and let it start one thread per platform. Every thread loads lumo-brand-voice, drafts its posts to its platform's spec, and the lead agent merges them into one dated calendar. Once you have checked it, you schedule a task that emails you each day's post at 9:00am as a draft.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social-calendar.csv with ten dated posts across four platforms, lumo-social-posts.docx with the full copy, and a weekday 9:00am scheduled task that emails each day's post as a draft.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Agent Skills, scheduled tasks,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08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brand voice, S$ prices, and never publish without your approval.</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 every post is checked against its prices and claims.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social-calendar.csv and lumo-social-posts.docx, saved in the project.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NEW: Today's Lumo post, weekdays at 9:00am — emails you each day's post as a draft.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CREATE</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Create the launch social calendar for Lumo Cold Kopi: ten posts,</a:t>
            </a:r>
          </a:p>
          <a:p>
            <a:pPr algn="l">
              <a:spcAft>
                <a:spcPts val="200"/>
              </a:spcAft>
            </a:pPr>
            <a:r>
              <a:rPr sz="1250" b="0">
                <a:solidFill>
                  <a:srgbClr val="21201C"/>
                </a:solidFill>
                <a:latin typeface="Calibri"/>
              </a:rPr>
              <a:t>one each weekday from Tuesday 1 December to Monday 14 December</a:t>
            </a:r>
          </a:p>
          <a:p>
            <a:pPr algn="l">
              <a:spcAft>
                <a:spcPts val="200"/>
              </a:spcAft>
            </a:pPr>
            <a:r>
              <a:rPr sz="1250" b="0">
                <a:solidFill>
                  <a:srgbClr val="21201C"/>
                </a:solidFill>
                <a:latin typeface="Calibri"/>
              </a:rPr>
              <a:t>2026, using social-calendar-template.csv for the columns.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Split the drafting into four threads, one per platform, and run</a:t>
            </a:r>
          </a:p>
          <a:p>
            <a:pPr algn="l">
              <a:spcAft>
                <a:spcPts val="200"/>
              </a:spcAft>
            </a:pPr>
            <a:r>
              <a:rPr sz="1250" b="0">
                <a:solidFill>
                  <a:srgbClr val="21201C"/>
                </a:solidFill>
                <a:latin typeface="Calibri"/>
              </a:rPr>
              <a:t>them in parallel:</a:t>
            </a:r>
          </a:p>
          <a:p>
            <a:pPr algn="l">
              <a:spcAft>
                <a:spcPts val="200"/>
              </a:spcAft>
            </a:pPr>
            <a:r>
              <a:rPr sz="1250" b="0">
                <a:solidFill>
                  <a:srgbClr val="21201C"/>
                </a:solidFill>
                <a:latin typeface="Calibri"/>
              </a:rPr>
              <a:t>- Instagram: 3 posts (carousel or Reel), caption with a hook in</a:t>
            </a:r>
          </a:p>
          <a:p>
            <a:pPr algn="l">
              <a:spcAft>
                <a:spcPts val="200"/>
              </a:spcAft>
            </a:pPr>
            <a:r>
              <a:rPr sz="1250" b="0">
                <a:solidFill>
                  <a:srgbClr val="21201C"/>
                </a:solidFill>
                <a:latin typeface="Calibri"/>
              </a:rPr>
              <a:t>  the first line, 3-5 hashtags.</a:t>
            </a:r>
          </a:p>
          <a:p>
            <a:pPr algn="l">
              <a:spcAft>
                <a:spcPts val="200"/>
              </a:spcAft>
            </a:pPr>
            <a:r>
              <a:rPr sz="1250" b="0">
                <a:solidFill>
                  <a:srgbClr val="21201C"/>
                </a:solidFill>
                <a:latin typeface="Calibri"/>
              </a:rPr>
              <a:t>- TikTok: 3 posts, each a 15-second video script with a hook in</a:t>
            </a:r>
          </a:p>
          <a:p>
            <a:pPr algn="l">
              <a:spcAft>
                <a:spcPts val="200"/>
              </a:spcAft>
            </a:pPr>
            <a:r>
              <a:rPr sz="1250" b="0">
                <a:solidFill>
                  <a:srgbClr val="21201C"/>
                </a:solidFill>
                <a:latin typeface="Calibri"/>
              </a:rPr>
              <a:t>  the first 2 seconds and on-screen text.</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LinkedIn: 2 posts in the founder's voice, the story behind the</a:t>
            </a:r>
          </a:p>
          <a:p>
            <a:pPr algn="l">
              <a:spcAft>
                <a:spcPts val="200"/>
              </a:spcAft>
            </a:pPr>
            <a:r>
              <a:rPr sz="1250" b="0">
                <a:solidFill>
                  <a:srgbClr val="21201C"/>
                </a:solidFill>
                <a:latin typeface="Calibri"/>
              </a:rPr>
              <a:t>  product, no more than 3 hashtags.</a:t>
            </a:r>
          </a:p>
          <a:p>
            <a:pPr algn="l">
              <a:spcAft>
                <a:spcPts val="200"/>
              </a:spcAft>
            </a:pPr>
            <a:r>
              <a:rPr sz="1250" b="0">
                <a:solidFill>
                  <a:srgbClr val="21201C"/>
                </a:solidFill>
                <a:latin typeface="Calibri"/>
              </a:rPr>
              <a:t>- Facebook: 2 posts for community and the 12-pack offer.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thread must use the lumo-brand-voice skill and our top</a:t>
            </a:r>
          </a:p>
          <a:p>
            <a:pPr algn="l">
              <a:spcAft>
                <a:spcPts val="200"/>
              </a:spcAft>
            </a:pPr>
            <a:r>
              <a:rPr sz="1250" b="0">
                <a:solidFill>
                  <a:srgbClr val="21201C"/>
                </a:solidFill>
                <a:latin typeface="Calibri"/>
              </a:rPr>
              <a:t>content theme from the research. The 1 December launch-day</a:t>
            </a:r>
          </a:p>
          <a:p>
            <a:pPr algn="l">
              <a:spcAft>
                <a:spcPts val="200"/>
              </a:spcAft>
            </a:pPr>
            <a:r>
              <a:rPr sz="1250" b="0">
                <a:solidFill>
                  <a:srgbClr val="21201C"/>
                </a:solidFill>
                <a:latin typeface="Calibri"/>
              </a:rPr>
              <a:t>post is an Instagram Reel; TikTok follows on 2 December.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Then merge the threads into social-calendar.csv (date, platform,</a:t>
            </a:r>
          </a:p>
          <a:p>
            <a:pPr algn="l">
              <a:spcAft>
                <a:spcPts val="200"/>
              </a:spcAft>
            </a:pPr>
            <a:r>
              <a:rPr sz="1250" b="0">
                <a:solidFill>
                  <a:srgbClr val="21201C"/>
                </a:solidFill>
                <a:latin typeface="Calibri"/>
              </a:rPr>
              <a:t>format, hook, copy, hashtags, visual idea, call to action) and</a:t>
            </a:r>
          </a:p>
          <a:p>
            <a:pPr algn="l">
              <a:spcAft>
                <a:spcPts val="200"/>
              </a:spcAft>
            </a:pPr>
            <a:r>
              <a:rPr sz="1250" b="0">
                <a:solidFill>
                  <a:srgbClr val="21201C"/>
                </a:solidFill>
                <a:latin typeface="Calibri"/>
              </a:rPr>
              <a:t>lumo-social-posts.docx with the full copy. Report the brand-voice</a:t>
            </a:r>
          </a:p>
          <a:p>
            <a:pPr algn="l">
              <a:spcAft>
                <a:spcPts val="200"/>
              </a:spcAft>
            </a:pPr>
            <a:r>
              <a:rPr sz="1250" b="0">
                <a:solidFill>
                  <a:srgbClr val="21201C"/>
                </a:solidFill>
                <a:latin typeface="Calibri"/>
              </a:rPr>
              <a:t>checklist result for every post, and list any post that failed.</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social-calendar-template.csv from the Lab 08 data folder.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8</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SCHEDULE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Schedule a recurring task in this project: "Today's Lumo post",</a:t>
            </a:r>
          </a:p>
          <a:p>
            <a:pPr algn="l">
              <a:spcAft>
                <a:spcPts val="200"/>
              </a:spcAft>
            </a:pPr>
            <a:r>
              <a:rPr sz="1500" b="0">
                <a:solidFill>
                  <a:srgbClr val="21201C"/>
                </a:solidFill>
                <a:latin typeface="Calibri"/>
              </a:rPr>
              <a:t>every weekday at 9:00am. Take today's row from</a:t>
            </a:r>
          </a:p>
          <a:p>
            <a:pPr algn="l">
              <a:spcAft>
                <a:spcPts val="200"/>
              </a:spcAft>
            </a:pPr>
            <a:r>
              <a:rPr sz="1500" b="0">
                <a:solidFill>
                  <a:srgbClr val="21201C"/>
                </a:solidFill>
                <a:latin typeface="Calibri"/>
              </a:rPr>
              <a:t>social-calendar.csv, polish it with lumo-brand-voice, check every</a:t>
            </a:r>
          </a:p>
          <a:p>
            <a:pPr algn="l">
              <a:spcAft>
                <a:spcPts val="200"/>
              </a:spcAft>
            </a:pPr>
            <a:r>
              <a:rPr sz="1500" b="0">
                <a:solidFill>
                  <a:srgbClr val="21201C"/>
                </a:solidFill>
                <a:latin typeface="Calibri"/>
              </a:rPr>
              <a:t>price and claim against the brand kit, and email it to</a:t>
            </a:r>
          </a:p>
          <a:p>
            <a:pPr algn="l">
              <a:spcAft>
                <a:spcPts val="200"/>
              </a:spcAft>
            </a:pPr>
            <a:r>
              <a:rPr sz="1500" b="0">
                <a:solidFill>
                  <a:srgbClr val="21201C"/>
                </a:solidFill>
                <a:latin typeface="Calibri"/>
              </a:rPr>
              <a:t>&lt;YOUR EMAIL&gt; as a draft with the subject</a:t>
            </a:r>
          </a:p>
          <a:p>
            <a:pPr algn="l">
              <a:spcAft>
                <a:spcPts val="200"/>
              </a:spcAft>
            </a:pPr>
            <a:r>
              <a:rPr sz="1500" b="0">
                <a:solidFill>
                  <a:srgbClr val="21201C"/>
                </a:solidFill>
                <a:latin typeface="Calibri"/>
              </a:rPr>
              <a:t>"Today's Lumo post - &lt;date&gt;". Never publish anything. If there</a:t>
            </a:r>
          </a:p>
          <a:p>
            <a:pPr algn="l">
              <a:spcAft>
                <a:spcPts val="200"/>
              </a:spcAft>
            </a:pPr>
            <a:r>
              <a:rPr sz="1500" b="0">
                <a:solidFill>
                  <a:srgbClr val="21201C"/>
                </a:solidFill>
                <a:latin typeface="Calibri"/>
              </a:rPr>
              <a:t>is no row for today, email "No Lumo post scheduled today".</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Show me the task before you save it, then run it once now as a</a:t>
            </a:r>
          </a:p>
          <a:p>
            <a:pPr algn="l">
              <a:spcAft>
                <a:spcPts val="200"/>
              </a:spcAft>
            </a:pPr>
            <a:r>
              <a:rPr sz="1500" b="0">
                <a:solidFill>
                  <a:srgbClr val="21201C"/>
                </a:solidFill>
                <a:latin typeface="Calibri"/>
              </a:rPr>
              <a:t>test, using 1 December 2026 as today.</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The task drafts and emails — it never publishes.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Create and Schedule Social Posts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social-calendar-template.csv and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start the four platform threads.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Instagram thread and check it loaded lumo-brand-voice.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calendar arrives, count the rows and check the dates.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brand-voice checklist results.</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Spot-check three posts against the campaign brief's "claims we must not make".</a:t>
            </a:r>
          </a:p>
        </p:txBody>
      </p:sp>
      <p:sp>
        <p:nvSpPr>
          <p:cNvPr id="24" name="Oval 23"/>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lumo-social-posts.docx and confirm the copy matches the calendar.</a:t>
            </a:r>
          </a:p>
        </p:txBody>
      </p:sp>
      <p:sp>
        <p:nvSpPr>
          <p:cNvPr id="27" name="Oval 26"/>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with your own email address in place of &lt;YOUR EMAIL&gt;.</a:t>
            </a:r>
          </a:p>
        </p:txBody>
      </p:sp>
      <p:sp>
        <p:nvSpPr>
          <p:cNvPr id="30" name="Oval 29"/>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task before it is saved: name, prompt, and weekdays at 9:00am.</a:t>
            </a:r>
          </a:p>
        </p:txBody>
      </p:sp>
      <p:sp>
        <p:nvSpPr>
          <p:cNvPr id="33" name="Oval 32"/>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read the test email for 1 December.</a:t>
            </a:r>
          </a:p>
        </p:txBody>
      </p:sp>
      <p:sp>
        <p:nvSpPr>
          <p:cNvPr id="36" name="Oval 35"/>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in the project and confirm the task is listed. Then open the Next Lumo post panel from Lab 7 and click Refresh.</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Create and Schedule Social Posts in Parallel Threads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social-calendar.csv has ten rows dated on the ten weekdays from 1 to 14 December 2026 — Instagram 3, TikTok 3, LinkedIn 2, Facebook 2 — with the 1 December launch post an Instagram Reel and TikTok on 2 December. Every post passed the lumo-brand-voice checklist, none uses "healthy", every price is written S$3.90 or S$42.00, and lumo-social-posts.docx carries the same copy. Today's Lumo post is listed under Scheduled for weekdays at 9:00am; it drafts and emails only, and nothing was published.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Two Weeks of Posts</a:t>
            </a:r>
          </a:p>
        </p:txBody>
      </p:sp>
      <p:sp>
        <p:nvSpPr>
          <p:cNvPr id="5" name="Rectangle 4"/>
          <p:cNvSpPr/>
          <p:nvPr/>
        </p:nvSpPr>
        <p:spPr>
          <a:xfrm>
            <a:off x="1853646" y="1600200"/>
            <a:ext cx="4293708"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53646" y="1600200"/>
            <a:ext cx="4293708"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social-posts-grid.png"/>
          <p:cNvPicPr>
            <a:picLocks noChangeAspect="1"/>
          </p:cNvPicPr>
          <p:nvPr/>
        </p:nvPicPr>
        <p:blipFill>
          <a:blip r:embed="rId2"/>
          <a:stretch>
            <a:fillRect/>
          </a:stretch>
        </p:blipFill>
        <p:spPr>
          <a:xfrm>
            <a:off x="1963374" y="1709928"/>
            <a:ext cx="4074252"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One calendar</a:t>
            </a:r>
          </a:p>
          <a:p>
            <a:pPr algn="l">
              <a:spcAft>
                <a:spcPts val="300"/>
              </a:spcAft>
            </a:pPr>
            <a:r>
              <a:rPr sz="1250" b="0">
                <a:solidFill>
                  <a:srgbClr val="6B6862"/>
                </a:solidFill>
                <a:latin typeface="Calibri"/>
              </a:rPr>
              <a:t>Dated posts from 1 to 14 December across the four platforms.</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One voice</a:t>
            </a:r>
          </a:p>
          <a:p>
            <a:pPr algn="l">
              <a:spcAft>
                <a:spcPts val="300"/>
              </a:spcAft>
            </a:pPr>
            <a:r>
              <a:rPr sz="1250" b="0">
                <a:solidFill>
                  <a:srgbClr val="6B6862"/>
                </a:solidFill>
                <a:latin typeface="Calibri"/>
              </a:rPr>
              <a:t>The brand-voice skill keeps every hook and caption consistent.</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Review</a:t>
            </a:r>
          </a:p>
          <a:p>
            <a:pPr algn="l">
              <a:spcAft>
                <a:spcPts val="300"/>
              </a:spcAft>
            </a:pPr>
            <a:r>
              <a:rPr sz="1250" b="0">
                <a:solidFill>
                  <a:srgbClr val="6B6862"/>
                </a:solidFill>
                <a:latin typeface="Calibri"/>
              </a:rPr>
              <a:t>Expand or download any post; each is marked DRAFT, NOT PUBLISHED.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Lab 8 posts laid out by date — every one a draft, not published.</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Video Pipeline</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Script</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Five lines, three seconds each — hook, problem, product, proof, call to action.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Storyboard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frame per line: which image, which on-screen text, which motion.</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Render</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and runs code that animates your images and text into an MP4.</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Length, size 1080 × 1920, brand colours, every claim true, end card with the price.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timing or text changes in plain English and render again.</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video is code: a change is a re-render, not a re-edit.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Launch Video Specs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the finished 15-second video must meet.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Format</a:t>
            </a:r>
          </a:p>
          <a:p>
            <a:pPr algn="l">
              <a:spcAft>
                <a:spcPts val="300"/>
              </a:spcAft>
            </a:pPr>
            <a:r>
              <a:rPr sz="1150" b="0">
                <a:solidFill>
                  <a:srgbClr val="6B6862"/>
                </a:solidFill>
                <a:latin typeface="Calibri"/>
              </a:rPr>
              <a:t>Vertical 9:16, 1080 × 1920 pixels, MP4 — fits Reels, TikTok and Shorts.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Length</a:t>
            </a:r>
          </a:p>
          <a:p>
            <a:pPr algn="l">
              <a:spcAft>
                <a:spcPts val="300"/>
              </a:spcAft>
            </a:pPr>
            <a:r>
              <a:rPr sz="1150" b="0">
                <a:solidFill>
                  <a:srgbClr val="6B6862"/>
                </a:solidFill>
                <a:latin typeface="Calibri"/>
              </a:rPr>
              <a:t>15 seconds: five scenes of three seconds each.</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Text</a:t>
            </a:r>
          </a:p>
          <a:p>
            <a:pPr algn="l">
              <a:spcAft>
                <a:spcPts val="300"/>
              </a:spcAft>
            </a:pPr>
            <a:r>
              <a:rPr sz="1150" b="0">
                <a:solidFill>
                  <a:srgbClr val="6B6862"/>
                </a:solidFill>
                <a:latin typeface="Calibri"/>
              </a:rPr>
              <a:t>Large, high-contrast captions — most people watch with the sound off.</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Brand</a:t>
            </a:r>
          </a:p>
          <a:p>
            <a:pPr algn="l">
              <a:spcAft>
                <a:spcPts val="300"/>
              </a:spcAft>
            </a:pPr>
            <a:r>
              <a:rPr sz="1150" b="0">
                <a:solidFill>
                  <a:srgbClr val="6B6862"/>
                </a:solidFill>
                <a:latin typeface="Calibri"/>
              </a:rPr>
              <a:t>Lumo colours and logo; the end card shows the price and the campaign hashtag.</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Assets</a:t>
            </a:r>
          </a:p>
          <a:p>
            <a:pPr algn="l">
              <a:spcAft>
                <a:spcPts val="300"/>
              </a:spcAft>
            </a:pPr>
            <a:r>
              <a:rPr sz="1150" b="0">
                <a:solidFill>
                  <a:srgbClr val="6B6862"/>
                </a:solidFill>
                <a:latin typeface="Calibri"/>
              </a:rPr>
              <a:t>Only the supplied product images — never a real person's likeness or a stock logo.</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a:t>
            </a:r>
          </a:p>
          <a:p>
            <a:pPr algn="l">
              <a:spcAft>
                <a:spcPts val="300"/>
              </a:spcAft>
            </a:pPr>
            <a:r>
              <a:rPr sz="1150" b="0">
                <a:solidFill>
                  <a:srgbClr val="6B6862"/>
                </a:solidFill>
                <a:latin typeface="Calibri"/>
              </a:rPr>
              <a:t>No video tools in the session? Claude builds an animated HTML version to screen-record.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Script, storyboard and render a vertical launch video from supplied brand assets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TikTok and Instagram posts need a launch video. You give the project the supplied product images and logo; one thread writes a five-scene script and storyboard with lumo-brand-voice, another writes and runs the code that animates the images and captions into a 15-second, 1080 × 1920 MP4. You check it frame by frame and ask for changes in plain English.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lumo-launch-15s.mp4 (1080 × 1920, 15 seconds), with its script and storyboard.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threads, code execution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09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brand voice for the script; nothing is published.</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for the tagline, price and call to action.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attach the video assets; the script, storyboard and lumo-launch-15s.mp4 are saved.</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Script, storyboard and render the video</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Make a 15-second vertical launch video for Lumo Cold Kopi, using</a:t>
            </a:r>
          </a:p>
          <a:p>
            <a:pPr algn="l">
              <a:spcAft>
                <a:spcPts val="200"/>
              </a:spcAft>
            </a:pPr>
            <a:r>
              <a:rPr sz="1200" b="0">
                <a:solidFill>
                  <a:srgbClr val="21201C"/>
                </a:solidFill>
                <a:latin typeface="Calibri"/>
              </a:rPr>
              <a:t>only the five images in the attached video-assets folder.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Use two threads:</a:t>
            </a:r>
          </a:p>
          <a:p>
            <a:pPr algn="l">
              <a:spcAft>
                <a:spcPts val="200"/>
              </a:spcAft>
            </a:pPr>
            <a:r>
              <a:rPr sz="1200" b="0">
                <a:solidFill>
                  <a:srgbClr val="21201C"/>
                </a:solidFill>
                <a:latin typeface="Calibri"/>
              </a:rPr>
              <a:t>Thread 1 - SCRIPT: with lumo-brand-voice, write five scenes of</a:t>
            </a:r>
          </a:p>
          <a:p>
            <a:pPr algn="l">
              <a:spcAft>
                <a:spcPts val="200"/>
              </a:spcAft>
            </a:pPr>
            <a:r>
              <a:rPr sz="1200" b="0">
                <a:solidFill>
                  <a:srgbClr val="21201C"/>
                </a:solidFill>
                <a:latin typeface="Calibri"/>
              </a:rPr>
              <a:t>  three seconds each: hook, problem, product, proof, call to action.</a:t>
            </a:r>
          </a:p>
          <a:p>
            <a:pPr algn="l">
              <a:spcAft>
                <a:spcPts val="200"/>
              </a:spcAft>
            </a:pPr>
            <a:r>
              <a:rPr sz="1200" b="0">
                <a:solidFill>
                  <a:srgbClr val="21201C"/>
                </a:solidFill>
                <a:latin typeface="Calibri"/>
              </a:rPr>
              <a:t>  For each scene give the image, the on-screen text (max 6 words)</a:t>
            </a:r>
          </a:p>
          <a:p>
            <a:pPr algn="l">
              <a:spcAft>
                <a:spcPts val="200"/>
              </a:spcAft>
            </a:pPr>
            <a:r>
              <a:rPr sz="1200" b="0">
                <a:solidFill>
                  <a:srgbClr val="21201C"/>
                </a:solidFill>
                <a:latin typeface="Calibri"/>
              </a:rPr>
              <a:t>  and the motion. Save it as lumo-video-storyboard.md.</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2 - RENDER: when the storyboard is ready, write and run</a:t>
            </a:r>
          </a:p>
          <a:p>
            <a:pPr algn="l">
              <a:spcAft>
                <a:spcPts val="200"/>
              </a:spcAft>
            </a:pPr>
            <a:r>
              <a:rPr sz="1200" b="0">
                <a:solidFill>
                  <a:srgbClr val="21201C"/>
                </a:solidFill>
                <a:latin typeface="Calibri"/>
              </a:rPr>
              <a:t>  code that renders it to lumo-launch-15s.mp4: 1080 x 1920, 30 fps,</a:t>
            </a:r>
          </a:p>
          <a:p>
            <a:pPr algn="l">
              <a:spcAft>
                <a:spcPts val="200"/>
              </a:spcAft>
            </a:pPr>
            <a:r>
              <a:rPr sz="1200" b="0">
                <a:solidFill>
                  <a:srgbClr val="21201C"/>
                </a:solidFill>
                <a:latin typeface="Calibri"/>
              </a:rPr>
              <a:t>  exactly 15 seconds, large high-contrast captions in the Lumo</a:t>
            </a:r>
          </a:p>
          <a:p>
            <a:pPr algn="l">
              <a:spcAft>
                <a:spcPts val="200"/>
              </a:spcAft>
            </a:pPr>
            <a:r>
              <a:rPr sz="1200" b="0">
                <a:solidFill>
                  <a:srgbClr val="21201C"/>
                </a:solidFill>
                <a:latin typeface="Calibri"/>
              </a:rPr>
              <a:t>  colours, a gentle zoom on each image, and an end card with the</a:t>
            </a:r>
          </a:p>
          <a:p>
            <a:pPr algn="l">
              <a:spcAft>
                <a:spcPts val="200"/>
              </a:spcAft>
            </a:pPr>
            <a:r>
              <a:rPr sz="1200" b="0">
                <a:solidFill>
                  <a:srgbClr val="21201C"/>
                </a:solidFill>
                <a:latin typeface="Calibri"/>
              </a:rPr>
              <a:t>  logo, "From S$3.90" and #KopiChilledRight.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If you cannot render video in this session, build the same thing</a:t>
            </a:r>
          </a:p>
          <a:p>
            <a:pPr algn="l">
              <a:spcAft>
                <a:spcPts val="200"/>
              </a:spcAft>
            </a:pPr>
            <a:r>
              <a:rPr sz="1200" b="0">
                <a:solidFill>
                  <a:srgbClr val="21201C"/>
                </a:solidFill>
                <a:latin typeface="Calibri"/>
              </a:rPr>
              <a:t>as an animated HTML page at 1080 x 1920 and tell me, so I can</a:t>
            </a:r>
          </a:p>
          <a:p>
            <a:pPr algn="l">
              <a:spcAft>
                <a:spcPts val="200"/>
              </a:spcAft>
            </a:pPr>
            <a:r>
              <a:rPr sz="1200" b="0">
                <a:solidFill>
                  <a:srgbClr val="21201C"/>
                </a:solidFill>
                <a:latin typeface="Calibri"/>
              </a:rPr>
              <a:t>screen-record it. Report the file's duration and size when done.</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whole video-assets folder. Use only the supplied images — never a real person's likeness or another brand's logo.</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09 data/video-assets folder and look at the five images.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folder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storyboard when Thread 1 finishes.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video arrives, check the reported duration and size.</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Play it through, then scrub it frame by frame.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for example: Hold the end card for one second longer and shorten scene 2.</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built the HTML fallback instead, open it full screen and screen-record 15 seconds.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lumo-launch-15s.mp4 is 1080 × 1920, 30 fps and 15 seconds long, uses only the supplied images, shows five scenes with captions of six words or fewer in the Lumo colours, and ends on a card with the logo, "From S$3.90" and #KopiChilledRight. lumo-video-storyboard.md sits beside it and matches what plays. No scene makes a health claim.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Scheduled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prompt the project runs on a timetable, while you are away.</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Prompt</a:t>
            </a:r>
          </a:p>
          <a:p>
            <a:pPr algn="l">
              <a:spcAft>
                <a:spcPts val="300"/>
              </a:spcAft>
            </a:pPr>
            <a:r>
              <a:rPr sz="1150" b="0">
                <a:solidFill>
                  <a:srgbClr val="6B6862"/>
                </a:solidFill>
                <a:latin typeface="Calibri"/>
              </a:rPr>
              <a:t>Exactly what to do each run — written like a lab prompt, with the checks included.</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Frequency</a:t>
            </a:r>
          </a:p>
          <a:p>
            <a:pPr algn="l">
              <a:spcAft>
                <a:spcPts val="300"/>
              </a:spcAft>
            </a:pPr>
            <a:r>
              <a:rPr sz="1150" b="0">
                <a:solidFill>
                  <a:srgbClr val="6B6862"/>
                </a:solidFill>
                <a:latin typeface="Calibri"/>
              </a:rPr>
              <a:t>Daily, weekdays, weekly or monthly.</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Time</a:t>
            </a:r>
          </a:p>
          <a:p>
            <a:pPr algn="l">
              <a:spcAft>
                <a:spcPts val="300"/>
              </a:spcAft>
            </a:pPr>
            <a:r>
              <a:rPr sz="1150" b="0">
                <a:solidFill>
                  <a:srgbClr val="6B6862"/>
                </a:solidFill>
                <a:latin typeface="Calibri"/>
              </a:rPr>
              <a:t>When it runs, in your time zone — for example, weekdays at 9:00am.</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it runs</a:t>
            </a:r>
          </a:p>
          <a:p>
            <a:pPr algn="l">
              <a:spcAft>
                <a:spcPts val="300"/>
              </a:spcAft>
            </a:pPr>
            <a:r>
              <a:rPr sz="1150" b="0">
                <a:solidFill>
                  <a:srgbClr val="6B6862"/>
                </a:solidFill>
                <a:latin typeface="Calibri"/>
              </a:rPr>
              <a:t>Inside the project, so it reads the same goal, context, memory and skills.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Output</a:t>
            </a:r>
          </a:p>
          <a:p>
            <a:pPr algn="l">
              <a:spcAft>
                <a:spcPts val="300"/>
              </a:spcAft>
            </a:pPr>
            <a:r>
              <a:rPr sz="1150" b="0">
                <a:solidFill>
                  <a:srgbClr val="6B6862"/>
                </a:solidFill>
                <a:latin typeface="Calibri"/>
              </a:rPr>
              <a:t>Where the result goes — an email draft, a file in Drive, a note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a:t>
            </a:r>
          </a:p>
          <a:p>
            <a:pPr algn="l">
              <a:spcAft>
                <a:spcPts val="300"/>
              </a:spcAft>
            </a:pPr>
            <a:r>
              <a:rPr sz="1150" b="0">
                <a:solidFill>
                  <a:srgbClr val="6B6862"/>
                </a:solidFill>
                <a:latin typeface="Calibri"/>
              </a:rPr>
              <a:t>The step a human still takes — the task drafts, you publish.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Scheduled Tasks for a Launch</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drafts for your approval — none publishes on its own.</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Daily post, weekdays 9:00am</a:t>
            </a:r>
          </a:p>
          <a:p>
            <a:pPr algn="l">
              <a:spcAft>
                <a:spcPts val="500"/>
              </a:spcAft>
            </a:pPr>
            <a:r>
              <a:rPr sz="1250" b="0">
                <a:solidFill>
                  <a:srgbClr val="6B6862"/>
                </a:solidFill>
                <a:latin typeface="Calibri"/>
              </a:rPr>
              <a:t>Take today's row from the social calendar, polish it with lumo-brand-voice and email it to me for approval.</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Weekly report, Mondays 8:00am</a:t>
            </a:r>
          </a:p>
          <a:p>
            <a:pPr algn="l">
              <a:spcAft>
                <a:spcPts val="500"/>
              </a:spcAft>
            </a:pPr>
            <a:r>
              <a:rPr sz="1250" b="0">
                <a:solidFill>
                  <a:srgbClr val="6B6862"/>
                </a:solidFill>
                <a:latin typeface="Calibri"/>
              </a:rPr>
              <a:t>Summarise last week's posts from the social calendar and anything new in the Lumo Launch Drive folder in five bullet points.</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Monthly scan, 1st at 10:00am</a:t>
            </a:r>
          </a:p>
          <a:p>
            <a:pPr algn="l">
              <a:spcAft>
                <a:spcPts val="500"/>
              </a:spcAft>
            </a:pPr>
            <a:r>
              <a:rPr sz="1250" b="0">
                <a:solidFill>
                  <a:srgbClr val="6B6862"/>
                </a:solidFill>
                <a:latin typeface="Calibri"/>
              </a:rPr>
              <a:t>Check the six competitors for new products or price changes and update the research brief.</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 local task needs the app open. To keep tasks running with the laptop closed, give the project a cloud environment in Project settings → Environment.</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Cloud Environments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 settings → Environment: let threads and tasks run with your laptop closed.</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Network access</a:t>
            </a:r>
          </a:p>
          <a:p>
            <a:pPr algn="l">
              <a:spcAft>
                <a:spcPts val="300"/>
              </a:spcAft>
            </a:pPr>
            <a:r>
              <a:rPr sz="1150" b="0">
                <a:solidFill>
                  <a:srgbClr val="6B6862"/>
                </a:solidFill>
                <a:latin typeface="Calibri"/>
              </a:rPr>
              <a:t>Which websites the threads may reach — add only the ones the work needs.</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Secrets</a:t>
            </a:r>
          </a:p>
          <a:p>
            <a:pPr algn="l">
              <a:spcAft>
                <a:spcPts val="300"/>
              </a:spcAft>
            </a:pPr>
            <a:r>
              <a:rPr sz="1150" b="0">
                <a:solidFill>
                  <a:srgbClr val="6B6862"/>
                </a:solidFill>
                <a:latin typeface="Calibri"/>
              </a:rPr>
              <a:t>API keys the threads can use. Once saved, nobody can read them back — not even you.</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Setup script</a:t>
            </a:r>
          </a:p>
          <a:p>
            <a:pPr algn="l">
              <a:spcAft>
                <a:spcPts val="300"/>
              </a:spcAft>
            </a:pPr>
            <a:r>
              <a:rPr sz="1150" b="0">
                <a:solidFill>
                  <a:srgbClr val="6B6862"/>
                </a:solidFill>
                <a:latin typeface="Calibri"/>
              </a:rPr>
              <a:t>What each thread installs before it starts work, such as one package-install line.</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Schedule a weekly report beside the daily post, edit project memory and review thread usage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 8 scheduled the daily post. The launch also needs a report every Monday, and nobody should have to remember it. You schedule it inside the project beside the daily post, then do the housekeeping a real project needs: correct its memory when a plan changes, and read the usage of the lead agent and each thread to see what parallel work costs.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weekly-report scheduled task beside Lab 8's daily post, an updated project memory and a usage review.</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scheduled tasks, memory,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10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Reviews: which instructions are now out of date.</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Reviews: which context files the launch-date change affects.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Updates: project memory records the 8 December Singapore launch.</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NEW: Weekly launch report, Mondays at 8:00am — beside Lab 8's daily post.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SCHEDULE</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Schedule a recurring task in this project: "Weekly launch</a:t>
            </a:r>
          </a:p>
          <a:p>
            <a:pPr algn="l">
              <a:spcAft>
                <a:spcPts val="200"/>
              </a:spcAft>
            </a:pPr>
            <a:r>
              <a:rPr sz="1500" b="0">
                <a:solidFill>
                  <a:srgbClr val="21201C"/>
                </a:solidFill>
                <a:latin typeface="Calibri"/>
              </a:rPr>
              <a:t>report", Mondays at 8:00am. Summarise last week's posts from</a:t>
            </a:r>
          </a:p>
          <a:p>
            <a:pPr algn="l">
              <a:spcAft>
                <a:spcPts val="200"/>
              </a:spcAft>
            </a:pPr>
            <a:r>
              <a:rPr sz="1500" b="0">
                <a:solidFill>
                  <a:srgbClr val="21201C"/>
                </a:solidFill>
                <a:latin typeface="Calibri"/>
              </a:rPr>
              <a:t>social-calendar.csv and anything new in the Lumo Launch Drive</a:t>
            </a:r>
          </a:p>
          <a:p>
            <a:pPr algn="l">
              <a:spcAft>
                <a:spcPts val="200"/>
              </a:spcAft>
            </a:pPr>
            <a:r>
              <a:rPr sz="1500" b="0">
                <a:solidFill>
                  <a:srgbClr val="21201C"/>
                </a:solidFill>
                <a:latin typeface="Calibri"/>
              </a:rPr>
              <a:t>folder in five bullet points, and email the summary to</a:t>
            </a:r>
          </a:p>
          <a:p>
            <a:pPr algn="l">
              <a:spcAft>
                <a:spcPts val="200"/>
              </a:spcAft>
            </a:pPr>
            <a:r>
              <a:rPr sz="1500" b="0">
                <a:solidFill>
                  <a:srgbClr val="21201C"/>
                </a:solidFill>
                <a:latin typeface="Calibri"/>
              </a:rPr>
              <a:t>&lt;YOUR EMAIL&gt;. Draft only - do not send anything else.</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Show me the task before you save it.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Mondays at 8:00am, beside Lab 8's daily post.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MEMORY</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Remember this for the project: the Singapore launch has moved</a:t>
            </a:r>
          </a:p>
          <a:p>
            <a:pPr algn="l">
              <a:spcAft>
                <a:spcPts val="200"/>
              </a:spcAft>
            </a:pPr>
            <a:r>
              <a:rPr sz="1500" b="0">
                <a:solidFill>
                  <a:srgbClr val="21201C"/>
                </a:solidFill>
                <a:latin typeface="Calibri"/>
              </a:rPr>
              <a:t>from 1 December to 8 December 2026. Kuala Lumpur is unchanged.</a:t>
            </a:r>
          </a:p>
          <a:p>
            <a:pPr algn="l">
              <a:spcAft>
                <a:spcPts val="200"/>
              </a:spcAft>
            </a:pPr>
            <a:r>
              <a:rPr sz="1500" b="0">
                <a:solidFill>
                  <a:srgbClr val="21201C"/>
                </a:solidFill>
                <a:latin typeface="Calibri"/>
              </a:rPr>
              <a:t>Tell me everything in the project that depends on the launch</a:t>
            </a:r>
          </a:p>
          <a:p>
            <a:pPr algn="l">
              <a:spcAft>
                <a:spcPts val="200"/>
              </a:spcAft>
            </a:pPr>
            <a:r>
              <a:rPr sz="1500" b="0">
                <a:solidFill>
                  <a:srgbClr val="21201C"/>
                </a:solidFill>
                <a:latin typeface="Calibri"/>
              </a:rPr>
              <a:t>date - posts, tasks, the deck, the brief - and propose the</a:t>
            </a:r>
          </a:p>
          <a:p>
            <a:pPr algn="l">
              <a:spcAft>
                <a:spcPts val="200"/>
              </a:spcAft>
            </a:pPr>
            <a:r>
              <a:rPr sz="1500" b="0">
                <a:solidFill>
                  <a:srgbClr val="21201C"/>
                </a:solidFill>
                <a:latin typeface="Calibri"/>
              </a:rPr>
              <a:t>changes. Do not make them yet.</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Memory and check what it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REVIEW</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Review this project for me: list the threads you started today,</a:t>
            </a:r>
          </a:p>
          <a:p>
            <a:pPr algn="l">
              <a:spcAft>
                <a:spcPts val="200"/>
              </a:spcAft>
            </a:pPr>
            <a:r>
              <a:rPr sz="1500" b="0">
                <a:solidFill>
                  <a:srgbClr val="21201C"/>
                </a:solidFill>
                <a:latin typeface="Calibri"/>
              </a:rPr>
              <a:t>what each produced, and where each output is saved. Then tell</a:t>
            </a:r>
          </a:p>
          <a:p>
            <a:pPr algn="l">
              <a:spcAft>
                <a:spcPts val="200"/>
              </a:spcAft>
            </a:pPr>
            <a:r>
              <a:rPr sz="1500" b="0">
                <a:solidFill>
                  <a:srgbClr val="21201C"/>
                </a:solidFill>
                <a:latin typeface="Calibri"/>
              </a:rPr>
              <a:t>me which context files, instructions or memory entries are now</a:t>
            </a:r>
          </a:p>
          <a:p>
            <a:pPr algn="l">
              <a:spcAft>
                <a:spcPts val="200"/>
              </a:spcAft>
            </a:pPr>
            <a:r>
              <a:rPr sz="1500" b="0">
                <a:solidFill>
                  <a:srgbClr val="21201C"/>
                </a:solidFill>
                <a:latin typeface="Calibri"/>
              </a:rPr>
              <a:t>out of date.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Usage and compare.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with your own email address in place of &lt;YOUR EMAIL&gt;, and read the task before it is saved.</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in the project and confirm both tasks are listed.</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then read the list of things that depend on the date.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new launch-date entry. Edit it if the wording is wrong.</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at the end of the lab.</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Usage and read the lead agent's and each thread's tokens.</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tasks are listed under Scheduled — Today's Lumo post from Lab 8 on weekdays at 9:00am and Weekly launch report on Mondays at 8:00am — both drafting and emailing only, with nothing published. Project memory records the 8 December Singapore launch, and the lead agent listed what depends on it. Project settings → Usage shows tokens for the lead agent and for each thread you started today.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Content Production and Scheduled Work</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08</a:t>
            </a:r>
          </a:p>
          <a:p>
            <a:pPr algn="l">
              <a:spcAft>
                <a:spcPts val="300"/>
              </a:spcAft>
            </a:pPr>
            <a:r>
              <a:rPr sz="1150" b="0">
                <a:solidFill>
                  <a:srgbClr val="6B6862"/>
                </a:solidFill>
                <a:latin typeface="Calibri"/>
              </a:rPr>
              <a:t>You can now produce a two-week, four-platform social calendar with one thread per channel, and schedule the daily post.</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script, storyboard and render a vertical launch video from supplied brand assets.</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schedule a weekly report beside the daily post, edit project memory and review thread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Tools: Drive and Gmail</a:t>
            </a:r>
          </a:p>
          <a:p>
            <a:pPr algn="l">
              <a:spcAft>
                <a:spcPts val="300"/>
              </a:spcAft>
            </a:pPr>
            <a:r>
              <a:rPr sz="950" b="0">
                <a:solidFill>
                  <a:srgbClr val="6B6862"/>
                </a:solidFill>
                <a:latin typeface="Calibri"/>
              </a:rPr>
              <a:t>Connect Google Drive and Gmail and use their tools to reconcile, search, save and draft, sending only what you approve.</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Analysis, Slides and Docs</a:t>
            </a:r>
          </a:p>
          <a:p>
            <a:pPr algn="l">
              <a:spcAft>
                <a:spcPts val="300"/>
              </a:spcAft>
            </a:pPr>
            <a:r>
              <a:rPr sz="950" b="0">
                <a:solidFill>
                  <a:srgbClr val="6B6862"/>
                </a:solidFill>
                <a:latin typeface="Calibri"/>
              </a:rPr>
              <a:t>Analyse survey data with Claude's code tool and Excel, and produce a launch deck and campaign brief with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use and update it on workplace messages,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Lumo data — never real customer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Drive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and the brief's numbers back against the source file.</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each drafted email and post in full; approve it only when the facts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customer.</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Watch thread usage</a:t>
            </a:r>
          </a:p>
          <a:p>
            <a:pPr algn="l">
              <a:spcAft>
                <a:spcPts val="300"/>
              </a:spcAft>
            </a:pPr>
            <a:r>
              <a:rPr sz="1150" b="0">
                <a:solidFill>
                  <a:srgbClr val="6B6862"/>
                </a:solidFill>
                <a:latin typeface="Calibri"/>
              </a:rPr>
              <a:t>Parallel threads multiply usage — check Project settings → Usage.</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real Project</a:t>
            </a:r>
          </a:p>
          <a:p>
            <a:pPr algn="l">
              <a:spcAft>
                <a:spcPts val="300"/>
              </a:spcAft>
            </a:pPr>
            <a:r>
              <a:rPr sz="1150" b="0">
                <a:solidFill>
                  <a:srgbClr val="6B6862"/>
                </a:solidFill>
                <a:latin typeface="Calibri"/>
              </a:rPr>
              <a:t>Give your next campaign a project with a goal, instructions and context.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Split one job into threads</a:t>
            </a:r>
          </a:p>
          <a:p>
            <a:pPr algn="l">
              <a:spcAft>
                <a:spcPts val="300"/>
              </a:spcAft>
            </a:pPr>
            <a:r>
              <a:rPr sz="1150" b="0">
                <a:solidFill>
                  <a:srgbClr val="6B6862"/>
                </a:solidFill>
                <a:latin typeface="Calibri"/>
              </a:rPr>
              <a:t>Next time you research competitors, give each one its own thread.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Capture your brand voice</a:t>
            </a:r>
          </a:p>
          <a:p>
            <a:pPr algn="l">
              <a:spcAft>
                <a:spcPts val="300"/>
              </a:spcAft>
            </a:pPr>
            <a:r>
              <a:rPr sz="1150" b="0">
                <a:solidFill>
                  <a:srgbClr val="6B6862"/>
                </a:solidFill>
                <a:latin typeface="Calibri"/>
              </a:rPr>
              <a:t>Turn your real brand guide into a skill your whole team shares.</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Analyse one dataset</a:t>
            </a:r>
          </a:p>
          <a:p>
            <a:pPr algn="l">
              <a:spcAft>
                <a:spcPts val="300"/>
              </a:spcAft>
            </a:pPr>
            <a:r>
              <a:rPr sz="1150" b="0">
                <a:solidFill>
                  <a:srgbClr val="6B6862"/>
                </a:solidFill>
                <a:latin typeface="Calibri"/>
              </a:rPr>
              <a:t>Attach a real export, define your terms, and check the code and the totals.</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 one routine</a:t>
            </a:r>
          </a:p>
          <a:p>
            <a:pPr algn="l">
              <a:spcAft>
                <a:spcPts val="300"/>
              </a:spcAft>
            </a:pPr>
            <a:r>
              <a:rPr sz="1150" b="0">
                <a:solidFill>
                  <a:srgbClr val="6B6862"/>
                </a:solidFill>
                <a:latin typeface="Calibri"/>
              </a:rPr>
              <a:t>Pick the post or report you produce every week and schedule the draft.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which plugins already exist before you write a skill someone has packaged.</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launch project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Claude Project with a lead agent and threads, verified market research, a Live Artefact dashboard, a deck and brief, a brand-voice skill, two weeks of social posts, a launch video and the scheduled tasks that keep it all moving.</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173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Masterclass</dc:title>
  <dc:subject>C1382 · v6.0</dc:subject>
  <dc:creator>Tertiary Infotech Academy Pte Ltd</dc:creator>
  <cp:keywords/>
  <dc:description/>
  <cp:lastModifiedBy>Tertiary Infotech Academy Pte Ltd</cp:lastModifiedBy>
  <cp:revision>1</cp:revision>
  <dcterms:created xsi:type="dcterms:W3CDTF">2013-01-27T09:14:16Z</dcterms:created>
  <dcterms:modified xsi:type="dcterms:W3CDTF">2013-01-27T09:15:58Z</dcterms:modified>
  <cp:category/>
</cp:coreProperties>
</file>