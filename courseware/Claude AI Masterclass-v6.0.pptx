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772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NON-WSQ COURSE  •  C1382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55648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>Version v6.0  ·  28 October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80"/>
            <a:ext cx="8778240" cy="1737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5200" b="1">
                <a:solidFill>
                  <a:srgbClr val="FFFFFF"/>
                </a:solidFill>
                <a:latin typeface="Cambria"/>
              </a:rPr>
              <a:t>Claude AI Masterclass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9319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>
                <a:solidFill>
                  <a:srgbClr val="D97757"/>
                </a:solidFill>
                <a:latin typeface="Cambria"/>
              </a:rPr>
              <a:t>Classic Projects Edition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43484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9B4A9"/>
                </a:solidFill>
                <a:latin typeface="Calibri"/>
              </a:rPr>
              <a:t>Projects, artefacts, connectors, skills and content — for marketing teams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UEN: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72200"/>
            <a:ext cx="7772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COURSE ADMINISTRATION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Welcome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463040"/>
            <a:ext cx="3200400" cy="272491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Introductions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Ground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Course outline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How today runs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ICE-BREAKER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Let's Know Each Other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Take a minute to introduce yourself to the class.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name and role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team you sit in and what you are responsible for.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marketing work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One piece of content or report you produce again and again.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channels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social platforms and tools your team actually uses.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goal today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you would most like Claude to take off your plate.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291840" cy="329184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mbria"/>
              </a:rPr>
              <a:t>TN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mbria"/>
              </a:rPr>
              <a:t>[ Trainer Name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[ Title / Role ]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828800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8288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Qualifications:  ____________________________________________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2670048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26700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Expertise:  _________________________________________________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3511296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351129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Experience:  ________________________________________________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0" y="4352544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6240" y="4352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Contact / Profile:  __________________________________________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291840" cy="361188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874520" y="210312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74520" y="210312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400" b="1">
                <a:solidFill>
                  <a:srgbClr val="FFFFFF"/>
                </a:solidFill>
                <a:latin typeface="Cambria"/>
              </a:rPr>
              <a:t>AC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32918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FFFFFF"/>
                </a:solidFill>
                <a:latin typeface="Cambria"/>
              </a:rPr>
              <a:t>Dr. Alfred Ang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47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AI Trainer &amp; Engineer</a:t>
            </a:r>
          </a:p>
        </p:txBody>
      </p:sp>
      <p:pic>
        <p:nvPicPr>
          <p:cNvPr id="10" name="Picture 9" descr="Claude Certified Associa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40" y="4005072"/>
            <a:ext cx="1005840" cy="100584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206240" y="1828800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28800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92040" y="1783080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PhD-qualified trainer specialising in AI, software engineering and developer tooling.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06240" y="2670048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267004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92040" y="2624328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Hands-on experience building agentic AI applications and automations with Claude.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0" y="3511296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511296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92040" y="3465576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Trains professionals across Singapore on practical, project-based AI skills.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4352544"/>
            <a:ext cx="502920" cy="502920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06240" y="435254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4306824"/>
            <a:ext cx="6766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Certifications: Claude Certified Associate (Foundations), PMP, AWS, Microsoft, CompTIA, CKA, CKAD.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5093208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509320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5093208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linkedin.com/in/angchewhoe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5093208"/>
            <a:ext cx="502920" cy="5029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0" y="5093208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0" y="5093208"/>
            <a:ext cx="32918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github.com/alfredang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HOUSEKEEPING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Ground Rules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8"/>
            <a:ext cx="494690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Phones on silent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Step out quietly if you need to take a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163056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63056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37376" y="1892808"/>
            <a:ext cx="494690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Ask as you go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 question is too small — others usually have the same one.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319272"/>
            <a:ext cx="494690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Learn by doing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Every block of theory is followed by a lab you build yourself.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3056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3319272"/>
            <a:ext cx="494690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Use the mock data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Never bring real customer or personal data into a training exercise.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745736"/>
            <a:ext cx="494690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Check before you publish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Approve every post and email against the source facts.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37376" y="4745736"/>
            <a:ext cx="4946904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Mutual respect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One conversation at a time; agree to disagree.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Course Outline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37360"/>
            <a:ext cx="359359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0116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80360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Claude Projects and Market Research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29992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The Claude family and setup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Projects: instructions, context, folder, scheduled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Parallel tasks for parallel work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Market research and Live Artefacts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737360"/>
            <a:ext cx="359359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20116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880360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Connectors, Skills and Plugins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657600"/>
            <a:ext cx="29992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Tools: built in, and added by connectors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Drive and Gmail, tool calls and the context window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Data analysis, Slides, Docs and built-in skills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Agent Skills, plugins and mods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4" y="1737360"/>
            <a:ext cx="3593592" cy="4206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75904" y="2011680"/>
            <a:ext cx="73152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75904" y="2880360"/>
            <a:ext cx="304495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Content Production and Scheduled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1624" y="3657600"/>
            <a:ext cx="2999232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One prompt, four platforms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Social post specs and brand checks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Script, storyboard, render: the video pipeline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•  Scheduled tasks and the memory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YOU'LL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Learning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54987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5498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Set up the Project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Set up a Claude Project in Cowork with instructions, context, a working folder and a project memory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954987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95498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Research in parallel tasks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Run multi-subject market research as parallel tasks in one project and consolidate it into one verified research brief.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38958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38958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81086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1086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2748686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Build a Live Artefact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Build, refine, save and download a Live Artefact dashboard from supplied research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2638958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2638958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281086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1086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48686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Tools: Drive and Gmail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Connect Google Drive and Gmail and use their tools to reconcile, search, save and draft, sending only what you approve.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94836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494836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3666743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66674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3604564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Analysis, Slides and Docs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Analyse survey data with Claude's code tool and Excel, and produce a launch deck and campaign brief with Slides and Docs using built-in skills.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494836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3494836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3666743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66674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604564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Skills and plugins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Capture a brand voice as an Agent Skill with /skill-creator, use and update it on workplace messages, and install and use a marketing plugin.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50714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350714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" y="4522621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522621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4460442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Social posts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Create a two-week, multi-platform set of social media posts using the brand-voice skill.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3056" y="4350714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3056" y="4350714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7376" y="4522621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4522621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460442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Make a launch video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Produce a short vertical launch video from a script, storyboard and supplied brand assets.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06592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5206592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60" y="5378499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378499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5316320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Schedule and review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Schedule recurring project tasks and keep the project's instructions, context and memory file current, with a human approval step.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Lesson Plan — One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9:00am – 6:00pm, with a one-hour lunch and two tea breaks.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Morning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9:00  Welcome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9:15  Topic 1 — Claude Projects and Market Research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9:45  Hands-on: Lab 1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10:10  Tea break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10:25  Hands-on: Lab 2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11:00  Topic 1 — Live Artefacts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11:10  Hands-on: Lab 3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11:50  Topic 2 — Tools and Connectors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Afternoon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12:30  Lunch break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13:30  Hands-on: Lab 4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14:05  Topic 2 — Data Analysis, Slides, Docs and Agent Skills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14:20  Hands-on: Lab 5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14:55  Hands-on: Lab 6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15:30  Tea break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15:45  Topic 2 — Plugins and mods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15:55  Hands-on: Lab 7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16:20  Topic 3 — Content Production and Scheduled Work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16:30  Hands-on: Lab 8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17:05  Hands-on: Lab 9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17:30  Hands-on: Lab 10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21201C"/>
                </a:solidFill>
                <a:latin typeface="Calibri"/>
              </a:rPr>
              <a:t>•  17:50  Recap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How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The trainer demonstrates the technique live.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Build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You build it yourself in the hands-on lab.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Check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Verify your output against the lab's check step.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Discuss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We troubleshoot together as a class.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Reuse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Take the artefact and the prompt back to your own work.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Ten labs, one continuous scenario — each lab builds on the one before 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BEFORE WE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Your Course Materials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Open the prompts page now — you will paste from it in every lab.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10049256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Copy-ready prompts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https://tertiarycourses.github.io/C1382-Claude-AI-Masterclass/prompts/ — every lab's prompt with a copy button. Keep it open in a browser tab all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53384"/>
            <a:ext cx="11064240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5024" y="3563112"/>
            <a:ext cx="10049256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files and data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https://github.com/tertiarycourses/C1382-Claude-AI-Masterclass — each lab folder holds its prompt PDF and, where needed, a data folder of mock files.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757928"/>
            <a:ext cx="11064240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867656"/>
            <a:ext cx="10049256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Learner Guide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full step-by-step for every lab, the reason for each step, and the check to run at the end.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703320"/>
            <a:ext cx="2651760" cy="2651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THE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9509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The Lumo Cold Kopi 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20624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9B4A9"/>
                </a:solidFill>
                <a:latin typeface="Calibri"/>
              </a:rPr>
              <a:t>It is late October 2026. Lumo Kopi Co. launches Lumo Cold Kopi, its first ready-to-drink canned kopi, in Singapore on 1 December — six weeks away — and in Kuala Lumpur in January. The marketing team is small, the budget is S$60,000, and nothing has been produced yet: no research, no deck, no posts, no video.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THE SCENARIO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One Brand, Ten Labs, One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92808"/>
            <a:ext cx="105613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role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are the Lumo marketing team. Instead of juggling a dozen separate chats, you run the whole launch from one Claude Project in Cowork: its instructions, brand kit and working folder are set up once, and every task you start inside it already knows the brand.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9544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319272"/>
            <a:ext cx="105613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Your mission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By the end of the day the project holds everything the launch needs — verified market research, a dashboard, a deck and brief, a brand-voice skill, two weeks of social posts, a launch video — and scheduled tasks that keep it moving while you are away.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636008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745736"/>
            <a:ext cx="1056132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Synthetic data only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All brands, figures, survey answers and documents in this course are synthetic and used for training only.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7315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Claude Projects and Market Research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463040"/>
            <a:ext cx="3200400" cy="272491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The Claude family and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Projects: instructions, context, folder, scheduled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Parallel tasks for parallel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Market research and Live Artefacts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Claude Product Family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Anthropic offers several Claude products — here's how they differ so you know which is which.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78024"/>
            <a:ext cx="484632" cy="4846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78024"/>
            <a:ext cx="48463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0837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(Chat + Cowork)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346704"/>
            <a:ext cx="3108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6862"/>
                </a:solidFill>
                <a:latin typeface="Calibri"/>
              </a:rPr>
              <a:t>Chat + Cowork in one app — web, desktop &amp; mobile.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2286000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0" y="2478024"/>
            <a:ext cx="484632" cy="4846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478024"/>
            <a:ext cx="48463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00837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346704"/>
            <a:ext cx="3108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6862"/>
                </a:solidFill>
                <a:latin typeface="Calibri"/>
              </a:rPr>
              <a:t>The agentic tool for building — terminal, IDE &amp; web.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2286000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21040" y="2478024"/>
            <a:ext cx="484632" cy="4846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2478024"/>
            <a:ext cx="48463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300837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Design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46704"/>
            <a:ext cx="3108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6862"/>
                </a:solidFill>
                <a:latin typeface="Calibri"/>
              </a:rPr>
              <a:t>Polished UI, prototypes &amp; front-end designs.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77640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" y="4169664"/>
            <a:ext cx="484632" cy="4846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169664"/>
            <a:ext cx="48463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470001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for Microsoft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038344"/>
            <a:ext cx="3108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6862"/>
                </a:solidFill>
                <a:latin typeface="Calibri"/>
              </a:rPr>
              <a:t>Claude inside Excel, PowerPoint, Word &amp; Outlook.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80" y="3977640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4169664"/>
            <a:ext cx="484632" cy="4846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0" y="4169664"/>
            <a:ext cx="48463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Cambria"/>
              </a:rPr>
              <a:t>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470001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for Chrome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038344"/>
            <a:ext cx="3108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6862"/>
                </a:solidFill>
                <a:latin typeface="Calibri"/>
              </a:rPr>
              <a:t>Browser agent that clicks &amp; fills forms in Chrome.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46720" y="3977640"/>
            <a:ext cx="3566160" cy="1508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4169664"/>
            <a:ext cx="484632" cy="4846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4169664"/>
            <a:ext cx="484632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700016"/>
            <a:ext cx="310896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for Science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5038344"/>
            <a:ext cx="31089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6B6862"/>
                </a:solidFill>
                <a:latin typeface="Calibri"/>
              </a:rPr>
              <a:t>Speeds up research workflows for scientists and labs.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641848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All are powered by the same Claude models — they differ in where they run and who they're for. Projects span Claude and Claude Code.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Claude (Chat + Cowork) and Claude Code</a:t>
            </a:r>
          </a:p>
        </p:txBody>
      </p:sp>
      <p:sp>
        <p:nvSpPr>
          <p:cNvPr id="5" name="Oval 4"/>
          <p:cNvSpPr/>
          <p:nvPr/>
        </p:nvSpPr>
        <p:spPr>
          <a:xfrm>
            <a:off x="2855214" y="1783080"/>
            <a:ext cx="713232" cy="71323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855214" y="178308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33472"/>
            <a:ext cx="53263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Claude (Chat + Cowork)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5326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“Thinking and work partner — this course”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2686" y="3456432"/>
            <a:ext cx="18288" cy="64008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2686" y="3584448"/>
            <a:ext cx="18288" cy="64008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2686" y="3712464"/>
            <a:ext cx="18288" cy="64008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4069080"/>
            <a:ext cx="53263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57450" y="3877056"/>
            <a:ext cx="1508760" cy="38404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57450" y="3877056"/>
            <a:ext cx="1508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Best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379976"/>
            <a:ext cx="48691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Chat: ask, draft, analyse and research with web search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Cowork: plans and runs multi-step tasks on your files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Projects, connectors and skills: Drive, Gmail, Calendar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For everyone — web, desktop and mobile apps</a:t>
            </a:r>
          </a:p>
        </p:txBody>
      </p:sp>
      <p:sp>
        <p:nvSpPr>
          <p:cNvPr id="16" name="Oval 15"/>
          <p:cNvSpPr/>
          <p:nvPr/>
        </p:nvSpPr>
        <p:spPr>
          <a:xfrm>
            <a:off x="8593074" y="1783080"/>
            <a:ext cx="713232" cy="71323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93074" y="1783080"/>
            <a:ext cx="7132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FFFFFF"/>
                </a:solidFill>
                <a:latin typeface="Cambria"/>
              </a:rPr>
              <a:t>Co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2633472"/>
            <a:ext cx="53263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Claude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6500" y="3017520"/>
            <a:ext cx="53263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6B6862"/>
                </a:solidFill>
                <a:latin typeface="Calibri"/>
              </a:rPr>
              <a:t>“Build partner”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40546" y="3456432"/>
            <a:ext cx="18288" cy="64008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40546" y="3584448"/>
            <a:ext cx="18288" cy="64008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40546" y="3712464"/>
            <a:ext cx="18288" cy="64008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86500" y="4069080"/>
            <a:ext cx="5326380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95310" y="3877056"/>
            <a:ext cx="1508760" cy="384048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95310" y="3877056"/>
            <a:ext cx="15087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Best for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0820" y="4379976"/>
            <a:ext cx="486918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Builds software, sites and automations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Runs in the terminal, VS Code, desktop app and web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Edits files, runs commands and calls MCP tools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Extended with CLAUDE.md, skills, sub agents and hooks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Chat and Cowork are now one app: Claude. A marketing team works there — and a Project ties the work together around one goal.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 Brief History of AI, 2023–2026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657600"/>
            <a:ext cx="9418320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Prompt Engineering</a:t>
            </a:r>
          </a:p>
        </p:txBody>
      </p:sp>
      <p:sp>
        <p:nvSpPr>
          <p:cNvPr id="7" name="Oval 6"/>
          <p:cNvSpPr/>
          <p:nvPr/>
        </p:nvSpPr>
        <p:spPr>
          <a:xfrm>
            <a:off x="1691640" y="324612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2023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2519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ChatGPT goes mainstream; results depend on the prompt wording.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488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Context Engineering</a:t>
            </a:r>
          </a:p>
        </p:txBody>
      </p:sp>
      <p:sp>
        <p:nvSpPr>
          <p:cNvPr id="11" name="Oval 10"/>
          <p:cNvSpPr/>
          <p:nvPr/>
        </p:nvSpPr>
        <p:spPr>
          <a:xfrm>
            <a:off x="4526280" y="324612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42519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Models call tools and MCP launches; results depend on context.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488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Harness Engineering</a:t>
            </a:r>
          </a:p>
        </p:txBody>
      </p:sp>
      <p:sp>
        <p:nvSpPr>
          <p:cNvPr id="15" name="Oval 14"/>
          <p:cNvSpPr/>
          <p:nvPr/>
        </p:nvSpPr>
        <p:spPr>
          <a:xfrm>
            <a:off x="7360920" y="324612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60920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2025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519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Claude Code &amp; Codex: systems that plan, act and check their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2148840"/>
            <a:ext cx="27432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AI Agents</a:t>
            </a:r>
          </a:p>
        </p:txBody>
      </p:sp>
      <p:sp>
        <p:nvSpPr>
          <p:cNvPr id="19" name="Oval 18"/>
          <p:cNvSpPr/>
          <p:nvPr/>
        </p:nvSpPr>
        <p:spPr>
          <a:xfrm>
            <a:off x="10195560" y="3246120"/>
            <a:ext cx="822960" cy="8229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95560" y="3246120"/>
            <a:ext cx="822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9720" y="4251960"/>
            <a:ext cx="28346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Always-on agents work 24/7 — OpenClaw, Hermes Agent, agent teams.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From wording one prompt → curating context → engineering the harness → AI agents that work around the clock.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  <p:transition spd="med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What Cowork Mode Adds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Five things a chat window cannot 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018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018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48412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484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798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Access local files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Read, write and reorganise the folders on your computer.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018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018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48412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4841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798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Write &amp; run code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 writes the code a task needs — a chart, a video — and runs it for you.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31464"/>
            <a:ext cx="5449824" cy="1018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331464"/>
            <a:ext cx="54864" cy="1018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441192"/>
            <a:ext cx="4434840" cy="798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Connect to 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Reach Google Drive, Gmail and Calendar through connectors.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331464"/>
            <a:ext cx="5449824" cy="1018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331464"/>
            <a:ext cx="54864" cy="1018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441192"/>
            <a:ext cx="4434840" cy="798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Skills &amp; plugins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Reusable instructions it loads on demand, shareable with your team.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514088"/>
            <a:ext cx="5449824" cy="1018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514088"/>
            <a:ext cx="54864" cy="101803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48493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48493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623816"/>
            <a:ext cx="4434840" cy="7985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Agent loop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Plan, act, check, correct — it keeps working until the task is done.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Together these are why Claude finishes a task instead of describing how to do it.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  <p:transition spd="med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Claude Plans and Pricing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Free lets you try Claude; Cowork, scheduled tasks and full Projects need Pro or Max.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26289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468880"/>
            <a:ext cx="566928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68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54680"/>
            <a:ext cx="2125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Free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639312"/>
            <a:ext cx="2125980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$0. Chat, Slides, Docs, connectors and skills, up to five projects. Sonnet and Haiku.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60420" y="2194560"/>
            <a:ext cx="26289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34740" y="2468880"/>
            <a:ext cx="566928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34740" y="2468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4740" y="3154680"/>
            <a:ext cx="2125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Pro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4740" y="3639312"/>
            <a:ext cx="2125980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$17/mo billed annually · $20 monthly. Cowork, Projects, scheduled tasks and Opus.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2194560"/>
            <a:ext cx="26289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46520" y="2468880"/>
            <a:ext cx="566928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2468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154680"/>
            <a:ext cx="2125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Max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639312"/>
            <a:ext cx="2125980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From $100/mo — 5× or 20× Pro's usage, priority at busy times, $100–$200/mo API credits.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83980" y="2194560"/>
            <a:ext cx="262890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258300" y="2468880"/>
            <a:ext cx="566928" cy="566928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58300" y="2468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58300" y="3154680"/>
            <a:ext cx="21259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21201C"/>
                </a:solidFill>
                <a:latin typeface="Cambria"/>
              </a:rPr>
              <a:t>Team · 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300" y="3639312"/>
            <a:ext cx="2125980" cy="9784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Team $20/seat annual ($25 monthly), premium seats $100. Enterprise $20/seat + usage.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11064240" cy="77724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892040"/>
            <a:ext cx="10515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Parallel tasks multiply usage: four tasks cost roughly four times one chat. Watch Settings → Usage.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806440"/>
            <a:ext cx="11064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TIP  </a:t>
            </a:r>
            <a:r>
              <a:rPr sz="1300" b="0">
                <a:solidFill>
                  <a:srgbClr val="6B6862"/>
                </a:solidFill>
                <a:latin typeface="Calibri"/>
              </a:rPr>
              <a:t>Usage resets every five hours, with weekly limits on paid plans. US$ prices as of 27 October 2026 — verify at claude.com/pricing.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  <p:transition spd="med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Check Your Plan and Usage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1438864" y="1600200"/>
            <a:ext cx="5123271" cy="4297679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38864" y="1600200"/>
            <a:ext cx="5123271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account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8592" y="1709928"/>
            <a:ext cx="4903815" cy="407822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Usage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How much of your five-hour and weekly limits you have used.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View all plans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Compare Free, Pro, Max, Team and Enterprise, and upgrade.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Settings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Your profile, connectors and capabilities. Shortcut: Ctrl + comma.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Click your name at the bottom of the sidebar — the plan shows beside it (here, Max).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  <p:transition spd="med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Claude Models: Haiku, Sonnet, Opus and Fable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Four families, smallest to most capable; all read up to 1M tokens. API prices are US$ per million tokens, input · output.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194560"/>
            <a:ext cx="244381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What it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7098" y="2194560"/>
            <a:ext cx="283260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Use it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8306" y="2194560"/>
            <a:ext cx="7775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API price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94484" y="2194560"/>
            <a:ext cx="144407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On plans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60320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51760"/>
            <a:ext cx="210312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Haiku 5.5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80" y="2651760"/>
            <a:ext cx="244381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Fastest, most cost-efficient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27098" y="2651760"/>
            <a:ext cx="283260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Quick, high-volume jobs: tagging, short replies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88306" y="2651760"/>
            <a:ext cx="7775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$0.10 / $0.50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94484" y="2651760"/>
            <a:ext cx="144407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All plans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39471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94710"/>
            <a:ext cx="210312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Sonnet 5.5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3394710"/>
            <a:ext cx="244381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High performance for coding and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27098" y="3394710"/>
            <a:ext cx="283260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Everyday drafting, research and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88306" y="3394710"/>
            <a:ext cx="7775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$2 / $10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94484" y="3394710"/>
            <a:ext cx="144407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All plans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413766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4137660"/>
            <a:ext cx="210312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Opus 5.5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54680" y="4137660"/>
            <a:ext cx="244381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Daily driver for agentic and enterprise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7098" y="4137660"/>
            <a:ext cx="283260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Multi-step projects, parallel work, careful reviews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88306" y="4137660"/>
            <a:ext cx="7775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$4 / $20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94484" y="4137660"/>
            <a:ext cx="144407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Pro and above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88061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880610"/>
            <a:ext cx="2103120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Fable 5.1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54680" y="4880610"/>
            <a:ext cx="244381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Most capable, for long-running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27098" y="4880610"/>
            <a:ext cx="283260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hardest, longest jobs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8306" y="4880610"/>
            <a:ext cx="777578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$10 / $50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4484" y="4880610"/>
            <a:ext cx="1444074" cy="7429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Max; Pro via usage credits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62356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Pick the model from the model menu. Bigger models think harder and use more of your plan — save Fable for the jobs that need it.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  <p:transition spd="med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Pick a Model in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11137"/>
            <a:ext cx="6903720" cy="3875805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11137"/>
            <a:ext cx="690372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model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20865"/>
            <a:ext cx="6684264" cy="365634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164592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459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6420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Fable 5.1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For your toughest challenges — uses the most of your plan.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6974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697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1576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Opus 5.5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Complex work and everyday tasks.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37490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7490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76732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Sonnet 5.5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Efficient for most jobs — a sensible default.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480060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8006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1888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Haiku 5.5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Fastest, for quick answers.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model menu sits under the message box of every new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Effort: How Hard Claude Thinks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24329"/>
            <a:ext cx="6903720" cy="424942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24329"/>
            <a:ext cx="690372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effort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34057"/>
            <a:ext cx="6684264" cy="402996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Low · Medium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Quick, everyday work. Medium is the recommended default.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High · Extra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Harder problems: more thorough, but slower and uses your limits faster.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Max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Five times or more the usage — save it for the hardest job.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Model menu → Effort. Medium is recommended for most work.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  <p:transition spd="med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Set Up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Projects, Cowork mode and Live Artefacts run in the Claude desktop app on a paid plan.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Install the desktop app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Download Claude for Mac or Windows from claude.ai/download — Projects, Cowork and Live Artefacts all run there.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Sign in on a paid plan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the account that has your Pro or Max subscription.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Find Projects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Switch to Cowork and open Projects from the sidebar — each project is backed by a folder on your computer.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Download the lab files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Get the course labs from the GitHub repository; each lab has a prompt PDF and a data folder.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Enable what it needs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Turn on only the connectors a lab needs, from the + menu.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Keep the app open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Tasks and local scheduled tasks stop when the app closes.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  <p:transition spd="med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Permission Mode: Manual or Auto</a:t>
            </a:r>
          </a:p>
        </p:txBody>
      </p:sp>
      <p:sp>
        <p:nvSpPr>
          <p:cNvPr id="5" name="Rectangle 4"/>
          <p:cNvSpPr/>
          <p:nvPr/>
        </p:nvSpPr>
        <p:spPr>
          <a:xfrm>
            <a:off x="1206371" y="1600200"/>
            <a:ext cx="5588257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6371" y="1600200"/>
            <a:ext cx="5588257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permission-m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099" y="1709928"/>
            <a:ext cx="5368801" cy="40782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Manual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Claude asks before it uses a new tool or opens a new site.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Auto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Claude runs on its own and pauses to ask only if something looks unsafe.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Which to use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Manual while you learn a new connector; Auto once you trust the job.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menu beside the model sets how freely Claude acts in a session.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  <p:transition spd="med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Claude Projects in Cowork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Set up the brand and the rules once; every task starts from them.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One-off 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chat for copy, one for visuals, one for competitors.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Re-attach the brand kit every time.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Restate the rules from memory each time.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Outputs scattered across conversations.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Nothing for a colleague to pick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 Claude Project in Cowork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Instructions written once, followed by every task.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The brand kit added once as context.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real working folder Claude reads and writes.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Scheduled tasks that belong to the project.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Hand the folder to a colleague and they are ready.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  <p:transition spd="med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Project vs Session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project keeps the setup; a session does one piece of work inside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A session — one piece of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One conversation with Claude: a chat, or a task in Cowork.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Has its own context window, which fills up as you work.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Ends when the job is done; the next session starts blank.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Remembers only what was said inside it.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Lumo: “Draft the Instagram launch post.”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 project — the whole goal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lasting workspace that holds many sessions.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Its instructions, context and folder load into every session.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Stays until you delete it — for weeks or months.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What one session decides, the next reads from the memory file.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Lumo: “Lumo Cold Kopi Launch.”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  <p:transition spd="med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How Sessions Sit Inside a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57400"/>
            <a:ext cx="11091672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31436" y="1847088"/>
            <a:ext cx="2926080" cy="420624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31436" y="1847088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Claude Project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2103120" cy="914400"/>
          </a:xfrm>
          <a:prstGeom prst="rect">
            <a:avLst/>
          </a:prstGeom>
          <a:solidFill>
            <a:srgbClr val="D6EFD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78992" y="2386584"/>
            <a:ext cx="571500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2386584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706624"/>
            <a:ext cx="188366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Start each session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inside the 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834640"/>
            <a:ext cx="54864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◀ 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66160" y="2560320"/>
            <a:ext cx="3291840" cy="914400"/>
          </a:xfrm>
          <a:prstGeom prst="rect">
            <a:avLst/>
          </a:prstGeom>
          <a:solidFill>
            <a:srgbClr val="F7DAC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30752" y="2386584"/>
            <a:ext cx="1728216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2386584"/>
            <a:ext cx="172821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Project set-up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5888" y="2706624"/>
            <a:ext cx="3072384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Instructions · Context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Folder · Scheduled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23760" y="2560320"/>
            <a:ext cx="4050792" cy="914400"/>
          </a:xfrm>
          <a:prstGeom prst="rect">
            <a:avLst/>
          </a:prstGeom>
          <a:solidFill>
            <a:srgbClr val="D6E6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88352" y="2386584"/>
            <a:ext cx="571500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88352" y="2386584"/>
            <a:ext cx="57150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Key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706624"/>
            <a:ext cx="3831336" cy="69494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Project = the lasting workspace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Session = one conversation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Each session starts fresh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200650" y="3474720"/>
            <a:ext cx="22860" cy="201167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106549" y="3675887"/>
            <a:ext cx="7975854" cy="2286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95119" y="3675887"/>
            <a:ext cx="22860" cy="173737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4023360"/>
            <a:ext cx="2384298" cy="868680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78992" y="3849624"/>
            <a:ext cx="1202436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849624"/>
            <a:ext cx="12024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Session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" y="4169664"/>
            <a:ext cx="216484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Market research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Monday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753737" y="3675887"/>
            <a:ext cx="22860" cy="173737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73018" y="4023360"/>
            <a:ext cx="2384298" cy="868680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737610" y="3849624"/>
            <a:ext cx="1202436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37610" y="3849624"/>
            <a:ext cx="12024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Session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82746" y="4169664"/>
            <a:ext cx="216484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Instagram post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Tuesday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12355" y="3675887"/>
            <a:ext cx="22860" cy="173737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231636" y="4023360"/>
            <a:ext cx="2384298" cy="868680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96228" y="3849624"/>
            <a:ext cx="1202436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96228" y="3849624"/>
            <a:ext cx="12024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Session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1364" y="4169664"/>
            <a:ext cx="216484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Launch video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Wednesday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070973" y="3675887"/>
            <a:ext cx="22860" cy="173737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890254" y="4023360"/>
            <a:ext cx="2384298" cy="868680"/>
          </a:xfrm>
          <a:prstGeom prst="rect">
            <a:avLst/>
          </a:prstGeom>
          <a:solidFill>
            <a:srgbClr val="FAE6B0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54846" y="3849624"/>
            <a:ext cx="1202436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4846" y="3849624"/>
            <a:ext cx="12024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Scheduled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9982" y="4169664"/>
            <a:ext cx="2164842" cy="6492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Post drafts</a:t>
            </a:r>
          </a:p>
          <a:p>
            <a:pPr algn="ctr">
              <a:spcAft>
                <a:spcPts val="100"/>
              </a:spcAft>
            </a:pPr>
            <a:r>
              <a:rPr sz="1150" b="0">
                <a:solidFill>
                  <a:srgbClr val="21201C"/>
                </a:solidFill>
                <a:latin typeface="Courier New"/>
              </a:rPr>
              <a:t>every Monday 9am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4400" y="5074920"/>
            <a:ext cx="10360152" cy="411480"/>
          </a:xfrm>
          <a:prstGeom prst="rect">
            <a:avLst/>
          </a:prstGeom>
          <a:solidFill>
            <a:srgbClr val="FAE6B0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4400" y="5074920"/>
            <a:ext cx="103601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21201C"/>
                </a:solidFill>
                <a:latin typeface="Courier New"/>
              </a:rPr>
              <a:t>Memory file in the folder: what one session decides, the next one reads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58338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Close a session and its chat ends, but the project's instructions, context, folder and memory file are still there for the next one.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Inside a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057400"/>
            <a:ext cx="102412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7720" y="1847088"/>
            <a:ext cx="2926080" cy="420624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47088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Claude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ourier New"/>
              </a:rPr>
              <a:t>A folder-backed project with four panels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26080"/>
            <a:ext cx="2926080" cy="996696"/>
          </a:xfrm>
          <a:prstGeom prst="rect">
            <a:avLst/>
          </a:prstGeom>
          <a:solidFill>
            <a:srgbClr val="F7DAC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2752344"/>
            <a:ext cx="1517904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752344"/>
            <a:ext cx="151790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Instructions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72384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Rules every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task follows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926080"/>
            <a:ext cx="2926080" cy="996696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82312" y="2752344"/>
            <a:ext cx="992124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752344"/>
            <a:ext cx="992124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072384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Files Claude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reads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926080"/>
            <a:ext cx="2926080" cy="996696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2712" y="2752344"/>
            <a:ext cx="886968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2752344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Folder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072384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Where Claude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works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4398264"/>
            <a:ext cx="2926080" cy="996696"/>
          </a:xfrm>
          <a:prstGeom prst="rect">
            <a:avLst/>
          </a:prstGeom>
          <a:solidFill>
            <a:srgbClr val="FAE6B0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81912" y="4224528"/>
            <a:ext cx="1202436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81912" y="4224528"/>
            <a:ext cx="1202436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Scheduled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544568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Tasks on a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timetable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398264"/>
            <a:ext cx="2926080" cy="996696"/>
          </a:xfrm>
          <a:prstGeom prst="rect">
            <a:avLst/>
          </a:prstGeom>
          <a:solidFill>
            <a:srgbClr val="D6EFD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82312" y="4224528"/>
            <a:ext cx="1307592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224528"/>
            <a:ext cx="130759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Your tasks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544568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Run one or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several at once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4398264"/>
            <a:ext cx="2926080" cy="996696"/>
          </a:xfrm>
          <a:prstGeom prst="rect">
            <a:avLst/>
          </a:prstGeom>
          <a:solidFill>
            <a:srgbClr val="FAE6B0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82712" y="4224528"/>
            <a:ext cx="1412748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4224528"/>
            <a:ext cx="141274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Memory file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4544568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Decisions kept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in the folder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Every task you start in the project reads its instructions, context and folder. Start several at once and they run in parallel — one task per subject.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 Project Answers Four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four panels on the project page, each answering one question.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How Claude must work: brand voice, prices in S$, ask before sending — rules every task follows.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Claude needs to know: brand guidelines, product sheet, launch brief — read, never edited.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Where Claude works: the real folder on your computer it reads data from and saves outputs 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When work runs without you: Monday 9am the week's post drafts, Friday the weekly report.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memory file in the folder keeps what each session decides for the next.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Project Page in the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2951468" y="1600200"/>
            <a:ext cx="625858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51468" y="1600200"/>
            <a:ext cx="625858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add-f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1196" y="1709928"/>
            <a:ext cx="6039128" cy="23865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44568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Instructions · Context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HOW and WHAT — click Add to write the rules or attach reference files.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544568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Add folder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WHERE — under the message box, pick the folder Claude reads from and saves to.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544568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Memory · Scheduled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What Claude has learned about the project, and WHEN tasks run on their own.</a:t>
            </a:r>
          </a:p>
        </p:txBody>
      </p:sp>
      <p:sp>
        <p:nvSpPr>
          <p:cNvPr id="17" name="Oval 16"/>
          <p:cNvSpPr/>
          <p:nvPr/>
        </p:nvSpPr>
        <p:spPr>
          <a:xfrm>
            <a:off x="905256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4544568"/>
            <a:ext cx="2103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New session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Type in the box to start a session; earlier sessions are listed beneath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project from the class: the goal under its name, the project's panels on the right.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+ Menu: What a Session Can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55436"/>
            <a:ext cx="6903720" cy="3787208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55436"/>
            <a:ext cx="690372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plus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164"/>
            <a:ext cx="6684264" cy="3567752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164592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459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6420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Files and folders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Upload a file, or add a folder, for this session.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6974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697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1576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Skills · Connectors · Plugins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Choose what the session may use — the brand-voice skill, Gmail, a plugin.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37490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7490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76732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Record a skill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Capture a routine you show Claude as a new skill.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480060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8006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1888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Research · Memory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Deeper web research; the tick shows the session uses project memory.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Click + in the message box to bring files and tools into the session.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When to Use a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50545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5054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long-running goal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 keeps arriving for weeks — a product launch, a channel, an app.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250545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50545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job that splits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One big job breaks into pieces that can run at once — assets, ads, competitors, email.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3989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73989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4622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622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84962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Lots of research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Many subjects to look into — one task per competitor, market or segment.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373989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373989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44622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44622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84962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Regular routines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Work that repeats on a timetable — scheduled tasks that belong to the project.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one-off question that is done in one reply? Use an ordinary chat.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Anatomy of a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four panels on the project page, the tasks you run, and the memory file you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Standing rules you write: brand voice, currency, never publish without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Documents Claude READS and never edits — the brand guidelines, product sheet and launch brief.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real folder on your computer where Claude WORKS: it reads the data there and writes output back.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Recurring tasks that belong to this project — the daily post draft, the weekly report.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Tasks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Each job you start in the project. Several can run at once, one per subject.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Memory file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lumo-project-memory.md in the folder: decisions you ask Claude to record, read by every later task.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Creating a Project, Field by Field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New project opens the Create a project dialog.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77266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343150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343150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9692640" cy="7726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What are you working on?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project's name — Lumo Cold Kopi Launch. This is how you find it in the sidebar.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49524"/>
            <a:ext cx="11064240" cy="77266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24383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4383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049524"/>
            <a:ext cx="9692640" cy="7726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What are you trying to achieve?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goal in two or three sentences. Every task in the project inherits it.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50208"/>
            <a:ext cx="11064240" cy="77266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14451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4451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950208"/>
            <a:ext cx="9692640" cy="7726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Use a folder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Point the project at a folder on your computer, so the files and outputs are yours to open.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850892"/>
            <a:ext cx="11064240" cy="77266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5045202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04520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850892"/>
            <a:ext cx="9692640" cy="7726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Create project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project page opens with four panels: Instructions, Context, Folder and Scheduled.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Start a new project from Projects in Cowork. The instructions and context are added afterwards, from the project page.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Instructions vs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Quick test: a sentence that starts Always, Never or Write in… is an instruction. A document is context.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Instructions — how to behave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Short standing rules you write in the Instructions panel.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Followed by every session in the project.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If an output breaks a rule, fix the instruction here.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Keep them short: they are loaded into every session.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Lumo: “Prices in S$. No health claims. Ask before sending.”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Context — what to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Reference documents Claude reads but never edits.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Files you add in the Context panel.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If a fact in an output is wrong, fix or replace the file.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Add them once; you never re-attach them again.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Lumo: brand guidelines, product sheet, launch brief.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Instructions, Context or Memory?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When the output is wrong, this tells you which one to edit.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194560"/>
            <a:ext cx="24145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Instructions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7867" y="2194560"/>
            <a:ext cx="241458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1054" y="2194560"/>
            <a:ext cx="289750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Memory file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10312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Who writes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51760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You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7867" y="2651760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You add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1054" y="2651760"/>
            <a:ext cx="2897505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Claude, when you ask it 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19272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19272"/>
            <a:ext cx="210312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What it holds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19272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Rules and style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97867" y="3319272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Files to read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1054" y="3319272"/>
            <a:ext cx="2897505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Decisions and facts to keep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98678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86784"/>
            <a:ext cx="210312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Lumo example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986784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Prices in S$; no health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97867" y="3986784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Brand guidelines, launch brief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1054" y="3986784"/>
            <a:ext cx="2897505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Launch date moved to 8 December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654296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654296"/>
            <a:ext cx="210312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Edit it 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654296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Instructions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97867" y="4654296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Context panel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1054" y="4654296"/>
            <a:ext cx="2897505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lumo-project-memory.md in the folder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32180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321808"/>
            <a:ext cx="2103120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When output is wrong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321808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Tighten the rule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97867" y="5321808"/>
            <a:ext cx="2414587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Add the missing file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41054" y="5321808"/>
            <a:ext cx="2897505" cy="6675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Correct the line in the file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98932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  <p:transition spd="med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Where Each Part Lives in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Every part of a project, where you click to find it, and the Lumo example.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Part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194560"/>
            <a:ext cx="264914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Where you find it in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2427" y="2194560"/>
            <a:ext cx="272273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3761" y="2194560"/>
            <a:ext cx="235479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Lumo example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51760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Cowork → Projects → the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2427" y="2651760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Stays set up for weeks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83761" y="2651760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Lumo Cold Kopi Launch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12855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128554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Session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128554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A new task inside the project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2427" y="3128554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Starts fresh; the setup still applies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83761" y="3128554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Draft the Instagram 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60534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605348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Instructions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605348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The Instructions panel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2427" y="3605348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How every session must behave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83761" y="3605348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Prices in S$; no health claims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082142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082142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082142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The Context panel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2427" y="4082142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What Claude reads, never edits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83761" y="4082142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Brand guidelines, product sheet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4558936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4558936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Folder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4558936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The Folder panel — a real folder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32427" y="4558936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Where work is done and left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83761" y="4558936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Survey CSV in, posts out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" y="503573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" y="5035730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Scheduled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5035730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The Scheduled panel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32427" y="5035730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Work that runs on a timetable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3761" y="5035730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Monday 9am: the week's posts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551252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5512524"/>
            <a:ext cx="2103120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Memory file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5512524"/>
            <a:ext cx="264914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lumo-project-memory.md in the folder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032427" y="5512524"/>
            <a:ext cx="2722734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Decisions kept between sessions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83761" y="5512524"/>
            <a:ext cx="2354797" cy="47679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Launch price confirmed at S$3.90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2960" y="598931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  <p:transition spd="med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PROJECTS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Why a Project?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dedicated place for ongoing work, where context builds over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Working in one-off chats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You re-attach the brand kit every session.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Rules are restated from memory each time.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Research, posts and artefacts are scattered.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colleague has to be told how you set it up.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Work stops when you stop typing.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Working in a Claude Project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Context is added once and read by every task.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Instructions apply to every task in the project.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Outputs land together in the project folder.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colleague opens the folder and is ready.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Scheduled tasks run while you are away.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  <p:transition spd="med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COMING SOON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Coming Soon: Projects with a Lead Agent and Threads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Anthropic redesigned Claude Projects in September 2026. The new version is in beta, rolling out to Pro and Max accounts first — if your Projects page shows a Goal and talks about threads, you already have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5449824" cy="1048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54864" cy="10485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36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36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532888"/>
            <a:ext cx="4434840" cy="829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Lead agent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state a goal once; a coordinator plans the work, splits it and merges the results.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423160"/>
            <a:ext cx="5449824" cy="1048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423160"/>
            <a:ext cx="54864" cy="10485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7736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736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532888"/>
            <a:ext cx="4434840" cy="829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Parallel threads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lead agent starts one thread per subject itself — what you do by hand with tasks in Lab 2.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36264"/>
            <a:ext cx="5449824" cy="1048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36264"/>
            <a:ext cx="54864" cy="10485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98678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9867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745992"/>
            <a:ext cx="4434840" cy="829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Goal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One outcome statement that every decision in the project steers toward.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636264"/>
            <a:ext cx="5449824" cy="1048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636264"/>
            <a:ext cx="54864" cy="10485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98678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98678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745992"/>
            <a:ext cx="4434840" cy="829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Project memory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Memory the project writes and you edit in settings — replacing the memory file you keep in Lab 1.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849368"/>
            <a:ext cx="5449824" cy="1048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849368"/>
            <a:ext cx="54864" cy="10485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9988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998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959096"/>
            <a:ext cx="4434840" cy="829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Usage per thread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Project settings show the tokens used by the lead agent and by each thread.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849368"/>
            <a:ext cx="5449824" cy="10485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849368"/>
            <a:ext cx="54864" cy="104851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9988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9988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959096"/>
            <a:ext cx="4434840" cy="8290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Cloud environment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Threads keep working in the cloud with your laptop closed.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  <p:transition spd="med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COMING SOON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Today's Labs on the New Projects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51435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In today's labs (classic)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5060" y="1874519"/>
            <a:ext cx="51435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With the new Projects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240279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331719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Lab 2: you start four tasks, then a merge task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5060" y="2331719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One message; the lead agent starts four threads and merges them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99008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90087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Lab 8: one task drafts all four platforms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5060" y="2990087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One thread per platform, merged into one calendar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648455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648455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lumo-project-memory.md in the folder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5060" y="3648455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Project settings → Memory, editable memory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306823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06823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Instructions panel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5060" y="4306823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Project instructions under settings, plus a Goal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965191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965191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Settings → Usage for your whole 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5060" y="4965191"/>
            <a:ext cx="514350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Usage per thread for this project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562355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Everything you build today carries over: skills, connectors, artefacts and scheduled tasks work the same way. The Threads edition of this course runs the same ten labs on the new Projects — see the course repository.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  <p:transition spd="med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01 ·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Key Concepts — Claude Projects and Market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Claude Project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home for a long-running body of work. Its rules, files and outputs build up instead of resetting each chat.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Backed by a folder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 Cowork a project points at a real folder on your computer — Claude works there, and you can open it yourself.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Standing rules every task in the project follows: currency, brand voice, approval before sending.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vs Folder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Context is what Claude reads and never edits. Folder is where it works — reading data and writing output.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Parallel tasks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Several tasks can run in one project at once — one per subject — and a final task merges their files.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Live Artefacts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Interactive tools — dashboards, trackers — that persist in your workspace instead of scrolling away in chat.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  <p:transition spd="med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Set Up the Lumo Launch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Create a Claude Project in Cowork with instructions, context, a working folder and a memory file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Lumo Kopi Co. launches Lumo Cold Kopi in six weeks, and the marketing work will keep coming until launch day — exactly what a Claude Project is for. You create the Lumo Cold Kopi Launch project in Cowork, point it at a working folder, write its standing instructions, add the brand kit as context, and check that Claude understood all of it. Every later lab runs inside this project.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The Lumo Cold Kopi Launch project, with instructions, three context files, a working folder and a project memory file.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desktop app (Cowork), Claude Projects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</p:spTree>
  </p:cSld>
  <p:clrMapOvr>
    <a:masterClrMapping/>
  </p:clrMapOvr>
  <p:transition spd="med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01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Set up: paste Block 2 into the Instructions panel — S$ prices, brand guidelines, no health claims, approval first.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Set up: add the brand kit in the Context panel — guidelines, product sheet and launch brief.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Set up: point the project at your Lumo Launch folder; lumo-project-memory.md starts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yet — Lab 8 adds the first scheduled task.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</p:spTree>
  </p:cSld>
  <p:clrMapOvr>
    <a:masterClrMapping/>
  </p:clrMapOvr>
  <p:transition spd="med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THE PROMPT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GOAL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13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13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45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Launch Lumo Cold Kopi in Singapore on 1 December 2026.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Produce the market research, a launch deck, a campaign brief,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two weeks of social media posts and a 15-second launch video,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within a S$60,000 budget, so that 25-34 year-olds on Instagram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and TikTok know the product exists by launch 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Name: Lumo Cold Kopi Launch. Use a folder: your empty Lumo Launch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</p:spTree>
  </p:cSld>
  <p:clrMapOvr>
    <a:masterClrMapping/>
  </p:clrMapOvr>
  <p:transition spd="med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THE PROMPT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INSTRUCTIONS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154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You are the marketing team for Lumo Kopi Co.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Prices are in Singapore dollars: S$3.90 per can, S$42.00 per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12-pack. Always two decimals.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Follow lumo-brand-guidelines.md for anything customer-facing.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Never describe the product as healthy. You may say 5 g sugar.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Never send an email or publish a post without my approval.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Save every output to the project folder.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Read lumo-project-memory.md before you start any task.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Flag any figure that two sources disagree on. Do not pick one.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Save the instructions, then add the brand kit under Context.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</p:spTree>
  </p:cSld>
  <p:clrMapOvr>
    <a:masterClrMapping/>
  </p:clrMapOvr>
  <p:transition spd="med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THE PROMPT ·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3 — FIRST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40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40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272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Before we start work, check your setup: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1. Restate the project goal in one line.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2. List the context files you can read and what each is for.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3. List the three instructions you think matter most.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4. From the product sheet, give me the price per can, the sugar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per can and the launch date.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Then create lumo-project-memory.md in the project folder with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the heading "Project memory" and record: our primary audience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is 25-34 year-olds in Singapore, and our secondary market is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Kuala Lumpur, launching 15 January 2027.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1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Check the four answers, then open the new memory file in the folder.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</p:spTree>
  </p:cSld>
  <p:clrMapOvr>
    <a:masterClrMapping/>
  </p:clrMapOvr>
  <p:transition spd="med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Set Up the Lumo Launch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Download the course labs and open the Lab 01 data/brand-kit folder. Create an empty folder called Lumo Launch on your computer.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Claude desktop app, switch to Cowork, open Projects and start a new project.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Under "What are you working on?" type Lumo Cold Kopi Launch, and paste Block 1 into "What are you trying to achieve?".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Choose Use a folder, pick your Lumo Launch folder, and click Create project.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Instructions panel and paste Block 2. Save.</a:t>
            </a:r>
          </a:p>
        </p:txBody>
      </p:sp>
      <p:sp>
        <p:nvSpPr>
          <p:cNvPr id="21" name="Oval 20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Context panel and add the three brand-kit files.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new task in the project and send Block 3.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answers: S$3.90 per can, 5 g sugar, launch 1 December 2026.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Lumo Launch folder on your computer and read lumo-project-memory.md.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</p:spTree>
  </p:cSld>
  <p:clrMapOvr>
    <a:masterClrMapping/>
  </p:clrMapOvr>
  <p:transition spd="med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01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Set Up the Lumo Launch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685032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679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Lumo Cold Kopi Launch project exists in Cowork, using your Lumo Launch folder, with the Block 2 instructions saved and the three brand-kit files under Context. Claude restated the goal, listed all three context files, and quoted S$3.90 per can, 5 g sugar and a 1 December 2026 launch. lumo-project-memory.md in the folder records the 25-34 audience and the 15 January 2027 Kuala Lumpur launch.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</p:spTree>
  </p:cSld>
  <p:clrMapOvr>
    <a:masterClrMapping/>
  </p:clrMapOvr>
  <p:transition spd="med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RESEARCH IN PARALLEL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Market Research in Four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Four subjects, none depending on another — so they can run at once.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Task 1 — Competitors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Six cold-brew brands: price, pack, positioning, and the gap Lumo can own.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Task 2 — Customers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400 survey respondents: who is likely to buy, why, and where they discover drinks.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Task 3 — Pricing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Where S$3.90 sits against the market, and what the survey says people will pay.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Task 4 — Social trends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Which content themes earn the most engagement in the category right now.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Start four tasks in the project at once, one subject each, each saving its own file to the folder. A fifth task merges them into the research brief.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</p:spTree>
  </p:cSld>
  <p:clrMapOvr>
    <a:masterClrMapping/>
  </p:clrMapOvr>
  <p:transition spd="med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Run Market Research in Parallel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500" b="1">
                <a:solidFill>
                  <a:srgbClr val="21201C"/>
                </a:solidFill>
                <a:latin typeface="Calibri"/>
              </a:rPr>
              <a:t>Split a multi-subject research job into parallel tasks and verify the merged brief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Before anyone writes a post, the team needs to know the market. Four subjects need research — competitors, the customer survey, pricing and social trends — and none depends on another. So you start four tasks in the project at once, one per subject, each saving its findings to the folder. A fifth task merges the four files into one research brief, which you check against the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Four research files and lumo-research-brief.docx merged from them, in the project folder.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 in Cowork, parallel tasks, web 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</p:spTree>
  </p:cSld>
  <p:clrMapOvr>
    <a:masterClrMapping/>
  </p:clrMapOvr>
  <p:transition spd="med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02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save every output to the folder, and flag any figure two sources disagree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launch brief, so every task knows the product, price and audience.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Adds: copy in the three CSVs; four research files and lumo-research-brief.docx are saved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you start the four tasks yourself, now.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</p:spTree>
  </p:cSld>
  <p:clrMapOvr>
    <a:masterClrMapping/>
  </p:clrMapOvr>
  <p:transition spd="med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THE PROMPT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COMPETITORS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13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13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45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 COMPETITORS for the Lumo Cold Kopi launch using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lumo-competitors.csv: price per can, pack, positioning and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channel for each brand, and the gap Lumo can own.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Save your findings as research-1-competitors.md in the project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Start the next task straight away — these four run in parallel.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</p:spTree>
  </p:cSld>
  <p:clrMapOvr>
    <a:masterClrMapping/>
  </p:clrMapOvr>
  <p:transition spd="med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THE PROMPT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CUSTOMERS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13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13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45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 CUSTOMERS using lumo-consumer-survey-2026.csv: the share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likely to buy (intent 4 or 5), split by age band and city; the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top purchase drivers; the top discovery channels. Show your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working for every percentage. Save your findings as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research-2-customers.md in the project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Show your working is what lets you check every percentage.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</p:spTree>
  </p:cSld>
  <p:clrMapOvr>
    <a:masterClrMapping/>
  </p:clrMapOvr>
  <p:transition spd="med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THE PROMPT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3 — PRICING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13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13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45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 PRICING using lumo-competitors.csv and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lumo-consumer-survey-2026.csv: where S$3.90 sits against the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competitor median, and the share of respondents willing to pay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S$3.50 or more. Show your working. Save your findings as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research-3-pricing.md in the project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"S$3.50 or more" includes S$3.50 exactly.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</p:spTree>
  </p:cSld>
  <p:clrMapOvr>
    <a:masterClrMapping/>
  </p:clrMapOvr>
  <p:transition spd="med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THE PROMPT ·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4 —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88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1884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19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 SOCIAL TRENDS using lumo-social-trends.csv: the three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content themes with the highest engagement, with one post idea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each. Save your findings as research-4-trends.md in the project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Four tasks, four subjects, four fresh context windows.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</p:spTree>
  </p:cSld>
  <p:clrMapOvr>
    <a:masterClrMapping/>
  </p:clrMapOvr>
  <p:transition spd="med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THE PROMPT ·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5 —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646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646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960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Merge research-1-competitors.md, research-2-customers.md,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research-3-pricing.md and research-4-trends.md from the project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folder into one research brief, lumo-research-brief.docx: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a one-paragraph summary, one section per subject with the key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numbers, and three recommendations for the launch. Name the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source file under each section, and flag anything the four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files disagree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49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You are doing by hand what the new Projects' lead agent does automatically.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</p:spTree>
  </p:cSld>
  <p:clrMapOvr>
    <a:masterClrMapping/>
  </p:clrMapOvr>
  <p:transition spd="med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Run Market Research in Parallel Tasks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Lab 02 data folder and glance at the three CSV files.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Copy the three CSV files into your Lumo Launch project folder.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new task in the project and send Block 1. Do not wait for it.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second task and send Block 2.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third task and send Block 3.</a:t>
            </a:r>
          </a:p>
        </p:txBody>
      </p:sp>
      <p:sp>
        <p:nvSpPr>
          <p:cNvPr id="21" name="Oval 20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fourth task and send Block 4.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When the four research files are in the folder, start a fifth task and send Block 5.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When the merged brief arrives, check the survey numbers.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channel, driver and pricing findings.</a:t>
            </a:r>
          </a:p>
        </p:txBody>
      </p:sp>
      <p:sp>
        <p:nvSpPr>
          <p:cNvPr id="33" name="Oval 32"/>
          <p:cNvSpPr/>
          <p:nvPr/>
        </p:nvSpPr>
        <p:spPr>
          <a:xfrm>
            <a:off x="624078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140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trends section and the recommendations.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</p:spTree>
  </p:cSld>
  <p:clrMapOvr>
    <a:masterClrMapping/>
  </p:clrMapOvr>
  <p:transition spd="med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02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Run Market Research in Parallel Tasks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7947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project folder holds the four research files and lumo-research-brief.docx, whose summary, four sections and three recommendations name their source files. The brief reports 400 respondents, 248 likely to buy (62%), 112 of 152 aged 25-34 (74%), Instagram as the top discovery channel at 34%, Taste as the top driver at 31%, a competitor median of S$4.30 with Lumo's S$3.90 below it, 228 respondents (57%) willing to pay S$3.50 or more, and Taste tests and first-sip reactions as the top content theme.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</p:spTree>
  </p:cSld>
  <p:clrMapOvr>
    <a:masterClrMapping/>
  </p:clrMapOvr>
  <p:transition spd="med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LIVE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Why a Live Artefact?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difference between an answer you read and a tool you keep.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A normal chat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static snapshot in the conversation.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Scrolls away as the chat grows.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Figures are frozen at the moment they were written.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You copy and paste to reuse anything.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Nothing to click, filter or explore.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 Live Artefact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An interactive tool with its own place in the workspace.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Reopenable — it stays available after the chat ends.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Can refresh from connected data when reopened.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Keeps what you typed into it between sessions.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Clickable: filter, sort and drill into the numbers.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</p:spTree>
  </p:cSld>
  <p:clrMapOvr>
    <a:masterClrMapping/>
  </p:clrMapOvr>
  <p:transition spd="med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LIVE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Building a Live Artefact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Describe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Tell Claude the tool you want — a dashboard, tracker or planner — and what data it shows.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Generate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Claude writes the code and renders it in the preview pane beside the chat.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Ask for changes in plain English until the layout and figures are right.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Save it so it persists as a reusable tool, not a lost chat message.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Download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Export a copy to file, attach or hand on to someone without Claude.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You describe the outcome in plain English — Claude writes and runs the code.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</p:spTree>
  </p:cSld>
  <p:clrMapOvr>
    <a:masterClrMapping/>
  </p:clrMapOvr>
  <p:transition spd="med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1 · LIVE ARTEFACTS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What an Artefact Can and Cannot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Artefacts run in a sandbox, so anything needing the internet has to come in another 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An artefact 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Run interactive code — inputs, filters, charts.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Use data you gave it, or that Claude looked up while building.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Keep what you type into it between sessions.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Be saved, reopened and shared.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Be downloaded as a file you own.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An artefact CANNOT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Call an external API or website — the sandbox blocks it.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Load a script, font or image from another site.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Reach your local files or network.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Refresh third-party data on its own.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So: bake the data in, or download the HTML and run it yourself.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</p:spTree>
  </p:cSld>
  <p:clrMapOvr>
    <a:masterClrMapping/>
  </p:clrMapOvr>
  <p:transition spd="med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Build the Market Insights Live Artefact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500" b="1">
                <a:solidFill>
                  <a:srgbClr val="21201C"/>
                </a:solidFill>
                <a:latin typeface="Calibri"/>
              </a:rPr>
              <a:t>Turn research data into an interactive Live Artefact dashboard and save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The research brief is a document; the launch team wants something they can explore. You turn the survey and competitor data into a Live Artefact — KPI tiles, a channel chart, a price ladder and a city filter — refine it in plain English, save it and download a copy. The launch deck in Lab 5 quotes this dashboard's numbers.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 saved Market Insights Live Artefact, plus a downloaded HTML copy.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Projects, Live Artefacts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</p:spTree>
  </p:cSld>
  <p:clrMapOvr>
    <a:masterClrMapping/>
  </p:clrMapOvr>
  <p:transition spd="med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03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S$ prices with two decimals on every tile and chart.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product sheet, for Lumo's own price beside the competitors.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survey and competitor CSVs in the folder; save the HTML copy here too.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runs when you send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</p:spTree>
  </p:cSld>
  <p:clrMapOvr>
    <a:masterClrMapping/>
  </p:clrMapOvr>
  <p:transition spd="med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THE PROMPT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Build the Market Insights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743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50063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Using lumo-consumer-survey-2026.csv and lumo-competitors.csv, build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Live Artefact: an interactive Market Insights dashboard for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Lumo Cold Kopi launch.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Include: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 KPI tiles: respondents, % likely to buy (intent 4 or 5), top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discovery channel, competitor median price.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 A bar chart of discovery channels.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359152"/>
            <a:ext cx="50063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 A bar chart of purchase drivers.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 A price ladder: the six competitors and Lumo at S$3.90, cheapest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to dearest, with Lumo highlighted.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 A filter for city: All, Singapore, Kuala Lumpur. The KPI tiles and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both survey charts must follow the filter.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Bake the data into the artefact - do not fetch anything. Use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Lumo brand colours from the brand guidelines. Title it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"Lumo Cold Kopi - Market Insights".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95728"/>
            <a:ext cx="9144" cy="19659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Artefacts run in a sandbox and cannot call the internet, which is why the prompt says to bake the data 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</p:spTree>
  </p:cSld>
  <p:clrMapOvr>
    <a:masterClrMapping/>
  </p:clrMapOvr>
  <p:transition spd="med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Build the Market Insights Live Artefact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10552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project, send the lab prompt with the two CSV files attached or in Context.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10552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KPI tiles with the filter on All.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10552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Switch the filter to Singapore, then Kuala Lumpur.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10552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price ladder.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10552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Ask for one refinement, for example: Put the price ladder beside the channel chart.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22122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074920"/>
            <a:ext cx="1055217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Save the artefact, then download a copy as HTML.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</p:spTree>
  </p:cSld>
  <p:clrMapOvr>
    <a:masterClrMapping/>
  </p:clrMapOvr>
  <p:transition spd="med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Build the Market Insights Live Artefact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685032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679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Market Insights artefact shows 400 respondents, 62% likely to buy, Instagram as the top channel and a S$4.30 competitor median. The city filter changes the respondent count to 240 (Singapore) and 160 (Kuala Lumpur) and both survey charts follow it. The price ladder runs from S$3.20 to S$5.60 with Lumo highlighted at S$3.90. The artefact is saved and an HTML copy is downloaded.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</p:spTree>
  </p:cSld>
  <p:clrMapOvr>
    <a:masterClrMapping/>
  </p:clrMapOvr>
  <p:transition spd="med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From the Class: Lumo Social Trends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1180" y="1600200"/>
            <a:ext cx="5758639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21180" y="1600200"/>
            <a:ext cx="5758639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artefact-social-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908" y="1709928"/>
            <a:ext cx="5539183" cy="40782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164592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459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6420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Rank by engagement, views or posts; filter by platform and trend.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6974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697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1576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Themes ranked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Taste tests and first-sip reactions lead at 7.4%, and are rising.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37490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7490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76732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Pick a bar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right-hand card shows that theme's numbers and a draft post idea.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480060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8006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1888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Spot the gap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summary cards show '—'. Ask Claude to fix them — always check the numbers.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Live Artefact built in class from the social trends research.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</p:spTree>
  </p:cSld>
  <p:clrMapOvr>
    <a:masterClrMapping/>
  </p:clrMapOvr>
  <p:transition spd="med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From the Class: Who Is Likely to Buy?</a:t>
            </a:r>
          </a:p>
        </p:txBody>
      </p:sp>
      <p:sp>
        <p:nvSpPr>
          <p:cNvPr id="5" name="Rectangle 4"/>
          <p:cNvSpPr/>
          <p:nvPr/>
        </p:nvSpPr>
        <p:spPr>
          <a:xfrm>
            <a:off x="971428" y="1600200"/>
            <a:ext cx="6058144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1428" y="1600200"/>
            <a:ext cx="605814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artefact-customer-int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156" y="1709928"/>
            <a:ext cx="5838688" cy="40782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164592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164592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166420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Filters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City and age band; Jump to opens the primary and secondary audiences.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26974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26974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71576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Headline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60.0% of 160 KL respondents are likely to buy — 2 points below the overall average.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37490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37490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376732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Price tolerance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third of likely buyers would pay S$3.90 or more.</a:t>
            </a:r>
          </a:p>
        </p:txBody>
      </p:sp>
      <p:sp>
        <p:nvSpPr>
          <p:cNvPr id="17" name="Oval 16"/>
          <p:cNvSpPr/>
          <p:nvPr/>
        </p:nvSpPr>
        <p:spPr>
          <a:xfrm>
            <a:off x="7726679" y="480060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26679" y="480060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4818888"/>
            <a:ext cx="34290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Explore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Click any city and age cell to open that segment; small samples are flagged.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Live Artefact on the consumer survey, filtered here to Kuala Lumpur.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</p:spTree>
  </p:cSld>
  <p:clrMapOvr>
    <a:masterClrMapping/>
  </p:clrMapOvr>
  <p:transition spd="med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From the Class: Lumo Pricing Explorer</a:t>
            </a:r>
          </a:p>
        </p:txBody>
      </p:sp>
      <p:sp>
        <p:nvSpPr>
          <p:cNvPr id="5" name="Rectangle 4"/>
          <p:cNvSpPr/>
          <p:nvPr/>
        </p:nvSpPr>
        <p:spPr>
          <a:xfrm>
            <a:off x="840885" y="1600200"/>
            <a:ext cx="6319230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0885" y="1600200"/>
            <a:ext cx="631923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artefact-pricing-explo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613" y="1709928"/>
            <a:ext cx="6099774" cy="40782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Price slider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Drag it, or pick S$3.50 (12-pack) or S$3.90 (single can).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Against competitors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Lumo's S$3.90 can is 9.3% below the S$4.30 competitor median.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The chart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Listed and pack prices per can, with both medians as dashed lines.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Drag the price and every card recalculates who would still buy.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</p:spTree>
  </p:cSld>
  <p:clrMapOvr>
    <a:masterClrMapping/>
  </p:clrMapOvr>
  <p:transition spd="med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03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All Your Artefacts in One 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67789" y="1600200"/>
            <a:ext cx="7225941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67789" y="1600200"/>
            <a:ext cx="7225941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artifacts-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7517" y="1709928"/>
            <a:ext cx="7006485" cy="23865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Artifacts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Open, search, sort and filter all your artefacts.</a:t>
            </a:r>
          </a:p>
        </p:txBody>
      </p:sp>
      <p:sp>
        <p:nvSpPr>
          <p:cNvPr id="11" name="Oval 10"/>
          <p:cNvSpPr/>
          <p:nvPr/>
        </p:nvSpPr>
        <p:spPr>
          <a:xfrm>
            <a:off x="432816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816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36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Lock or globe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lock means private; a globe means shared by link.</a:t>
            </a:r>
          </a:p>
        </p:txBody>
      </p:sp>
      <p:sp>
        <p:nvSpPr>
          <p:cNvPr id="14" name="Oval 13"/>
          <p:cNvSpPr/>
          <p:nvPr/>
        </p:nvSpPr>
        <p:spPr>
          <a:xfrm>
            <a:off x="810768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488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Pinned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Lumo project and its sessions stay pinned in the sidebar.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Artifacts in the sidebar lists everything you have built, across every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</p:spTree>
  </p:cSld>
  <p:clrMapOvr>
    <a:masterClrMapping/>
  </p:clrMapOvr>
  <p:transition spd="med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01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Recap — Claude Projects and Market Research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10049256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01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create a Claude Project in Cowork with instructions, context, a working folder and a memory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9544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319272"/>
            <a:ext cx="10049256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02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split a multi-subject research job into parallel tasks and verify the merged brief.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36008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745736"/>
            <a:ext cx="10049256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03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turn research data into an interactive Live Artefact dashboard and save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</p:spTree>
  </p:cSld>
  <p:clrMapOvr>
    <a:masterClrMapping/>
  </p:clrMapOvr>
  <p:transition spd="med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TOPIC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Connectors, Skills and Plugins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463040"/>
            <a:ext cx="3200400" cy="272491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Tools: built in, and added by connectors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Drive and Gmail, tool calls and the context window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Data analysis, Slides, Docs and built-in 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Agent Skills, plugins and mods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73</a:t>
            </a:r>
          </a:p>
        </p:txBody>
      </p:sp>
    </p:spTree>
  </p:cSld>
  <p:clrMapOvr>
    <a:masterClrMapping/>
  </p:clrMapOvr>
  <p:transition spd="med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Tools and Skills: The Difference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Two words you will meet all afternoon — and how Claude uses 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A tool — what Claude can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One action: search, read, run code, create a file, send.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Built in (web search, code, files) or added by a connector.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Claude picks one by matching your request to its description.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Each call shows in the reply: the tool, its input, its result.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Lumo: Google Drive search_files finds the budget sheet.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 skill — HOW Claude does a job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A SKILL.md of steps, rules and checks for one kind of job.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Built in (pptx, xlsx), written by you, or from a plugin.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Loads when your request matches its description.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Tells Claude which tools to use, in what order.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Lumo: lumo-brand-voice applies the rules to every post.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</p:spTree>
  </p:cSld>
  <p:clrMapOvr>
    <a:masterClrMapping/>
  </p:clrMapOvr>
  <p:transition spd="med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Claude's Built-in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Claude can already do before you connect anything.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Web search and fetch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Finds and reads current web pages — competitor news, prices, trends — and cites them.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Code execution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Writes and runs Python on your files: counts, tables, charts. Lab 3's dashboard, Lab 5's analysis and Lab 9's video.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File creation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Makes real .xlsx, .pptx, .docx and .pdf files you download and open. Lab 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Artefacts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Builds an interactive page — a dashboard, a tracker — that stays in your workspace. Lab 3.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Project files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Reads the project's context and writes outputs to its files — the brief, the calendar. Every lab.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Connectors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Add more tools from outside apps: Google Drive, Gmail, Calendar and others. Lab 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</p:spTree>
  </p:cSld>
  <p:clrMapOvr>
    <a:masterClrMapping/>
  </p:clrMapOvr>
  <p:transition spd="med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How Claude Uses a Tool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You 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“Compare the Drive budget with the brief.”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picks a tool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It matches the job to each tool's description — here, Google Drive.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It calls the tool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With inputs it chooses: search_files, query “Lumo Launch”.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It reads the result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Two CSV files come back — so it calls read_file_content next.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It answers, or asks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Reading just runs. Sending an email waits for your approval.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Click any step in Claude's reply to see the tool, the input and what came back.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</p:spTree>
  </p:cSld>
  <p:clrMapOvr>
    <a:masterClrMapping/>
  </p:clrMapOvr>
  <p:transition spd="med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Reading a Tool Call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WHAT CLAUDE DID — the tool calls behind Lab 4, Block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1. Google Drive · search_files("Lumo Launch")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→ 1 folder with 2 CSV files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2. Google Drive · read_file_content(lumo-launch-budget.csv)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→ 5 lines, total S$60,000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3. Google Drive · read_file_content(lumo-launch-timeline.csv)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→ 11 milestones; the next is 30 October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4. Project file · read(lumo-launch-brief.md)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→ budget table, total S$60,000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Claude compares the two → 2 lines disagree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5. Google Drive · create_file(lumo-research-brief.docx)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6. Gmail · create_draft("Lumo launch - research and budget check")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7. Gmail · send_message → waits for your approval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972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Click any step in Claude's reply to see this for yourself. Tool names can differ slightly between connector versions; the pattern does not.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</p:spTree>
  </p:cSld>
  <p:clrMapOvr>
    <a:masterClrMapping/>
  </p:clrMapOvr>
  <p:transition spd="med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What Connectors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Connectors let Claude reach data and services that live outside the chat.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Google Drive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Search and read Sheets, Docs, Slides and PDFs; upload files; create folders; save Claude's output back to Drive.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Gmail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Search and read mail, draft messages, send / reply / forward with approval, and manage labels.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Google Calendar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View events, find availability, and create or update meetings.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Social and ads 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Where your workspace has them, connectors for scheduling and ad platforms reach the same way — always with approval.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Approval by default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Claude asks for explicit approval before it sends, replies to or forwards an email.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Where to manage them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Individually from the + menu; account-wide under Customize → Connectors.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</p:spTree>
  </p:cSld>
  <p:clrMapOvr>
    <a:masterClrMapping/>
  </p:clrMapOvr>
  <p:transition spd="med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Turning On a Connector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Open the + menu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In the chat composer, click the plus sign.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Hover Connectors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The list of available connectors appears.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Toggle Drive and Gmail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Switch each on and sign in to your Google account.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Grant access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Approve the permissions Google asks for — including file read access.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Name the folder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Tell Claude which Drive folder to use for this task.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Manage them any time under Customize → Connectors.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</p:spTree>
  </p:cSld>
  <p:clrMapOvr>
    <a:masterClrMapping/>
  </p:clrMapOvr>
  <p:transition spd="med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 Connector at Work: Gmail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11064240" cy="2105505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6424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gmail-send-prom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709928"/>
            <a:ext cx="10844784" cy="188604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4025745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02574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044033"/>
            <a:ext cx="3048000" cy="1780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Ask in plain English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Say what to send and to whom; no menus to find.</a:t>
            </a:r>
          </a:p>
        </p:txBody>
      </p:sp>
      <p:sp>
        <p:nvSpPr>
          <p:cNvPr id="11" name="Oval 10"/>
          <p:cNvSpPr/>
          <p:nvPr/>
        </p:nvSpPr>
        <p:spPr>
          <a:xfrm>
            <a:off x="4328160" y="4025745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8160" y="402574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360" y="4044033"/>
            <a:ext cx="3048000" cy="1780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Watch the tool call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'Using Gmail: Send email message' names the connector and action. Click › for detail.</a:t>
            </a:r>
          </a:p>
        </p:txBody>
      </p:sp>
      <p:sp>
        <p:nvSpPr>
          <p:cNvPr id="14" name="Oval 13"/>
          <p:cNvSpPr/>
          <p:nvPr/>
        </p:nvSpPr>
        <p:spPr>
          <a:xfrm>
            <a:off x="8107680" y="4025745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4025745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4880" y="4044033"/>
            <a:ext cx="3048000" cy="178069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Stay in control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Ask for a draft first when the email goes to anyone but you.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One plain request — Claude chose the Gmail connector's Send email action.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</p:spTree>
  </p:cSld>
  <p:clrMapOvr>
    <a:masterClrMapping/>
  </p:clrMapOvr>
  <p:transition spd="med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Result in Gmail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76849"/>
            <a:ext cx="6903720" cy="3744382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76849"/>
            <a:ext cx="6903720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gmail-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86577"/>
            <a:ext cx="6684264" cy="3524926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Read from the file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Claude summarised the workbook: 14 facilities in 9 countries, 2023–2025.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Ready to read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Headings and bullets, formatted for email.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Verify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Spot-check one total against the source file before you forward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summary arrived seconds later, written from the project's sustainability workbook.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</p:spTree>
  </p:cSld>
  <p:clrMapOvr>
    <a:masterClrMapping/>
  </p:clrMapOvr>
  <p:transition spd="med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CONNECTORS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Tool Permissions and Approval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Reading is safe to run; anything that changes the world waits for you.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Read tools run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Search, read and list change nothing, so they run without asking.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Write tools ask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Send, reply, create an event or delete ask for your approval by default.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See every tool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Customize → Connectors → open a connector to see each tool it adds and what it may do.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On per session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Toggle a connector on from the + menu only for the jobs that need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Scope the data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Name the folder, label or dates — “the Lumo Launch folder”, not “my Drive”.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You approve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Read the draft before you click. Claude drafts; the decision stays yours.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</p:spTree>
  </p:cSld>
  <p:clrMapOvr>
    <a:masterClrMapping/>
  </p:clrMapOvr>
  <p:transition spd="med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Connectors at Work: Six Everyday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Everyday job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108790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71181" y="1874519"/>
            <a:ext cx="686737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The prompt you would send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40279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19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Meeting prep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331719"/>
            <a:ext cx="108790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Gmail · Calendar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1181" y="2331719"/>
            <a:ext cx="68673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Before my 3pm with Kopi Corner, summarise this month's emails with them and list the open questions.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8035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0359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Inbox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80359"/>
            <a:ext cx="108790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Gmail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181" y="2880359"/>
            <a:ext cx="68673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Find customer emails from the last three days that have no reply, and draft replies for my approval.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42899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28999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Budget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428999"/>
            <a:ext cx="108790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Drive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1181" y="3428999"/>
            <a:ext cx="68673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Compare the Q4 budget sheet with the brief, line by line, and flag every difference. Do not pick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397763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77639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Find a file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3977639"/>
            <a:ext cx="108790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Drive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71181" y="3977639"/>
            <a:ext cx="68673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Find the latest signed stockist agreement and tell me its renewal date and notice period.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452627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526279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Book a meeting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4526279"/>
            <a:ext cx="108790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Calendar · Gmail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71181" y="4526279"/>
            <a:ext cx="68673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Find 45 minutes next week when the four leads are free, and draft the invite.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07491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74919"/>
            <a:ext cx="210312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1">
                <a:solidFill>
                  <a:srgbClr val="21201C"/>
                </a:solidFill>
                <a:latin typeface="Calibri"/>
              </a:rPr>
              <a:t>Weekly update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54680" y="5074919"/>
            <a:ext cx="1087901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Drive · Gmail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1181" y="5074919"/>
            <a:ext cx="6867378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21201C"/>
                </a:solidFill>
                <a:latin typeface="Calibri"/>
              </a:rPr>
              <a:t>Summarise what changed in the Lumo Launch folder this week and draft the email to my manager.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" y="562355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Lab 4 runs three of these on the Lumo files: a budget check, a Drive search and a Gmail draft.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</p:spTree>
  </p:cSld>
  <p:clrMapOvr>
    <a:masterClrMapping/>
  </p:clrMapOvr>
  <p:transition spd="med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When a Tool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What 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259764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Likely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0922" y="1874519"/>
            <a:ext cx="535763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What to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40279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19"/>
            <a:ext cx="2103120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“Insufficient scope”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331719"/>
            <a:ext cx="2597642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Connected without file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0922" y="2331719"/>
            <a:ext cx="5357637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Settings → Connectors → Reconnect, and accept read access.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77285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77285"/>
            <a:ext cx="2103120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An answer with no Drive step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77285"/>
            <a:ext cx="2597642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Connector off for this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0922" y="2977285"/>
            <a:ext cx="5357637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+ → Connectors → switch it on; start with “Using Google Drive…”.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837735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37735"/>
            <a:ext cx="2103120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It read the wrong 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837735"/>
            <a:ext cx="2597642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search matched several files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0922" y="3837735"/>
            <a:ext cx="5357637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Name the folder and file: Lumo Launch/lumo-launch-budget.csv.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483301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3301"/>
            <a:ext cx="2103120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Numbers that look estimated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483301"/>
            <a:ext cx="2597642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No code was run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0922" y="4483301"/>
            <a:ext cx="5357637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Ask it to use code and show the totals; check one figure yourself.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12886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8867"/>
            <a:ext cx="2103120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Slow replies, usage drains fast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128867"/>
            <a:ext cx="2597642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Too many connectors switched 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80922" y="5128867"/>
            <a:ext cx="5357637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Turn off the ones this job does not need.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98931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</p:spTree>
  </p:cSld>
  <p:clrMapOvr>
    <a:masterClrMapping/>
  </p:clrMapOvr>
  <p:transition spd="med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317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6200" b="1">
                <a:solidFill>
                  <a:srgbClr val="D97757"/>
                </a:solidFill>
                <a:latin typeface="Cambria"/>
              </a:rPr>
              <a:t>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2606040"/>
            <a:ext cx="9509760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21201C"/>
                </a:solidFill>
                <a:latin typeface="Courier New"/>
              </a:rPr>
              <a:t>The context window is all the information the model can “see” when producing a response.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0" y="4160520"/>
            <a:ext cx="822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6200" b="1">
                <a:solidFill>
                  <a:srgbClr val="D97757"/>
                </a:solidFill>
                <a:latin typeface="Cambria"/>
              </a:rPr>
              <a:t>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Files, instructions, tools and skills all have to fit inside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</p:spTree>
  </p:cSld>
  <p:clrMapOvr>
    <a:masterClrMapping/>
  </p:clrMapOvr>
  <p:transition spd="med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What Fills the Context Window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At the start of a task.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67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167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1M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8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995781" cy="13716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44421" y="2514600"/>
            <a:ext cx="221284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65705" y="2514600"/>
            <a:ext cx="276606" cy="1371600"/>
          </a:xfrm>
          <a:prstGeom prst="rect">
            <a:avLst/>
          </a:prstGeom>
          <a:solidFill>
            <a:srgbClr val="4A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042311" y="2514600"/>
            <a:ext cx="442569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484880" y="2514600"/>
            <a:ext cx="719175" cy="1371600"/>
          </a:xfrm>
          <a:prstGeom prst="rect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" y="4389120"/>
            <a:ext cx="182880" cy="182880"/>
          </a:xfrm>
          <a:prstGeom prst="ellipse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4343400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System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754880"/>
            <a:ext cx="182880" cy="1828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" y="4709160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Project instructions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5120640"/>
            <a:ext cx="182880" cy="182880"/>
          </a:xfrm>
          <a:prstGeom prst="ellipse">
            <a:avLst/>
          </a:prstGeom>
          <a:solidFill>
            <a:srgbClr val="4A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074920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Tool definitions</a:t>
            </a:r>
          </a:p>
        </p:txBody>
      </p:sp>
      <p:sp>
        <p:nvSpPr>
          <p:cNvPr id="20" name="Oval 19"/>
          <p:cNvSpPr/>
          <p:nvPr/>
        </p:nvSpPr>
        <p:spPr>
          <a:xfrm>
            <a:off x="6080760" y="4389120"/>
            <a:ext cx="182880" cy="1828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4343400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Skill definitions</a:t>
            </a:r>
          </a:p>
        </p:txBody>
      </p:sp>
      <p:sp>
        <p:nvSpPr>
          <p:cNvPr id="22" name="Oval 21"/>
          <p:cNvSpPr/>
          <p:nvPr/>
        </p:nvSpPr>
        <p:spPr>
          <a:xfrm>
            <a:off x="6080760" y="4754880"/>
            <a:ext cx="182880" cy="182880"/>
          </a:xfrm>
          <a:prstGeom prst="ellipse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9944" y="4709160"/>
            <a:ext cx="498348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Conversation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6052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At the start of a task only the fixed overhead is loaded — most of the window is still free.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</p:spTree>
  </p:cSld>
  <p:clrMapOvr>
    <a:masterClrMapping/>
  </p:clrMapOvr>
  <p:transition spd="med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Same Window, Later in the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After reading files, calling tools and running skills.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67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2167128"/>
            <a:ext cx="1828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1M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14600"/>
            <a:ext cx="11064240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6B68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514600"/>
            <a:ext cx="663854" cy="13716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212494" y="2514600"/>
            <a:ext cx="154899" cy="1371600"/>
          </a:xfrm>
          <a:prstGeom prst="rect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67393" y="2514600"/>
            <a:ext cx="177027" cy="1371600"/>
          </a:xfrm>
          <a:prstGeom prst="rect">
            <a:avLst/>
          </a:prstGeom>
          <a:solidFill>
            <a:srgbClr val="4A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44420" y="2514600"/>
            <a:ext cx="331927" cy="13716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76347" y="2514600"/>
            <a:ext cx="3761841" cy="1371600"/>
          </a:xfrm>
          <a:prstGeom prst="rect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38188" y="2514600"/>
            <a:ext cx="1548993" cy="1371600"/>
          </a:xfrm>
          <a:prstGeom prst="rect">
            <a:avLst/>
          </a:prstGeom>
          <a:solidFill>
            <a:srgbClr val="7C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187181" y="2514600"/>
            <a:ext cx="1217066" cy="1371600"/>
          </a:xfrm>
          <a:prstGeom prst="rect">
            <a:avLst/>
          </a:prstGeom>
          <a:solidFill>
            <a:srgbClr val="AED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404247" y="2514600"/>
            <a:ext cx="995781" cy="1371600"/>
          </a:xfrm>
          <a:prstGeom prst="rect">
            <a:avLst/>
          </a:prstGeom>
          <a:solidFill>
            <a:srgbClr val="E8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0080" y="4389120"/>
            <a:ext cx="182880" cy="182880"/>
          </a:xfrm>
          <a:prstGeom prst="ellipse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34340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System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4754880"/>
            <a:ext cx="182880" cy="182880"/>
          </a:xfrm>
          <a:prstGeom prst="ellipse">
            <a:avLst/>
          </a:prstGeom>
          <a:solidFill>
            <a:srgbClr val="C8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70916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Project instructions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5120640"/>
            <a:ext cx="182880" cy="182880"/>
          </a:xfrm>
          <a:prstGeom prst="ellipse">
            <a:avLst/>
          </a:prstGeom>
          <a:solidFill>
            <a:srgbClr val="4A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507492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Tool definitions</a:t>
            </a:r>
          </a:p>
        </p:txBody>
      </p:sp>
      <p:sp>
        <p:nvSpPr>
          <p:cNvPr id="23" name="Oval 22"/>
          <p:cNvSpPr/>
          <p:nvPr/>
        </p:nvSpPr>
        <p:spPr>
          <a:xfrm>
            <a:off x="4267200" y="4389120"/>
            <a:ext cx="182880" cy="1828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6384" y="434340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Skill definitions</a:t>
            </a:r>
          </a:p>
        </p:txBody>
      </p:sp>
      <p:sp>
        <p:nvSpPr>
          <p:cNvPr id="25" name="Oval 24"/>
          <p:cNvSpPr/>
          <p:nvPr/>
        </p:nvSpPr>
        <p:spPr>
          <a:xfrm>
            <a:off x="4267200" y="4754880"/>
            <a:ext cx="182880" cy="182880"/>
          </a:xfrm>
          <a:prstGeom prst="ellipse">
            <a:avLst/>
          </a:prstGeom>
          <a:solidFill>
            <a:srgbClr val="4A7C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6384" y="470916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Conversation</a:t>
            </a:r>
          </a:p>
        </p:txBody>
      </p:sp>
      <p:sp>
        <p:nvSpPr>
          <p:cNvPr id="27" name="Oval 26"/>
          <p:cNvSpPr/>
          <p:nvPr/>
        </p:nvSpPr>
        <p:spPr>
          <a:xfrm>
            <a:off x="4267200" y="5120640"/>
            <a:ext cx="182880" cy="182880"/>
          </a:xfrm>
          <a:prstGeom prst="ellipse">
            <a:avLst/>
          </a:prstGeom>
          <a:solidFill>
            <a:srgbClr val="7C6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6384" y="507492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Files read</a:t>
            </a:r>
          </a:p>
        </p:txBody>
      </p:sp>
      <p:sp>
        <p:nvSpPr>
          <p:cNvPr id="29" name="Oval 28"/>
          <p:cNvSpPr/>
          <p:nvPr/>
        </p:nvSpPr>
        <p:spPr>
          <a:xfrm>
            <a:off x="7894320" y="4389120"/>
            <a:ext cx="182880" cy="182880"/>
          </a:xfrm>
          <a:prstGeom prst="ellipse">
            <a:avLst/>
          </a:prstGeom>
          <a:solidFill>
            <a:srgbClr val="AED2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3504" y="434340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Tool call results</a:t>
            </a:r>
          </a:p>
        </p:txBody>
      </p:sp>
      <p:sp>
        <p:nvSpPr>
          <p:cNvPr id="31" name="Oval 30"/>
          <p:cNvSpPr/>
          <p:nvPr/>
        </p:nvSpPr>
        <p:spPr>
          <a:xfrm>
            <a:off x="7894320" y="4754880"/>
            <a:ext cx="182880" cy="182880"/>
          </a:xfrm>
          <a:prstGeom prst="ellipse">
            <a:avLst/>
          </a:prstGeom>
          <a:solidFill>
            <a:srgbClr val="E8C2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3504" y="4709160"/>
            <a:ext cx="31699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Skills executed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05272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As the task runs, files, tool results and executed skills all accumulate. This is why a big job is better split into several focused tasks, each with a fresh window.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</p:spTree>
  </p:cSld>
  <p:clrMapOvr>
    <a:masterClrMapping/>
  </p:clrMapOvr>
  <p:transition spd="med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When the Context Window Fills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1. </a:t>
            </a:r>
            <a:r>
              <a:rPr sz="1500" b="1">
                <a:solidFill>
                  <a:srgbClr val="FFFFFF"/>
                </a:solidFill>
                <a:latin typeface="Calibri"/>
              </a:rPr>
              <a:t>Context rot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Performance degrades. Recall of specific facts gets worse, the model starts confusing similar entities, and reasoning quality drops.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462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2. </a:t>
            </a:r>
            <a:r>
              <a:rPr sz="1500" b="1">
                <a:solidFill>
                  <a:srgbClr val="FFFFFF"/>
                </a:solidFill>
                <a:latin typeface="Calibri"/>
              </a:rPr>
              <a:t>Tool confusion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0380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Claude sees every tool definition. The more options competing for its attention, the more likely it picks the wrong one or fills in the wrong parameters.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3. </a:t>
            </a:r>
            <a:r>
              <a:rPr sz="1500" b="1">
                <a:solidFill>
                  <a:srgbClr val="FFFFFF"/>
                </a:solidFill>
                <a:latin typeface="Calibri"/>
              </a:rPr>
              <a:t>Slower responses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8678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The model processes every token on every turn. A bigger context means more work per message, which means longer waits before you see a reply.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058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4. </a:t>
            </a:r>
            <a:r>
              <a:rPr sz="1500" b="1">
                <a:solidFill>
                  <a:srgbClr val="FFFFFF"/>
                </a:solidFill>
                <a:latin typeface="Calibri"/>
              </a:rPr>
              <a:t>Eats up your usage faster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6976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Your entire context gets resent with each new message — so more tokens are burned per turn, and your limits are reached sooner.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97757"/>
                </a:solidFill>
                <a:latin typeface="Calibri"/>
              </a:rPr>
              <a:t>The fix is housekeeping: one job per task, only the connectors you need, and only the files the job actually reads.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88</a:t>
            </a:r>
          </a:p>
        </p:txBody>
      </p:sp>
    </p:spTree>
  </p:cSld>
  <p:clrMapOvr>
    <a:masterClrMapping/>
  </p:clrMapOvr>
  <p:transition spd="med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Five Levers of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you actually control.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592531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253081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253081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969264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Conversation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Your prompt. The messages you send, including both text and attachments.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69387"/>
            <a:ext cx="11064240" cy="592531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297362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97362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869387"/>
            <a:ext cx="969264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Project context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files the project reads, and the folder it works 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89934"/>
            <a:ext cx="11064240" cy="592531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3694175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94175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3589934"/>
            <a:ext cx="969264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Connectors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connected tools Claude can pull data from, and take actions in.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310481"/>
            <a:ext cx="11064240" cy="592531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68680" y="4414722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414722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4310481"/>
            <a:ext cx="969264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Skills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set of instructions Claude follows for a repeatable workflow.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031028"/>
            <a:ext cx="11064240" cy="592531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68680" y="5135269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135269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5031028"/>
            <a:ext cx="9692640" cy="5925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Instructions &amp; memory file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Project rules you wrote, and decisions kept in the memory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Every lab today pulls one of these levers — context in Lab 1, connectors in Lab 4, skills in Labs 5–7, and the memory file in Lab 10.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</p:spTree>
  </p:cSld>
  <p:clrMapOvr>
    <a:masterClrMapping/>
  </p:clrMapOvr>
  <p:transition spd="med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Check It Yourself: /context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Estimated usage by category, for a 1M-token window.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5943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6B6862"/>
                </a:solidFill>
                <a:latin typeface="Calibri"/>
              </a:rPr>
              <a:t>Category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219456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6B6862"/>
                </a:solidFill>
                <a:latin typeface="Calibri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2194560"/>
            <a:ext cx="20116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50" b="1">
                <a:solidFill>
                  <a:srgbClr val="6B6862"/>
                </a:solidFill>
                <a:latin typeface="Calibri"/>
              </a:rPr>
              <a:t>Percentage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523744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633472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System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2633472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35.3k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633472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3.5%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018663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018663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System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3018663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768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018663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0.1%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340385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403854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MCP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9440" y="3403854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2.6k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403854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0.3%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3789045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3789045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MCP tools (deferred)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3789045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301.7k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789045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30.2%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174236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174236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Memory files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4174236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81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4174236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0.0%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455942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4559427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Skills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4559427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9k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0" y="4559427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0.9%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" y="494461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4944618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Messages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944618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13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944618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0.0%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532980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329809"/>
            <a:ext cx="594360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Free space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5329809"/>
            <a:ext cx="219456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650.5k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5329809"/>
            <a:ext cx="2011680" cy="3851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65.0%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2960" y="571500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In Claude Code, run /context to see this for your own session. Note how much a large set of connectors costs before you have typed anything — turn off the ones you do not need.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</p:spTree>
  </p:cSld>
  <p:clrMapOvr>
    <a:masterClrMapping/>
  </p:clrMapOvr>
  <p:transition spd="med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02 ·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Key Concepts — Connectors, Skills and Plugins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619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19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Claude can DO: search the web, run code, create files — and reach Drive or Gmail through a connector.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20619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0619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Tool calls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Each action shows as a step in Claude's reply. Click it to see the tool, its input and what came 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852928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852928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13182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1318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2962656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Connectors and approval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Drive and Gmail add their own tools. Reading runs freely; sending an email waits for your approval.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2852928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2852928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313182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1318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962656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Data analysis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Claude writes and runs code on your CSV or Excel file, so the numbers are calculated — and you can check the code.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922776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922776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42016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42016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032504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Skills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HOW Claude does a job: a SKILL.md of steps, rules and checks, loaded when your request matches its description.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922776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3922776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42016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42016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032504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Built-in skills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pptx, xlsx and docx load by themselves when you ask for a deck, a workbook or a document.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992624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992624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" y="52715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2715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5102352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/skill-creator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the task once, verify it, save it as a skill — then use it, find the gaps and update it.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3056" y="4992624"/>
            <a:ext cx="5449824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3056" y="4992624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7376" y="52715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52715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5102352"/>
            <a:ext cx="44348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Plugins and mods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plugin bundles skills and tools someone packaged. A mod changes Claude's own interface.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</p:spTree>
  </p:cSld>
  <p:clrMapOvr>
    <a:masterClrMapping/>
  </p:clrMapOvr>
  <p:transition spd="med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Connect Google Drive and Gmail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Connect Google Drive and Gmail and use their tools to reconcile, search, save and draft, sending only what you approve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The launch budget and timeline live in Google Drive. You connect Drive and Gmail, and the project reconciles the Drive budget against the launch brief — they disagree on two lines — saves the research brief to Drive and emails you an approved summary. Then two everyday jobs: find the next milestones in Drive and draft a reminder in Gmail, reading the tool calls behind each.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Drive and Gmail connected, the budget reconciled, an approved summary emailed to yourself, a milestone list from Drive and a reminder saved as a Gmail draft.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Projects, Google Drive connector, Gmail connector, tool calls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</p:spTree>
  </p:cSld>
  <p:clrMapOvr>
    <a:masterClrMapping/>
  </p:clrMapOvr>
  <p:transition spd="med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04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never send without approval — Claude drafts the email, you approve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launch brief's budget, compared line by line with the Drive sheet.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Reaches out: the Lumo Launch folder in Google Drive and your Gmail, by connector.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runs when you send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</p:spTree>
  </p:cSld>
  <p:clrMapOvr>
    <a:masterClrMapping/>
  </p:clrMapOvr>
  <p:transition spd="med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THE PROMPT · STEP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RECONCILE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8117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8117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5006340" cy="2125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Using Google Drive, open the "Lumo Launch" folder.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1. Read lumo-launch-budget.csv and lumo-launch-timeline.csv.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2. Compare the budget sheet, line by line, with the budget in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lumo-launch-brief.md from our project context. Show both in one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table and flag every line where they disagree. Do not decide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which is right.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359152"/>
            <a:ext cx="5006340" cy="21259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3. Upload lumo-research-brief.docx from Lab 2 into the same Drive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folder.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4. Draft an email to &lt;YOUR EMAIL&gt; with the subject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"Lumo launch - research and budget check": three bullet points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from the research brief, the budget table with the disagreements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flagged, the next milestone from the timeline, and a link to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brief in Drive.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Show me the draft. Do not send it until I approve.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95728"/>
            <a:ext cx="9144" cy="203454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9149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Replace &lt;YOUR EMAIL&gt; with your own address. Send lab emails only to yourself.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</p:spTree>
  </p:cSld>
  <p:clrMapOvr>
    <a:masterClrMapping/>
  </p:clrMapOvr>
  <p:transition spd="med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THE PROMPT · 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FIND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392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392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706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Search my Google Drive for the Lumo launch timeline.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1. List every milestone due from 6 to 20 November 2026 in a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table: date, milestone, owner and status.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2. Then list the tools you called to answer this, in order: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the tool's name, what you passed to it, and what it returned.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95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No file named — Claude has to search Drive first, then read what it found.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</p:spTree>
  </p:cSld>
  <p:clrMapOvr>
    <a:masterClrMapping/>
  </p:clrMapOvr>
  <p:transition spd="med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THE PROMPT · STEP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3 — REMIND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Using Gmail and Google Drive: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1. Search my Gmail for the email with the subject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"Lumo launch - research and budget check" and tell me when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it arrived.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2. From lumo-launch-timeline.csv in Drive, find the milestone for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the Shopee and Lazada store pages: its owner and due date.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3. Draft an email to &lt;YOUR EMAIL&gt; with the subject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"Reminder: store pages due &lt;due date&gt;", reminding its owner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of what is due and when.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Save the reminder as a Gmail draft. Do not send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972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Two Gmail tools: one searches, one drafts. Neither sends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</p:spTree>
  </p:cSld>
  <p:clrMapOvr>
    <a:masterClrMapping/>
  </p:clrMapOvr>
  <p:transition spd="med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Connect Google Drive and Gmail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64377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6437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Upload the Lab 04 data/Lumo Launch folder to your Google Drive.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886891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8868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762794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 the project, click + → Connectors and switch on Google Drive and Gmail, signing in to Google.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409405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0940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285308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Send Block 1 with your own email address in place of &lt;YOUR EMAIL&gt;.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3931919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9319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807822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the budget table Claude produces.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454433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45443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330336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Confirm Claude flagged both lines instead of choosing one.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4976947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7694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4852850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Check that lumo-research-brief.docx now sits in the Lumo Launch folder in Drive.</a:t>
            </a:r>
          </a:p>
        </p:txBody>
      </p:sp>
      <p:sp>
        <p:nvSpPr>
          <p:cNvPr id="24" name="Oval 23"/>
          <p:cNvSpPr/>
          <p:nvPr/>
        </p:nvSpPr>
        <p:spPr>
          <a:xfrm>
            <a:off x="548640" y="5499461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49946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5375364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the draft email in full, then approve it.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2364377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236437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2240280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Open your inbox and confirm the email arrived with the Drive link working.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2886891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2886891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2762794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Send Block 2 to find the milestones due from 6 to 20 November.</a:t>
            </a:r>
          </a:p>
        </p:txBody>
      </p:sp>
      <p:sp>
        <p:nvSpPr>
          <p:cNvPr id="33" name="Oval 32"/>
          <p:cNvSpPr/>
          <p:nvPr/>
        </p:nvSpPr>
        <p:spPr>
          <a:xfrm>
            <a:off x="6240780" y="3409405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3409405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1404" y="3285308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Click the Drive steps in Claude's reply and compare them with the tool list it gave you.</a:t>
            </a:r>
          </a:p>
        </p:txBody>
      </p:sp>
      <p:sp>
        <p:nvSpPr>
          <p:cNvPr id="36" name="Oval 35"/>
          <p:cNvSpPr/>
          <p:nvPr/>
        </p:nvSpPr>
        <p:spPr>
          <a:xfrm>
            <a:off x="6240780" y="3931919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0780" y="3931919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1404" y="3807822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Check the milestone table.</a:t>
            </a:r>
          </a:p>
        </p:txBody>
      </p:sp>
      <p:sp>
        <p:nvSpPr>
          <p:cNvPr id="39" name="Oval 38"/>
          <p:cNvSpPr/>
          <p:nvPr/>
        </p:nvSpPr>
        <p:spPr>
          <a:xfrm>
            <a:off x="6240780" y="4454433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0780" y="4454433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1404" y="4330336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Send Block 3 with your own email address in place of &lt;YOUR EMAIL&gt;.</a:t>
            </a:r>
          </a:p>
        </p:txBody>
      </p:sp>
      <p:sp>
        <p:nvSpPr>
          <p:cNvPr id="42" name="Oval 41"/>
          <p:cNvSpPr/>
          <p:nvPr/>
        </p:nvSpPr>
        <p:spPr>
          <a:xfrm>
            <a:off x="6240780" y="4976947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40780" y="4976947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61404" y="4852850"/>
            <a:ext cx="4860036" cy="52251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Open Gmail → Drafts and check the reminder.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</p:spTree>
  </p:cSld>
  <p:clrMapOvr>
    <a:masterClrMapping/>
  </p:clrMapOvr>
  <p:transition spd="med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Connect Google Drive and Gmail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7947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Google Drive and Gmail are connected. Claude read both CSV files from the Lumo Launch folder, showed a budget table totalling S$60,000 on both sides, and flagged Instagram (S$18,000 vs S$20,000) and Influencers (S$12,000 vs S$10,000) without choosing between them. lumo-research-brief.docx is in the Drive folder, and the approved summary email arrived in your own inbox with a working link. Block 2 listed the three milestones due from 6 to 20 November with their owners and named the Drive tools it called. Block 3 found the Block 1 email in Gmail and saved a reminder about the E-commerce lead's store pages, due 27 November 2026, as a draft — nothing else was sent.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</p:spTree>
  </p:cSld>
  <p:clrMapOvr>
    <a:masterClrMapping/>
  </p:clrMapOvr>
  <p:transition spd="med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4 in Class: Reading from Google Drive</a:t>
            </a:r>
          </a:p>
        </p:txBody>
      </p:sp>
      <p:sp>
        <p:nvSpPr>
          <p:cNvPr id="5" name="Rectangle 4"/>
          <p:cNvSpPr/>
          <p:nvPr/>
        </p:nvSpPr>
        <p:spPr>
          <a:xfrm>
            <a:off x="2067973" y="1600200"/>
            <a:ext cx="8025574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67973" y="1600200"/>
            <a:ext cx="8025574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drive-r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701" y="1709928"/>
            <a:ext cx="7806118" cy="23865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Plan first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Open the Lumo Launch folder, read both CSVs, compare the budget with the brief, then email.</a:t>
            </a:r>
          </a:p>
        </p:txBody>
      </p:sp>
      <p:sp>
        <p:nvSpPr>
          <p:cNvPr id="11" name="Oval 10"/>
          <p:cNvSpPr/>
          <p:nvPr/>
        </p:nvSpPr>
        <p:spPr>
          <a:xfrm>
            <a:off x="432816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816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36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The tool call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'Using Google Drive: Read file content' — the connector at work.</a:t>
            </a:r>
          </a:p>
        </p:txBody>
      </p:sp>
      <p:sp>
        <p:nvSpPr>
          <p:cNvPr id="14" name="Oval 13"/>
          <p:cNvSpPr/>
          <p:nvPr/>
        </p:nvSpPr>
        <p:spPr>
          <a:xfrm>
            <a:off x="810768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488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Watch it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Each tool call shows its time; click › to see what was read.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Claude states its plan, then calls the Google Drive connector.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</p:spTree>
  </p:cSld>
  <p:clrMapOvr>
    <a:masterClrMapping/>
  </p:clrMapOvr>
  <p:transition spd="med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Following the Progress Panel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1536083" y="1600200"/>
            <a:ext cx="4928833" cy="4297679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36083" y="1600200"/>
            <a:ext cx="4928833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progress-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5811" y="1709928"/>
            <a:ext cx="4709377" cy="4078223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Steps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Find the folder → compare budget and brief → prepare the email.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Current step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orange dot marks the step in progress.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Used in this session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connectors it called: Gmail and Google Drive.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progress panel ticks off each step and lists what the session used.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</p:spTree>
  </p:cSld>
  <p:clrMapOvr>
    <a:masterClrMapping/>
  </p:clrMapOvr>
  <p:transition spd="med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04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Lab 4 Email</a:t>
            </a:r>
          </a:p>
        </p:txBody>
      </p:sp>
      <p:sp>
        <p:nvSpPr>
          <p:cNvPr id="5" name="Rectangle 4"/>
          <p:cNvSpPr/>
          <p:nvPr/>
        </p:nvSpPr>
        <p:spPr>
          <a:xfrm>
            <a:off x="1415839" y="1600200"/>
            <a:ext cx="5169321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15839" y="1600200"/>
            <a:ext cx="5169321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email-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567" y="1709928"/>
            <a:ext cx="4949865" cy="40782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From the brief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Price position, audience and sales goal, quoted from the research brief.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FLAG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Conflicting Instagram figures are flagged, not hidden — resolve each FLAG.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The numbers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8,000 cans is S$28,000–31,200 at retail, below the S$60,000 spend.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research and budget check, written into Gmail from the Drive files.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</p:spTree>
  </p:cSld>
  <p:clrMapOvr>
    <a:masterClrMapping/>
  </p:clrMapOvr>
  <p:transition spd="med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Analysing Data with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Claude's code tool turns a question about a file into calculated answers.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Attach the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 CSV or Excel file — the 400-row Lumo survey.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Define the terms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“Likely to buy” means intent 4 or 5 — say so.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Claude runs code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Python reads the file, counts, and draws the chart.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Check the 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Click the code step: right column, right filter?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Take the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Tables, a chart, and an .xlsx workbook to download.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numbers come from code that ran on your file — not from the model's memory.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</p:spTree>
  </p:cSld>
  <p:clrMapOvr>
    <a:masterClrMapping/>
  </p:clrMapOvr>
  <p:transition spd="med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Six Questions to Ask of Your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Each one works on the Lumo survey — and on your own exports at work.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57175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Question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23310" y="2194560"/>
            <a:ext cx="771525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The prompt you would send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560320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651760"/>
            <a:ext cx="25717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Segment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23310" y="2651760"/>
            <a:ext cx="77152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Likely to buy by city and by age band — count, base and 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20802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208020"/>
            <a:ext cx="25717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Compare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23310" y="3208020"/>
            <a:ext cx="77152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Which discovery channel has the highest average purchase intent?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376428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64280"/>
            <a:ext cx="25717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3310" y="3764280"/>
            <a:ext cx="77152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What share would pay S$3.50 or more, by city?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32054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320540"/>
            <a:ext cx="25717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Clean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23310" y="4320540"/>
            <a:ext cx="77152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Find duplicate respondent IDs, blanks and impossible values. List them; do not delete.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87680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876800"/>
            <a:ext cx="25717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Trend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23310" y="4876800"/>
            <a:ext cx="77152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Chart responses per week from response_date and tell me if any week is unusual.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" y="543306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433060"/>
            <a:ext cx="25717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23310" y="5433060"/>
            <a:ext cx="7715250" cy="5562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Save the tables and one chart as an Excel workbook with a Summary sheet.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" y="5989320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</p:spTree>
  </p:cSld>
  <p:clrMapOvr>
    <a:masterClrMapping/>
  </p:clrMapOvr>
  <p:transition spd="med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Trust the Numbers: Four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1. </a:t>
            </a:r>
            <a:r>
              <a:rPr sz="1500" b="1">
                <a:solidFill>
                  <a:srgbClr val="FFFFFF"/>
                </a:solidFill>
                <a:latin typeface="Calibri"/>
              </a:rPr>
              <a:t>Define every term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082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“Likely to buy” must mean intent 4 or 5 — write it in the prompt, or Claude chooses for you.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462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2. </a:t>
            </a:r>
            <a:r>
              <a:rPr sz="1500" b="1">
                <a:solidFill>
                  <a:srgbClr val="FFFFFF"/>
                </a:solidFill>
                <a:latin typeface="Calibri"/>
              </a:rPr>
              <a:t>Ask for the 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0380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A percentage without its count and base cannot be checked: 63% of what? Ask for 152 of 240.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3. </a:t>
            </a:r>
            <a:r>
              <a:rPr sz="1500" b="1">
                <a:solidFill>
                  <a:srgbClr val="FFFFFF"/>
                </a:solidFill>
                <a:latin typeface="Calibri"/>
              </a:rPr>
              <a:t>Reconcile the totals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8678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The segments must add back to the whole: 240 + 160 = 400 respondents, 152 + 96 = 248 likely to buy.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40580"/>
            <a:ext cx="108813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4. </a:t>
            </a:r>
            <a:r>
              <a:rPr sz="1500" b="1">
                <a:solidFill>
                  <a:srgbClr val="FFFFFF"/>
                </a:solidFill>
                <a:latin typeface="Calibri"/>
              </a:rPr>
              <a:t>Check one figure yourself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69764"/>
            <a:ext cx="10881360" cy="5806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B9B4A9"/>
                </a:solidFill>
                <a:latin typeface="Calibri"/>
              </a:rPr>
              <a:t>Filter the CSV in Excel for one row of the table. If it matches, you can trust the method.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76072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D97757"/>
                </a:solidFill>
                <a:latin typeface="Calibri"/>
              </a:rPr>
              <a:t>Lab 5 runs this on the survey everyone has, so the class can compare answers.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104</a:t>
            </a:r>
          </a:p>
        </p:txBody>
      </p:sp>
    </p:spTree>
  </p:cSld>
  <p:clrMapOvr>
    <a:masterClrMapping/>
  </p:clrMapOvr>
  <p:transition spd="med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SLIDES AND DOCS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Slides, Docs and Built-in Skills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Claude's own formats for the things a launch meeting needs.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Slides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deck Claude builds and you edit in place — download as PowerPoint or PDF for the meeting.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Docs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living document — a campaign brief, a plan — that you and Claude edit and comment on together.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Dashboards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page of live numbers — the Live Artefact you build in Lab 3 is one.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Built-in skills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Claude's pptx, docx and xlsx skills load on their own when your request needs a file.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You never name the skill. Ask for a deck or a document; Claude picks the format and the skill that builds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</p:spTree>
  </p:cSld>
  <p:clrMapOvr>
    <a:masterClrMapping/>
  </p:clrMapOvr>
  <p:transition spd="med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05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Analyse the Survey, Then Build the Deck and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Analyse survey data with Claude's code tool and save it to Excel, then produce a launch deck in Slides and a campaign brief in Docs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Before the deck, the numbers. Claude analyses the 400-row survey by writing and running code, and saves the tables and a chart as an Excel workbook. Then it builds the Friday deck in Slides and the campaign brief in Docs, choosing its built-in skills itself. You check every figure and download the deck as PowerPoint.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 survey analysis workbook (lumo-survey-analysis.xlsx), an eight-slide launch deck in Slides (downloaded as .pptx) and a campaign brief in Docs.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Projects, code execution, built-in skills (xlsx, pptx, docx), Slides,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</p:spTree>
  </p:cSld>
  <p:clrMapOvr>
    <a:masterClrMapping/>
  </p:clrMapOvr>
  <p:transition spd="med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05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05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follow the brand guidelines for anything customer-facing.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brand kit, for the name, tagline, price and claims.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survey CSV and lumo-research-brief.docx; save lumo-survey-analysis.xlsx and the .pptx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runs when you send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</p:spTree>
  </p:cSld>
  <p:clrMapOvr>
    <a:masterClrMapping/>
  </p:clrMapOvr>
  <p:transition spd="med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05 · THE PROMPT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ANALYSE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Analyse the attached survey with code. Count "likely to buy" as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purchase_intent 4 or 5.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1. Likely to buy by city, and by age band: count, base and %.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2. Willing to pay S$3.50 or more (max_price_sgd), by city.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3. Likely to buy among 25-34s in Singapore only.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4. One chart: likely-to-buy % by age band.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5. Save it all as lumo-survey-analysis.xlsx: a Summary sheet,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 one sheet per table, and the chart.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Show the totals so I can check them, then give me three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findings in one sentence each.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972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writes and runs the code. You check the method and the totals.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</p:spTree>
  </p:cSld>
  <p:clrMapOvr>
    <a:masterClrMapping/>
  </p:clrMapOvr>
  <p:transition spd="med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05 · THE PROMPT · STEP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459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459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5006340" cy="2773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Using our research brief, the Market Insights dashboard and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brand kit, create two things for Friday's launch meeting.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1. A launch deck in Slides, eight slides: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1 Title - Lumo Cold Kopi: Kopi, Chilled Right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2 The opportunity - the three survey numbers that matter most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3 Who we are for - 25-34s in Singapore, with the evidence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4 Competitors - a price ladder chart with Lumo highlighted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5 Where they find us - a discovery channel chart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6 The campaign - message, channels and dates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7 Budget - the S$60,000 split, noting the two open questions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8 Next steps and owners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359152"/>
            <a:ext cx="5006340" cy="2773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Use the Lumo brand colours. Real charts, not pictures of charts.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2. A campaign brief in Docs: objective, audience, key message,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proof points, channels, budget, timeline, KPIs, and a "claims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 we must not make" section.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Every number must come from the research brief or the dashboard.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List the source of each number at the end of the brief.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95728"/>
            <a:ext cx="9144" cy="268224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626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No skill named: ask for a deck and a document, and Claude picks the built-in skill.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</p:spTree>
  </p:cSld>
  <p:clrMapOvr>
    <a:masterClrMapping/>
  </p:clrMapOvr>
  <p:transition spd="med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05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Analyse the Survey, Then Build the Deck and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project, attach lumo-consumer-survey-2026.csv and send Block 1.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Click the code step in Claude's reply and read what it ran.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tables against these figures.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Download lumo-survey-analysis.xlsx and open it in Excel.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Ask one follow-up question about the data: Which coffee frequency group is most likely to buy?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22122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07492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Send Block 2.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deck when it appears and page through all eight slides.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slide 2 and slide 4 against your research.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slide 7.</a:t>
            </a:r>
          </a:p>
        </p:txBody>
      </p:sp>
      <p:sp>
        <p:nvSpPr>
          <p:cNvPr id="33" name="Oval 32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campaign brief in Docs and read the "claims we must not make" section.</a:t>
            </a:r>
          </a:p>
        </p:txBody>
      </p:sp>
      <p:sp>
        <p:nvSpPr>
          <p:cNvPr id="36" name="Oval 35"/>
          <p:cNvSpPr/>
          <p:nvPr/>
        </p:nvSpPr>
        <p:spPr>
          <a:xfrm>
            <a:off x="624078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078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140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Ask for one change to each, for example: Shorten slide 6 to three bullets.</a:t>
            </a:r>
          </a:p>
        </p:txBody>
      </p:sp>
      <p:sp>
        <p:nvSpPr>
          <p:cNvPr id="39" name="Oval 38"/>
          <p:cNvSpPr/>
          <p:nvPr/>
        </p:nvSpPr>
        <p:spPr>
          <a:xfrm>
            <a:off x="6240780" y="522122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0780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1404" y="507492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Download the deck as PowerPoint and open it.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</p:spTree>
  </p:cSld>
  <p:clrMapOvr>
    <a:masterClrMapping/>
  </p:clrMapOvr>
  <p:transition spd="med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05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Analyse the Survey, Then Build the Deck and Brief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7947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analysis shows Singapore 152 of 240 (63%) and Kuala Lumpur 96 of 160 (60%) likely to buy, 25-34s at 112 of 152 (74%) and 72 of 96 (75%) among 25-34s in Singapore, and lumo-survey-analysis.xlsx opens in Excel with a Summary sheet, the tables and a chart. The deck has eight slides in the Lumo colours, with real charts for the price ladder and the discovery channels, the survey figures 62%, 74% and 34%, and a budget slide that shows S$60,000 with the Instagram and Influencers lines marked as open questions. The campaign brief in Docs has all nine sections, including "claims we must not make", and lists a source for every number. The deck opens in PowerPoint with its charts intact.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</p:spTree>
  </p:cSld>
  <p:clrMapOvr>
    <a:masterClrMapping/>
  </p:clrMapOvr>
  <p:transition spd="med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Skills Are Documented on Three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Each layer reaches Claude at a different moment — which is why the description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6035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286000"/>
            <a:ext cx="4297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When Claude sees them</a:t>
            </a:r>
          </a:p>
        </p:txBody>
      </p:sp>
      <p:sp>
        <p:nvSpPr>
          <p:cNvPr id="8" name="Rectangle 7"/>
          <p:cNvSpPr/>
          <p:nvPr/>
        </p:nvSpPr>
        <p:spPr>
          <a:xfrm>
            <a:off x="1188720" y="2670048"/>
            <a:ext cx="5394960" cy="926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2816352"/>
            <a:ext cx="484632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Metadata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3182112"/>
            <a:ext cx="4846320" cy="28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Skill name and description.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46520" y="312420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74536" y="312420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02552" y="312420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30568" y="312420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58584" y="312420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086600" y="312420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0" y="298704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✓  </a:t>
            </a:r>
            <a:r>
              <a:rPr sz="1250" b="0">
                <a:solidFill>
                  <a:srgbClr val="21201C"/>
                </a:solidFill>
                <a:latin typeface="Calibri"/>
              </a:rPr>
              <a:t>Always in context — this is all Claude sees until the skill is triggered.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3797808"/>
            <a:ext cx="5715000" cy="926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44112"/>
            <a:ext cx="516636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Instructions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309872"/>
            <a:ext cx="5166360" cy="28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step-by-step workflow, written in a SKILL.md.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46520" y="425196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74536" y="425196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02552" y="425196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30568" y="425196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58584" y="425196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086600" y="425196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411480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✓  </a:t>
            </a:r>
            <a:r>
              <a:rPr sz="1250" b="0">
                <a:solidFill>
                  <a:srgbClr val="21201C"/>
                </a:solidFill>
                <a:latin typeface="Calibri"/>
              </a:rPr>
              <a:t>Loaded when the skill is triggered.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925568"/>
            <a:ext cx="6035040" cy="926592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071872"/>
            <a:ext cx="54864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21201C"/>
                </a:solidFill>
                <a:latin typeface="Cambria"/>
              </a:rPr>
              <a:t>Resources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5437632"/>
            <a:ext cx="5486400" cy="2865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Supporting documents, templates and examples.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46520" y="537972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574536" y="537972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02552" y="537972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30568" y="537972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58584" y="537972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086600" y="5379720"/>
            <a:ext cx="64008" cy="18288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5242560"/>
            <a:ext cx="429768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✓  </a:t>
            </a:r>
            <a:r>
              <a:rPr sz="1250" b="0">
                <a:solidFill>
                  <a:srgbClr val="21201C"/>
                </a:solidFill>
                <a:latin typeface="Calibri"/>
              </a:rPr>
              <a:t>Loaded only when the skill needs them.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</p:spTree>
  </p:cSld>
  <p:clrMapOvr>
    <a:masterClrMapping/>
  </p:clrMapOvr>
  <p:transition spd="med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Anatomy of an Agent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skill is a folder Claude loads on demand when the task matches its description.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Metadata — name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short identifier such as lumo-brand-voice. This is what you type to run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Metadata — description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the skill does and WHEN to use it. Always in context, so this is what Claude matches against your request.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(SKILL.md)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routine itself: tone rules, words to avoid, hashtag rules, the checks to run.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Resources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Optional examples of on-brand and off-brand posts the instructions call 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</p:spTree>
  </p:cSld>
  <p:clrMapOvr>
    <a:masterClrMapping/>
  </p:clrMapOvr>
  <p:transition spd="med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Inside a Real SKILL.md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41122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41122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SKILL.md — lumo-brand-voice, as /skill-creator writes it in Lab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5006340" cy="2725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name: lumo-brand-voice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description: Use when writing or reviewing any customer-facing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  Lumo Kopi content - social posts, captions, emails, video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  scripts or ads.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---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# Lumo brand voice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## Rules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 Prices as S$3.90 and S$42.00 - never $3.9 or SGD42.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 No "healthy", medical or weight-loss claims.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359152"/>
            <a:ext cx="5006340" cy="27254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 At most one Singlish word.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 #LumoKopi on every post; no more than five hashtags.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 End with one clear call to action.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## Steps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1. Draft or rewrite in the Lumo voice.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2. Remove any claim not in lumo-product-sheet.md.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3. Run the checklist and show the result.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## Resources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21201C"/>
                </a:solidFill>
                <a:latin typeface="Calibri"/>
              </a:rPr>
              <a:t>- examples.md: two before-and-after rewrites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95728"/>
            <a:ext cx="9144" cy="263398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5143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Top: metadata, always in context. Rules and steps: loaded when the skill is used. examples.md: read only when needed.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</p:spTree>
  </p:cSld>
  <p:clrMapOvr>
    <a:masterClrMapping/>
  </p:clrMapOvr>
  <p:transition spd="med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Four Kinds of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Every one is a SKILL.md; they differ in who writes it and how it arrives.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Kind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194560"/>
            <a:ext cx="197276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Who writes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56049" y="2194560"/>
            <a:ext cx="328794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How it loads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72597" y="2194560"/>
            <a:ext cx="2465961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In this course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Built-in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51760"/>
            <a:ext cx="1972769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Anthropic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56049" y="2651760"/>
            <a:ext cx="328794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By itself when you ask for a 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72597" y="2651760"/>
            <a:ext cx="2465961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pptx, xlsx, docx — Lab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87852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7852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Your 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87852"/>
            <a:ext cx="1972769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You, with /skill-creator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6049" y="3387852"/>
            <a:ext cx="328794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When a request matches its description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72597" y="3387852"/>
            <a:ext cx="2465961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lumo-brand-voice — Lab 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2394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23944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From a plugin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123944"/>
            <a:ext cx="1972769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plugin's author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6049" y="4123944"/>
            <a:ext cx="328794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same, or by its /plugin:command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2597" y="4123944"/>
            <a:ext cx="2465961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marketing:brand-review — Lab 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60036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60036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Shared by your team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860036"/>
            <a:ext cx="1972769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An admin or a colleague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56049" y="4860036"/>
            <a:ext cx="328794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Provided to everyone in the organisation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72597" y="4860036"/>
            <a:ext cx="2465961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Your company's house style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9612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</p:spTree>
  </p:cSld>
  <p:clrMapOvr>
    <a:masterClrMapping/>
  </p:clrMapOvr>
  <p:transition spd="med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Description Decides When It 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Description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168748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0763" y="1874519"/>
            <a:ext cx="626779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Why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40279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19"/>
            <a:ext cx="2103120" cy="5543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Brand voice.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331719"/>
            <a:ext cx="1687483" cy="5543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Too vague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0763" y="2331719"/>
            <a:ext cx="6267796" cy="5543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Says nothing about when — Claude rarely loads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88607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86074"/>
            <a:ext cx="2103120" cy="769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Rewrites Instagram captions.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886074"/>
            <a:ext cx="1687483" cy="769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Too narrow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0763" y="2886074"/>
            <a:ext cx="6267796" cy="769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Will not load for an email, a video script or an ad.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55313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55313"/>
            <a:ext cx="2103120" cy="5543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Use for all writing.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655313"/>
            <a:ext cx="1687483" cy="5543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Too broad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0763" y="3655313"/>
            <a:ext cx="6267796" cy="55435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Loads for internal notes and meeting minutes too.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0966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09668"/>
            <a:ext cx="2103120" cy="14138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Use when writing or reviewing any customer-facing Lumo Kopi content - social posts, captions, emails, video scripts or ads.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209668"/>
            <a:ext cx="1687483" cy="14138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Good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0763" y="4209668"/>
            <a:ext cx="6267796" cy="141389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Names the job, the brand and every format it covers.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623559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Lab 6 tests this: Block 3 never names the skill, so only the description can load 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</p:spTree>
  </p:cSld>
  <p:clrMapOvr>
    <a:masterClrMapping/>
  </p:clrMapOvr>
  <p:transition spd="med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Creating Your Own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Do not write a skill from a blank page — do the work first, then capture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25603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56032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50876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307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Do the task together with Claude once, step by step.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83280" y="2560320"/>
            <a:ext cx="25603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80" y="2560320"/>
            <a:ext cx="256032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0440" y="37307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42062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Review and refine until the output is right.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560320"/>
            <a:ext cx="25603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560320"/>
            <a:ext cx="256032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17804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7804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7307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Save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2062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Turn it into a skill using the /skill-creator skill.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2560320"/>
            <a:ext cx="2560320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052560" y="2560320"/>
            <a:ext cx="256032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01268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1268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730752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Use and update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4206240"/>
            <a:ext cx="22860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Use it on new work, find the gap, and save the fix over it — Claude confirms first.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/skill-creator writes the SKILL.md for you, from the run you just verified.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</p:spTree>
  </p:cSld>
  <p:clrMapOvr>
    <a:masterClrMapping/>
  </p:clrMapOvr>
  <p:transition spd="med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 Skill vs Retyping the Request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Write the routine once, and run it by name from then 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349240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Pasting the brand guide each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You describe the voice again in every chat.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Easy to forget a rule when you are in a hurry.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Each colleague words it slightly differently.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Four channels drift into four voices.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Nothing to hand to a new joiner or agency.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148840"/>
            <a:ext cx="5349240" cy="37490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2148840"/>
            <a:ext cx="5349240" cy="73152"/>
          </a:xfrm>
          <a:prstGeom prst="rect">
            <a:avLst/>
          </a:prstGeom>
          <a:solidFill>
            <a:srgbClr val="3A7D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56248" y="2404872"/>
            <a:ext cx="4800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 brand-voice Agent 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971800"/>
            <a:ext cx="4800600" cy="2697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Written once in SKILL.md and loaded by name.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Claude applies every rule, every time.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Every task in the project shares it.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Instagram and LinkedIn still sound like one brand.</a:t>
            </a:r>
          </a:p>
          <a:p>
            <a:pPr algn="l">
              <a:spcAft>
                <a:spcPts val="9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•  Onboarding is: copy the skill folder.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</p:spTree>
  </p:cSld>
  <p:clrMapOvr>
    <a:masterClrMapping/>
  </p:clrMapOvr>
  <p:transition spd="med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 Skill That Drives Your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most useful skills combine the connectors into one repeatable command.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One command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Run the whole routine by name instead of describing it again each time.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Across your tools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skill decides which connectors to use — Drive, Gmail — and in what order.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fixed structure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 returns the same sections every run, so you can scan it in seconds.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With checks built in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It checks claims, prices and hashtags before it hands the post back.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Still under approval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The skill drafts and reports; publishing anything still needs you.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Shared with the team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Everyone runs the same routine and gets the same format.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</p:spTree>
  </p:cSld>
  <p:clrMapOvr>
    <a:masterClrMapping/>
  </p:clrMapOvr>
  <p:transition spd="med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Skills Worth Writing at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Any routine you repeat, with rules someone could forget, is a skill waiting to be written.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weekly-status-report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Every Monday: reads the project folder and inbox, writes five bullets in a fixed format. Uses Drive and Gmail.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meeting-minutes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Turns a transcript into decisions, actions, owners and due dates — the same table every time.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customer-reply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Drafts replies in the house tone; never promises a refund or a price the policy does not allow.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proposal-deck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Builds a client proposal in the company template, using the built-in pptx skill.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expense-check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Checks a claims spreadsheet against the policy limits and flags each breach with its rule.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job-ad-writer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Writes a job ad in the house format, then checks it for biased or exclusionary wording.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</p:spTree>
  </p:cSld>
  <p:clrMapOvr>
    <a:masterClrMapping/>
  </p:clrMapOvr>
  <p:transition spd="med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When a Skill Goes Wrong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>What you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54680" y="1874519"/>
            <a:ext cx="3469856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Likely cause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3136" y="1874519"/>
            <a:ext cx="4485423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What to do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240279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331719"/>
            <a:ext cx="2103120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The skill does not 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2331719"/>
            <a:ext cx="3469856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description does not mention this job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3136" y="2331719"/>
            <a:ext cx="4485423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Add the job and its words to the description.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977285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977285"/>
            <a:ext cx="2103120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It loads when it should not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80" y="2977285"/>
            <a:ext cx="3469856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description is too broad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3136" y="2977285"/>
            <a:ext cx="4485423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Narrow it: name the brand, the formats, the audience.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3622851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622851"/>
            <a:ext cx="2103120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It skips a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54680" y="3622851"/>
            <a:ext cx="3469856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rule is vague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3136" y="3622851"/>
            <a:ext cx="4485423" cy="64556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Rewrite it as a check: “price written as S$3.90”.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26841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268417"/>
            <a:ext cx="2103120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A new kind of job goes wrong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268417"/>
            <a:ext cx="3469856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The skill has no rule for 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3136" y="4268417"/>
            <a:ext cx="4485423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Update it with /skill-creator — Lab 6, Block 4.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" y="512886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128867"/>
            <a:ext cx="2103120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Colleagues get different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5128867"/>
            <a:ext cx="3469856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Each keeps a different copy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3136" y="5128867"/>
            <a:ext cx="4485423" cy="8604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Share one skill, or package it in a plugin.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5989317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</p:spTree>
  </p:cSld>
  <p:clrMapOvr>
    <a:masterClrMapping/>
  </p:clrMapOvr>
  <p:transition spd="med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Install a Published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2581969" y="1600200"/>
            <a:ext cx="6997582" cy="26060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581969" y="1600200"/>
            <a:ext cx="6997582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install-ski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1697" y="1709928"/>
            <a:ext cx="6778126" cy="238658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4864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The request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'Install this skill in the project level', then the npx skills add command.</a:t>
            </a:r>
          </a:p>
        </p:txBody>
      </p:sp>
      <p:sp>
        <p:nvSpPr>
          <p:cNvPr id="11" name="Oval 10"/>
          <p:cNvSpPr/>
          <p:nvPr/>
        </p:nvSpPr>
        <p:spPr>
          <a:xfrm>
            <a:off x="432816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816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536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Project level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skill is available in this project, beside the brand-voice skill you write in Lab 6.</a:t>
            </a:r>
          </a:p>
        </p:txBody>
      </p:sp>
      <p:sp>
        <p:nvSpPr>
          <p:cNvPr id="14" name="Oval 13"/>
          <p:cNvSpPr/>
          <p:nvPr/>
        </p:nvSpPr>
        <p:spPr>
          <a:xfrm>
            <a:off x="8107680" y="452628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07680" y="452628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4880" y="4544568"/>
            <a:ext cx="3048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Check the source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Read a third-party skill's SKILL.md first — it runs with your access.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Ask Claude to install a skill from GitHub into the project.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</p:spTree>
  </p:cSld>
  <p:clrMapOvr>
    <a:masterClrMapping/>
  </p:clrMapOvr>
  <p:transition spd="med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Capture the Brand Voice as an Agent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Capture the brand voice as an Agent Skill with /skill-creator, read its SKILL.md, use it on workplace messages and update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Every post and customer email has to sound like Lumo. You rewrite five off-brand captions until they are right, save the routine as a lumo-brand-voice skill with /skill-creator and read its SKILL.md. Then you use it on three waiting messages, spot the gap it leaves, and update the skill so every future reply closes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 lumo-brand-voice Agent Skill, read in its SKILL.md, used on three workplace messages, then updated with a customer-reply section and retested.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Projects, Agent Skills, /skill-creator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</p:spTree>
  </p:cSld>
  <p:clrMapOvr>
    <a:masterClrMapping/>
  </p:clrMapOvr>
  <p:transition spd="med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06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never-say-healthy rule becomes a check inside the skill.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brand guidelines the skill is written from, and the product sheet its replies may quote.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attach the captions, then the customer messages; the skill saves to Customize → Skills.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runs when you send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</p:spTree>
  </p:cSld>
  <p:clrMapOvr>
    <a:masterClrMapping/>
  </p:clrMapOvr>
  <p:transition spd="med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THE PROMPT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Rewrite the five captions in the attached file in the Lumo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brand voice, following lumo-brand-guidelines.md.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For each caption, show: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the original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your rewrite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every rule you applied, by name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any claim you removed, and why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Then run these checks on each rewrite and show the result: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price written as S$3.90; no "healthy" or medical claims; at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most one Singlish word; #LumoKopi present; no more than five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hashtags; ends with one clear call to action.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972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Stop here. Refine the rewrites until they are right before you save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</p:spTree>
  </p:cSld>
  <p:clrMapOvr>
    <a:masterClrMapping/>
  </p:clrMapOvr>
  <p:transition spd="med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THE PROMPT · STEP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SAVE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40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40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272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Create a skill called lumo-brand-voice from what we just did.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Description: Use when writing or reviewing any customer-facing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Lumo Kopi content - social posts, captions, emails, video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scripts or ads.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It should rewrite or draft content in the Lumo voice, apply the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brand rules, remove claims we cannot prove, and finish with the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same checklist of checks we used. Include two of today's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before-and-after examples as a resource.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51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Type /skill-creator first, then paste the block.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</p:spTree>
  </p:cSld>
  <p:clrMapOvr>
    <a:masterClrMapping/>
  </p:clrMapOvr>
  <p:transition spd="med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THE PROMPT ·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3 —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376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1376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690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Draft replies to messages 1 and 2 in the attached file, and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rewrite the flyer line in message 3 so it is ready to print.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479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No skill named: its description alone must make it 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</p:spTree>
  </p:cSld>
  <p:clrMapOvr>
    <a:masterClrMapping/>
  </p:clrMapOvr>
  <p:transition spd="med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THE PROMPT · STEP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4 —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15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154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Update the lumo-brand-voice skill. Add a section for replies to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customers and stockists: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thank them, and apologise once if something went wrong;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never promise a refund, replacement, discount or any price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  that is not in lumo-product-sheet.md;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say the team will reply within two working days;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sign off "- The Lumo Kopi team".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Show me the change before you save over the skill.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5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Do · Verify · Save · Update — this is the Update.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</p:spTree>
  </p:cSld>
  <p:clrMapOvr>
    <a:masterClrMapping/>
  </p:clrMapOvr>
  <p:transition spd="med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THE PROMPT · STEP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5 — RETEST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122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1122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436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Reply to message 1 in the attached 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25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A fresh task proves the skill changed, not the conversation.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</p:spTree>
  </p:cSld>
  <p:clrMapOvr>
    <a:masterClrMapping/>
  </p:clrMapOvr>
  <p:transition spd="med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Capture the Brand Voice as an Agent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lumo-sample-captions.txt and read the five captions.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project, attach the file and send Block 1.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each rewrite against the brand guidelines and refine until all five are right.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Type /skill-creator in the composer, then paste Block 2 and send.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Read the skill Claude proposes, especially its description, and approve it.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22122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07492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Customize → Skills, open lumo-brand-voice and read its SKILL.md.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new task, attach lumo-customer-messages.txt and send Block 3.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that lumo-brand-voice loaded, then read the flyer line and the café reply.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Read the reply to message 1 closely.</a:t>
            </a:r>
          </a:p>
        </p:txBody>
      </p:sp>
      <p:sp>
        <p:nvSpPr>
          <p:cNvPr id="33" name="Oval 32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Type /skill-creator in the composer, then paste Block 4 and approve the change.</a:t>
            </a:r>
          </a:p>
        </p:txBody>
      </p:sp>
      <p:sp>
        <p:nvSpPr>
          <p:cNvPr id="36" name="Oval 35"/>
          <p:cNvSpPr/>
          <p:nvPr/>
        </p:nvSpPr>
        <p:spPr>
          <a:xfrm>
            <a:off x="624078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078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140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new task, attach the file again and send Block 5.</a:t>
            </a:r>
          </a:p>
        </p:txBody>
      </p:sp>
      <p:sp>
        <p:nvSpPr>
          <p:cNvPr id="39" name="Oval 38"/>
          <p:cNvSpPr/>
          <p:nvPr/>
        </p:nvSpPr>
        <p:spPr>
          <a:xfrm>
            <a:off x="6240780" y="522122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40780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661404" y="507492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the new reply to message 1.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</p:spTree>
  </p:cSld>
  <p:clrMapOvr>
    <a:masterClrMapping/>
  </p:clrMapOvr>
  <p:transition spd="med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06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Capture the Brand Voice as an Agent Skill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7947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lumo-brand-voice appears under Customize → Skills, and its SKILL.md shows a name, a description that says when to use it, the brand rules and the checklist. In a fresh task, Block 3 loaded the skill without naming it: the flyer line drops "super healthy" and "best kopi in Singapore" and shows S$3.90, and the café reply does not invent a wholesale price. After Block 4 the skill has a customer-reply section, and the Block 5 reply to message 1 promises no refund, says the team will reply within two working days and signs off "- The Lumo Kopi team".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</p:spTree>
  </p:cSld>
  <p:clrMapOvr>
    <a:masterClrMapping/>
  </p:clrMapOvr>
  <p:transition spd="med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PLUGINS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Skills vs. Plugins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" y="2057400"/>
            <a:ext cx="10241280" cy="3611880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617720" y="1847088"/>
            <a:ext cx="2926080" cy="420624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847088"/>
            <a:ext cx="29260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ourier New"/>
              </a:rPr>
              <a:t>Plugin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04872"/>
            <a:ext cx="1024128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ourier New"/>
              </a:rPr>
              <a:t>A shareable setup for Claude</a:t>
            </a:r>
          </a:p>
        </p:txBody>
      </p:sp>
      <p:sp>
        <p:nvSpPr>
          <p:cNvPr id="9" name="Rectangle 8"/>
          <p:cNvSpPr/>
          <p:nvPr/>
        </p:nvSpPr>
        <p:spPr>
          <a:xfrm>
            <a:off x="1417320" y="2926080"/>
            <a:ext cx="2926080" cy="996696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81912" y="2752344"/>
            <a:ext cx="781812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81912" y="2752344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Skill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7048" y="3072384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How Claude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should work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2926080"/>
            <a:ext cx="2926080" cy="996696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82312" y="2752344"/>
            <a:ext cx="1097280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82312" y="2752344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Skill 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3072384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How Claude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should work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18120" y="2926080"/>
            <a:ext cx="2926080" cy="996696"/>
          </a:xfrm>
          <a:prstGeom prst="rect">
            <a:avLst/>
          </a:prstGeom>
          <a:solidFill>
            <a:srgbClr val="E5E2F7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82712" y="2752344"/>
            <a:ext cx="1097280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82712" y="2752344"/>
            <a:ext cx="10972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Skill #3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7848" y="3072384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How Claude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should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417320" y="4398264"/>
            <a:ext cx="2926080" cy="996696"/>
          </a:xfrm>
          <a:prstGeom prst="rect">
            <a:avLst/>
          </a:prstGeom>
          <a:solidFill>
            <a:srgbClr val="FAE6B0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581912" y="4224528"/>
            <a:ext cx="781812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81912" y="4224528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Tools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7048" y="4544568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What Claude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can access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4398264"/>
            <a:ext cx="2926080" cy="996696"/>
          </a:xfrm>
          <a:prstGeom prst="rect">
            <a:avLst/>
          </a:prstGeom>
          <a:solidFill>
            <a:srgbClr val="D6EFD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82312" y="4224528"/>
            <a:ext cx="886968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82312" y="4224528"/>
            <a:ext cx="886968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Agents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27448" y="4544568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Specialist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helpers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18120" y="4398264"/>
            <a:ext cx="2926080" cy="996696"/>
          </a:xfrm>
          <a:prstGeom prst="rect">
            <a:avLst/>
          </a:prstGeom>
          <a:solidFill>
            <a:srgbClr val="F5C8B8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982712" y="4224528"/>
            <a:ext cx="781812" cy="347472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82712" y="4224528"/>
            <a:ext cx="78181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ourier New"/>
              </a:rPr>
              <a:t>Hooks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27848" y="4544568"/>
            <a:ext cx="2706624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Automated</a:t>
            </a:r>
          </a:p>
          <a:p>
            <a:pPr algn="ctr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ourier New"/>
              </a:rPr>
              <a:t>actions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A skill is one routine. A plugin is the whole setup — install the Marketing plugin and you get every skill, command and tool it contains.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</p:spTree>
  </p:cSld>
  <p:clrMapOvr>
    <a:masterClrMapping/>
  </p:clrMapOvr>
  <p:transition spd="med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MODS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Mods: Changing Claude Itself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What a mod is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change to Claude's own interface or behaviour, rather than to the work it does.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panel or pane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Something that stays beside the chat and updates — a running checklist, a campaign tracker.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status line or toast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small always-visible signal, such as the active project or remaining usage.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slash command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Your own /command that starts a routine you use often.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hook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An action that runs automatically on an event — for example, before Claude sends anything.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Where to find them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Under Customize, alongside Skills, Connectors and Plugins. Ask Claude to make one for you.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</p:spTree>
  </p:cSld>
  <p:clrMapOvr>
    <a:masterClrMapping/>
  </p:clrMapOvr>
  <p:transition spd="med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2 · PLUGINS AND MODS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Skill, Plugin or Mod?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Three ways to extend Claude — and which one you reach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21031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6B6862"/>
                </a:solidFill>
                <a:latin typeface="Calibri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2194560"/>
            <a:ext cx="24400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Skill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23284" y="2194560"/>
            <a:ext cx="2277337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Plugin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9221" y="2194560"/>
            <a:ext cx="3009338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mbria"/>
              </a:rPr>
              <a:t>Mod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560320"/>
            <a:ext cx="10515600" cy="13716"/>
          </a:xfrm>
          <a:prstGeom prst="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Changes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651760"/>
            <a:ext cx="2440004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How a task is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3284" y="2651760"/>
            <a:ext cx="2277337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 whole toolkit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9221" y="2651760"/>
            <a:ext cx="300933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Claude's own 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387852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7852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Contains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387852"/>
            <a:ext cx="2440004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One SKILL.md + resources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23284" y="3387852"/>
            <a:ext cx="2277337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Skills, tools, agents, 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9221" y="3387852"/>
            <a:ext cx="300933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 panel, command, hook or status 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" y="4123944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23944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You get it by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4123944"/>
            <a:ext cx="2440004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Writing it with /skill-creator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23284" y="4123944"/>
            <a:ext cx="2277337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Installing from Discover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9221" y="4123944"/>
            <a:ext cx="300933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Asking Claude to make 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4860036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860036"/>
            <a:ext cx="2103120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libri"/>
              </a:rPr>
              <a:t>Lumo 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54680" y="4860036"/>
            <a:ext cx="2440004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lumo-brand-voice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3284" y="4860036"/>
            <a:ext cx="2277337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Marketing plugin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9221" y="4860036"/>
            <a:ext cx="3009338" cy="7360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 Next Lumo post panel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" y="5596128"/>
            <a:ext cx="10515600" cy="9144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</p:spTree>
  </p:cSld>
  <p:clrMapOvr>
    <a:masterClrMapping/>
  </p:clrMapOvr>
  <p:transition spd="med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Add the Marketing Plugin and a Mod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Install a plugin, use its namespaced commands alongside your own skill, and build a mod that suggests the next social 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You wrote one skill yourself; now you install a toolkit somebody else packaged. Anthropic's Marketing plugin bundles several marketing skills behind namespaced commands. You install it, use /marketing:campaign-plan to stress-test the launch plan, and run /marketing:brand-review on the deck copy — then compare a plugin with the skill you wrote. Last, you build a mod of your own: a Next Lumo post panel beside the chat that suggests what to post next.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The Marketing plugin installed, a campaign plan review, a brand review of the launch copy, and a Next Lumo post mod.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Projects, plugins, mods, Customize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</p:spTree>
  </p:cSld>
  <p:clrMapOvr>
    <a:masterClrMapping/>
  </p:clrMapOvr>
  <p:transition spd="med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07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plugin commands follow the same project rules.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brand guidelines, for /marketing:brand-review.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research brief, campaign brief and deck; the Next Lumo post mod reads the folder.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the mod suggests a post; nothing runs on a timer.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</p:spTree>
  </p:cSld>
  <p:clrMapOvr>
    <a:masterClrMapping/>
  </p:clrMapOvr>
  <p:transition spd="med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THE PROMPT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646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646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960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/marketing:campaign-plan Review the Lumo Cold Kopi launch using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our campaign brief and research brief. Keep our objective,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audience, budget and dates. Tell me: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what is missing from the plan,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the three biggest risks to the 1 December launch,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- the KPIs you would track in the first two weeks, with targets.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Do not change the S$60,000 budget.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49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Install the plugin first: Customize → Plugins → Browse → Marketing → Install.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</p:spTree>
  </p:cSld>
  <p:clrMapOvr>
    <a:masterClrMapping/>
  </p:clrMapOvr>
  <p:transition spd="med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THE PROMPT ·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630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1630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94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/marketing:brand-review Review the copy on slides 1, 2 and 6 of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our launch deck against lumo-brand-guidelines.md. List each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change you would make and the rule behind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33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The plugin reviews; your own skill holds the house rules.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</p:spTree>
  </p:cSld>
  <p:clrMapOvr>
    <a:masterClrMapping/>
  </p:clrMapOvr>
  <p:transition spd="med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THE PROMPT · STEP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3 — MOD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8404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8404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3154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Make me a mod: a panel called "Next Lumo post" that stays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beside the chat in this project.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If social-calendar.csv is in the project, show the next post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  due from today: date, platform, format, hook and call to action.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If there is no calendar yet, suggest one next post instead: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  use the top content theme in lumo-research-brief.docx and the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  lumo-brand-voice skill, and say which platform and day suit it.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Add a Refresh button and show when it last updated.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- It only suggests: never post, publish or send anything.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Tell me what the mod will do and where it will appear before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you install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97296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You make a mod by asking Claude. It only suggests — nothing is posted.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</p:spTree>
  </p:cSld>
  <p:clrMapOvr>
    <a:masterClrMapping/>
  </p:clrMapOvr>
  <p:transition spd="med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Add the Marketing Plugin and a Mod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Customize → Plugins and browse the available plugins.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Find the Marketing plugin, read what it contains, and click Install.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project composer, type /marketing and look at the commands it offers.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Marketing plugin in Customize → Plugins, list the skills it contains, and open brand-review.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Send Block 1 to stress-test the plan with /marketing:campaign-plan.</a:t>
            </a:r>
          </a:p>
        </p:txBody>
      </p:sp>
      <p:sp>
        <p:nvSpPr>
          <p:cNvPr id="21" name="Oval 20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Read the risks and KPIs it proposes, and check the budget is unchanged at S$60,000.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Send Block 2 to review the deck copy with /marketing:brand-review.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Customize and look at the Mods section.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Send Block 3 and read what the mod will do before you let Claude install it.</a:t>
            </a:r>
          </a:p>
        </p:txBody>
      </p:sp>
      <p:sp>
        <p:nvSpPr>
          <p:cNvPr id="33" name="Oval 32"/>
          <p:cNvSpPr/>
          <p:nvPr/>
        </p:nvSpPr>
        <p:spPr>
          <a:xfrm>
            <a:off x="624078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140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Next Lumo post panel beside the chat and read its suggestion.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</p:spTree>
  </p:cSld>
  <p:clrMapOvr>
    <a:masterClrMapping/>
  </p:clrMapOvr>
  <p:transition spd="med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07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Add the Marketing Plugin and a Mod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7947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Marketing plugin is installed and its /marketing: commands appear in the composer. /marketing:campaign-plan returned the gaps, three launch risks and two-week KPIs with targets while keeping the S$60,000 budget and the 1 December date. /marketing:brand-review reviewed the deck copy. You can explain the difference between lumo-brand-voice (a skill you wrote), the Marketing plugin (a packaged bundle) and a mod (a change to Claude's interface). The Next Lumo post panel sits beside the chat and suggests one on-brand post — S$ prices, no health claim — without posting anything.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</p:spTree>
  </p:cSld>
  <p:clrMapOvr>
    <a:masterClrMapping/>
  </p:clrMapOvr>
  <p:transition spd="med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02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Recap — Connectors, Skills and Plugins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06197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06197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100492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04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connect Google Drive and Gmail and use their tools to reconcile, search, save and draft, sending only what you approve.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52928"/>
            <a:ext cx="11064240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52928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13182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13182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2962656"/>
            <a:ext cx="100492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05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analyse survey data with Claude's code tool and save it to Excel, then produce a launch deck in Slides and a campaign brief in Docs.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922776"/>
            <a:ext cx="11064240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42016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16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032504"/>
            <a:ext cx="100492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06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capture the brand voice as an Agent Skill with /skill-creator, read its SKILL.md, use it on workplace messages and update it.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992624"/>
            <a:ext cx="11064240" cy="9052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992624"/>
            <a:ext cx="54864" cy="90525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2715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52715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5024" y="5102352"/>
            <a:ext cx="10049256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07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install a plugin, use its namespaced commands alongside your own skill, and build a mod that suggests the next social post.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</p:spTree>
  </p:cSld>
  <p:clrMapOvr>
    <a:masterClrMapping/>
  </p:clrMapOvr>
  <p:transition spd="med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TOPIC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40280"/>
            <a:ext cx="731520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Cambria"/>
              </a:rPr>
              <a:t>Content Production and Scheduled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463040"/>
            <a:ext cx="3200400" cy="272491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One prompt, four platforms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Social post specs and brand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Script, storyboard, render: the video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Scheduled tasks and the memory file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143</a:t>
            </a:r>
          </a:p>
        </p:txBody>
      </p:sp>
    </p:spTree>
  </p:cSld>
  <p:clrMapOvr>
    <a:masterClrMapping/>
  </p:clrMapOvr>
  <p:transition spd="med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CONTENT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One Prompt, Four Platforms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Brief 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One prompt: the dates, the four platforms, the spec for each and the skill to use.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Draft by platform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Claude works through each platform's posts to its own spec.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Check the voice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The brand-voice skill runs its checklist on every post.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Save the calendar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The posts land in one dated calendar file in the project folder.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Check and approve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You check claims, prices and dates before anything is scheduled.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One task with a precise spec per platform — the brand-voice skill keeps all four on one voice.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</p:spTree>
  </p:cSld>
  <p:clrMapOvr>
    <a:masterClrMapping/>
  </p:clrMapOvr>
  <p:transition spd="med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SOCIAL SPECS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What Each Platform Needs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Each platform's spec goes into the prompt as its brief.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Instagram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Carousel or Reel. Hook in the first line; caption up to 2,200 characters; 3–5 hashtags.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77977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77977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TikTok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9:16 video, 15–30 s. A hook in the first 2 seconds; on-screen text; one call to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LinkedIn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Founder or team voice; the story behind the product; no more than 3 hashtags.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922776"/>
            <a:ext cx="5449824" cy="160934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922776"/>
            <a:ext cx="54864" cy="160934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55371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55371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032504"/>
            <a:ext cx="4434840" cy="1389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Facebook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Community and offers; a clear link to buy; questions that invite comments.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87568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Every post loads lumo-brand-voice, so four formats still sound like one brand.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</p:spTree>
  </p:cSld>
  <p:clrMapOvr>
    <a:masterClrMapping/>
  </p:clrMapOvr>
  <p:transition spd="med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GOOD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Marketing Responsibly with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Fast production is only useful if every post is safe to publish.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Claims you can prove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“5 g sugar” is on the label. “Healthy” is a claim Lumo cannot substantiate — never use it.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Consent for email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Email only people who opted in. Lab emails go to yourself, never to real customers.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No real likenesses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Do not generate a real person, influencer or competitor logo into an ad.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Disclose partnerships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Influencer posts are labelled as paid partnerships.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human publishes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Claude drafts and schedules drafts; a person approves every public post.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Keep the source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Keep the research files, so every number in a post can be traced back.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</p:spTree>
  </p:cSld>
  <p:clrMapOvr>
    <a:masterClrMapping/>
  </p:clrMapOvr>
  <p:transition spd="med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03 · KEY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Key Concepts — Content Production and Scheduled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Specs per platform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Instagram, TikTok, LinkedIn and Facebook each get their own spec in the prompt, so one task drafts all four well.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Skill in every task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Every task loads the same brand-voice skill, so four channels still sound like one brand.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Video as code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Claude writes and runs the code that turns a storyboard and your images into an MP4.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tasks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prompt that runs on a timetable — daily, weekly or monthly — inside the project, while you are away.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Approval stays human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scheduled task drafts and emails the post to you. Publishing is still your click.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 memory file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Markdown file in the project folder that records decisions, so every later task reads the same facts.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</p:spTree>
  </p:cSld>
  <p:clrMapOvr>
    <a:masterClrMapping/>
  </p:clrMapOvr>
  <p:transition spd="med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Create and Schedule Two Weeks of Social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Produce a two-week, four-platform social calendar using the brand-voice skill, and schedule the daily post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Launch fortnight needs ten posts across Instagram, TikTok, LinkedIn and Facebook. Each platform has its own format, so the prompt gives Claude a spec for each. It loads lumo-brand-voice, drafts every platform's posts to its spec, and saves one dated calendar. Once you have checked it, you create a scheduled task that emails you each day's post at 9:00am as a draft.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social-calendar.csv with ten dated posts across four platforms, lumo-social-posts.docx with the full copy, and a weekday 9:00am scheduled task that emails each day's post as a draft.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 in Cowork, Agent Skills, scheduled tasks, Gmail connector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</p:spTree>
  </p:cSld>
  <p:clrMapOvr>
    <a:masterClrMapping/>
  </p:clrMapOvr>
  <p:transition spd="med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08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brand voice, S$ prices, and never publish without your approval.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brand kit — every post is checked against its prices and claims.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Adds: social-calendar.csv and lumo-social-posts.docx, saved to the folder.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NEW: Today's Lumo post, weekdays at 9:00am — emails you each day's post as a draft.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</p:spTree>
  </p:cSld>
  <p:clrMapOvr>
    <a:masterClrMapping/>
  </p:clrMapOvr>
  <p:transition spd="med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THE PROMPT · STEP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CREATE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32435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32435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5006340" cy="2557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Create the launch social calendar for Lumo Cold Kopi: ten posts,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one each weekday from Tuesday 1 December to Monday 14 December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2026, using social-calendar-template.csv for the columns.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Draft each platform's posts to its own spec: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- Instagram: 3 posts (carousel or Reel), caption with a hook in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the first line, 3-5 hashtags.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- TikTok: 3 posts, each a 15-second video script with a hook in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the first 2 seconds and on-screen text.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- LinkedIn: 2 posts in the founder's voice, the story behind the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  product, no more than 3 hashtags.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359152"/>
            <a:ext cx="5006340" cy="25577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- Facebook: 2 posts for community and the 12-pack offer.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Use the lumo-brand-voice skill for every post, and our top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content theme from the research. The 1 December launch-day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post is an Instagram Reel; TikTok follows on 2 December.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Then save them into social-calendar.csv (date, platform,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format, hook, copy, hashtags, visual idea, call to action) and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lumo-social-posts.docx with the full copy. Report the brand-voice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21201C"/>
                </a:solidFill>
                <a:latin typeface="Calibri"/>
              </a:rPr>
              <a:t>checklist result for every post, and list any post that failed.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95728"/>
            <a:ext cx="9144" cy="246634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3467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Attach social-calendar-template.csv from the Lab 08 data folder.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</p:spTree>
  </p:cSld>
  <p:clrMapOvr>
    <a:masterClrMapping/>
  </p:clrMapOvr>
  <p:transition spd="med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THE PROMPT · STEP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SCHEDULE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646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646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INSTRUCTIONS — paste into the scheduled task 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960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Take today's row from social-calendar.csv in the project folder,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polish the post with lumo-brand-voice, and check every price and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claim against the brand kit. Email it to &lt;YOUR EMAIL&gt; as a draft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with the subject "Today's Lumo post - &lt;date&gt;".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Never publish anything and never post to social media. If there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is no row for today, email "No Lumo post scheduled today".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749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Not the chat — the scheduled task's own Instructions field. Replace &lt;YOUR EMAIL&gt;.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</p:spTree>
  </p:cSld>
  <p:clrMapOvr>
    <a:masterClrMapping/>
  </p:clrMapOvr>
  <p:transition spd="med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Create and Schedule Two Weeks of Social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project, attach social-calendar-template.csv and send the lab prompt.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Watch Claude work through the four platforms.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Check in the task's activity that Claude loaded lumo-brand-voice.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When the calendar arrives, count the rows and check the dates.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926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Read the brand-voice checklist results.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522122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22122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" y="507492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Spot-check three posts against the campaign brief's "claims we must not make".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lumo-social-posts.docx and confirm the copy matches the calendar.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Scheduled tasks from the sidebar (or the project's Scheduled panel), choose New task, then Set up manually.</a:t>
            </a:r>
          </a:p>
        </p:txBody>
      </p:sp>
      <p:sp>
        <p:nvSpPr>
          <p:cNvPr id="30" name="Oval 29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Name it Today's Lumo post and paste Block 2 into Instructions, with your own email.</a:t>
            </a:r>
          </a:p>
        </p:txBody>
      </p:sp>
      <p:sp>
        <p:nvSpPr>
          <p:cNvPr id="33" name="Oval 32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Pick the Lumo Cold Kopi Launch project, set Frequency to weekdays at 9:00am, check Permissions, and save.</a:t>
            </a:r>
          </a:p>
        </p:txBody>
      </p:sp>
      <p:sp>
        <p:nvSpPr>
          <p:cNvPr id="36" name="Oval 35"/>
          <p:cNvSpPr/>
          <p:nvPr/>
        </p:nvSpPr>
        <p:spPr>
          <a:xfrm>
            <a:off x="6240780" y="4654296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40780" y="4654296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61404" y="4507992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Confirm the task appears under Scheduled with the right days and time, and use Run now if it is offered. Then open the Next Lumo post panel from Lab 7 and click Refresh.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</p:spTree>
  </p:cSld>
  <p:clrMapOvr>
    <a:masterClrMapping/>
  </p:clrMapOvr>
  <p:transition spd="med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Create and Schedule Two Weeks of Social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794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79476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788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social-calendar.csv has ten rows dated on the ten weekdays from 1 to 14 December 2026 — Instagram 3, TikTok 3, LinkedIn 2, Facebook 2 — with the 1 December launch post an Instagram Reel and TikTok on 2 December. Every post passed the lumo-brand-voice checklist, none uses "healthy", every price is written S$3.90 or S$42.00, and lumo-social-posts.docx carries the same copy. Today's Lumo post is listed under Scheduled for weekdays at 9:00am; it drafts and emails only, and nothing was published.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</p:spTree>
  </p:cSld>
  <p:clrMapOvr>
    <a:masterClrMapping/>
  </p:clrMapOvr>
  <p:transition spd="med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08 · FROM THE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From the Class: Two Weeks of Posts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1853646" y="1600200"/>
            <a:ext cx="4293708" cy="42976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53646" y="1600200"/>
            <a:ext cx="4293708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lass-social-posts-g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374" y="1709928"/>
            <a:ext cx="4074252" cy="4078224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7726679" y="2034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26679" y="2034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83879" y="2052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One calendar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Dated posts from 1 to 14 December across the four platforms.</a:t>
            </a:r>
          </a:p>
        </p:txBody>
      </p:sp>
      <p:sp>
        <p:nvSpPr>
          <p:cNvPr id="11" name="Oval 10"/>
          <p:cNvSpPr/>
          <p:nvPr/>
        </p:nvSpPr>
        <p:spPr>
          <a:xfrm>
            <a:off x="7726679" y="3177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26679" y="3177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3195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One voice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brand-voice skill keeps every hook and caption consistent.</a:t>
            </a:r>
          </a:p>
        </p:txBody>
      </p:sp>
      <p:sp>
        <p:nvSpPr>
          <p:cNvPr id="14" name="Oval 13"/>
          <p:cNvSpPr/>
          <p:nvPr/>
        </p:nvSpPr>
        <p:spPr>
          <a:xfrm>
            <a:off x="7726679" y="4320540"/>
            <a:ext cx="329184" cy="329184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26679" y="4320540"/>
            <a:ext cx="32918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338828"/>
            <a:ext cx="342900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libri"/>
              </a:rPr>
              <a:t>Review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Expand or download any post; each is marked DRAFT, NOT PUBLISHED.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The Lab 8 posts laid out by date — every one a draft, not published.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</p:spTree>
  </p:cSld>
  <p:clrMapOvr>
    <a:masterClrMapping/>
  </p:clrMapOvr>
  <p:transition spd="med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LAUNCH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The Video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25296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25296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Five lines, three seconds each — hook, problem, product, proof, call to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42032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16352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493008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93008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53512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Storyboard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53512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One frame per line: which image, which on-screen text, which motion.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9744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84064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84064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Render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1224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Claude writes and runs code that animates your images and text into an MP4.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77456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51776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51776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028432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28432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88936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Check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88936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Length, size 1080 × 1920, brand colours, every claim true, end card with the price.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45168" y="3721608"/>
            <a:ext cx="27432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619488" y="2560320"/>
            <a:ext cx="1993392" cy="26517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19488" y="2560320"/>
            <a:ext cx="1993392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296144" y="2926080"/>
            <a:ext cx="640080" cy="64008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96144" y="292608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56648" y="3730752"/>
            <a:ext cx="17190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21201C"/>
                </a:solidFill>
                <a:latin typeface="Cambria"/>
              </a:rPr>
              <a:t>Refine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56648" y="4206240"/>
            <a:ext cx="1719072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6B6862"/>
                </a:solidFill>
                <a:latin typeface="Calibri"/>
              </a:rPr>
              <a:t>Ask for timing or text changes in plain English and render again.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66928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6B6862"/>
                </a:solidFill>
                <a:latin typeface="Calibri"/>
              </a:rPr>
              <a:t>The video is code: a change is a re-render, not a re-edit.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</p:spTree>
  </p:cSld>
  <p:clrMapOvr>
    <a:masterClrMapping/>
  </p:clrMapOvr>
  <p:transition spd="med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LAUNCH VIDEO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Launch Video Specs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the finished 15-second video must meet.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Format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Vertical 9:16, 1080 × 1920 pixels, MP4 — fits Reels, TikTok and Shorts.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Length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15 seconds: five scenes of three seconds each.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Text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Large, high-contrast captions — most people watch with the sound off.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Brand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Lumo colours and logo; the end card shows the price and the campaign hashtag.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Assets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Only the supplied product images — never a real person's likeness or a stock logo.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Fallback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 video tools in the session? Claude builds an animated HTML version to screen-record.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</p:spTree>
  </p:cSld>
  <p:clrMapOvr>
    <a:masterClrMapping/>
  </p:clrMapOvr>
  <p:transition spd="med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09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Produce a 15-Second Launch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500" b="1">
                <a:solidFill>
                  <a:srgbClr val="21201C"/>
                </a:solidFill>
                <a:latin typeface="Calibri"/>
              </a:rPr>
              <a:t>Script, storyboard and render a vertical launch video from supplied brand assets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The TikTok and Instagram posts need a launch video. You give the project the supplied product images and logo; Claude first writes a five-scene script and storyboard with lumo-brand-voice, then writes and runs the code that animates the images and captions into a 15-second, 1080 × 1920 MP4. You check it frame by frame and ask for changes in plain English.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lumo-launch-15s.mp4 (1080 × 1920, 15 seconds), with its script and storyboard.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 in Cowork, code execution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</p:spTree>
  </p:cSld>
  <p:clrMapOvr>
    <a:masterClrMapping/>
  </p:clrMapOvr>
  <p:transition spd="med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09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09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brand voice for the script; nothing is published.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Uses: the brand kit, for the tagline, price and call to action.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Adds: attach the video assets; the script, storyboard and lumo-launch-15s.mp4 are saved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Not used — runs when you send the prompt.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</p:spTree>
  </p:cSld>
  <p:clrMapOvr>
    <a:masterClrMapping/>
  </p:clrMapOvr>
  <p:transition spd="med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09 · THE PROMPT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Script, storyboard and render the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743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50063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Make a 15-second vertical launch video for Lumo Cold Kopi, using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the five images in the attached video-assets folder.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Work in two stages: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Stage 1 - SCRIPT: with lumo-brand-voice, write five scenes of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three seconds each: hook, problem, product, proof, call to action.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For each scene give the image, the on-screen text (max 6 words)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and the motion. Save it as lumo-video-storyboard.md.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2359152"/>
            <a:ext cx="500634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Stage 2 - RENDER: when the storyboard is ready, write and run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code that renders it to lumo-launch-15s.mp4: 1080 x 1920, 30 fps,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exactly 15 seconds, large high-contrast captions in the Lumo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colours, a gentle zoom on each image, and an end card with the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  logo, "From S$3.90" and #KopiChilledRight.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If you cannot render video in this session, build the same thing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 an animated HTML page at 1080 x 1920 and tell me, so I can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screen-record it. Report the file's duration and size when done.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2395728"/>
            <a:ext cx="9144" cy="1965960"/>
          </a:xfrm>
          <a:prstGeom prst="rect">
            <a:avLst/>
          </a:prstGeom>
          <a:solidFill>
            <a:srgbClr val="E4E1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Attach the whole video-assets folder. Use only the supplied images — never a real person's likeness or another brand's logo.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</p:spTree>
  </p:cSld>
  <p:clrMapOvr>
    <a:masterClrMapping/>
  </p:clrMapOvr>
  <p:transition spd="med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09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Produce a 15-Second Launch Video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the Lab 09 data/video-assets folder and look at the five images.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In the project, attach the folder and send the lab prompt.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Read the storyboard when Stage 1 finishes.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When the video arrives, check the reported duration and size.</a:t>
            </a:r>
          </a:p>
        </p:txBody>
      </p:sp>
      <p:sp>
        <p:nvSpPr>
          <p:cNvPr id="18" name="Oval 17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Play it through, then scrub it frame by frame.</a:t>
            </a:r>
          </a:p>
        </p:txBody>
      </p:sp>
      <p:sp>
        <p:nvSpPr>
          <p:cNvPr id="21" name="Oval 20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Ask for one change, for example: Hold the end card for one second longer and shorten scene 2.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If Claude built the HTML fallback instead, open it full screen and screen-record 15 seconds.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</p:spTree>
  </p:cSld>
  <p:clrMapOvr>
    <a:masterClrMapping/>
  </p:clrMapOvr>
  <p:transition spd="med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09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Produce a 15-Second Launch Video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2461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246120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240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lumo-launch-15s.mp4 is 1080 × 1920, 30 fps and 15 seconds long, uses only the supplied images, shows five scenes with captions of six words or fewer in the Lumo colours, and ends on a card with the logo, "From S$3.90" and #KopiChilledRight. lumo-video-storyboard.md sits beside it and matches what plays. No scene makes a health claim.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</p:spTree>
  </p:cSld>
  <p:clrMapOvr>
    <a:masterClrMapping/>
  </p:clrMapOvr>
  <p:transition spd="med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SCHEDULED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Anatomy of a Scheduled Task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prompt the project runs on a timetable, while you are away.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What the task is called in the Scheduled list — for example, Today's Lumo post.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5450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5450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Exactly what to do each run — written like a lab prompt, with the checks included.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Project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Pick the Lumo Cold Kopi Launch project, so the task reads its instructions, context and folder.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384962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384962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563112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Frequency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Daily, weekdays, weekly or monthly. The default is Manual — change it.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22960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5024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Permissions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Defaults to Automatically approve: the task acts unattended, so it must only draft.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6" y="515416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37376" y="515416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49440" y="4867656"/>
            <a:ext cx="4434840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Require this computer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On: runs only while your computer is awake, with your folders. Off: runs without them.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</p:spTree>
  </p:cSld>
  <p:clrMapOvr>
    <a:masterClrMapping/>
  </p:clrMapOvr>
  <p:transition spd="med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3 · SCHEDULED TASKS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Scheduled Tasks for a Launch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Each drafts for your approval — none publishes on its own.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11064240" cy="1072896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493264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93264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148840"/>
            <a:ext cx="9692640" cy="1072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Daily post, weekdays 9:00am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Take today's row from the social calendar, polish it with lumo-brand-voice and email it to me for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49752"/>
            <a:ext cx="11064240" cy="1072896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694176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694176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349752"/>
            <a:ext cx="9692640" cy="1072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Weekly report, Mondays 8:00am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Summarise last week's posts from the social calendar and anything new in the Lumo Launch Drive folder in five bullet points.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50664"/>
            <a:ext cx="11064240" cy="1072896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68680" y="4895088"/>
            <a:ext cx="384048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2120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895088"/>
            <a:ext cx="38404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550664"/>
            <a:ext cx="9692640" cy="1072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21201C"/>
                </a:solidFill>
                <a:latin typeface="Courier New"/>
              </a:rPr>
              <a:t>Monthly scan, 1st at 10:00am</a:t>
            </a:r>
          </a:p>
          <a:p>
            <a:pPr algn="l">
              <a:spcAft>
                <a:spcPts val="500"/>
              </a:spcAft>
            </a:pPr>
            <a:r>
              <a:rPr sz="1250" b="0">
                <a:solidFill>
                  <a:srgbClr val="6B6862"/>
                </a:solidFill>
                <a:latin typeface="Calibri"/>
              </a:rPr>
              <a:t>Check the six competitors for new products or price changes and update the research brief.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870448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>
                <a:solidFill>
                  <a:srgbClr val="6B6862"/>
                </a:solidFill>
                <a:latin typeface="Calibri"/>
              </a:rPr>
              <a:t>Open Scheduled tasks from the sidebar (or the project's Scheduled panel), choose New task and Set up manually. A task with Permissions on Automatically approve must only draft.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</p:spTree>
  </p:cSld>
  <p:clrMapOvr>
    <a:masterClrMapping/>
  </p:clrMapOvr>
  <p:transition spd="med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Schedule the Weekly Report and Review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371600" cy="45720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48840" y="1783080"/>
            <a:ext cx="94640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D97757"/>
                </a:solidFill>
                <a:latin typeface="Calibri"/>
              </a:rPr>
              <a:t>Objective:  </a:t>
            </a:r>
            <a:r>
              <a:rPr sz="1400" b="1">
                <a:solidFill>
                  <a:srgbClr val="21201C"/>
                </a:solidFill>
                <a:latin typeface="Calibri"/>
              </a:rPr>
              <a:t>Schedule a weekly report beside the daily post, keep the project memory file current and review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468880"/>
            <a:ext cx="110642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>
                <a:solidFill>
                  <a:srgbClr val="21201C"/>
                </a:solidFill>
                <a:latin typeface="Calibri"/>
              </a:rPr>
              <a:t>Lab 8 scheduled the daily post. The launch also needs a report every Monday, and nobody should have to remember it. You create it as a second scheduled task on the project, then do the housekeeping a real project needs: record a changed plan in the memory file, and review what the project now holds.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977639"/>
            <a:ext cx="11064240" cy="1783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64008" cy="17830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187952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2628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 weekly-report scheduled task beside Lab 8's daily post, an updated memory file and a project review.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21208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6B6862"/>
                </a:solidFill>
                <a:latin typeface="Calibri"/>
              </a:rPr>
              <a:t>Tools:  </a:t>
            </a:r>
            <a:r>
              <a:rPr sz="1200" b="0">
                <a:solidFill>
                  <a:srgbClr val="6B6862"/>
                </a:solidFill>
                <a:latin typeface="Calibri"/>
              </a:rPr>
              <a:t>Claude Projects in Cowork, scheduled tasks, Gmail connector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</p:spTree>
  </p:cSld>
  <p:clrMapOvr>
    <a:masterClrMapping/>
  </p:clrMapOvr>
  <p:transition spd="med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IN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Lab 10 in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What this lab sets up, uses, adds or schedules in the project.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Instructions  →  HOW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Reviews: which instructions are now out of date.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63056" y="2148840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63056" y="2148840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37376" y="2871216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287121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2258568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Context  →  WHAT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Reviews: which context files the launch-date change affects.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Folder  →  WHERE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Updates: lumo-project-memory.md records the 8 December Singapore launch.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105656"/>
            <a:ext cx="5449824" cy="17922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105656"/>
            <a:ext cx="54864" cy="179222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37376" y="4828032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37376" y="48280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4215384"/>
            <a:ext cx="4434840" cy="15727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Scheduled  →  WHEN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NEW: Weekly launch report, Mondays at 8:00am — beside Lab 8's daily post.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</p:spTree>
  </p:cSld>
  <p:clrMapOvr>
    <a:masterClrMapping/>
  </p:clrMapOvr>
  <p:transition spd="med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THE PROMPT · STEP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1 — WEEKLY REPORT TASK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88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1884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INSTRUCTIONS — paste into the scheduled task dialog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19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Summarise last week's posts from social-calendar.csv and anything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new in the Lumo Launch Drive folder in five bullet points, and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email the summary to &lt;YOUR EMAIL&gt;. Draft only - do not send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anything else.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Mondays at 8:00am, beside Lab 8's daily post. Replace &lt;YOUR EMAIL&gt;.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</p:spTree>
  </p:cSld>
  <p:clrMapOvr>
    <a:masterClrMapping/>
  </p:clrMapOvr>
  <p:transition spd="med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THE PROMPT · STEP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2 — MEMORY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213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2138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45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Add this to lumo-project-memory.md: the Singapore launch has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moved from 1 December to 8 December 2026. Kuala Lumpur is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unchanged. Then tell me everything in the project folder and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scheduled tasks that depends on the launch date - posts, tasks,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the deck, the brief - and propose the changes. Do not make them yet.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41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Then open the memory file yourself and check what it wrote.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</p:spTree>
  </p:cSld>
  <p:clrMapOvr>
    <a:masterClrMapping/>
  </p:clrMapOvr>
  <p:transition spd="med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THE PROMPT · STEP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Block 3 —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64240" cy="1884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64008" cy="1884680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93392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D97757"/>
                </a:solidFill>
                <a:latin typeface="Calibri"/>
              </a:rPr>
              <a:t>PROMPT — copy into Claude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359152"/>
            <a:ext cx="10424160" cy="119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Review this project for me: list every file in the project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folder, which lab produced it, and what it is for. Then tell me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which instructions, context files or memory-file lines are now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21201C"/>
                </a:solidFill>
                <a:latin typeface="Calibri"/>
              </a:rPr>
              <a:t>out of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98780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NOTE  </a:t>
            </a:r>
            <a:r>
              <a:rPr sz="1200" b="0">
                <a:solidFill>
                  <a:srgbClr val="6B6862"/>
                </a:solidFill>
                <a:latin typeface="Calibri"/>
              </a:rPr>
              <a:t>A project that can describe itself is one a colleague can pick up tomorrow.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</p:spTree>
  </p:cSld>
  <p:clrMapOvr>
    <a:masterClrMapping/>
  </p:clrMapOvr>
  <p:transition spd="med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Schedule the Weekly Report and Review the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Full step-by-step, with the reasoning for each step, is in your Learner Guide.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Scheduled tasks from the sidebar (or the project's Scheduled panel), choose New task, then Set up manually.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Name it Weekly launch report and paste Block 1 into Instructions, with your own email.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Pick the Lumo Cold Kopi Launch project, set Frequency to weekly, Mondays at 8:00am, and save.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Confirm both tasks appear under Scheduled: Today's Lumo post and Weekly launch report.</a:t>
            </a:r>
          </a:p>
        </p:txBody>
      </p:sp>
      <p:sp>
        <p:nvSpPr>
          <p:cNvPr id="18" name="Oval 17"/>
          <p:cNvSpPr/>
          <p:nvPr/>
        </p:nvSpPr>
        <p:spPr>
          <a:xfrm>
            <a:off x="6240780" y="2386584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40780" y="2386584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1404" y="2240280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Start a new task in the project and send Block 2.</a:t>
            </a:r>
          </a:p>
        </p:txBody>
      </p:sp>
      <p:sp>
        <p:nvSpPr>
          <p:cNvPr id="21" name="Oval 20"/>
          <p:cNvSpPr/>
          <p:nvPr/>
        </p:nvSpPr>
        <p:spPr>
          <a:xfrm>
            <a:off x="6240780" y="2953512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0780" y="29535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61404" y="2807208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lumo-project-memory.md and check the new launch-date line. Edit it if the wording is wrong.</a:t>
            </a:r>
          </a:p>
        </p:txBody>
      </p:sp>
      <p:sp>
        <p:nvSpPr>
          <p:cNvPr id="24" name="Oval 23"/>
          <p:cNvSpPr/>
          <p:nvPr/>
        </p:nvSpPr>
        <p:spPr>
          <a:xfrm>
            <a:off x="6240780" y="3520440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0780" y="3520440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61404" y="3374136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Send Block 3 at the end of the lab.</a:t>
            </a:r>
          </a:p>
        </p:txBody>
      </p:sp>
      <p:sp>
        <p:nvSpPr>
          <p:cNvPr id="27" name="Oval 26"/>
          <p:cNvSpPr/>
          <p:nvPr/>
        </p:nvSpPr>
        <p:spPr>
          <a:xfrm>
            <a:off x="6240780" y="4087368"/>
            <a:ext cx="274320" cy="27432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40780" y="4087368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1404" y="3941064"/>
            <a:ext cx="4860036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21201C"/>
                </a:solidFill>
                <a:latin typeface="Calibri"/>
              </a:rPr>
              <a:t>Open Settings → Usage and see how much of your plan today's labs used.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</p:spTree>
  </p:cSld>
  <p:clrMapOvr>
    <a:masterClrMapping/>
  </p:clrMapOvr>
  <p:transition spd="med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LAB 10 ·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>
                <a:solidFill>
                  <a:srgbClr val="21201C"/>
                </a:solidFill>
                <a:latin typeface="Cambria"/>
              </a:rPr>
              <a:t>Schedule the Weekly Report and Review the Project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11064240" cy="3685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64008" cy="3685032"/>
          </a:xfrm>
          <a:prstGeom prst="rect">
            <a:avLst/>
          </a:prstGeom>
          <a:solidFill>
            <a:srgbClr val="4A8F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10424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4A8F5F"/>
                </a:solidFill>
                <a:latin typeface="Cambria"/>
              </a:rPr>
              <a:t>✓  Check your 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0332720" cy="2679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Two scheduled tasks are listed on the project — Today's Lumo post from Lab 8 on weekdays at 9:00am and Weekly launch report on Mondays at 8:00am — both drafting and emailing only, with nothing published. lumo-project-memory.md records the 8 December Singapore launch, Claude listed what depends on it, and the project review matches the files in your Lumo Launch folder.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</p:spTree>
  </p:cSld>
  <p:clrMapOvr>
    <a:masterClrMapping/>
  </p:clrMapOvr>
  <p:transition spd="med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TOPIC 03 ·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Recap — Content Production and Scheduled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10049256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08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produce a two-week, four-platform social calendar using the brand-voice skill, and schedule the daily post.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9544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3319272"/>
            <a:ext cx="10049256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09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script, storyboard and render a vertical launch video from supplied brand assets.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636008"/>
            <a:ext cx="11064240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4745736"/>
            <a:ext cx="10049256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Lab 10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You can now schedule a weekly report beside the daily post, keep the project memory file current and review the project.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</p:spTree>
  </p:cSld>
  <p:clrMapOvr>
    <a:masterClrMapping/>
  </p:clrMapOvr>
  <p:transition spd="med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3657600"/>
            <a:ext cx="4572000" cy="457200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D97757"/>
                </a:solidFill>
                <a:latin typeface="Calibri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51460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Summary &amp;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8321040" y="1463040"/>
            <a:ext cx="3200400" cy="2724912"/>
          </a:xfrm>
          <a:prstGeom prst="rect">
            <a:avLst/>
          </a:prstGeom>
          <a:solidFill>
            <a:srgbClr val="2E2C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49640" y="17556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1737360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What you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49640" y="2322576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2304288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Staying in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889504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871216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345643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438144"/>
            <a:ext cx="22860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Calibri"/>
              </a:rPr>
              <a:t>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172</a:t>
            </a:r>
          </a:p>
        </p:txBody>
      </p:sp>
    </p:spTree>
  </p:cSld>
  <p:clrMapOvr>
    <a:masterClrMapping/>
  </p:clrMapOvr>
  <p:transition spd="med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What You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954987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95498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Set up the Project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Set up a Claude Project in Cowork with instructions, context, a working folder and a project memory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1954987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954987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Research in parallel tasks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Run multi-subject market research as parallel tasks in one project and consolidate it into one verified research brief.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638958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2638958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81086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281086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2748686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Build a Live Artefact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Build, refine, save and download a Live Artefact dashboard from supplied research data.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2638958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2638958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2810865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2810865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748686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Tools: Drive and Gmail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Connect Google Drive and Gmail and use their tools to reconcile, search, save and draft, sending only what you approve.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3494836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3494836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3666743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366674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3604564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Analysis, Slides and Docs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Analyse survey data with Claude's code tool and Excel, and produce a launch deck and campaign brief with Slides and Docs using built-in skills.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3494836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3494836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3666743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366674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604564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Skills and plugins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Capture a brand voice as an Agent Skill with /skill-creator, use and update it on workplace messages, and install and use a marketing plugin.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4350714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48640" y="4350714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2960" y="4522621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4522621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35024" y="4460442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Social posts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Create a two-week, multi-platform set of social media posts using the brand-voice skill.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63056" y="4350714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63056" y="4350714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37376" y="4522621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37376" y="4522621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460442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Make a launch video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Produce a short vertical launch video from a script, storyboard and supplied brand assets.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5206592"/>
            <a:ext cx="5449824" cy="6912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48640" y="5206592"/>
            <a:ext cx="54864" cy="691286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22960" y="5378499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2960" y="5378499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35024" y="5316320"/>
            <a:ext cx="4434840" cy="471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21201C"/>
                </a:solidFill>
                <a:latin typeface="Cambria"/>
              </a:rPr>
              <a:t>Schedule and review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6B6862"/>
                </a:solidFill>
                <a:latin typeface="Calibri"/>
              </a:rPr>
              <a:t>Schedule recurring project tasks and keep the project's instructions, context and memory file current, with a human approval step.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</p:spTree>
  </p:cSld>
  <p:clrMapOvr>
    <a:masterClrMapping/>
  </p:clrMapOvr>
  <p:transition spd="med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GOOD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Staying in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Claude drafts and builds; you check and approve.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58568"/>
            <a:ext cx="4946904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Work from mock data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Use the supplied synthetic Lumo data — never real customer records in training.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2148840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2148840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7376" y="2258568"/>
            <a:ext cx="4946904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Scope the connector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Give Claude one Drive folder for the task, not your entire Drive.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63112"/>
            <a:ext cx="4946904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Check every figure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Read the artefact's and the brief's numbers back against the source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63056" y="3453384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63056" y="3453384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37376" y="3563112"/>
            <a:ext cx="4946904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Approve before sending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Read each drafted email and post in full; approve it only when the facts match.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867656"/>
            <a:ext cx="4946904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Use a test recipient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Send class exercises to yourself, never to a real customer.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63056" y="4757928"/>
            <a:ext cx="5449824" cy="11399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63056" y="4757928"/>
            <a:ext cx="54864" cy="11399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4867656"/>
            <a:ext cx="4946904" cy="9204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Draft-only schedules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 scheduled task runs unattended — let it draft and email you, never publish.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</p:spTree>
  </p:cSld>
  <p:clrMapOvr>
    <a:masterClrMapping/>
  </p:clrMapOvr>
  <p:transition spd="med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AFTER THE COURSE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1064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21201C"/>
                </a:solidFill>
                <a:latin typeface="Cambria"/>
              </a:rPr>
              <a:t>Next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5024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Start one real Project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Give your next campaign a project with instructions, context and a folder.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783080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63056" y="1783080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37376" y="2240280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2240280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92808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Split one job into tasks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Next time you research competitors, give each one its own task.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5024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Capture your brand voice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Turn your real brand guide into a skill your whole team shares.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63056" y="3209544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63056" y="3209544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37376" y="3666744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37376" y="3666744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319272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Analyse one dataset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Attach a real export, define your terms, and check the code and the totals.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024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Schedule one routine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Pick the post or report you produce every week and schedule the draft.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63056" y="4636008"/>
            <a:ext cx="5449824" cy="126187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63056" y="4636008"/>
            <a:ext cx="54864" cy="12618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437376" y="5093208"/>
            <a:ext cx="347472" cy="347472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37376" y="509320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4745736"/>
            <a:ext cx="4434840" cy="10424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1201C"/>
                </a:solidFill>
                <a:latin typeface="Cambria"/>
              </a:rPr>
              <a:t>Watch for the new Projects</a:t>
            </a:r>
          </a:p>
          <a:p>
            <a:pPr algn="l">
              <a:spcAft>
                <a:spcPts val="300"/>
              </a:spcAft>
            </a:pPr>
            <a:r>
              <a:rPr sz="1150" b="0">
                <a:solidFill>
                  <a:srgbClr val="6B6862"/>
                </a:solidFill>
                <a:latin typeface="Calibri"/>
              </a:rPr>
              <a:t>When your account gets the lead agent and threads, the Threads edition of this course shows the same labs on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Claude AI Masterclass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</p:spTree>
  </p:cSld>
  <p:clrMapOvr>
    <a:masterClrMapping/>
  </p:clrMapOvr>
  <p:transition spd="med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3703320"/>
            <a:ext cx="2651760" cy="265176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D97757"/>
                </a:solidFill>
                <a:latin typeface="Calibri"/>
              </a:rPr>
              <a:t>THANK YOU FOR ATTENDING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14600"/>
            <a:ext cx="950976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Your launch project is 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4206240"/>
            <a:ext cx="93268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B9B4A9"/>
                </a:solidFill>
                <a:latin typeface="Calibri"/>
              </a:rPr>
              <a:t>A Claude Project with instructions, context and a working folder, verified market research, a Live Artefact dashboard, a deck and brief, a brand-voice skill, two weeks of social posts, a launch video and the scheduled tasks that keep it all moving.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©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47395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Claude AI Masterclass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5992" y="6473952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B9B4A9"/>
                </a:solidFill>
                <a:latin typeface="Calibri"/>
              </a:rPr>
              <a:t>176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AI Masterclass</dc:title>
  <dc:subject>C1382 · v6.0</dc:subject>
  <dc:creator>Tertiary Infotech Academy Pte Ltd</dc:creator>
  <cp:keywords/>
  <dc:description/>
  <cp:lastModifiedBy>Tertiary Infotech Academy Pte Ltd</cp:lastModifiedBy>
  <cp:revision>1</cp:revision>
  <dcterms:created xsi:type="dcterms:W3CDTF">2013-01-27T09:14:16Z</dcterms:created>
  <dcterms:modified xsi:type="dcterms:W3CDTF">2013-01-27T09:15:58Z</dcterms:modified>
  <cp:category/>
</cp:coreProperties>
</file>