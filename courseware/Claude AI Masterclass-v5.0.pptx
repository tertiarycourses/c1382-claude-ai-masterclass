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v5.0  ·  27 October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AI Masterclass</a:t>
            </a:r>
          </a:p>
        </p:txBody>
      </p:sp>
      <p:sp>
        <p:nvSpPr>
          <p:cNvPr id="8" name="TextBox 7"/>
          <p:cNvSpPr txBox="1"/>
          <p:nvPr/>
        </p:nvSpPr>
        <p:spPr>
          <a:xfrm>
            <a:off x="822960" y="406908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Projects, threads, artefacts, connectors, skills and content — for marketing teams</a:t>
            </a:r>
          </a:p>
        </p:txBody>
      </p:sp>
      <p:sp>
        <p:nvSpPr>
          <p:cNvPr id="9" name="TextBox 8"/>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0" name="TextBox 9"/>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1" name="TextBox 10"/>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marketing work</a:t>
            </a:r>
          </a:p>
          <a:p>
            <a:pPr algn="l">
              <a:spcAft>
                <a:spcPts val="300"/>
              </a:spcAft>
            </a:pPr>
            <a:r>
              <a:rPr sz="1150" b="0">
                <a:solidFill>
                  <a:srgbClr val="6B6862"/>
                </a:solidFill>
                <a:latin typeface="Calibri"/>
              </a:rPr>
              <a:t>One piece of content or report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channels</a:t>
            </a:r>
          </a:p>
          <a:p>
            <a:pPr algn="l">
              <a:spcAft>
                <a:spcPts val="300"/>
              </a:spcAft>
            </a:pPr>
            <a:r>
              <a:rPr sz="1150" b="0">
                <a:solidFill>
                  <a:srgbClr val="6B6862"/>
                </a:solidFill>
                <a:latin typeface="Calibri"/>
              </a:rPr>
              <a:t>Which social platforms and tools your team actually uses.</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Claude to take off your plate.</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61188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pic>
        <p:nvPicPr>
          <p:cNvPr id="10" name="Picture 9" descr="Claude Certified Associate"/>
          <p:cNvPicPr>
            <a:picLocks noChangeAspect="1"/>
          </p:cNvPicPr>
          <p:nvPr/>
        </p:nvPicPr>
        <p:blipFill>
          <a:blip r:embed="rId2"/>
          <a:stretch>
            <a:fillRect/>
          </a:stretch>
        </p:blipFill>
        <p:spPr>
          <a:xfrm>
            <a:off x="1691640" y="4005072"/>
            <a:ext cx="1005840" cy="1005840"/>
          </a:xfrm>
          <a:prstGeom prst="rect">
            <a:avLst/>
          </a:prstGeom>
        </p:spPr>
      </p:pic>
      <p:sp>
        <p:nvSpPr>
          <p:cNvPr id="11" name="Rectangle 10"/>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3" name="TextBox 12"/>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4" name="Rectangle 13"/>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6" name="TextBox 15"/>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7" name="Rectangle 16"/>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9" name="TextBox 18"/>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20" name="Rectangle 19"/>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2" name="TextBox 21"/>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Claude Certified Associate (Foundations), PMP, AWS, Microsoft, CompTIA, CKA, CKAD.</a:t>
            </a:r>
          </a:p>
        </p:txBody>
      </p:sp>
      <p:sp>
        <p:nvSpPr>
          <p:cNvPr id="23" name="Rectangle 22"/>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5" name="TextBox 24"/>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6" name="Rectangle 25"/>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8" name="TextBox 27"/>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block of theory is followed by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customer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publish</a:t>
            </a:r>
          </a:p>
          <a:p>
            <a:pPr algn="l">
              <a:spcAft>
                <a:spcPts val="300"/>
              </a:spcAft>
            </a:pPr>
            <a:r>
              <a:rPr sz="1150" b="0">
                <a:solidFill>
                  <a:srgbClr val="6B6862"/>
                </a:solidFill>
                <a:latin typeface="Calibri"/>
              </a:rPr>
              <a:t>Approve every post and email against the source facts.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 and Market Research</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family and setup</a:t>
            </a:r>
          </a:p>
          <a:p>
            <a:pPr algn="l">
              <a:spcAft>
                <a:spcPts val="800"/>
              </a:spcAft>
            </a:pPr>
            <a:r>
              <a:rPr sz="1200" b="0">
                <a:solidFill>
                  <a:srgbClr val="6B6862"/>
                </a:solidFill>
                <a:latin typeface="Calibri"/>
              </a:rPr>
              <a:t>•  Projects: goal, instructions, context, memory</a:t>
            </a:r>
          </a:p>
          <a:p>
            <a:pPr algn="l">
              <a:spcAft>
                <a:spcPts val="800"/>
              </a:spcAft>
            </a:pPr>
            <a:r>
              <a:rPr sz="1200" b="0">
                <a:solidFill>
                  <a:srgbClr val="6B6862"/>
                </a:solidFill>
                <a:latin typeface="Calibri"/>
              </a:rPr>
              <a:t>•  Lead agent and parallel threads</a:t>
            </a:r>
          </a:p>
          <a:p>
            <a:pPr algn="l">
              <a:spcAft>
                <a:spcPts val="800"/>
              </a:spcAft>
            </a:pPr>
            <a:r>
              <a:rPr sz="1200" b="0">
                <a:solidFill>
                  <a:srgbClr val="6B6862"/>
                </a:solidFill>
                <a:latin typeface="Calibri"/>
              </a:rPr>
              <a:t>•  Market research and Live Artefacts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Connectors, Skills and Plugins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 Drive and Gmail</a:t>
            </a:r>
          </a:p>
          <a:p>
            <a:pPr algn="l">
              <a:spcAft>
                <a:spcPts val="800"/>
              </a:spcAft>
            </a:pPr>
            <a:r>
              <a:rPr sz="1200" b="0">
                <a:solidFill>
                  <a:srgbClr val="6B6862"/>
                </a:solidFill>
                <a:latin typeface="Calibri"/>
              </a:rPr>
              <a:t>•  Context window housekeeping</a:t>
            </a:r>
          </a:p>
          <a:p>
            <a:pPr algn="l">
              <a:spcAft>
                <a:spcPts val="800"/>
              </a:spcAft>
            </a:pPr>
            <a:r>
              <a:rPr sz="1200" b="0">
                <a:solidFill>
                  <a:srgbClr val="6B6862"/>
                </a:solidFill>
                <a:latin typeface="Calibri"/>
              </a:rPr>
              <a:t>•  Slides, Docs and built-in skills</a:t>
            </a:r>
          </a:p>
          <a:p>
            <a:pPr algn="l">
              <a:spcAft>
                <a:spcPts val="800"/>
              </a:spcAft>
            </a:pPr>
            <a:r>
              <a:rPr sz="1200" b="0">
                <a:solidFill>
                  <a:srgbClr val="6B6862"/>
                </a:solidFill>
                <a:latin typeface="Calibri"/>
              </a:rPr>
              <a:t>•  Agent Skills, plugins and mods</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Content Production and Scheduled Work</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One thread per channel</a:t>
            </a:r>
          </a:p>
          <a:p>
            <a:pPr algn="l">
              <a:spcAft>
                <a:spcPts val="800"/>
              </a:spcAft>
            </a:pPr>
            <a:r>
              <a:rPr sz="1200" b="0">
                <a:solidFill>
                  <a:srgbClr val="6B6862"/>
                </a:solidFill>
                <a:latin typeface="Calibri"/>
              </a:rPr>
              <a:t>•  Social post specs and brand checks</a:t>
            </a:r>
          </a:p>
          <a:p>
            <a:pPr algn="l">
              <a:spcAft>
                <a:spcPts val="800"/>
              </a:spcAft>
            </a:pPr>
            <a:r>
              <a:rPr sz="1200" b="0">
                <a:solidFill>
                  <a:srgbClr val="6B6862"/>
                </a:solidFill>
                <a:latin typeface="Calibri"/>
              </a:rPr>
              <a:t>•  Script, storyboard, render: the video pipeline</a:t>
            </a:r>
          </a:p>
          <a:p>
            <a:pPr algn="l">
              <a:spcAft>
                <a:spcPts val="800"/>
              </a:spcAft>
            </a:pPr>
            <a:r>
              <a:rPr sz="1200" b="0">
                <a:solidFill>
                  <a:srgbClr val="6B6862"/>
                </a:solidFill>
                <a:latin typeface="Calibri"/>
              </a:rPr>
              <a:t>•  Scheduled tasks, memory and usage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with a goal, instructions, context and memory, and explain how its lead agent splits work into parallel threads.</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threads</a:t>
            </a:r>
          </a:p>
          <a:p>
            <a:pPr algn="l">
              <a:spcAft>
                <a:spcPts val="300"/>
              </a:spcAft>
            </a:pPr>
            <a:r>
              <a:rPr sz="950" b="0">
                <a:solidFill>
                  <a:srgbClr val="6B6862"/>
                </a:solidFill>
                <a:latin typeface="Calibri"/>
              </a:rPr>
              <a:t>Run multi-subject market research as parallel threads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 in threads</a:t>
            </a:r>
          </a:p>
          <a:p>
            <a:pPr algn="l">
              <a:spcAft>
                <a:spcPts val="300"/>
              </a:spcAft>
            </a:pPr>
            <a:r>
              <a:rPr sz="950" b="0">
                <a:solidFill>
                  <a:srgbClr val="6B6862"/>
                </a:solidFill>
                <a:latin typeface="Calibri"/>
              </a:rPr>
              <a:t>Create a two-week, multi-platform set of social media posts in parallel threads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maintain project memory and review thread usage, keeping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9:00  Welcome</a:t>
            </a:r>
          </a:p>
          <a:p>
            <a:pPr algn="l">
              <a:spcAft>
                <a:spcPts val="300"/>
              </a:spcAft>
            </a:pPr>
            <a:r>
              <a:rPr sz="950" b="0">
                <a:solidFill>
                  <a:srgbClr val="21201C"/>
                </a:solidFill>
                <a:latin typeface="Calibri"/>
              </a:rPr>
              <a:t>•  9:20  Topic 1 — Claude Projects and Market Research</a:t>
            </a:r>
          </a:p>
          <a:p>
            <a:pPr algn="l">
              <a:spcAft>
                <a:spcPts val="300"/>
              </a:spcAft>
            </a:pPr>
            <a:r>
              <a:rPr sz="950" b="0">
                <a:solidFill>
                  <a:srgbClr val="21201C"/>
                </a:solidFill>
                <a:latin typeface="Calibri"/>
              </a:rPr>
              <a:t>•  9:55  Hands-on: Lab 1</a:t>
            </a:r>
          </a:p>
          <a:p>
            <a:pPr algn="l">
              <a:spcAft>
                <a:spcPts val="300"/>
              </a:spcAft>
            </a:pPr>
            <a:r>
              <a:rPr sz="950" b="0">
                <a:solidFill>
                  <a:srgbClr val="21201C"/>
                </a:solidFill>
                <a:latin typeface="Calibri"/>
              </a:rPr>
              <a:t>•  10:20  Tea break</a:t>
            </a:r>
          </a:p>
          <a:p>
            <a:pPr algn="l">
              <a:spcAft>
                <a:spcPts val="300"/>
              </a:spcAft>
            </a:pPr>
            <a:r>
              <a:rPr sz="950" b="0">
                <a:solidFill>
                  <a:srgbClr val="21201C"/>
                </a:solidFill>
                <a:latin typeface="Calibri"/>
              </a:rPr>
              <a:t>•  10:35  Hands-on: Lab 2</a:t>
            </a:r>
          </a:p>
          <a:p>
            <a:pPr algn="l">
              <a:spcAft>
                <a:spcPts val="300"/>
              </a:spcAft>
            </a:pPr>
            <a:r>
              <a:rPr sz="950" b="0">
                <a:solidFill>
                  <a:srgbClr val="21201C"/>
                </a:solidFill>
                <a:latin typeface="Calibri"/>
              </a:rPr>
              <a:t>•  11:15  Topic 1 — Live Artefacts</a:t>
            </a:r>
          </a:p>
          <a:p>
            <a:pPr algn="l">
              <a:spcAft>
                <a:spcPts val="300"/>
              </a:spcAft>
            </a:pPr>
            <a:r>
              <a:rPr sz="950" b="0">
                <a:solidFill>
                  <a:srgbClr val="21201C"/>
                </a:solidFill>
                <a:latin typeface="Calibri"/>
              </a:rPr>
              <a:t>•  11:25  Hands-on: Lab 3</a:t>
            </a:r>
          </a:p>
          <a:p>
            <a:pPr algn="l">
              <a:spcAft>
                <a:spcPts val="300"/>
              </a:spcAft>
            </a:pPr>
            <a:r>
              <a:rPr sz="950" b="0">
                <a:solidFill>
                  <a:srgbClr val="21201C"/>
                </a:solidFill>
                <a:latin typeface="Calibri"/>
              </a:rPr>
              <a:t>•  12:05  Topic 2 — Connectors, Skills and Plugins</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12:30  Lunch break</a:t>
            </a:r>
          </a:p>
          <a:p>
            <a:pPr algn="l">
              <a:spcAft>
                <a:spcPts val="300"/>
              </a:spcAft>
            </a:pPr>
            <a:r>
              <a:rPr sz="950" b="0">
                <a:solidFill>
                  <a:srgbClr val="21201C"/>
                </a:solidFill>
                <a:latin typeface="Calibri"/>
              </a:rPr>
              <a:t>•  13:30  Hands-on: Lab 4</a:t>
            </a:r>
          </a:p>
          <a:p>
            <a:pPr algn="l">
              <a:spcAft>
                <a:spcPts val="300"/>
              </a:spcAft>
            </a:pPr>
            <a:r>
              <a:rPr sz="950" b="0">
                <a:solidFill>
                  <a:srgbClr val="21201C"/>
                </a:solidFill>
                <a:latin typeface="Calibri"/>
              </a:rPr>
              <a:t>•  14:05  Topic 2 — Slides, Docs and Agent Skills</a:t>
            </a:r>
          </a:p>
          <a:p>
            <a:pPr algn="l">
              <a:spcAft>
                <a:spcPts val="300"/>
              </a:spcAft>
            </a:pPr>
            <a:r>
              <a:rPr sz="950" b="0">
                <a:solidFill>
                  <a:srgbClr val="21201C"/>
                </a:solidFill>
                <a:latin typeface="Calibri"/>
              </a:rPr>
              <a:t>•  14:15  Hands-on: Lab 5</a:t>
            </a:r>
          </a:p>
          <a:p>
            <a:pPr algn="l">
              <a:spcAft>
                <a:spcPts val="300"/>
              </a:spcAft>
            </a:pPr>
            <a:r>
              <a:rPr sz="950" b="0">
                <a:solidFill>
                  <a:srgbClr val="21201C"/>
                </a:solidFill>
                <a:latin typeface="Calibri"/>
              </a:rPr>
              <a:t>•  14:45  Hands-on: Lab 6</a:t>
            </a:r>
          </a:p>
          <a:p>
            <a:pPr algn="l">
              <a:spcAft>
                <a:spcPts val="300"/>
              </a:spcAft>
            </a:pPr>
            <a:r>
              <a:rPr sz="950" b="0">
                <a:solidFill>
                  <a:srgbClr val="21201C"/>
                </a:solidFill>
                <a:latin typeface="Calibri"/>
              </a:rPr>
              <a:t>•  15:15  Tea break</a:t>
            </a:r>
          </a:p>
          <a:p>
            <a:pPr algn="l">
              <a:spcAft>
                <a:spcPts val="300"/>
              </a:spcAft>
            </a:pPr>
            <a:r>
              <a:rPr sz="950" b="0">
                <a:solidFill>
                  <a:srgbClr val="21201C"/>
                </a:solidFill>
                <a:latin typeface="Calibri"/>
              </a:rPr>
              <a:t>•  15:30  Topic 2 — Plugins and mods</a:t>
            </a:r>
          </a:p>
          <a:p>
            <a:pPr algn="l">
              <a:spcAft>
                <a:spcPts val="300"/>
              </a:spcAft>
            </a:pPr>
            <a:r>
              <a:rPr sz="950" b="0">
                <a:solidFill>
                  <a:srgbClr val="21201C"/>
                </a:solidFill>
                <a:latin typeface="Calibri"/>
              </a:rPr>
              <a:t>•  15:40  Hands-on: Lab 7</a:t>
            </a:r>
          </a:p>
          <a:p>
            <a:pPr algn="l">
              <a:spcAft>
                <a:spcPts val="300"/>
              </a:spcAft>
            </a:pPr>
            <a:r>
              <a:rPr sz="950" b="0">
                <a:solidFill>
                  <a:srgbClr val="21201C"/>
                </a:solidFill>
                <a:latin typeface="Calibri"/>
              </a:rPr>
              <a:t>•  16:00  Topic 3 — Content Production and Scheduled Work</a:t>
            </a:r>
          </a:p>
          <a:p>
            <a:pPr algn="l">
              <a:spcAft>
                <a:spcPts val="300"/>
              </a:spcAft>
            </a:pPr>
            <a:r>
              <a:rPr sz="950" b="0">
                <a:solidFill>
                  <a:srgbClr val="21201C"/>
                </a:solidFill>
                <a:latin typeface="Calibri"/>
              </a:rPr>
              <a:t>•  16:10  Hands-on: Lab 8</a:t>
            </a:r>
          </a:p>
          <a:p>
            <a:pPr algn="l">
              <a:spcAft>
                <a:spcPts val="300"/>
              </a:spcAft>
            </a:pPr>
            <a:r>
              <a:rPr sz="950" b="0">
                <a:solidFill>
                  <a:srgbClr val="21201C"/>
                </a:solidFill>
                <a:latin typeface="Calibri"/>
              </a:rPr>
              <a:t>•  16:45  Hands-on: Lab 9</a:t>
            </a:r>
          </a:p>
          <a:p>
            <a:pPr algn="l">
              <a:spcAft>
                <a:spcPts val="300"/>
              </a:spcAft>
            </a:pPr>
            <a:r>
              <a:rPr sz="950" b="0">
                <a:solidFill>
                  <a:srgbClr val="21201C"/>
                </a:solidFill>
                <a:latin typeface="Calibri"/>
              </a:rPr>
              <a:t>•  17:15  Hands-on: Lab 10</a:t>
            </a:r>
          </a:p>
          <a:p>
            <a:pPr algn="l">
              <a:spcAft>
                <a:spcPts val="300"/>
              </a:spcAft>
            </a:pPr>
            <a:r>
              <a:rPr sz="950" b="0">
                <a:solidFill>
                  <a:srgbClr val="21201C"/>
                </a:solidFill>
                <a:latin typeface="Calibri"/>
              </a:rPr>
              <a:t>•  17:45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BEFORE WE START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Course Materials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Open the prompts page now — you will paste from it in every lab.</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Copy-ready prompts</a:t>
            </a:r>
          </a:p>
          <a:p>
            <a:pPr algn="l">
              <a:spcAft>
                <a:spcPts val="300"/>
              </a:spcAft>
            </a:pPr>
            <a:r>
              <a:rPr sz="1150" b="0">
                <a:solidFill>
                  <a:srgbClr val="6B6862"/>
                </a:solidFill>
                <a:latin typeface="Calibri"/>
              </a:rPr>
              <a:t>https://tertiarycourses.github.io/C1382-Claude-AI-Masterclass/prompts/ — every lab's prompt with a copy button. Keep it open in a browser tab all day.</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files and data</a:t>
            </a:r>
          </a:p>
          <a:p>
            <a:pPr algn="l">
              <a:spcAft>
                <a:spcPts val="300"/>
              </a:spcAft>
            </a:pPr>
            <a:r>
              <a:rPr sz="1150" b="0">
                <a:solidFill>
                  <a:srgbClr val="6B6862"/>
                </a:solidFill>
                <a:latin typeface="Calibri"/>
              </a:rPr>
              <a:t>https://github.com/tertiarycourses/C1382-Claude-AI-Masterclass — each lab folder holds its prompt PDF and, where needed, a data folder of mock files.</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Learner Guide</a:t>
            </a:r>
          </a:p>
          <a:p>
            <a:pPr algn="l">
              <a:spcAft>
                <a:spcPts val="300"/>
              </a:spcAft>
            </a:pPr>
            <a:r>
              <a:rPr sz="1150" b="0">
                <a:solidFill>
                  <a:srgbClr val="6B6862"/>
                </a:solidFill>
                <a:latin typeface="Calibri"/>
              </a:rPr>
              <a:t>The full step-by-step for every lab, the reason for each step, and the check to run at the end.</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The Lumo Cold Kopi launch</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It is late October 2026. Lumo Kopi Co. launches Lumo Cold Kopi, its first ready-to-drink canned kopi, in Singapore on 1 December — six weeks away — and in Kuala Lumpur in January. The marketing team is small, the budget is S$60,000, and nothing has been produced yet: no research, no deck, no posts, no video.</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THE SCENARIO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Brand, Ten Labs, One Project</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role</a:t>
            </a:r>
          </a:p>
          <a:p>
            <a:pPr algn="l">
              <a:spcAft>
                <a:spcPts val="300"/>
              </a:spcAft>
            </a:pPr>
            <a:r>
              <a:rPr sz="1150" b="0">
                <a:solidFill>
                  <a:srgbClr val="6B6862"/>
                </a:solidFill>
                <a:latin typeface="Calibri"/>
              </a:rPr>
              <a:t>You are the Lumo marketing team. Instead of juggling a dozen separate chats, you run the whole launch from one Claude Project. Its lead agent plans each job, starts parallel threads for the pieces, and brings the results back for you to check and approve.</a:t>
            </a:r>
          </a:p>
        </p:txBody>
      </p:sp>
      <p:sp>
        <p:nvSpPr>
          <p:cNvPr id="8" name="Rectangle 7"/>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19272"/>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mission</a:t>
            </a:r>
          </a:p>
          <a:p>
            <a:pPr algn="l">
              <a:spcAft>
                <a:spcPts val="300"/>
              </a:spcAft>
            </a:pPr>
            <a:r>
              <a:rPr sz="1150" b="0">
                <a:solidFill>
                  <a:srgbClr val="6B6862"/>
                </a:solidFill>
                <a:latin typeface="Calibri"/>
              </a:rPr>
              <a:t>By the end of the day the project holds everything the launch needs — verified market research, a dashboard, a deck and brief, a brand-voice skill, two weeks of social posts, a launch video — and scheduled tasks that keep it moving while you are away.</a:t>
            </a:r>
          </a:p>
        </p:txBody>
      </p:sp>
      <p:sp>
        <p:nvSpPr>
          <p:cNvPr id="11" name="Rectangle 10"/>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45736"/>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Synthetic data only</a:t>
            </a:r>
          </a:p>
          <a:p>
            <a:pPr algn="l">
              <a:spcAft>
                <a:spcPts val="300"/>
              </a:spcAft>
            </a:pPr>
            <a:r>
              <a:rPr sz="1150" b="0">
                <a:solidFill>
                  <a:srgbClr val="6B6862"/>
                </a:solidFill>
                <a:latin typeface="Calibri"/>
              </a:rPr>
              <a:t>All brands, figures, survey answers and documents in this course are synthetic and used for training only.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Claude Projects and Market Research</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family and setup</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Projects: goal, instructions, context, memory</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Lead agent and parallel threads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Market research and Live Artefacts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9" name="TextBox 8"/>
          <p:cNvSpPr txBox="1"/>
          <p:nvPr/>
        </p:nvSpPr>
        <p:spPr>
          <a:xfrm>
            <a:off x="82296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(Chat + Cowork)</a:t>
            </a:r>
          </a:p>
        </p:txBody>
      </p:sp>
      <p:sp>
        <p:nvSpPr>
          <p:cNvPr id="10" name="TextBox 9"/>
          <p:cNvSpPr txBox="1"/>
          <p:nvPr/>
        </p:nvSpPr>
        <p:spPr>
          <a:xfrm>
            <a:off x="82296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Chat + Cowork in one app — web, desktop &amp; mobile.</a:t>
            </a:r>
          </a:p>
        </p:txBody>
      </p:sp>
      <p:sp>
        <p:nvSpPr>
          <p:cNvPr id="11" name="Rectangle 10"/>
          <p:cNvSpPr/>
          <p:nvPr/>
        </p:nvSpPr>
        <p:spPr>
          <a:xfrm>
            <a:off x="429768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47802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Co</a:t>
            </a:r>
          </a:p>
        </p:txBody>
      </p:sp>
      <p:sp>
        <p:nvSpPr>
          <p:cNvPr id="14" name="TextBox 13"/>
          <p:cNvSpPr txBox="1"/>
          <p:nvPr/>
        </p:nvSpPr>
        <p:spPr>
          <a:xfrm>
            <a:off x="457200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457200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agentic tool for building — terminal, IDE &amp; web.</a:t>
            </a:r>
          </a:p>
        </p:txBody>
      </p:sp>
      <p:sp>
        <p:nvSpPr>
          <p:cNvPr id="16" name="Rectangle 15"/>
          <p:cNvSpPr/>
          <p:nvPr/>
        </p:nvSpPr>
        <p:spPr>
          <a:xfrm>
            <a:off x="804672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19" name="TextBox 18"/>
          <p:cNvSpPr txBox="1"/>
          <p:nvPr/>
        </p:nvSpPr>
        <p:spPr>
          <a:xfrm>
            <a:off x="832104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0" name="TextBox 19"/>
          <p:cNvSpPr txBox="1"/>
          <p:nvPr/>
        </p:nvSpPr>
        <p:spPr>
          <a:xfrm>
            <a:off x="832104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Polished UI, prototypes &amp; front-end designs.</a:t>
            </a:r>
          </a:p>
        </p:txBody>
      </p:sp>
      <p:sp>
        <p:nvSpPr>
          <p:cNvPr id="21" name="Rectangle 20"/>
          <p:cNvSpPr/>
          <p:nvPr/>
        </p:nvSpPr>
        <p:spPr>
          <a:xfrm>
            <a:off x="54864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4" name="TextBox 23"/>
          <p:cNvSpPr txBox="1"/>
          <p:nvPr/>
        </p:nvSpPr>
        <p:spPr>
          <a:xfrm>
            <a:off x="82296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25" name="TextBox 24"/>
          <p:cNvSpPr txBox="1"/>
          <p:nvPr/>
        </p:nvSpPr>
        <p:spPr>
          <a:xfrm>
            <a:off x="82296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Excel, PowerPoint, Word &amp; Outlook.</a:t>
            </a:r>
          </a:p>
        </p:txBody>
      </p:sp>
      <p:sp>
        <p:nvSpPr>
          <p:cNvPr id="26" name="Rectangle 25"/>
          <p:cNvSpPr/>
          <p:nvPr/>
        </p:nvSpPr>
        <p:spPr>
          <a:xfrm>
            <a:off x="429768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966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Ch</a:t>
            </a:r>
          </a:p>
        </p:txBody>
      </p:sp>
      <p:sp>
        <p:nvSpPr>
          <p:cNvPr id="29" name="TextBox 28"/>
          <p:cNvSpPr txBox="1"/>
          <p:nvPr/>
        </p:nvSpPr>
        <p:spPr>
          <a:xfrm>
            <a:off x="457200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0" name="TextBox 29"/>
          <p:cNvSpPr txBox="1"/>
          <p:nvPr/>
        </p:nvSpPr>
        <p:spPr>
          <a:xfrm>
            <a:off x="457200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clicks &amp; fills forms in Chrome.</a:t>
            </a:r>
          </a:p>
        </p:txBody>
      </p:sp>
      <p:sp>
        <p:nvSpPr>
          <p:cNvPr id="31" name="Rectangle 30"/>
          <p:cNvSpPr/>
          <p:nvPr/>
        </p:nvSpPr>
        <p:spPr>
          <a:xfrm>
            <a:off x="804672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210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4" name="TextBox 33"/>
          <p:cNvSpPr txBox="1"/>
          <p:nvPr/>
        </p:nvSpPr>
        <p:spPr>
          <a:xfrm>
            <a:off x="832104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35" name="TextBox 34"/>
          <p:cNvSpPr txBox="1"/>
          <p:nvPr/>
        </p:nvSpPr>
        <p:spPr>
          <a:xfrm>
            <a:off x="832104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36" name="TextBox 35"/>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 Projects span Claude and Claude Code.</a:t>
            </a:r>
          </a:p>
        </p:txBody>
      </p:sp>
      <p:sp>
        <p:nvSpPr>
          <p:cNvPr id="37" name="TextBox 3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9" name="TextBox 3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(Chat + Cowork) and Claude Code</a:t>
            </a:r>
          </a:p>
        </p:txBody>
      </p:sp>
      <p:sp>
        <p:nvSpPr>
          <p:cNvPr id="5" name="Oval 4"/>
          <p:cNvSpPr/>
          <p:nvPr/>
        </p:nvSpPr>
        <p:spPr>
          <a:xfrm>
            <a:off x="285521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5521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7" name="TextBox 6"/>
          <p:cNvSpPr txBox="1"/>
          <p:nvPr/>
        </p:nvSpPr>
        <p:spPr>
          <a:xfrm>
            <a:off x="54864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 + Cowork)</a:t>
            </a:r>
          </a:p>
        </p:txBody>
      </p:sp>
      <p:sp>
        <p:nvSpPr>
          <p:cNvPr id="8" name="TextBox 7"/>
          <p:cNvSpPr txBox="1"/>
          <p:nvPr/>
        </p:nvSpPr>
        <p:spPr>
          <a:xfrm>
            <a:off x="54864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and work partner — this course”</a:t>
            </a:r>
          </a:p>
        </p:txBody>
      </p:sp>
      <p:sp>
        <p:nvSpPr>
          <p:cNvPr id="9" name="Rectangle 8"/>
          <p:cNvSpPr/>
          <p:nvPr/>
        </p:nvSpPr>
        <p:spPr>
          <a:xfrm>
            <a:off x="320268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268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268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5745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745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Chat: ask, draft, analyse and research with web search</a:t>
            </a:r>
          </a:p>
          <a:p>
            <a:pPr algn="l">
              <a:spcAft>
                <a:spcPts val="700"/>
              </a:spcAft>
            </a:pPr>
            <a:r>
              <a:rPr sz="1250" b="0">
                <a:solidFill>
                  <a:srgbClr val="21201C"/>
                </a:solidFill>
                <a:latin typeface="Calibri"/>
              </a:rPr>
              <a:t>•  Cowork: plans and runs multi-step tasks on your files</a:t>
            </a:r>
          </a:p>
          <a:p>
            <a:pPr algn="l">
              <a:spcAft>
                <a:spcPts val="700"/>
              </a:spcAft>
            </a:pPr>
            <a:r>
              <a:rPr sz="1250" b="0">
                <a:solidFill>
                  <a:srgbClr val="21201C"/>
                </a:solidFill>
                <a:latin typeface="Calibri"/>
              </a:rPr>
              <a:t>•  Projects, connectors and skills: Drive, Gmail, Calendar</a:t>
            </a:r>
          </a:p>
          <a:p>
            <a:pPr algn="l">
              <a:spcAft>
                <a:spcPts val="700"/>
              </a:spcAft>
            </a:pPr>
            <a:r>
              <a:rPr sz="1250" b="0">
                <a:solidFill>
                  <a:srgbClr val="21201C"/>
                </a:solidFill>
                <a:latin typeface="Calibri"/>
              </a:rPr>
              <a:t>•  For everyone — web, desktop and mobile apps</a:t>
            </a:r>
          </a:p>
        </p:txBody>
      </p:sp>
      <p:sp>
        <p:nvSpPr>
          <p:cNvPr id="16" name="Oval 15"/>
          <p:cNvSpPr/>
          <p:nvPr/>
        </p:nvSpPr>
        <p:spPr>
          <a:xfrm>
            <a:off x="859307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307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a:t>
            </a:r>
          </a:p>
        </p:txBody>
      </p:sp>
      <p:sp>
        <p:nvSpPr>
          <p:cNvPr id="18" name="TextBox 17"/>
          <p:cNvSpPr txBox="1"/>
          <p:nvPr/>
        </p:nvSpPr>
        <p:spPr>
          <a:xfrm>
            <a:off x="628650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19" name="TextBox 18"/>
          <p:cNvSpPr txBox="1"/>
          <p:nvPr/>
        </p:nvSpPr>
        <p:spPr>
          <a:xfrm>
            <a:off x="628650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20" name="Rectangle 19"/>
          <p:cNvSpPr/>
          <p:nvPr/>
        </p:nvSpPr>
        <p:spPr>
          <a:xfrm>
            <a:off x="894054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4054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4054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8650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9531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531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656082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Builds software, sites and automations</a:t>
            </a:r>
          </a:p>
          <a:p>
            <a:pPr algn="l">
              <a:spcAft>
                <a:spcPts val="700"/>
              </a:spcAft>
            </a:pPr>
            <a:r>
              <a:rPr sz="1250" b="0">
                <a:solidFill>
                  <a:srgbClr val="21201C"/>
                </a:solidFill>
                <a:latin typeface="Calibri"/>
              </a:rPr>
              <a:t>•  Runs in the terminal, VS Code, desktop app and web</a:t>
            </a:r>
          </a:p>
          <a:p>
            <a:pPr algn="l">
              <a:spcAft>
                <a:spcPts val="700"/>
              </a:spcAft>
            </a:pPr>
            <a:r>
              <a:rPr sz="1250" b="0">
                <a:solidFill>
                  <a:srgbClr val="21201C"/>
                </a:solidFill>
                <a:latin typeface="Calibri"/>
              </a:rPr>
              <a:t>•  Edits files, runs commands and calls MCP tools</a:t>
            </a:r>
          </a:p>
          <a:p>
            <a:pPr algn="l">
              <a:spcAft>
                <a:spcPts val="700"/>
              </a:spcAft>
            </a:pPr>
            <a:r>
              <a:rPr sz="1250" b="0">
                <a:solidFill>
                  <a:srgbClr val="21201C"/>
                </a:solidFill>
                <a:latin typeface="Calibri"/>
              </a:rPr>
              <a:t>•  Extended with CLAUDE.md, skills, sub agents and hooks</a:t>
            </a:r>
          </a:p>
        </p:txBody>
      </p:sp>
      <p:sp>
        <p:nvSpPr>
          <p:cNvPr id="27" name="TextBox 26"/>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Chat and Cowork are now one app: Claude. A marketing team works there — and a Project ties the work together around one goal.</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Evolution of AI Engineering</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Craft the wording of a single prompt to get good output.</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Curate what the model sees — files, memory and tools.</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Build the system around the model: loop, tools, verification.</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Agent Teams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 lead agent runs parallel threads toward one goal — Claude Projects.</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More capable models shift the work from wording prompts → curating context → directing a team of agents toward a goal.</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Cowork Mode Adds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 a chart, a video — and runs it for you.</a:t>
            </a:r>
          </a:p>
        </p:txBody>
      </p:sp>
      <p:sp>
        <p:nvSpPr>
          <p:cNvPr id="16" name="Rectangle 15"/>
          <p:cNvSpPr/>
          <p:nvPr/>
        </p:nvSpPr>
        <p:spPr>
          <a:xfrm>
            <a:off x="548640"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514088"/>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514088"/>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8493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8493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623816"/>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Together these are why Claude finishes a task instead of describing how to do it.</a:t>
            </a:r>
          </a:p>
        </p:txBody>
      </p:sp>
      <p:sp>
        <p:nvSpPr>
          <p:cNvPr id="32" name="TextBox 3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4" name="TextBox 3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Pricing</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Projects, Cowork and Live Artefacts are features of the paid Claude plans — the same subscription that covers Chat and Claude Code.</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(annual) · $20 monthly. Cowork and the new Projects (beta) included.</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more usage than Pro. Best for heavy parallel threads.</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standard · $100/seat premium. New Projects rolling out later.</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E</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 usage at API rates. Contact sales.</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Parallel threads multiply usage: four threads cost roughly four times one chat. Watch Project settings → Usage.</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 free plan is also available, but it does not include Cowork or Projects. Prices as of October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Projects, Cowork mode and Live Artefacts run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Projects, Cowork and Live Artefacts all run there.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Use the account that has your Pro or Max subscription — the new Projects are in beta on those plans.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Find Projects</a:t>
            </a:r>
          </a:p>
          <a:p>
            <a:pPr algn="l">
              <a:spcAft>
                <a:spcPts val="300"/>
              </a:spcAft>
            </a:pPr>
            <a:r>
              <a:rPr sz="1150" b="0">
                <a:solidFill>
                  <a:srgbClr val="6B6862"/>
                </a:solidFill>
                <a:latin typeface="Calibri"/>
              </a:rPr>
              <a:t>Open Projects from the sidebar. If you cannot see it yet, the beta has not reached your account — use Cowork mode instead.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the lab files</a:t>
            </a:r>
          </a:p>
          <a:p>
            <a:pPr algn="l">
              <a:spcAft>
                <a:spcPts val="300"/>
              </a:spcAft>
            </a:pPr>
            <a:r>
              <a:rPr sz="1150" b="0">
                <a:solidFill>
                  <a:srgbClr val="6B6862"/>
                </a:solidFill>
                <a:latin typeface="Calibri"/>
              </a:rPr>
              <a:t>Get the course labs from the GitHub repository; each lab has a prompt PDF and a data folder.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a lab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Local work stops when the app closes. Cloud environments keep going — covered in Topic 3.</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New Claude Projects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You stop managing chats and start briefing a team.</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Before — one chat per job</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chat for copy, one for visuals, one for competitors.</a:t>
            </a:r>
          </a:p>
          <a:p>
            <a:pPr algn="l">
              <a:spcAft>
                <a:spcPts val="900"/>
              </a:spcAft>
            </a:pPr>
            <a:r>
              <a:rPr sz="1250" b="0">
                <a:solidFill>
                  <a:srgbClr val="21201C"/>
                </a:solidFill>
                <a:latin typeface="Calibri"/>
              </a:rPr>
              <a:t>•  Re-explain the brand in every new chat.</a:t>
            </a:r>
          </a:p>
          <a:p>
            <a:pPr algn="l">
              <a:spcAft>
                <a:spcPts val="900"/>
              </a:spcAft>
            </a:pPr>
            <a:r>
              <a:rPr sz="1250" b="0">
                <a:solidFill>
                  <a:srgbClr val="21201C"/>
                </a:solidFill>
                <a:latin typeface="Calibri"/>
              </a:rPr>
              <a:t>•  Copy and paste results between chats yourself.</a:t>
            </a:r>
          </a:p>
          <a:p>
            <a:pPr algn="l">
              <a:spcAft>
                <a:spcPts val="900"/>
              </a:spcAft>
            </a:pPr>
            <a:r>
              <a:rPr sz="1250" b="0">
                <a:solidFill>
                  <a:srgbClr val="21201C"/>
                </a:solidFill>
                <a:latin typeface="Calibri"/>
              </a:rPr>
              <a:t>•  Nothing happens while your laptop is closed.</a:t>
            </a:r>
          </a:p>
          <a:p>
            <a:pPr algn="l">
              <a:spcAft>
                <a:spcPts val="900"/>
              </a:spcAft>
            </a:pPr>
            <a:r>
              <a:rPr sz="1250" b="0">
                <a:solidFill>
                  <a:srgbClr val="21201C"/>
                </a:solidFill>
                <a:latin typeface="Calibri"/>
              </a:rPr>
              <a:t>•  You are the project manager.</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Now — a Project with a lead agent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state the goal once, to the lead agent.</a:t>
            </a:r>
          </a:p>
          <a:p>
            <a:pPr algn="l">
              <a:spcAft>
                <a:spcPts val="900"/>
              </a:spcAft>
            </a:pPr>
            <a:r>
              <a:rPr sz="1250" b="0">
                <a:solidFill>
                  <a:srgbClr val="21201C"/>
                </a:solidFill>
                <a:latin typeface="Calibri"/>
              </a:rPr>
              <a:t>•  It splits the work and starts parallel threads.</a:t>
            </a:r>
          </a:p>
          <a:p>
            <a:pPr algn="l">
              <a:spcAft>
                <a:spcPts val="900"/>
              </a:spcAft>
            </a:pPr>
            <a:r>
              <a:rPr sz="1250" b="0">
                <a:solidFill>
                  <a:srgbClr val="21201C"/>
                </a:solidFill>
                <a:latin typeface="Calibri"/>
              </a:rPr>
              <a:t>•  Each thread reports back; the lead merges the results.</a:t>
            </a:r>
          </a:p>
          <a:p>
            <a:pPr algn="l">
              <a:spcAft>
                <a:spcPts val="900"/>
              </a:spcAft>
            </a:pPr>
            <a:r>
              <a:rPr sz="1250" b="0">
                <a:solidFill>
                  <a:srgbClr val="21201C"/>
                </a:solidFill>
                <a:latin typeface="Calibri"/>
              </a:rPr>
              <a:t>•  Goal, memory and context persist across every thread.</a:t>
            </a:r>
          </a:p>
          <a:p>
            <a:pPr algn="l">
              <a:spcAft>
                <a:spcPts val="900"/>
              </a:spcAft>
            </a:pPr>
            <a:r>
              <a:rPr sz="1250" b="0">
                <a:solidFill>
                  <a:srgbClr val="21201C"/>
                </a:solidFill>
                <a:latin typeface="Calibri"/>
              </a:rPr>
              <a:t>•  It only comes back to you when it needs a decision.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LEAD AGENT AND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Project Is a Team</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Claude Project</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One goal, one lead agent, many threads</a:t>
            </a:r>
          </a:p>
        </p:txBody>
      </p:sp>
      <p:sp>
        <p:nvSpPr>
          <p:cNvPr id="9" name="Rectangle 8"/>
          <p:cNvSpPr/>
          <p:nvPr/>
        </p:nvSpPr>
        <p:spPr>
          <a:xfrm>
            <a:off x="1417320" y="2926080"/>
            <a:ext cx="2926080" cy="996696"/>
          </a:xfrm>
          <a:prstGeom prst="rect">
            <a:avLst/>
          </a:prstGeom>
          <a:solidFill>
            <a:srgbClr val="F7DAC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130759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130759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Lead agent</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Plans, splits</a:t>
            </a:r>
          </a:p>
          <a:p>
            <a:pPr algn="ctr">
              <a:spcAft>
                <a:spcPts val="200"/>
              </a:spcAft>
            </a:pPr>
            <a:r>
              <a:rPr sz="1200" b="0">
                <a:solidFill>
                  <a:srgbClr val="21201C"/>
                </a:solidFill>
                <a:latin typeface="Courier New"/>
              </a:rPr>
              <a:t>and merges</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1</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Competitors</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2</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Customer</a:t>
            </a:r>
          </a:p>
          <a:p>
            <a:pPr algn="ctr">
              <a:spcAft>
                <a:spcPts val="200"/>
              </a:spcAft>
            </a:pPr>
            <a:r>
              <a:rPr sz="1200" b="0">
                <a:solidFill>
                  <a:srgbClr val="21201C"/>
                </a:solidFill>
                <a:latin typeface="Courier New"/>
              </a:rPr>
              <a:t>survey</a:t>
            </a:r>
          </a:p>
        </p:txBody>
      </p:sp>
      <p:sp>
        <p:nvSpPr>
          <p:cNvPr id="21" name="Rectangle 20"/>
          <p:cNvSpPr/>
          <p:nvPr/>
        </p:nvSpPr>
        <p:spPr>
          <a:xfrm>
            <a:off x="1417320" y="4398264"/>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3</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Pricing</a:t>
            </a:r>
          </a:p>
        </p:txBody>
      </p:sp>
      <p:sp>
        <p:nvSpPr>
          <p:cNvPr id="25" name="Rectangle 24"/>
          <p:cNvSpPr/>
          <p:nvPr/>
        </p:nvSpPr>
        <p:spPr>
          <a:xfrm>
            <a:off x="4617720" y="4398264"/>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4</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Social</a:t>
            </a:r>
          </a:p>
          <a:p>
            <a:pPr algn="ctr">
              <a:spcAft>
                <a:spcPts val="200"/>
              </a:spcAft>
            </a:pPr>
            <a:r>
              <a:rPr sz="1200" b="0">
                <a:solidFill>
                  <a:srgbClr val="21201C"/>
                </a:solidFill>
                <a:latin typeface="Courier New"/>
              </a:rPr>
              <a:t>trends</a:t>
            </a:r>
          </a:p>
        </p:txBody>
      </p:sp>
      <p:sp>
        <p:nvSpPr>
          <p:cNvPr id="29" name="Rectangle 28"/>
          <p:cNvSpPr/>
          <p:nvPr/>
        </p:nvSpPr>
        <p:spPr>
          <a:xfrm>
            <a:off x="78181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Memory</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Shared by</a:t>
            </a:r>
          </a:p>
          <a:p>
            <a:pPr algn="ctr">
              <a:spcAft>
                <a:spcPts val="200"/>
              </a:spcAft>
            </a:pPr>
            <a:r>
              <a:rPr sz="1200" b="0">
                <a:solidFill>
                  <a:srgbClr val="21201C"/>
                </a:solidFill>
                <a:latin typeface="Courier New"/>
              </a:rPr>
              <a:t>every thread</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talk to the lead agent. It decides how many threads a job needs, gives each a focused brief, and brings one merged answer back to you.</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When to Use a Project</a:t>
            </a:r>
          </a:p>
        </p:txBody>
      </p:sp>
      <p:sp>
        <p:nvSpPr>
          <p:cNvPr id="5" name="Rectangle 4"/>
          <p:cNvSpPr/>
          <p:nvPr/>
        </p:nvSpPr>
        <p:spPr>
          <a:xfrm>
            <a:off x="548640"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long-running goal</a:t>
            </a:r>
          </a:p>
          <a:p>
            <a:pPr algn="l">
              <a:spcAft>
                <a:spcPts val="300"/>
              </a:spcAft>
            </a:pPr>
            <a:r>
              <a:rPr sz="1150" b="0">
                <a:solidFill>
                  <a:srgbClr val="6B6862"/>
                </a:solidFill>
                <a:latin typeface="Calibri"/>
              </a:rPr>
              <a:t>Work keeps arriving for weeks — a product launch, a channel, an app.</a:t>
            </a:r>
          </a:p>
        </p:txBody>
      </p:sp>
      <p:sp>
        <p:nvSpPr>
          <p:cNvPr id="10" name="Rectangle 9"/>
          <p:cNvSpPr/>
          <p:nvPr/>
        </p:nvSpPr>
        <p:spPr>
          <a:xfrm>
            <a:off x="6163056"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job that splits</a:t>
            </a:r>
          </a:p>
          <a:p>
            <a:pPr algn="l">
              <a:spcAft>
                <a:spcPts val="300"/>
              </a:spcAft>
            </a:pPr>
            <a:r>
              <a:rPr sz="1150" b="0">
                <a:solidFill>
                  <a:srgbClr val="6B6862"/>
                </a:solidFill>
                <a:latin typeface="Calibri"/>
              </a:rPr>
              <a:t>One big job breaks into pieces that can run at once — assets, ads, competitors, email.</a:t>
            </a:r>
          </a:p>
        </p:txBody>
      </p:sp>
      <p:sp>
        <p:nvSpPr>
          <p:cNvPr id="15" name="Rectangle 14"/>
          <p:cNvSpPr/>
          <p:nvPr/>
        </p:nvSpPr>
        <p:spPr>
          <a:xfrm>
            <a:off x="548640"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Lots of research</a:t>
            </a:r>
          </a:p>
          <a:p>
            <a:pPr algn="l">
              <a:spcAft>
                <a:spcPts val="300"/>
              </a:spcAft>
            </a:pPr>
            <a:r>
              <a:rPr sz="1150" b="0">
                <a:solidFill>
                  <a:srgbClr val="6B6862"/>
                </a:solidFill>
                <a:latin typeface="Calibri"/>
              </a:rPr>
              <a:t>Many subjects to look into — one thread per competitor, market or segment.</a:t>
            </a:r>
          </a:p>
        </p:txBody>
      </p:sp>
      <p:sp>
        <p:nvSpPr>
          <p:cNvPr id="20" name="Rectangle 19"/>
          <p:cNvSpPr/>
          <p:nvPr/>
        </p:nvSpPr>
        <p:spPr>
          <a:xfrm>
            <a:off x="6163056"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Regular check-ins</a:t>
            </a:r>
          </a:p>
          <a:p>
            <a:pPr algn="l">
              <a:spcAft>
                <a:spcPts val="300"/>
              </a:spcAft>
            </a:pPr>
            <a:r>
              <a:rPr sz="1150" b="0">
                <a:solidFill>
                  <a:srgbClr val="6B6862"/>
                </a:solidFill>
                <a:latin typeface="Calibri"/>
              </a:rPr>
              <a:t>You want to review each workstream's progress, not one long chat.</a:t>
            </a:r>
          </a:p>
        </p:txBody>
      </p:sp>
      <p:sp>
        <p:nvSpPr>
          <p:cNvPr id="25" name="TextBox 24"/>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one-off question that is done in one reply? Use an ordinary chat.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Six parts — the first four you set up in Lab 1, the last two run the work.</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What the project must achieve. The lead agent steers every decision toward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Standing rules you write: brand voice, currency, never publish without approval.</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a:t>
            </a:r>
          </a:p>
          <a:p>
            <a:pPr algn="l">
              <a:spcAft>
                <a:spcPts val="300"/>
              </a:spcAft>
            </a:pPr>
            <a:r>
              <a:rPr sz="1150" b="0">
                <a:solidFill>
                  <a:srgbClr val="6B6862"/>
                </a:solidFill>
                <a:latin typeface="Calibri"/>
              </a:rPr>
              <a:t>What Claude reads: files, folders, a Google Drive folder or a GitHub repository.</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Memory</a:t>
            </a:r>
          </a:p>
          <a:p>
            <a:pPr algn="l">
              <a:spcAft>
                <a:spcPts val="300"/>
              </a:spcAft>
            </a:pPr>
            <a:r>
              <a:rPr sz="1150" b="0">
                <a:solidFill>
                  <a:srgbClr val="6B6862"/>
                </a:solidFill>
                <a:latin typeface="Calibri"/>
              </a:rPr>
              <a:t>What the project learns and keeps between threads. Open the memory files to edit them.</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Threads</a:t>
            </a:r>
          </a:p>
          <a:p>
            <a:pPr algn="l">
              <a:spcAft>
                <a:spcPts val="300"/>
              </a:spcAft>
            </a:pPr>
            <a:r>
              <a:rPr sz="1150" b="0">
                <a:solidFill>
                  <a:srgbClr val="6B6862"/>
                </a:solidFill>
                <a:latin typeface="Calibri"/>
              </a:rPr>
              <a:t>The parallel workers the lead agent starts for each piece of a job.</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a:t>
            </a:r>
          </a:p>
          <a:p>
            <a:pPr algn="l">
              <a:spcAft>
                <a:spcPts val="300"/>
              </a:spcAft>
            </a:pPr>
            <a:r>
              <a:rPr sz="1150" b="0">
                <a:solidFill>
                  <a:srgbClr val="6B6862"/>
                </a:solidFill>
                <a:latin typeface="Calibri"/>
              </a:rPr>
              <a:t>Tasks that run on a timetable inside the project — the daily post, the weekly report.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New project opens the Create a project dialog.</a:t>
            </a:r>
          </a:p>
        </p:txBody>
      </p:sp>
      <p:sp>
        <p:nvSpPr>
          <p:cNvPr id="6" name="Rectangle 5"/>
          <p:cNvSpPr/>
          <p:nvPr/>
        </p:nvSpPr>
        <p:spPr>
          <a:xfrm>
            <a:off x="548640" y="2148840"/>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34315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4315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Name</a:t>
            </a:r>
          </a:p>
          <a:p>
            <a:pPr algn="l">
              <a:spcAft>
                <a:spcPts val="500"/>
              </a:spcAft>
            </a:pPr>
            <a:r>
              <a:rPr sz="1250" b="0">
                <a:solidFill>
                  <a:srgbClr val="6B6862"/>
                </a:solidFill>
                <a:latin typeface="Calibri"/>
              </a:rPr>
              <a:t>What you are working on — Lumo Cold Kopi Launch. This is how you find it in the sidebar.</a:t>
            </a:r>
          </a:p>
        </p:txBody>
      </p:sp>
      <p:sp>
        <p:nvSpPr>
          <p:cNvPr id="10" name="Rectangle 9"/>
          <p:cNvSpPr/>
          <p:nvPr/>
        </p:nvSpPr>
        <p:spPr>
          <a:xfrm>
            <a:off x="548640" y="3049524"/>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24383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4383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049524"/>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Goal</a:t>
            </a:r>
          </a:p>
          <a:p>
            <a:pPr algn="l">
              <a:spcAft>
                <a:spcPts val="500"/>
              </a:spcAft>
            </a:pPr>
            <a:r>
              <a:rPr sz="1250" b="0">
                <a:solidFill>
                  <a:srgbClr val="6B6862"/>
                </a:solidFill>
                <a:latin typeface="Calibri"/>
              </a:rPr>
              <a:t>What the project must achieve, in two or three sentences. You can type it or dictate it.</a:t>
            </a:r>
          </a:p>
        </p:txBody>
      </p:sp>
      <p:sp>
        <p:nvSpPr>
          <p:cNvPr id="14" name="Rectangle 13"/>
          <p:cNvSpPr/>
          <p:nvPr/>
        </p:nvSpPr>
        <p:spPr>
          <a:xfrm>
            <a:off x="548640" y="3950208"/>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14451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4451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950208"/>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Context</a:t>
            </a:r>
          </a:p>
          <a:p>
            <a:pPr algn="l">
              <a:spcAft>
                <a:spcPts val="500"/>
              </a:spcAft>
            </a:pPr>
            <a:r>
              <a:rPr sz="1250" b="0">
                <a:solidFill>
                  <a:srgbClr val="6B6862"/>
                </a:solidFill>
                <a:latin typeface="Calibri"/>
              </a:rPr>
              <a:t>Add the brand kit files now, or a folder or Drive folder. You can skip and add them later.</a:t>
            </a:r>
          </a:p>
        </p:txBody>
      </p:sp>
      <p:sp>
        <p:nvSpPr>
          <p:cNvPr id="18" name="Rectangle 17"/>
          <p:cNvSpPr/>
          <p:nvPr/>
        </p:nvSpPr>
        <p:spPr>
          <a:xfrm>
            <a:off x="548640" y="4850892"/>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504520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4520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850892"/>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Create project</a:t>
            </a:r>
          </a:p>
          <a:p>
            <a:pPr algn="l">
              <a:spcAft>
                <a:spcPts val="500"/>
              </a:spcAft>
            </a:pPr>
            <a:r>
              <a:rPr sz="1250" b="0">
                <a:solidFill>
                  <a:srgbClr val="6B6862"/>
                </a:solidFill>
                <a:latin typeface="Calibri"/>
              </a:rPr>
              <a:t>The lead agent opens, reads the goal and context, and is ready for its first job.</a:t>
            </a:r>
          </a:p>
        </p:txBody>
      </p:sp>
      <p:sp>
        <p:nvSpPr>
          <p:cNvPr id="22" name="TextBox 2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New project is at the top right of the Projects page. Instructions and memory are edited afterwards, in Project settings.</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Project Settings</a:t>
            </a:r>
          </a:p>
        </p:txBody>
      </p:sp>
      <p:sp>
        <p:nvSpPr>
          <p:cNvPr id="5" name="Rectangle 4"/>
          <p:cNvSpPr/>
          <p:nvPr/>
        </p:nvSpPr>
        <p:spPr>
          <a:xfrm>
            <a:off x="548640" y="182880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96504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04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8" name="TextBox 7"/>
          <p:cNvSpPr txBox="1"/>
          <p:nvPr/>
        </p:nvSpPr>
        <p:spPr>
          <a:xfrm>
            <a:off x="1508760" y="182880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General</a:t>
            </a:r>
          </a:p>
          <a:p>
            <a:pPr algn="l">
              <a:spcAft>
                <a:spcPts val="500"/>
              </a:spcAft>
            </a:pPr>
            <a:r>
              <a:rPr sz="1250" b="0">
                <a:solidFill>
                  <a:srgbClr val="6B6862"/>
                </a:solidFill>
                <a:latin typeface="Calibri"/>
              </a:rPr>
              <a:t>The project name, the goal, and the models and effort for the lead agent and the threads.</a:t>
            </a:r>
          </a:p>
        </p:txBody>
      </p:sp>
      <p:sp>
        <p:nvSpPr>
          <p:cNvPr id="9" name="Rectangle 8"/>
          <p:cNvSpPr/>
          <p:nvPr/>
        </p:nvSpPr>
        <p:spPr>
          <a:xfrm>
            <a:off x="548640" y="2613355"/>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274960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960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2" name="TextBox 11"/>
          <p:cNvSpPr txBox="1"/>
          <p:nvPr/>
        </p:nvSpPr>
        <p:spPr>
          <a:xfrm>
            <a:off x="1508760" y="2613355"/>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Memory</a:t>
            </a:r>
          </a:p>
          <a:p>
            <a:pPr algn="l">
              <a:spcAft>
                <a:spcPts val="500"/>
              </a:spcAft>
            </a:pPr>
            <a:r>
              <a:rPr sz="1250" b="0">
                <a:solidFill>
                  <a:srgbClr val="6B6862"/>
                </a:solidFill>
                <a:latin typeface="Calibri"/>
              </a:rPr>
              <a:t>The project instructions and the memory files the project has written — open one to edit it.</a:t>
            </a:r>
          </a:p>
        </p:txBody>
      </p:sp>
      <p:sp>
        <p:nvSpPr>
          <p:cNvPr id="13" name="Rectangle 12"/>
          <p:cNvSpPr/>
          <p:nvPr/>
        </p:nvSpPr>
        <p:spPr>
          <a:xfrm>
            <a:off x="548640" y="339791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53415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53415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6" name="TextBox 15"/>
          <p:cNvSpPr txBox="1"/>
          <p:nvPr/>
        </p:nvSpPr>
        <p:spPr>
          <a:xfrm>
            <a:off x="1508760" y="339791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Environment</a:t>
            </a:r>
          </a:p>
          <a:p>
            <a:pPr algn="l">
              <a:spcAft>
                <a:spcPts val="500"/>
              </a:spcAft>
            </a:pPr>
            <a:r>
              <a:rPr sz="1250" b="0">
                <a:solidFill>
                  <a:srgbClr val="6B6862"/>
                </a:solidFill>
                <a:latin typeface="Calibri"/>
              </a:rPr>
              <a:t>Local, or a cloud environment so threads keep working with your laptop closed.</a:t>
            </a:r>
          </a:p>
        </p:txBody>
      </p:sp>
      <p:sp>
        <p:nvSpPr>
          <p:cNvPr id="17" name="Rectangle 16"/>
          <p:cNvSpPr/>
          <p:nvPr/>
        </p:nvSpPr>
        <p:spPr>
          <a:xfrm>
            <a:off x="548640" y="4182465"/>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31871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31871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0" name="TextBox 19"/>
          <p:cNvSpPr txBox="1"/>
          <p:nvPr/>
        </p:nvSpPr>
        <p:spPr>
          <a:xfrm>
            <a:off x="1508760" y="4182465"/>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Usage</a:t>
            </a:r>
          </a:p>
          <a:p>
            <a:pPr algn="l">
              <a:spcAft>
                <a:spcPts val="500"/>
              </a:spcAft>
            </a:pPr>
            <a:r>
              <a:rPr sz="1250" b="0">
                <a:solidFill>
                  <a:srgbClr val="6B6862"/>
                </a:solidFill>
                <a:latin typeface="Calibri"/>
              </a:rPr>
              <a:t>Input and output tokens, for the lead agent and for each thread separately.</a:t>
            </a:r>
          </a:p>
        </p:txBody>
      </p:sp>
      <p:sp>
        <p:nvSpPr>
          <p:cNvPr id="21" name="Rectangle 20"/>
          <p:cNvSpPr/>
          <p:nvPr/>
        </p:nvSpPr>
        <p:spPr>
          <a:xfrm>
            <a:off x="548640" y="496702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510326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10326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4" name="TextBox 23"/>
          <p:cNvSpPr txBox="1"/>
          <p:nvPr/>
        </p:nvSpPr>
        <p:spPr>
          <a:xfrm>
            <a:off x="1508760" y="496702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Debug access</a:t>
            </a:r>
          </a:p>
          <a:p>
            <a:pPr algn="l">
              <a:spcAft>
                <a:spcPts val="500"/>
              </a:spcAft>
            </a:pPr>
            <a:r>
              <a:rPr sz="1250" b="0">
                <a:solidFill>
                  <a:srgbClr val="6B6862"/>
                </a:solidFill>
                <a:latin typeface="Calibri"/>
              </a:rPr>
              <a:t>Let another project read this one's conversations, read-only, to help diagnose a problem.</a:t>
            </a:r>
          </a:p>
        </p:txBody>
      </p:sp>
      <p:sp>
        <p:nvSpPr>
          <p:cNvPr id="25" name="TextBox 24"/>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Open Project settings from the gear icon at the top right of the project.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 SETTINGS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Models and Effort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lead agent and the threads each have their own model and effort.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Role</a:t>
            </a:r>
          </a:p>
        </p:txBody>
      </p:sp>
      <p:sp>
        <p:nvSpPr>
          <p:cNvPr id="7" name="TextBox 6"/>
          <p:cNvSpPr txBox="1"/>
          <p:nvPr/>
        </p:nvSpPr>
        <p:spPr>
          <a:xfrm>
            <a:off x="3154680" y="2194560"/>
            <a:ext cx="1287780"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Typical default</a:t>
            </a:r>
          </a:p>
        </p:txBody>
      </p:sp>
      <p:sp>
        <p:nvSpPr>
          <p:cNvPr id="8" name="TextBox 7"/>
          <p:cNvSpPr txBox="1"/>
          <p:nvPr/>
        </p:nvSpPr>
        <p:spPr>
          <a:xfrm>
            <a:off x="4671060" y="2194560"/>
            <a:ext cx="163118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Effort</a:t>
            </a:r>
          </a:p>
        </p:txBody>
      </p:sp>
      <p:sp>
        <p:nvSpPr>
          <p:cNvPr id="9" name="TextBox 8"/>
          <p:cNvSpPr txBox="1"/>
          <p:nvPr/>
        </p:nvSpPr>
        <p:spPr>
          <a:xfrm>
            <a:off x="6530848" y="2194560"/>
            <a:ext cx="4807712"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Change it when</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Lead agent</a:t>
            </a:r>
          </a:p>
        </p:txBody>
      </p:sp>
      <p:sp>
        <p:nvSpPr>
          <p:cNvPr id="12" name="TextBox 11"/>
          <p:cNvSpPr txBox="1"/>
          <p:nvPr/>
        </p:nvSpPr>
        <p:spPr>
          <a:xfrm>
            <a:off x="3154680" y="2651760"/>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Opus 5.5</a:t>
            </a:r>
          </a:p>
        </p:txBody>
      </p:sp>
      <p:sp>
        <p:nvSpPr>
          <p:cNvPr id="13" name="TextBox 12"/>
          <p:cNvSpPr txBox="1"/>
          <p:nvPr/>
        </p:nvSpPr>
        <p:spPr>
          <a:xfrm>
            <a:off x="4671060" y="2651760"/>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Low</a:t>
            </a:r>
          </a:p>
        </p:txBody>
      </p:sp>
      <p:sp>
        <p:nvSpPr>
          <p:cNvPr id="14" name="TextBox 13"/>
          <p:cNvSpPr txBox="1"/>
          <p:nvPr/>
        </p:nvSpPr>
        <p:spPr>
          <a:xfrm>
            <a:off x="6530848" y="2651760"/>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It misreads your requests — raise to Medium.</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Threads</a:t>
            </a:r>
          </a:p>
        </p:txBody>
      </p:sp>
      <p:sp>
        <p:nvSpPr>
          <p:cNvPr id="17" name="TextBox 16"/>
          <p:cNvSpPr txBox="1"/>
          <p:nvPr/>
        </p:nvSpPr>
        <p:spPr>
          <a:xfrm>
            <a:off x="3154680" y="3387852"/>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Opus 5.5</a:t>
            </a:r>
          </a:p>
        </p:txBody>
      </p:sp>
      <p:sp>
        <p:nvSpPr>
          <p:cNvPr id="18" name="TextBox 17"/>
          <p:cNvSpPr txBox="1"/>
          <p:nvPr/>
        </p:nvSpPr>
        <p:spPr>
          <a:xfrm>
            <a:off x="4671060" y="3387852"/>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Medium</a:t>
            </a:r>
          </a:p>
        </p:txBody>
      </p:sp>
      <p:sp>
        <p:nvSpPr>
          <p:cNvPr id="19" name="TextBox 18"/>
          <p:cNvSpPr txBox="1"/>
          <p:nvPr/>
        </p:nvSpPr>
        <p:spPr>
          <a:xfrm>
            <a:off x="6530848" y="3387852"/>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Research is shallow — raise; drafts are simple — lower.</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Effort</a:t>
            </a:r>
          </a:p>
        </p:txBody>
      </p:sp>
      <p:sp>
        <p:nvSpPr>
          <p:cNvPr id="22" name="TextBox 21"/>
          <p:cNvSpPr txBox="1"/>
          <p:nvPr/>
        </p:nvSpPr>
        <p:spPr>
          <a:xfrm>
            <a:off x="3154680" y="4123944"/>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
            </a:r>
          </a:p>
        </p:txBody>
      </p:sp>
      <p:sp>
        <p:nvSpPr>
          <p:cNvPr id="23" name="TextBox 22"/>
          <p:cNvSpPr txBox="1"/>
          <p:nvPr/>
        </p:nvSpPr>
        <p:spPr>
          <a:xfrm>
            <a:off x="4671060" y="4123944"/>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Low · Medium · High</a:t>
            </a:r>
          </a:p>
        </p:txBody>
      </p:sp>
      <p:sp>
        <p:nvSpPr>
          <p:cNvPr id="24" name="TextBox 23"/>
          <p:cNvSpPr txBox="1"/>
          <p:nvPr/>
        </p:nvSpPr>
        <p:spPr>
          <a:xfrm>
            <a:off x="6530848" y="4123944"/>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Higher effort thinks harder and uses more of your limit.</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Defaults vary by account and change over time — read yours in Project settings → General → Models.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Instructions, Context or Memory?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When the output is wrong, this tells you which one to edit.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Instructions</a:t>
            </a:r>
          </a:p>
        </p:txBody>
      </p:sp>
      <p:sp>
        <p:nvSpPr>
          <p:cNvPr id="8" name="TextBox 7"/>
          <p:cNvSpPr txBox="1"/>
          <p:nvPr/>
        </p:nvSpPr>
        <p:spPr>
          <a:xfrm>
            <a:off x="5823284"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Context</a:t>
            </a:r>
          </a:p>
        </p:txBody>
      </p:sp>
      <p:sp>
        <p:nvSpPr>
          <p:cNvPr id="9" name="TextBox 8"/>
          <p:cNvSpPr txBox="1"/>
          <p:nvPr/>
        </p:nvSpPr>
        <p:spPr>
          <a:xfrm>
            <a:off x="8491888" y="2194560"/>
            <a:ext cx="2846671"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Memory</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Who writes it</a:t>
            </a:r>
          </a:p>
        </p:txBody>
      </p:sp>
      <p:sp>
        <p:nvSpPr>
          <p:cNvPr id="12" name="TextBox 11"/>
          <p:cNvSpPr txBox="1"/>
          <p:nvPr/>
        </p:nvSpPr>
        <p:spPr>
          <a:xfrm>
            <a:off x="3154680" y="2651760"/>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a:t>
            </a:r>
          </a:p>
        </p:txBody>
      </p:sp>
      <p:sp>
        <p:nvSpPr>
          <p:cNvPr id="13" name="TextBox 12"/>
          <p:cNvSpPr txBox="1"/>
          <p:nvPr/>
        </p:nvSpPr>
        <p:spPr>
          <a:xfrm>
            <a:off x="5823284" y="2651760"/>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 add it</a:t>
            </a:r>
          </a:p>
        </p:txBody>
      </p:sp>
      <p:sp>
        <p:nvSpPr>
          <p:cNvPr id="14" name="TextBox 13"/>
          <p:cNvSpPr txBox="1"/>
          <p:nvPr/>
        </p:nvSpPr>
        <p:spPr>
          <a:xfrm>
            <a:off x="8491888" y="2651760"/>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project, as it works</a:t>
            </a:r>
          </a:p>
        </p:txBody>
      </p:sp>
      <p:sp>
        <p:nvSpPr>
          <p:cNvPr id="15" name="Rectangle 14"/>
          <p:cNvSpPr/>
          <p:nvPr/>
        </p:nvSpPr>
        <p:spPr>
          <a:xfrm>
            <a:off x="822960" y="331927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19272"/>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What it holds</a:t>
            </a:r>
          </a:p>
        </p:txBody>
      </p:sp>
      <p:sp>
        <p:nvSpPr>
          <p:cNvPr id="17" name="TextBox 16"/>
          <p:cNvSpPr txBox="1"/>
          <p:nvPr/>
        </p:nvSpPr>
        <p:spPr>
          <a:xfrm>
            <a:off x="3154680" y="3319272"/>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Rules and style</a:t>
            </a:r>
          </a:p>
        </p:txBody>
      </p:sp>
      <p:sp>
        <p:nvSpPr>
          <p:cNvPr id="18" name="TextBox 17"/>
          <p:cNvSpPr txBox="1"/>
          <p:nvPr/>
        </p:nvSpPr>
        <p:spPr>
          <a:xfrm>
            <a:off x="5823284" y="3319272"/>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Files and folders to read</a:t>
            </a:r>
          </a:p>
        </p:txBody>
      </p:sp>
      <p:sp>
        <p:nvSpPr>
          <p:cNvPr id="19" name="TextBox 18"/>
          <p:cNvSpPr txBox="1"/>
          <p:nvPr/>
        </p:nvSpPr>
        <p:spPr>
          <a:xfrm>
            <a:off x="8491888" y="3319272"/>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Facts and decisions learned</a:t>
            </a:r>
          </a:p>
        </p:txBody>
      </p:sp>
      <p:sp>
        <p:nvSpPr>
          <p:cNvPr id="20" name="Rectangle 19"/>
          <p:cNvSpPr/>
          <p:nvPr/>
        </p:nvSpPr>
        <p:spPr>
          <a:xfrm>
            <a:off x="822960" y="398678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986784"/>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2" name="TextBox 21"/>
          <p:cNvSpPr txBox="1"/>
          <p:nvPr/>
        </p:nvSpPr>
        <p:spPr>
          <a:xfrm>
            <a:off x="3154680" y="3986784"/>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Prices in S$; no health claims</a:t>
            </a:r>
          </a:p>
        </p:txBody>
      </p:sp>
      <p:sp>
        <p:nvSpPr>
          <p:cNvPr id="23" name="TextBox 22"/>
          <p:cNvSpPr txBox="1"/>
          <p:nvPr/>
        </p:nvSpPr>
        <p:spPr>
          <a:xfrm>
            <a:off x="5823284" y="3986784"/>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Brand guidelines, launch brief</a:t>
            </a:r>
          </a:p>
        </p:txBody>
      </p:sp>
      <p:sp>
        <p:nvSpPr>
          <p:cNvPr id="24" name="TextBox 23"/>
          <p:cNvSpPr txBox="1"/>
          <p:nvPr/>
        </p:nvSpPr>
        <p:spPr>
          <a:xfrm>
            <a:off x="8491888" y="3986784"/>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Launch date moved; IG performs best</a:t>
            </a:r>
          </a:p>
        </p:txBody>
      </p:sp>
      <p:sp>
        <p:nvSpPr>
          <p:cNvPr id="25" name="Rectangle 24"/>
          <p:cNvSpPr/>
          <p:nvPr/>
        </p:nvSpPr>
        <p:spPr>
          <a:xfrm>
            <a:off x="822960" y="465429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654296"/>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Edit it in</a:t>
            </a:r>
          </a:p>
        </p:txBody>
      </p:sp>
      <p:sp>
        <p:nvSpPr>
          <p:cNvPr id="27" name="TextBox 26"/>
          <p:cNvSpPr txBox="1"/>
          <p:nvPr/>
        </p:nvSpPr>
        <p:spPr>
          <a:xfrm>
            <a:off x="3154680" y="4654296"/>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Settings → Memory</a:t>
            </a:r>
          </a:p>
        </p:txBody>
      </p:sp>
      <p:sp>
        <p:nvSpPr>
          <p:cNvPr id="28" name="TextBox 27"/>
          <p:cNvSpPr txBox="1"/>
          <p:nvPr/>
        </p:nvSpPr>
        <p:spPr>
          <a:xfrm>
            <a:off x="5823284" y="4654296"/>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Context panel</a:t>
            </a:r>
          </a:p>
        </p:txBody>
      </p:sp>
      <p:sp>
        <p:nvSpPr>
          <p:cNvPr id="29" name="TextBox 28"/>
          <p:cNvSpPr txBox="1"/>
          <p:nvPr/>
        </p:nvSpPr>
        <p:spPr>
          <a:xfrm>
            <a:off x="8491888" y="4654296"/>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Settings → Memory → memory files</a:t>
            </a:r>
          </a:p>
        </p:txBody>
      </p:sp>
      <p:sp>
        <p:nvSpPr>
          <p:cNvPr id="30" name="Rectangle 29"/>
          <p:cNvSpPr/>
          <p:nvPr/>
        </p:nvSpPr>
        <p:spPr>
          <a:xfrm>
            <a:off x="822960" y="532180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321808"/>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When output is wrong</a:t>
            </a:r>
          </a:p>
        </p:txBody>
      </p:sp>
      <p:sp>
        <p:nvSpPr>
          <p:cNvPr id="32" name="TextBox 31"/>
          <p:cNvSpPr txBox="1"/>
          <p:nvPr/>
        </p:nvSpPr>
        <p:spPr>
          <a:xfrm>
            <a:off x="3154680" y="5321808"/>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Tighten the rule</a:t>
            </a:r>
          </a:p>
        </p:txBody>
      </p:sp>
      <p:sp>
        <p:nvSpPr>
          <p:cNvPr id="33" name="TextBox 32"/>
          <p:cNvSpPr txBox="1"/>
          <p:nvPr/>
        </p:nvSpPr>
        <p:spPr>
          <a:xfrm>
            <a:off x="5823284" y="5321808"/>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missing file</a:t>
            </a:r>
          </a:p>
        </p:txBody>
      </p:sp>
      <p:sp>
        <p:nvSpPr>
          <p:cNvPr id="34" name="TextBox 33"/>
          <p:cNvSpPr txBox="1"/>
          <p:nvPr/>
        </p:nvSpPr>
        <p:spPr>
          <a:xfrm>
            <a:off x="8491888" y="5321808"/>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Correct or delete the fact</a:t>
            </a:r>
          </a:p>
        </p:txBody>
      </p:sp>
      <p:sp>
        <p:nvSpPr>
          <p:cNvPr id="35" name="Rectangle 34"/>
          <p:cNvSpPr/>
          <p:nvPr/>
        </p:nvSpPr>
        <p:spPr>
          <a:xfrm>
            <a:off x="822960" y="598932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brand kit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Research, posts and artefacts are scattered.</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Work stops when you stop typing.</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Context is added once and read by every thread.</a:t>
            </a:r>
          </a:p>
          <a:p>
            <a:pPr algn="l">
              <a:spcAft>
                <a:spcPts val="900"/>
              </a:spcAft>
            </a:pPr>
            <a:r>
              <a:rPr sz="1250" b="0">
                <a:solidFill>
                  <a:srgbClr val="21201C"/>
                </a:solidFill>
                <a:latin typeface="Calibri"/>
              </a:rPr>
              <a:t>•  Instructions apply to every job in the project.</a:t>
            </a:r>
          </a:p>
          <a:p>
            <a:pPr algn="l">
              <a:spcAft>
                <a:spcPts val="900"/>
              </a:spcAft>
            </a:pPr>
            <a:r>
              <a:rPr sz="1250" b="0">
                <a:solidFill>
                  <a:srgbClr val="21201C"/>
                </a:solidFill>
                <a:latin typeface="Calibri"/>
              </a:rPr>
              <a:t>•  Artefacts, skills and outputs live together.</a:t>
            </a:r>
          </a:p>
          <a:p>
            <a:pPr algn="l">
              <a:spcAft>
                <a:spcPts val="900"/>
              </a:spcAft>
            </a:pPr>
            <a:r>
              <a:rPr sz="1250" b="0">
                <a:solidFill>
                  <a:srgbClr val="21201C"/>
                </a:solidFill>
                <a:latin typeface="Calibri"/>
              </a:rPr>
              <a:t>•  A colleague opens the project and is ready.</a:t>
            </a:r>
          </a:p>
          <a:p>
            <a:pPr algn="l">
              <a:spcAft>
                <a:spcPts val="900"/>
              </a:spcAft>
            </a:pPr>
            <a:r>
              <a:rPr sz="1250" b="0">
                <a:solidFill>
                  <a:srgbClr val="21201C"/>
                </a:solidFill>
                <a:latin typeface="Calibri"/>
              </a:rPr>
              <a:t>•  Scheduled tasks run while you are away.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Claude Projects and Market Research</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Project</a:t>
            </a:r>
          </a:p>
          <a:p>
            <a:pPr algn="l">
              <a:spcAft>
                <a:spcPts val="300"/>
              </a:spcAft>
            </a:pPr>
            <a:r>
              <a:rPr sz="1150" b="0">
                <a:solidFill>
                  <a:srgbClr val="6B6862"/>
                </a:solidFill>
                <a:latin typeface="Calibri"/>
              </a:rPr>
              <a:t>A home for a long-running goal. Context, memory and work build up over time instead of resetting each chat.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Lead agent</a:t>
            </a:r>
          </a:p>
          <a:p>
            <a:pPr algn="l">
              <a:spcAft>
                <a:spcPts val="300"/>
              </a:spcAft>
            </a:pPr>
            <a:r>
              <a:rPr sz="1150" b="0">
                <a:solidFill>
                  <a:srgbClr val="6B6862"/>
                </a:solidFill>
                <a:latin typeface="Calibri"/>
              </a:rPr>
              <a:t>The project's coordinator. You tell it the goal; it plans, splits the work and reports back.</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Threads</a:t>
            </a:r>
          </a:p>
          <a:p>
            <a:pPr algn="l">
              <a:spcAft>
                <a:spcPts val="300"/>
              </a:spcAft>
            </a:pPr>
            <a:r>
              <a:rPr sz="1150" b="0">
                <a:solidFill>
                  <a:srgbClr val="6B6862"/>
                </a:solidFill>
                <a:latin typeface="Calibri"/>
              </a:rPr>
              <a:t>Parallel workers the lead agent starts — one per subject — each with its own focused context.</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One clear statement of what the project must achieve. Every decision the lead agent makes points at it.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vs memory</a:t>
            </a:r>
          </a:p>
          <a:p>
            <a:pPr algn="l">
              <a:spcAft>
                <a:spcPts val="300"/>
              </a:spcAft>
            </a:pPr>
            <a:r>
              <a:rPr sz="1150" b="0">
                <a:solidFill>
                  <a:srgbClr val="6B6862"/>
                </a:solidFill>
                <a:latin typeface="Calibri"/>
              </a:rPr>
              <a:t>Instructions are the rules you write. Memory is what the project learns and keeps — and you can edit it.</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 dashboards, trackers — that persist in your workspace instead of scrolling away in chat.</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Create a Claude Project with a goal, instructions, context and memory</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Lumo Kopi Co. launches Lumo Cold Kopi in six weeks, and the marketing work will keep coming until launch day — exactly what a Claude Project is for. You create the Lumo Cold Kopi Launch project, give it a goal, add the brand kit as context, write its standing instructions, and check that its lead agent understood all three. Every later lab runs inside this project.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Lumo Cold Kopi Launch project, with a goal, instructions, three context files and a first memory entry.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Claude Projects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GOAL</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Launch Lumo Cold Kopi in Singapore on 1 December 2026.</a:t>
            </a:r>
          </a:p>
          <a:p>
            <a:pPr algn="l">
              <a:spcAft>
                <a:spcPts val="200"/>
              </a:spcAft>
            </a:pPr>
            <a:r>
              <a:rPr sz="1500" b="0">
                <a:solidFill>
                  <a:srgbClr val="21201C"/>
                </a:solidFill>
                <a:latin typeface="Calibri"/>
              </a:rPr>
              <a:t>Produce the market research, a launch deck, a campaign brief,</a:t>
            </a:r>
          </a:p>
          <a:p>
            <a:pPr algn="l">
              <a:spcAft>
                <a:spcPts val="200"/>
              </a:spcAft>
            </a:pPr>
            <a:r>
              <a:rPr sz="1500" b="0">
                <a:solidFill>
                  <a:srgbClr val="21201C"/>
                </a:solidFill>
                <a:latin typeface="Calibri"/>
              </a:rPr>
              <a:t>two weeks of social media posts and a 15-second launch video,</a:t>
            </a:r>
          </a:p>
          <a:p>
            <a:pPr algn="l">
              <a:spcAft>
                <a:spcPts val="200"/>
              </a:spcAft>
            </a:pPr>
            <a:r>
              <a:rPr sz="1500" b="0">
                <a:solidFill>
                  <a:srgbClr val="21201C"/>
                </a:solidFill>
                <a:latin typeface="Calibri"/>
              </a:rPr>
              <a:t>within a S$60,000 budget, so that 25-34 year-olds on Instagram</a:t>
            </a:r>
          </a:p>
          <a:p>
            <a:pPr algn="l">
              <a:spcAft>
                <a:spcPts val="200"/>
              </a:spcAft>
            </a:pPr>
            <a:r>
              <a:rPr sz="1500" b="0">
                <a:solidFill>
                  <a:srgbClr val="21201C"/>
                </a:solidFill>
                <a:latin typeface="Calibri"/>
              </a:rPr>
              <a:t>and TikTok know the product exists by launch day.</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Name: Lumo Cold Kopi Launch. Add the three brand-kit files as Context.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INSTRUCTIONS</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You are the marketing team for Lumo Kopi Co.</a:t>
            </a:r>
          </a:p>
          <a:p>
            <a:pPr algn="l">
              <a:spcAft>
                <a:spcPts val="200"/>
              </a:spcAft>
            </a:pPr>
            <a:r>
              <a:rPr sz="1500" b="0">
                <a:solidFill>
                  <a:srgbClr val="21201C"/>
                </a:solidFill>
                <a:latin typeface="Calibri"/>
              </a:rPr>
              <a:t>- Prices are in Singapore dollars: S$3.90 per can, S$42.00 per</a:t>
            </a:r>
          </a:p>
          <a:p>
            <a:pPr algn="l">
              <a:spcAft>
                <a:spcPts val="200"/>
              </a:spcAft>
            </a:pPr>
            <a:r>
              <a:rPr sz="1500" b="0">
                <a:solidFill>
                  <a:srgbClr val="21201C"/>
                </a:solidFill>
                <a:latin typeface="Calibri"/>
              </a:rPr>
              <a:t>  12-pack. Always two decimals.</a:t>
            </a:r>
          </a:p>
          <a:p>
            <a:pPr algn="l">
              <a:spcAft>
                <a:spcPts val="200"/>
              </a:spcAft>
            </a:pPr>
            <a:r>
              <a:rPr sz="1500" b="0">
                <a:solidFill>
                  <a:srgbClr val="21201C"/>
                </a:solidFill>
                <a:latin typeface="Calibri"/>
              </a:rPr>
              <a:t>- Follow lumo-brand-guidelines.md for anything customer-facing.</a:t>
            </a:r>
          </a:p>
          <a:p>
            <a:pPr algn="l">
              <a:spcAft>
                <a:spcPts val="200"/>
              </a:spcAft>
            </a:pPr>
            <a:r>
              <a:rPr sz="1500" b="0">
                <a:solidFill>
                  <a:srgbClr val="21201C"/>
                </a:solidFill>
                <a:latin typeface="Calibri"/>
              </a:rPr>
              <a:t>- Never describe the product as healthy. You may say 5 g sugar.</a:t>
            </a:r>
          </a:p>
          <a:p>
            <a:pPr algn="l">
              <a:spcAft>
                <a:spcPts val="200"/>
              </a:spcAft>
            </a:pPr>
            <a:r>
              <a:rPr sz="1500" b="0">
                <a:solidFill>
                  <a:srgbClr val="21201C"/>
                </a:solidFill>
                <a:latin typeface="Calibri"/>
              </a:rPr>
              <a:t>- Never send an email or publish a post without my approval.</a:t>
            </a:r>
          </a:p>
          <a:p>
            <a:pPr algn="l">
              <a:spcAft>
                <a:spcPts val="200"/>
              </a:spcAft>
            </a:pPr>
            <a:r>
              <a:rPr sz="1500" b="0">
                <a:solidFill>
                  <a:srgbClr val="21201C"/>
                </a:solidFill>
                <a:latin typeface="Calibri"/>
              </a:rPr>
              <a:t>- When a job has several independent subjects, give each one</a:t>
            </a:r>
          </a:p>
          <a:p>
            <a:pPr algn="l">
              <a:spcAft>
                <a:spcPts val="200"/>
              </a:spcAft>
            </a:pPr>
            <a:r>
              <a:rPr sz="1500" b="0">
                <a:solidFill>
                  <a:srgbClr val="21201C"/>
                </a:solidFill>
                <a:latin typeface="Calibri"/>
              </a:rPr>
              <a:t>  its own thread and merge the results for me.</a:t>
            </a:r>
          </a:p>
          <a:p>
            <a:pPr algn="l">
              <a:spcAft>
                <a:spcPts val="200"/>
              </a:spcAft>
            </a:pPr>
            <a:r>
              <a:rPr sz="1500" b="0">
                <a:solidFill>
                  <a:srgbClr val="21201C"/>
                </a:solidFill>
                <a:latin typeface="Calibri"/>
              </a:rPr>
              <a:t>- Flag any figure that two sources disagree on. Do not pick one.</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Save the instructions before you send Block 3.</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FIRST MESSAGE</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Before we start work, check your setup:</a:t>
            </a:r>
          </a:p>
          <a:p>
            <a:pPr algn="l">
              <a:spcAft>
                <a:spcPts val="200"/>
              </a:spcAft>
            </a:pPr>
            <a:r>
              <a:rPr sz="1500" b="0">
                <a:solidFill>
                  <a:srgbClr val="21201C"/>
                </a:solidFill>
                <a:latin typeface="Calibri"/>
              </a:rPr>
              <a:t>1. Restate the project goal in one line.</a:t>
            </a:r>
          </a:p>
          <a:p>
            <a:pPr algn="l">
              <a:spcAft>
                <a:spcPts val="200"/>
              </a:spcAft>
            </a:pPr>
            <a:r>
              <a:rPr sz="1500" b="0">
                <a:solidFill>
                  <a:srgbClr val="21201C"/>
                </a:solidFill>
                <a:latin typeface="Calibri"/>
              </a:rPr>
              <a:t>2. List the context files you can read and what each is for.</a:t>
            </a:r>
          </a:p>
          <a:p>
            <a:pPr algn="l">
              <a:spcAft>
                <a:spcPts val="200"/>
              </a:spcAft>
            </a:pPr>
            <a:r>
              <a:rPr sz="1500" b="0">
                <a:solidFill>
                  <a:srgbClr val="21201C"/>
                </a:solidFill>
                <a:latin typeface="Calibri"/>
              </a:rPr>
              <a:t>3. List the three instructions you think matter most.</a:t>
            </a:r>
          </a:p>
          <a:p>
            <a:pPr algn="l">
              <a:spcAft>
                <a:spcPts val="200"/>
              </a:spcAft>
            </a:pPr>
            <a:r>
              <a:rPr sz="1500" b="0">
                <a:solidFill>
                  <a:srgbClr val="21201C"/>
                </a:solidFill>
                <a:latin typeface="Calibri"/>
              </a:rPr>
              <a:t>4. From the product sheet, give me the price per can, the sugar</a:t>
            </a:r>
          </a:p>
          <a:p>
            <a:pPr algn="l">
              <a:spcAft>
                <a:spcPts val="200"/>
              </a:spcAft>
            </a:pPr>
            <a:r>
              <a:rPr sz="1500" b="0">
                <a:solidFill>
                  <a:srgbClr val="21201C"/>
                </a:solidFill>
                <a:latin typeface="Calibri"/>
              </a:rPr>
              <a:t>   per can and the launch date.</a:t>
            </a:r>
          </a:p>
          <a:p>
            <a:pPr algn="l">
              <a:spcAft>
                <a:spcPts val="200"/>
              </a:spcAft>
            </a:pPr>
            <a:r>
              <a:rPr sz="1500" b="0">
                <a:solidFill>
                  <a:srgbClr val="21201C"/>
                </a:solidFill>
                <a:latin typeface="Calibri"/>
              </a:rPr>
              <a:t>Then remember this for the project: our primary audience is</a:t>
            </a:r>
          </a:p>
          <a:p>
            <a:pPr algn="l">
              <a:spcAft>
                <a:spcPts val="200"/>
              </a:spcAft>
            </a:pPr>
            <a:r>
              <a:rPr sz="1500" b="0">
                <a:solidFill>
                  <a:srgbClr val="21201C"/>
                </a:solidFill>
                <a:latin typeface="Calibri"/>
              </a:rPr>
              <a:t>25-34 year-olds in Singapore, and our secondary market is</a:t>
            </a:r>
          </a:p>
          <a:p>
            <a:pPr algn="l">
              <a:spcAft>
                <a:spcPts val="200"/>
              </a:spcAft>
            </a:pPr>
            <a:r>
              <a:rPr sz="1500" b="0">
                <a:solidFill>
                  <a:srgbClr val="21201C"/>
                </a:solidFill>
                <a:latin typeface="Calibri"/>
              </a:rPr>
              <a:t>Kuala Lumpur, launching 15 January 2027.</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Check the four answers, then find the new entry in the memory files.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course labs and open the Lab 01 data/brand-kit folder.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Claude desktop app, open Projects from the sidebar and click New project.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Name the project Lumo Cold Kopi Launch and paste Block 1 into the Goal field.</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Under Context, add the three brand-kit files, then click Create project.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Click the gear icon to open Project settings, choose Memory, and paste Block 2 into Project instructions. Save.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While you are in settings, open General and look at Models.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Back in the project, send Block 3 to the lead agent.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answers: S$3.90 per can, 5 g sugar, launch 1 December 2026.</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Memory and find the memory entry about the audience and Kuala Lumpur.</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Lumo Cold Kopi Launch project exists with the goal from Block 1, the three brand-kit files under Context and the Block 2 instructions saved. The lead agent restated the goal, listed all three context files, and quoted S$3.90 per can, 5 g sugar and a 1 December 2026 launch. A memory file now records the 25-34 audience and the 15 January 2027 Kuala Lumpur launch.</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RESEARCH IN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 Research in Four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Four subjects, none depending on another — so they can run at once.</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Competitors</a:t>
            </a:r>
          </a:p>
          <a:p>
            <a:pPr algn="l">
              <a:spcAft>
                <a:spcPts val="300"/>
              </a:spcAft>
            </a:pPr>
            <a:r>
              <a:rPr sz="1150" b="0">
                <a:solidFill>
                  <a:srgbClr val="6B6862"/>
                </a:solidFill>
                <a:latin typeface="Calibri"/>
              </a:rPr>
              <a:t>Six cold-brew brands: price, pack, positioning, and the gap Lumo can own.</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Customer survey</a:t>
            </a:r>
          </a:p>
          <a:p>
            <a:pPr algn="l">
              <a:spcAft>
                <a:spcPts val="300"/>
              </a:spcAft>
            </a:pPr>
            <a:r>
              <a:rPr sz="1150" b="0">
                <a:solidFill>
                  <a:srgbClr val="6B6862"/>
                </a:solidFill>
                <a:latin typeface="Calibri"/>
              </a:rPr>
              <a:t>400 respondents: who is likely to buy, why, and where they discover drinks.</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Pricing</a:t>
            </a:r>
          </a:p>
          <a:p>
            <a:pPr algn="l">
              <a:spcAft>
                <a:spcPts val="300"/>
              </a:spcAft>
            </a:pPr>
            <a:r>
              <a:rPr sz="1150" b="0">
                <a:solidFill>
                  <a:srgbClr val="6B6862"/>
                </a:solidFill>
                <a:latin typeface="Calibri"/>
              </a:rPr>
              <a:t>Where S$3.90 sits against the market, and what the survey says people will pay.</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trends</a:t>
            </a:r>
          </a:p>
          <a:p>
            <a:pPr algn="l">
              <a:spcAft>
                <a:spcPts val="300"/>
              </a:spcAft>
            </a:pPr>
            <a:r>
              <a:rPr sz="1150" b="0">
                <a:solidFill>
                  <a:srgbClr val="6B6862"/>
                </a:solidFill>
                <a:latin typeface="Calibri"/>
              </a:rPr>
              <a:t>Which content themes earn the most engagement in the category right now.</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Each thread gets one subject and its own data file. The lead agent merges the four findings into one research brief — and flags where they disagree.</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Hand a multi-subject research job to the lead agent and verify the merged brief</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Before anyone writes a post, the team needs to know the market. Four subjects need research — competitors, the customer survey, pricing and social trends — and none depends on another. You give the whole job to the lead agent in one message. It starts one thread per subject, each with its own data file, then merges the four findings into one research brief, which you check against the data.</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research brief (lumo-research-brief.docx) merged from four parallel threads, saved in the project.</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lead agent and threads, web search</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Research the market in four threads</a:t>
            </a:r>
          </a:p>
        </p:txBody>
      </p:sp>
      <p:sp>
        <p:nvSpPr>
          <p:cNvPr id="5" name="Rectangle 4"/>
          <p:cNvSpPr/>
          <p:nvPr/>
        </p:nvSpPr>
        <p:spPr>
          <a:xfrm>
            <a:off x="548640" y="1828800"/>
            <a:ext cx="11064240" cy="3368039"/>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368039"/>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682239"/>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Research the market for the Lumo Cold Kopi launch. The data is in</a:t>
            </a:r>
          </a:p>
          <a:p>
            <a:pPr algn="l">
              <a:spcAft>
                <a:spcPts val="200"/>
              </a:spcAft>
            </a:pPr>
            <a:r>
              <a:rPr sz="1200" b="0">
                <a:solidFill>
                  <a:srgbClr val="21201C"/>
                </a:solidFill>
                <a:latin typeface="Calibri"/>
              </a:rPr>
              <a:t>the three files I have attached. Split this into four threads,</a:t>
            </a:r>
          </a:p>
          <a:p>
            <a:pPr algn="l">
              <a:spcAft>
                <a:spcPts val="200"/>
              </a:spcAft>
            </a:pPr>
            <a:r>
              <a:rPr sz="1200" b="0">
                <a:solidFill>
                  <a:srgbClr val="21201C"/>
                </a:solidFill>
                <a:latin typeface="Calibri"/>
              </a:rPr>
              <a:t>one per subject, and run them in parallel:</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Thread 1 - COMPETITORS (lumo-competitors.csv): price per can, pack,</a:t>
            </a:r>
          </a:p>
          <a:p>
            <a:pPr algn="l">
              <a:spcAft>
                <a:spcPts val="200"/>
              </a:spcAft>
            </a:pPr>
            <a:r>
              <a:rPr sz="1200" b="0">
                <a:solidFill>
                  <a:srgbClr val="21201C"/>
                </a:solidFill>
                <a:latin typeface="Calibri"/>
              </a:rPr>
              <a:t>  positioning and channel for each brand. Where is the gap Lumo</a:t>
            </a:r>
          </a:p>
          <a:p>
            <a:pPr algn="l">
              <a:spcAft>
                <a:spcPts val="200"/>
              </a:spcAft>
            </a:pPr>
            <a:r>
              <a:rPr sz="1200" b="0">
                <a:solidFill>
                  <a:srgbClr val="21201C"/>
                </a:solidFill>
                <a:latin typeface="Calibri"/>
              </a:rPr>
              <a:t>  can own?</a:t>
            </a:r>
          </a:p>
          <a:p>
            <a:pPr algn="l">
              <a:spcAft>
                <a:spcPts val="200"/>
              </a:spcAft>
            </a:pPr>
            <a:r>
              <a:rPr sz="1200" b="0">
                <a:solidFill>
                  <a:srgbClr val="21201C"/>
                </a:solidFill>
                <a:latin typeface="Calibri"/>
              </a:rPr>
              <a:t>Thread 2 - CUSTOMERS (lumo-consumer-survey-2026.csv): share likely</a:t>
            </a:r>
          </a:p>
          <a:p>
            <a:pPr algn="l">
              <a:spcAft>
                <a:spcPts val="200"/>
              </a:spcAft>
            </a:pPr>
            <a:r>
              <a:rPr sz="1200" b="0">
                <a:solidFill>
                  <a:srgbClr val="21201C"/>
                </a:solidFill>
                <a:latin typeface="Calibri"/>
              </a:rPr>
              <a:t>  to buy (intent 4 or 5), split by age band and city; top purchase</a:t>
            </a:r>
          </a:p>
          <a:p>
            <a:pPr algn="l">
              <a:spcAft>
                <a:spcPts val="200"/>
              </a:spcAft>
            </a:pPr>
            <a:r>
              <a:rPr sz="1200" b="0">
                <a:solidFill>
                  <a:srgbClr val="21201C"/>
                </a:solidFill>
                <a:latin typeface="Calibri"/>
              </a:rPr>
              <a:t>  drivers; top discovery channels.</a:t>
            </a:r>
          </a:p>
        </p:txBody>
      </p:sp>
      <p:sp>
        <p:nvSpPr>
          <p:cNvPr id="9" name="TextBox 8"/>
          <p:cNvSpPr txBox="1"/>
          <p:nvPr/>
        </p:nvSpPr>
        <p:spPr>
          <a:xfrm>
            <a:off x="6286500" y="2359152"/>
            <a:ext cx="5006340" cy="2682239"/>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Thread 3 - PRICING: where S$3.90 sits against the competitor</a:t>
            </a:r>
          </a:p>
          <a:p>
            <a:pPr algn="l">
              <a:spcAft>
                <a:spcPts val="200"/>
              </a:spcAft>
            </a:pPr>
            <a:r>
              <a:rPr sz="1200" b="0">
                <a:solidFill>
                  <a:srgbClr val="21201C"/>
                </a:solidFill>
                <a:latin typeface="Calibri"/>
              </a:rPr>
              <a:t>  median, and the share of respondents willing to pay S$3.50 or</a:t>
            </a:r>
          </a:p>
          <a:p>
            <a:pPr algn="l">
              <a:spcAft>
                <a:spcPts val="200"/>
              </a:spcAft>
            </a:pPr>
            <a:r>
              <a:rPr sz="1200" b="0">
                <a:solidFill>
                  <a:srgbClr val="21201C"/>
                </a:solidFill>
                <a:latin typeface="Calibri"/>
              </a:rPr>
              <a:t>  more.</a:t>
            </a:r>
          </a:p>
          <a:p>
            <a:pPr algn="l">
              <a:spcAft>
                <a:spcPts val="200"/>
              </a:spcAft>
            </a:pPr>
            <a:r>
              <a:rPr sz="1200" b="0">
                <a:solidFill>
                  <a:srgbClr val="21201C"/>
                </a:solidFill>
                <a:latin typeface="Calibri"/>
              </a:rPr>
              <a:t>Thread 4 - SOCIAL TRENDS (lumo-social-trends.csv): the three content</a:t>
            </a:r>
          </a:p>
          <a:p>
            <a:pPr algn="l">
              <a:spcAft>
                <a:spcPts val="200"/>
              </a:spcAft>
            </a:pPr>
            <a:r>
              <a:rPr sz="1200" b="0">
                <a:solidFill>
                  <a:srgbClr val="21201C"/>
                </a:solidFill>
                <a:latin typeface="Calibri"/>
              </a:rPr>
              <a:t>  themes with the highest engagement, with one post idea each.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When all four threads are done, merge them into one research brief,</a:t>
            </a:r>
          </a:p>
          <a:p>
            <a:pPr algn="l">
              <a:spcAft>
                <a:spcPts val="200"/>
              </a:spcAft>
            </a:pPr>
            <a:r>
              <a:rPr sz="1200" b="0">
                <a:solidFill>
                  <a:srgbClr val="21201C"/>
                </a:solidFill>
                <a:latin typeface="Calibri"/>
              </a:rPr>
              <a:t>lumo-research-brief.docx: a one-paragraph summary, one section per</a:t>
            </a:r>
          </a:p>
          <a:p>
            <a:pPr algn="l">
              <a:spcAft>
                <a:spcPts val="200"/>
              </a:spcAft>
            </a:pPr>
            <a:r>
              <a:rPr sz="1200" b="0">
                <a:solidFill>
                  <a:srgbClr val="21201C"/>
                </a:solidFill>
                <a:latin typeface="Calibri"/>
              </a:rPr>
              <a:t>thread with the key numbers, and three recommendations for the</a:t>
            </a:r>
          </a:p>
          <a:p>
            <a:pPr algn="l">
              <a:spcAft>
                <a:spcPts val="200"/>
              </a:spcAft>
            </a:pPr>
            <a:r>
              <a:rPr sz="1200" b="0">
                <a:solidFill>
                  <a:srgbClr val="21201C"/>
                </a:solidFill>
                <a:latin typeface="Calibri"/>
              </a:rPr>
              <a:t>launch. Show your working for every percentage. Tell me which</a:t>
            </a:r>
          </a:p>
          <a:p>
            <a:pPr algn="l">
              <a:spcAft>
                <a:spcPts val="200"/>
              </a:spcAft>
            </a:pPr>
            <a:r>
              <a:rPr sz="1200" b="0">
                <a:solidFill>
                  <a:srgbClr val="21201C"/>
                </a:solidFill>
                <a:latin typeface="Calibri"/>
              </a:rPr>
              <a:t>thread produced each section, and flag anything the threads</a:t>
            </a:r>
          </a:p>
          <a:p>
            <a:pPr algn="l">
              <a:spcAft>
                <a:spcPts val="200"/>
              </a:spcAft>
            </a:pPr>
            <a:r>
              <a:rPr sz="1200" b="0">
                <a:solidFill>
                  <a:srgbClr val="21201C"/>
                </a:solidFill>
                <a:latin typeface="Calibri"/>
              </a:rPr>
              <a:t>disagree on.</a:t>
            </a:r>
          </a:p>
        </p:txBody>
      </p:sp>
      <p:sp>
        <p:nvSpPr>
          <p:cNvPr id="10" name="Rectangle 9"/>
          <p:cNvSpPr/>
          <p:nvPr/>
        </p:nvSpPr>
        <p:spPr>
          <a:xfrm>
            <a:off x="6080760" y="2395728"/>
            <a:ext cx="9144" cy="2590799"/>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471159"/>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three CSV files from the Lab 02 data folder, or add them to the project's Context first.</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02 data folder and glance at the three CSV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Lumo Cold Kopi Launch project, attach the three files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the lead agent announce the threads it starts.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one thread while it works and read its brief.</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brief arrives, check the survey numbers.</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channel and driver findings.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pricing section.</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trends section and the recommendations.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lumo-research-brief.docx and confirm each section names its thread.</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lumo-research-brief.docx has a summary, four thread sections and three recommendations. It reports 400 respondents, 248 likely to buy (62%), 112 of 152 aged 25-34 (74%), Instagram as the top discovery channel at 34%, Taste as the top driver at 31%, a competitor median of S$4.30 with Lumo's S$3.90 below it, 228 respondents (57%) willing to pay S$3.50 or more, and Taste tests and first-sip reactions as the top content theme.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place in the workspace.</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Can refresh from connected data when reopened.</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planner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an Artefact Can and Cannot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Artefacts run in a sandbox, so anything needing the internet has to come in another way.</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An artefact CAN</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Run interactive code — inputs, filters, charts.</a:t>
            </a:r>
          </a:p>
          <a:p>
            <a:pPr algn="l">
              <a:spcAft>
                <a:spcPts val="900"/>
              </a:spcAft>
            </a:pPr>
            <a:r>
              <a:rPr sz="1250" b="0">
                <a:solidFill>
                  <a:srgbClr val="21201C"/>
                </a:solidFill>
                <a:latin typeface="Calibri"/>
              </a:rPr>
              <a:t>•  Use data you gave it, or that Claude looked up while building.</a:t>
            </a:r>
          </a:p>
          <a:p>
            <a:pPr algn="l">
              <a:spcAft>
                <a:spcPts val="900"/>
              </a:spcAft>
            </a:pPr>
            <a:r>
              <a:rPr sz="1250" b="0">
                <a:solidFill>
                  <a:srgbClr val="21201C"/>
                </a:solidFill>
                <a:latin typeface="Calibri"/>
              </a:rPr>
              <a:t>•  Keep what you type into it between sessions.</a:t>
            </a:r>
          </a:p>
          <a:p>
            <a:pPr algn="l">
              <a:spcAft>
                <a:spcPts val="900"/>
              </a:spcAft>
            </a:pPr>
            <a:r>
              <a:rPr sz="1250" b="0">
                <a:solidFill>
                  <a:srgbClr val="21201C"/>
                </a:solidFill>
                <a:latin typeface="Calibri"/>
              </a:rPr>
              <a:t>•  Be saved, reopened and shared.</a:t>
            </a:r>
          </a:p>
          <a:p>
            <a:pPr algn="l">
              <a:spcAft>
                <a:spcPts val="900"/>
              </a:spcAft>
            </a:pPr>
            <a:r>
              <a:rPr sz="1250" b="0">
                <a:solidFill>
                  <a:srgbClr val="21201C"/>
                </a:solidFill>
                <a:latin typeface="Calibri"/>
              </a:rPr>
              <a:t>•  Be downloaded as a file you own.</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artefact CANNOT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Call an external API or website — the sandbox blocks it.</a:t>
            </a:r>
          </a:p>
          <a:p>
            <a:pPr algn="l">
              <a:spcAft>
                <a:spcPts val="900"/>
              </a:spcAft>
            </a:pPr>
            <a:r>
              <a:rPr sz="1250" b="0">
                <a:solidFill>
                  <a:srgbClr val="21201C"/>
                </a:solidFill>
                <a:latin typeface="Calibri"/>
              </a:rPr>
              <a:t>•  Load a script, font or image from another site.</a:t>
            </a:r>
          </a:p>
          <a:p>
            <a:pPr algn="l">
              <a:spcAft>
                <a:spcPts val="900"/>
              </a:spcAft>
            </a:pPr>
            <a:r>
              <a:rPr sz="1250" b="0">
                <a:solidFill>
                  <a:srgbClr val="21201C"/>
                </a:solidFill>
                <a:latin typeface="Calibri"/>
              </a:rPr>
              <a:t>•  Reach your local files or network.</a:t>
            </a:r>
          </a:p>
          <a:p>
            <a:pPr algn="l">
              <a:spcAft>
                <a:spcPts val="900"/>
              </a:spcAft>
            </a:pPr>
            <a:r>
              <a:rPr sz="1250" b="0">
                <a:solidFill>
                  <a:srgbClr val="21201C"/>
                </a:solidFill>
                <a:latin typeface="Calibri"/>
              </a:rPr>
              <a:t>•  Refresh third-party data on its own.</a:t>
            </a:r>
          </a:p>
          <a:p>
            <a:pPr algn="l">
              <a:spcAft>
                <a:spcPts val="900"/>
              </a:spcAft>
            </a:pPr>
            <a:r>
              <a:rPr sz="1250" b="0">
                <a:solidFill>
                  <a:srgbClr val="21201C"/>
                </a:solidFill>
                <a:latin typeface="Calibri"/>
              </a:rPr>
              <a:t>•  So: bake the data in, or download the HTML and run it yourself.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Turn research data into an interactive Live Artefact dashboard and save it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research brief is a document; the launch team wants something they can explore. You turn the survey and competitor data into a Live Artefact — KPI tiles, a channel chart, a price ladder and a city filter — refine it in plain English, save it and download a copy. The launch deck in Lab 5 quotes this dashboard's numbers.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Market Insights Live Artefact, plus a downloaded HTML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Live Artefacts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dashboard</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Using lumo-consumer-survey-2026.csv and lumo-competitors.csv, build</a:t>
            </a:r>
          </a:p>
          <a:p>
            <a:pPr algn="l">
              <a:spcAft>
                <a:spcPts val="200"/>
              </a:spcAft>
            </a:pPr>
            <a:r>
              <a:rPr sz="1200" b="0">
                <a:solidFill>
                  <a:srgbClr val="21201C"/>
                </a:solidFill>
                <a:latin typeface="Calibri"/>
              </a:rPr>
              <a:t>a Live Artefact: an interactive Market Insights dashboard for the</a:t>
            </a:r>
          </a:p>
          <a:p>
            <a:pPr algn="l">
              <a:spcAft>
                <a:spcPts val="200"/>
              </a:spcAft>
            </a:pPr>
            <a:r>
              <a:rPr sz="1200" b="0">
                <a:solidFill>
                  <a:srgbClr val="21201C"/>
                </a:solidFill>
                <a:latin typeface="Calibri"/>
              </a:rPr>
              <a:t>Lumo Cold Kopi launch.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Include:</a:t>
            </a:r>
          </a:p>
          <a:p>
            <a:pPr algn="l">
              <a:spcAft>
                <a:spcPts val="200"/>
              </a:spcAft>
            </a:pPr>
            <a:r>
              <a:rPr sz="1200" b="0">
                <a:solidFill>
                  <a:srgbClr val="21201C"/>
                </a:solidFill>
                <a:latin typeface="Calibri"/>
              </a:rPr>
              <a:t>- KPI tiles: respondents, % likely to buy (intent 4 or 5), top</a:t>
            </a:r>
          </a:p>
          <a:p>
            <a:pPr algn="l">
              <a:spcAft>
                <a:spcPts val="200"/>
              </a:spcAft>
            </a:pPr>
            <a:r>
              <a:rPr sz="1200" b="0">
                <a:solidFill>
                  <a:srgbClr val="21201C"/>
                </a:solidFill>
                <a:latin typeface="Calibri"/>
              </a:rPr>
              <a:t>  discovery channel, competitor median price.</a:t>
            </a:r>
          </a:p>
          <a:p>
            <a:pPr algn="l">
              <a:spcAft>
                <a:spcPts val="200"/>
              </a:spcAft>
            </a:pPr>
            <a:r>
              <a:rPr sz="1200" b="0">
                <a:solidFill>
                  <a:srgbClr val="21201C"/>
                </a:solidFill>
                <a:latin typeface="Calibri"/>
              </a:rPr>
              <a:t>- A bar chart of discovery channels.</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 A bar chart of purchase drivers.</a:t>
            </a:r>
          </a:p>
          <a:p>
            <a:pPr algn="l">
              <a:spcAft>
                <a:spcPts val="200"/>
              </a:spcAft>
            </a:pPr>
            <a:r>
              <a:rPr sz="1200" b="0">
                <a:solidFill>
                  <a:srgbClr val="21201C"/>
                </a:solidFill>
                <a:latin typeface="Calibri"/>
              </a:rPr>
              <a:t>- A price ladder: the six competitors and Lumo at S$3.90, cheapest</a:t>
            </a:r>
          </a:p>
          <a:p>
            <a:pPr algn="l">
              <a:spcAft>
                <a:spcPts val="200"/>
              </a:spcAft>
            </a:pPr>
            <a:r>
              <a:rPr sz="1200" b="0">
                <a:solidFill>
                  <a:srgbClr val="21201C"/>
                </a:solidFill>
                <a:latin typeface="Calibri"/>
              </a:rPr>
              <a:t>  to dearest, with Lumo highlighted.</a:t>
            </a:r>
          </a:p>
          <a:p>
            <a:pPr algn="l">
              <a:spcAft>
                <a:spcPts val="200"/>
              </a:spcAft>
            </a:pPr>
            <a:r>
              <a:rPr sz="1200" b="0">
                <a:solidFill>
                  <a:srgbClr val="21201C"/>
                </a:solidFill>
                <a:latin typeface="Calibri"/>
              </a:rPr>
              <a:t>- A filter for city: All, Singapore, Kuala Lumpur. The KPI tiles and</a:t>
            </a:r>
          </a:p>
          <a:p>
            <a:pPr algn="l">
              <a:spcAft>
                <a:spcPts val="200"/>
              </a:spcAft>
            </a:pPr>
            <a:r>
              <a:rPr sz="1200" b="0">
                <a:solidFill>
                  <a:srgbClr val="21201C"/>
                </a:solidFill>
                <a:latin typeface="Calibri"/>
              </a:rPr>
              <a:t>  both survey charts must follow the filter.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Bake the data into the artefact - do not fetch anything. Use the</a:t>
            </a:r>
          </a:p>
          <a:p>
            <a:pPr algn="l">
              <a:spcAft>
                <a:spcPts val="200"/>
              </a:spcAft>
            </a:pPr>
            <a:r>
              <a:rPr sz="1200" b="0">
                <a:solidFill>
                  <a:srgbClr val="21201C"/>
                </a:solidFill>
                <a:latin typeface="Calibri"/>
              </a:rPr>
              <a:t>Lumo brand colours from the brand guidelines. Title it</a:t>
            </a:r>
          </a:p>
          <a:p>
            <a:pPr algn="l">
              <a:spcAft>
                <a:spcPts val="200"/>
              </a:spcAft>
            </a:pPr>
            <a:r>
              <a:rPr sz="1200" b="0">
                <a:solidFill>
                  <a:srgbClr val="21201C"/>
                </a:solidFill>
                <a:latin typeface="Calibri"/>
              </a:rPr>
              <a:t>"Lumo Cold Kopi - Market Insights".</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Artefacts run in a sandbox and cannot call the internet, which is why the prompt says to bake the data in.</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 with the two CSV files attached or in Context.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with the filter on 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Switch the filter to Singapore, then Kuala Lumpur.</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price ladder.</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for example: Put the price ladder beside the channel chart.</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then download a copy as HTML.</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 Insights artefact shows 400 respondents, 62% likely to buy, Instagram as the top channel and a S$4.30 competitor median. The city filter changes the respondent count to 240 (Singapore) and 160 (Kuala Lumpur) and both survey charts follow it. The price ladder runs from S$3.20 to S$5.60 with Lumo highlighted at S$3.90. The artefact is saved and an HTML copy is downloaded.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 and Market Research</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create a Claude Project with a goal, instructions, context and memory.</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hand a multi-subject research job to the lead agent and verify the merged brief.</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research data into an interactive Live Artefact dashboard and save it.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Connectors, Skills and Plugins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 Drive and Gmail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Context window housekeeping</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Slides, Docs and built-in skills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 plugins and mods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Search and read mail, draft messages, send / reply / forward with approval, and manage labels.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Calendar</a:t>
            </a:r>
          </a:p>
          <a:p>
            <a:pPr algn="l">
              <a:spcAft>
                <a:spcPts val="300"/>
              </a:spcAft>
            </a:pPr>
            <a:r>
              <a:rPr sz="1150" b="0">
                <a:solidFill>
                  <a:srgbClr val="6B6862"/>
                </a:solidFill>
                <a:latin typeface="Calibri"/>
              </a:rPr>
              <a:t>View events, find availability, and create or update meetings.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and ads tools</a:t>
            </a:r>
          </a:p>
          <a:p>
            <a:pPr algn="l">
              <a:spcAft>
                <a:spcPts val="300"/>
              </a:spcAft>
            </a:pPr>
            <a:r>
              <a:rPr sz="1150" b="0">
                <a:solidFill>
                  <a:srgbClr val="6B6862"/>
                </a:solidFill>
                <a:latin typeface="Calibri"/>
              </a:rPr>
              <a:t>Where your workspace has them, connectors for scheduling and ad platforms reach the same way — always with approval.</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by default</a:t>
            </a:r>
          </a:p>
          <a:p>
            <a:pPr algn="l">
              <a:spcAft>
                <a:spcPts val="300"/>
              </a:spcAft>
            </a:pPr>
            <a:r>
              <a:rPr sz="1150" b="0">
                <a:solidFill>
                  <a:srgbClr val="6B6862"/>
                </a:solidFill>
                <a:latin typeface="Calibri"/>
              </a:rPr>
              <a:t>Claude asks for explicit approval before it sends, replies to or forwards an email.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manage them</a:t>
            </a:r>
          </a:p>
          <a:p>
            <a:pPr algn="l">
              <a:spcAft>
                <a:spcPts val="300"/>
              </a:spcAft>
            </a:pPr>
            <a:r>
              <a:rPr sz="1150" b="0">
                <a:solidFill>
                  <a:srgbClr val="6B6862"/>
                </a:solidFill>
                <a:latin typeface="Calibri"/>
              </a:rPr>
              <a:t>Individually from the + menu; account-wide under Customize → Connectors.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and Gmail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each on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 — including file read access.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thread.</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thread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Thread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This is why a project splits big jobs into threads: each thread gets a fresh window.</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job per thread, only the connectors you need, and only the files the job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Project context</a:t>
            </a:r>
          </a:p>
          <a:p>
            <a:pPr algn="l">
              <a:spcAft>
                <a:spcPts val="500"/>
              </a:spcAft>
            </a:pPr>
            <a:r>
              <a:rPr sz="1250" b="0">
                <a:solidFill>
                  <a:srgbClr val="6B6862"/>
                </a:solidFill>
                <a:latin typeface="Calibri"/>
              </a:rPr>
              <a:t>The files, folders and Drive folder the project reads from.</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 &amp; memory</a:t>
            </a:r>
          </a:p>
          <a:p>
            <a:pPr algn="l">
              <a:spcAft>
                <a:spcPts val="500"/>
              </a:spcAft>
            </a:pPr>
            <a:r>
              <a:rPr sz="1250" b="0">
                <a:solidFill>
                  <a:srgbClr val="6B6862"/>
                </a:solidFill>
                <a:latin typeface="Calibri"/>
              </a:rPr>
              <a:t>Project rules you wrote, and facts the project has learned.</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context in Lab 1, connectors in Lab 4, skills in Labs 5–7, and memory in Lab 10.</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In Claude Code, 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Connectors, Skills and Plugins</a:t>
            </a:r>
          </a:p>
        </p:txBody>
      </p:sp>
      <p:sp>
        <p:nvSpPr>
          <p:cNvPr id="5" name="Rectangle 4"/>
          <p:cNvSpPr/>
          <p:nvPr/>
        </p:nvSpPr>
        <p:spPr>
          <a:xfrm>
            <a:off x="548640"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Connectors</a:t>
            </a:r>
          </a:p>
          <a:p>
            <a:pPr algn="l">
              <a:spcAft>
                <a:spcPts val="300"/>
              </a:spcAft>
            </a:pPr>
            <a:r>
              <a:rPr sz="1150" b="0">
                <a:solidFill>
                  <a:srgbClr val="6B6862"/>
                </a:solidFill>
                <a:latin typeface="Calibri"/>
              </a:rPr>
              <a:t>Toggle Gmail, Drive and Calendar on from the + menu so Claude can reach data outside the chat.</a:t>
            </a:r>
          </a:p>
        </p:txBody>
      </p:sp>
      <p:sp>
        <p:nvSpPr>
          <p:cNvPr id="10" name="Rectangle 9"/>
          <p:cNvSpPr/>
          <p:nvPr/>
        </p:nvSpPr>
        <p:spPr>
          <a:xfrm>
            <a:off x="6163056"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folder</a:t>
            </a:r>
          </a:p>
          <a:p>
            <a:pPr algn="l">
              <a:spcAft>
                <a:spcPts val="300"/>
              </a:spcAft>
            </a:pPr>
            <a:r>
              <a:rPr sz="1150" b="0">
                <a:solidFill>
                  <a:srgbClr val="6B6862"/>
                </a:solidFill>
                <a:latin typeface="Calibri"/>
              </a:rPr>
              <a:t>Point Claude at one Drive folder for the task — not your whole Drive.</a:t>
            </a:r>
          </a:p>
        </p:txBody>
      </p:sp>
      <p:sp>
        <p:nvSpPr>
          <p:cNvPr id="15" name="Rectangle 14"/>
          <p:cNvSpPr/>
          <p:nvPr/>
        </p:nvSpPr>
        <p:spPr>
          <a:xfrm>
            <a:off x="548640"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to send</a:t>
            </a:r>
          </a:p>
          <a:p>
            <a:pPr algn="l">
              <a:spcAft>
                <a:spcPts val="300"/>
              </a:spcAft>
            </a:pPr>
            <a:r>
              <a:rPr sz="1150" b="0">
                <a:solidFill>
                  <a:srgbClr val="6B6862"/>
                </a:solidFill>
                <a:latin typeface="Calibri"/>
              </a:rPr>
              <a:t>Claude drafts, sends and replies in Gmail — sending asks for explicit approval by default.</a:t>
            </a:r>
          </a:p>
        </p:txBody>
      </p:sp>
      <p:sp>
        <p:nvSpPr>
          <p:cNvPr id="20" name="Rectangle 19"/>
          <p:cNvSpPr/>
          <p:nvPr/>
        </p:nvSpPr>
        <p:spPr>
          <a:xfrm>
            <a:off x="6163056"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 and Docs</a:t>
            </a:r>
          </a:p>
          <a:p>
            <a:pPr algn="l">
              <a:spcAft>
                <a:spcPts val="300"/>
              </a:spcAft>
            </a:pPr>
            <a:r>
              <a:rPr sz="1150" b="0">
                <a:solidFill>
                  <a:srgbClr val="6B6862"/>
                </a:solidFill>
                <a:latin typeface="Calibri"/>
              </a:rPr>
              <a:t>Claude's own deck and document formats: shareable, editable, and downloadable as PowerPoint, Word or PDF.</a:t>
            </a:r>
          </a:p>
        </p:txBody>
      </p:sp>
      <p:sp>
        <p:nvSpPr>
          <p:cNvPr id="25" name="Rectangle 24"/>
          <p:cNvSpPr/>
          <p:nvPr/>
        </p:nvSpPr>
        <p:spPr>
          <a:xfrm>
            <a:off x="548640"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Skills</a:t>
            </a:r>
          </a:p>
          <a:p>
            <a:pPr algn="l">
              <a:spcAft>
                <a:spcPts val="300"/>
              </a:spcAft>
            </a:pPr>
            <a:r>
              <a:rPr sz="1150" b="0">
                <a:solidFill>
                  <a:srgbClr val="6B6862"/>
                </a:solidFill>
                <a:latin typeface="Calibri"/>
              </a:rPr>
              <a:t>A folder of instructions Claude loads on demand, so a task runs the same way every time.</a:t>
            </a:r>
          </a:p>
        </p:txBody>
      </p:sp>
      <p:sp>
        <p:nvSpPr>
          <p:cNvPr id="30" name="Rectangle 29"/>
          <p:cNvSpPr/>
          <p:nvPr/>
        </p:nvSpPr>
        <p:spPr>
          <a:xfrm>
            <a:off x="6163056"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/skill-creator</a:t>
            </a:r>
          </a:p>
          <a:p>
            <a:pPr algn="l">
              <a:spcAft>
                <a:spcPts val="300"/>
              </a:spcAft>
            </a:pPr>
            <a:r>
              <a:rPr sz="1150" b="0">
                <a:solidFill>
                  <a:srgbClr val="6B6862"/>
                </a:solidFill>
                <a:latin typeface="Calibri"/>
              </a:rPr>
              <a:t>Do the task once, verify the output, then let skill-creator write the SKILL.md for you.</a:t>
            </a:r>
          </a:p>
        </p:txBody>
      </p:sp>
      <p:sp>
        <p:nvSpPr>
          <p:cNvPr id="35" name="Rectangle 34"/>
          <p:cNvSpPr/>
          <p:nvPr/>
        </p:nvSpPr>
        <p:spPr>
          <a:xfrm>
            <a:off x="548640"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Plugins</a:t>
            </a:r>
          </a:p>
          <a:p>
            <a:pPr algn="l">
              <a:spcAft>
                <a:spcPts val="300"/>
              </a:spcAft>
            </a:pPr>
            <a:r>
              <a:rPr sz="1150" b="0">
                <a:solidFill>
                  <a:srgbClr val="6B6862"/>
                </a:solidFill>
                <a:latin typeface="Calibri"/>
              </a:rPr>
              <a:t>A bundle somebody else packaged — several skills plus the tools they need, installed in one click.</a:t>
            </a:r>
          </a:p>
        </p:txBody>
      </p:sp>
      <p:sp>
        <p:nvSpPr>
          <p:cNvPr id="40" name="Rectangle 39"/>
          <p:cNvSpPr/>
          <p:nvPr/>
        </p:nvSpPr>
        <p:spPr>
          <a:xfrm>
            <a:off x="6163056"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Mods</a:t>
            </a:r>
          </a:p>
          <a:p>
            <a:pPr algn="l">
              <a:spcAft>
                <a:spcPts val="300"/>
              </a:spcAft>
            </a:pPr>
            <a:r>
              <a:rPr sz="1150" b="0">
                <a:solidFill>
                  <a:srgbClr val="6B6862"/>
                </a:solidFill>
                <a:latin typeface="Calibri"/>
              </a:rPr>
              <a:t>Changes to Claude's own interface or behaviour — a side panel, a status line, a slash command or a hook.</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Connect Google Drive and Gmail, read campaign files from Drive and send an approved summary</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budget and timeline live in a shared Google Drive folder, not on your laptop. You upload the Lab 04 data folder to Drive, connect the Google Drive and Gmail connectors, and have the project read the budget from Drive, reconcile it against the launch brief, save the research brief back to Drive, and email you an approved summary. The budget sheet and the brief disagree on two lines — the project should catch it.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Drive and Gmail connected, the research brief saved to Drive, and an approved launch summary emailed to yourself.</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Google Drive connector,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Reconcile the budget and send the summary</a:t>
            </a:r>
          </a:p>
        </p:txBody>
      </p:sp>
      <p:sp>
        <p:nvSpPr>
          <p:cNvPr id="5" name="Rectangle 4"/>
          <p:cNvSpPr/>
          <p:nvPr/>
        </p:nvSpPr>
        <p:spPr>
          <a:xfrm>
            <a:off x="548640" y="1828800"/>
            <a:ext cx="11064240" cy="28117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811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Google Drive, open the "Lumo Launch" folder.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Read lumo-launch-budget.csv and lumo-launch-timeline.csv.</a:t>
            </a:r>
          </a:p>
          <a:p>
            <a:pPr algn="l">
              <a:spcAft>
                <a:spcPts val="200"/>
              </a:spcAft>
            </a:pPr>
            <a:r>
              <a:rPr sz="1250" b="0">
                <a:solidFill>
                  <a:srgbClr val="21201C"/>
                </a:solidFill>
                <a:latin typeface="Calibri"/>
              </a:rPr>
              <a:t>2. Compare the budget sheet, line by line, with the budget in</a:t>
            </a:r>
          </a:p>
          <a:p>
            <a:pPr algn="l">
              <a:spcAft>
                <a:spcPts val="200"/>
              </a:spcAft>
            </a:pPr>
            <a:r>
              <a:rPr sz="1250" b="0">
                <a:solidFill>
                  <a:srgbClr val="21201C"/>
                </a:solidFill>
                <a:latin typeface="Calibri"/>
              </a:rPr>
              <a:t>   lumo-launch-brief.md from our project context. Show both in one</a:t>
            </a:r>
          </a:p>
          <a:p>
            <a:pPr algn="l">
              <a:spcAft>
                <a:spcPts val="200"/>
              </a:spcAft>
            </a:pPr>
            <a:r>
              <a:rPr sz="1250" b="0">
                <a:solidFill>
                  <a:srgbClr val="21201C"/>
                </a:solidFill>
                <a:latin typeface="Calibri"/>
              </a:rPr>
              <a:t>   table and flag every line where they disagree. Do not decide</a:t>
            </a:r>
          </a:p>
          <a:p>
            <a:pPr algn="l">
              <a:spcAft>
                <a:spcPts val="200"/>
              </a:spcAft>
            </a:pPr>
            <a:r>
              <a:rPr sz="1250" b="0">
                <a:solidFill>
                  <a:srgbClr val="21201C"/>
                </a:solidFill>
                <a:latin typeface="Calibri"/>
              </a:rPr>
              <a:t>   which is right.</a:t>
            </a:r>
          </a:p>
        </p:txBody>
      </p:sp>
      <p:sp>
        <p:nvSpPr>
          <p:cNvPr id="9" name="TextBox 8"/>
          <p:cNvSpPr txBox="1"/>
          <p:nvPr/>
        </p:nvSpPr>
        <p:spPr>
          <a:xfrm>
            <a:off x="628650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3. Upload lumo-research-brief.docx from Lab 2 into the same Drive</a:t>
            </a:r>
          </a:p>
          <a:p>
            <a:pPr algn="l">
              <a:spcAft>
                <a:spcPts val="200"/>
              </a:spcAft>
            </a:pPr>
            <a:r>
              <a:rPr sz="1250" b="0">
                <a:solidFill>
                  <a:srgbClr val="21201C"/>
                </a:solidFill>
                <a:latin typeface="Calibri"/>
              </a:rPr>
              <a:t>   folder.</a:t>
            </a:r>
          </a:p>
          <a:p>
            <a:pPr algn="l">
              <a:spcAft>
                <a:spcPts val="200"/>
              </a:spcAft>
            </a:pPr>
            <a:r>
              <a:rPr sz="1250" b="0">
                <a:solidFill>
                  <a:srgbClr val="21201C"/>
                </a:solidFill>
                <a:latin typeface="Calibri"/>
              </a:rPr>
              <a:t>4. Draft an email to &lt;YOUR EMAIL&gt; with the subject</a:t>
            </a:r>
          </a:p>
          <a:p>
            <a:pPr algn="l">
              <a:spcAft>
                <a:spcPts val="200"/>
              </a:spcAft>
            </a:pPr>
            <a:r>
              <a:rPr sz="1250" b="0">
                <a:solidFill>
                  <a:srgbClr val="21201C"/>
                </a:solidFill>
                <a:latin typeface="Calibri"/>
              </a:rPr>
              <a:t>   "Lumo launch - research and budget check": three bullet points</a:t>
            </a:r>
          </a:p>
          <a:p>
            <a:pPr algn="l">
              <a:spcAft>
                <a:spcPts val="200"/>
              </a:spcAft>
            </a:pPr>
            <a:r>
              <a:rPr sz="1250" b="0">
                <a:solidFill>
                  <a:srgbClr val="21201C"/>
                </a:solidFill>
                <a:latin typeface="Calibri"/>
              </a:rPr>
              <a:t>   from the research brief, the budget table with the disagreements</a:t>
            </a:r>
          </a:p>
          <a:p>
            <a:pPr algn="l">
              <a:spcAft>
                <a:spcPts val="200"/>
              </a:spcAft>
            </a:pPr>
            <a:r>
              <a:rPr sz="1250" b="0">
                <a:solidFill>
                  <a:srgbClr val="21201C"/>
                </a:solidFill>
                <a:latin typeface="Calibri"/>
              </a:rPr>
              <a:t>   flagged, the next milestone from the timeline, and a link to the</a:t>
            </a:r>
          </a:p>
          <a:p>
            <a:pPr algn="l">
              <a:spcAft>
                <a:spcPts val="200"/>
              </a:spcAft>
            </a:pPr>
            <a:r>
              <a:rPr sz="1250" b="0">
                <a:solidFill>
                  <a:srgbClr val="21201C"/>
                </a:solidFill>
                <a:latin typeface="Calibri"/>
              </a:rPr>
              <a:t>   brief in Drive.</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Show me the draft. Do not send it until I approve.</a:t>
            </a:r>
          </a:p>
        </p:txBody>
      </p:sp>
      <p:sp>
        <p:nvSpPr>
          <p:cNvPr id="10" name="Rectangle 9"/>
          <p:cNvSpPr/>
          <p:nvPr/>
        </p:nvSpPr>
        <p:spPr>
          <a:xfrm>
            <a:off x="6080760" y="2395728"/>
            <a:ext cx="9144" cy="20345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9149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with your own address. Send lab emails only to yourself.</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Upload the Lab 04 data/Lumo Launch folder to your Google Drive.</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click + → Connectors and switch on Google Drive and Gmail, signing in to Google.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the lab prompt with your own email address in place of &lt;YOUR EMAIL&gt;.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budget table Claude produces.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Claude flagged both lines instead of choosing one.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that lumo-research-brief.docx now sits in the Lumo Launch folder in Drive.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draft email in full, then approve it.</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your inbox and confirm the email arrived with the Drive link working.</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Google Drive and Gmail are connected. Claude read both CSV files from the Lumo Launch folder, showed a budget table totalling S$60,000 on both sides, and flagged Instagram (S$18,000 vs S$20,000) and Influencers (S$12,000 vs S$10,000) without choosing between them. lumo-research-brief.docx is in the Drive folder, and the approved summary email arrived in your own inbox with a working link.</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SLIDES AND DOCS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Slides, Docs and Built-in Skills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Claude's own formats for the things a launch meeting needs.</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a:t>
            </a:r>
          </a:p>
          <a:p>
            <a:pPr algn="l">
              <a:spcAft>
                <a:spcPts val="300"/>
              </a:spcAft>
            </a:pPr>
            <a:r>
              <a:rPr sz="1150" b="0">
                <a:solidFill>
                  <a:srgbClr val="6B6862"/>
                </a:solidFill>
                <a:latin typeface="Calibri"/>
              </a:rPr>
              <a:t>A deck Claude builds and you edit in place — download as PowerPoint or PDF for the meeting.</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Docs</a:t>
            </a:r>
          </a:p>
          <a:p>
            <a:pPr algn="l">
              <a:spcAft>
                <a:spcPts val="300"/>
              </a:spcAft>
            </a:pPr>
            <a:r>
              <a:rPr sz="1150" b="0">
                <a:solidFill>
                  <a:srgbClr val="6B6862"/>
                </a:solidFill>
                <a:latin typeface="Calibri"/>
              </a:rPr>
              <a:t>A living document — a campaign brief, a plan — that you and Claude edit and comment on together.</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Dashboards</a:t>
            </a:r>
          </a:p>
          <a:p>
            <a:pPr algn="l">
              <a:spcAft>
                <a:spcPts val="300"/>
              </a:spcAft>
            </a:pPr>
            <a:r>
              <a:rPr sz="1150" b="0">
                <a:solidFill>
                  <a:srgbClr val="6B6862"/>
                </a:solidFill>
                <a:latin typeface="Calibri"/>
              </a:rPr>
              <a:t>A page of live numbers — the Live Artefact you build in Lab 3 is one.</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Built-in skills</a:t>
            </a:r>
          </a:p>
          <a:p>
            <a:pPr algn="l">
              <a:spcAft>
                <a:spcPts val="300"/>
              </a:spcAft>
            </a:pPr>
            <a:r>
              <a:rPr sz="1150" b="0">
                <a:solidFill>
                  <a:srgbClr val="6B6862"/>
                </a:solidFill>
                <a:latin typeface="Calibri"/>
              </a:rPr>
              <a:t>Claude's pptx, docx and xlsx skills load on their own when your request needs a file.</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never name the skill. Ask for a deck or a document; Claude picks the format and the skill that builds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Produce a launch deck in Slides and a campaign brief in Docs from the project's research</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team meets on Friday and needs two things: a short deck for the room and a campaign brief everyone can work from. You ask the project for both. Claude builds the deck in Slides and the brief in Docs, choosing its built-in skills on its own, using the numbers from your research and dashboard. You check every figure, then download the deck as PowerPoint.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eight-slide launch deck in Slides (downloaded as .pptx) and a campaign brief in Docs.</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Slides, Docs, built-in skills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launch deck and campaign brief</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our research brief, the Market Insights dashboard and the</a:t>
            </a:r>
          </a:p>
          <a:p>
            <a:pPr algn="l">
              <a:spcAft>
                <a:spcPts val="200"/>
              </a:spcAft>
            </a:pPr>
            <a:r>
              <a:rPr sz="1250" b="0">
                <a:solidFill>
                  <a:srgbClr val="21201C"/>
                </a:solidFill>
                <a:latin typeface="Calibri"/>
              </a:rPr>
              <a:t>brand kit, create two things for Friday's launch meeting.</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A launch deck in Slides, eight slides:</a:t>
            </a:r>
          </a:p>
          <a:p>
            <a:pPr algn="l">
              <a:spcAft>
                <a:spcPts val="200"/>
              </a:spcAft>
            </a:pPr>
            <a:r>
              <a:rPr sz="1250" b="0">
                <a:solidFill>
                  <a:srgbClr val="21201C"/>
                </a:solidFill>
                <a:latin typeface="Calibri"/>
              </a:rPr>
              <a:t>   1 Title - Lumo Cold Kopi: Kopi, Chilled Right</a:t>
            </a:r>
          </a:p>
          <a:p>
            <a:pPr algn="l">
              <a:spcAft>
                <a:spcPts val="200"/>
              </a:spcAft>
            </a:pPr>
            <a:r>
              <a:rPr sz="1250" b="0">
                <a:solidFill>
                  <a:srgbClr val="21201C"/>
                </a:solidFill>
                <a:latin typeface="Calibri"/>
              </a:rPr>
              <a:t>   2 The opportunity - the three survey numbers that matter most</a:t>
            </a:r>
          </a:p>
          <a:p>
            <a:pPr algn="l">
              <a:spcAft>
                <a:spcPts val="200"/>
              </a:spcAft>
            </a:pPr>
            <a:r>
              <a:rPr sz="1250" b="0">
                <a:solidFill>
                  <a:srgbClr val="21201C"/>
                </a:solidFill>
                <a:latin typeface="Calibri"/>
              </a:rPr>
              <a:t>   3 Who we are for - 25-34s in Singapore, with the evidence</a:t>
            </a:r>
          </a:p>
          <a:p>
            <a:pPr algn="l">
              <a:spcAft>
                <a:spcPts val="200"/>
              </a:spcAft>
            </a:pPr>
            <a:r>
              <a:rPr sz="1250" b="0">
                <a:solidFill>
                  <a:srgbClr val="21201C"/>
                </a:solidFill>
                <a:latin typeface="Calibri"/>
              </a:rPr>
              <a:t>   4 Competitors - a price ladder chart with Lumo highlighted</a:t>
            </a:r>
          </a:p>
          <a:p>
            <a:pPr algn="l">
              <a:spcAft>
                <a:spcPts val="200"/>
              </a:spcAft>
            </a:pPr>
            <a:r>
              <a:rPr sz="1250" b="0">
                <a:solidFill>
                  <a:srgbClr val="21201C"/>
                </a:solidFill>
                <a:latin typeface="Calibri"/>
              </a:rPr>
              <a:t>   5 Where they find us - a discovery channel chart</a:t>
            </a:r>
          </a:p>
          <a:p>
            <a:pPr algn="l">
              <a:spcAft>
                <a:spcPts val="200"/>
              </a:spcAft>
            </a:pPr>
            <a:r>
              <a:rPr sz="1250" b="0">
                <a:solidFill>
                  <a:srgbClr val="21201C"/>
                </a:solidFill>
                <a:latin typeface="Calibri"/>
              </a:rPr>
              <a:t>   6 The campaign - message, channels and dates</a:t>
            </a:r>
          </a:p>
          <a:p>
            <a:pPr algn="l">
              <a:spcAft>
                <a:spcPts val="200"/>
              </a:spcAft>
            </a:pPr>
            <a:r>
              <a:rPr sz="1250" b="0">
                <a:solidFill>
                  <a:srgbClr val="21201C"/>
                </a:solidFill>
                <a:latin typeface="Calibri"/>
              </a:rPr>
              <a:t>   7 Budget - the S$60,000 split, noting the two open questions</a:t>
            </a:r>
          </a:p>
          <a:p>
            <a:pPr algn="l">
              <a:spcAft>
                <a:spcPts val="200"/>
              </a:spcAft>
            </a:pPr>
            <a:r>
              <a:rPr sz="1250" b="0">
                <a:solidFill>
                  <a:srgbClr val="21201C"/>
                </a:solidFill>
                <a:latin typeface="Calibri"/>
              </a:rPr>
              <a:t>   8 Next steps and owners</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Use the Lumo brand colours. Real charts, not pictures of charts.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2. A campaign brief in Docs: objective, audience, key message,</a:t>
            </a:r>
          </a:p>
          <a:p>
            <a:pPr algn="l">
              <a:spcAft>
                <a:spcPts val="200"/>
              </a:spcAft>
            </a:pPr>
            <a:r>
              <a:rPr sz="1250" b="0">
                <a:solidFill>
                  <a:srgbClr val="21201C"/>
                </a:solidFill>
                <a:latin typeface="Calibri"/>
              </a:rPr>
              <a:t>   proof points, channels, budget, timeline, KPIs, and a "claims</a:t>
            </a:r>
          </a:p>
          <a:p>
            <a:pPr algn="l">
              <a:spcAft>
                <a:spcPts val="200"/>
              </a:spcAft>
            </a:pPr>
            <a:r>
              <a:rPr sz="1250" b="0">
                <a:solidFill>
                  <a:srgbClr val="21201C"/>
                </a:solidFill>
                <a:latin typeface="Calibri"/>
              </a:rPr>
              <a:t>   we must not make" section.</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number must come from the research brief or the dashboard.</a:t>
            </a:r>
          </a:p>
          <a:p>
            <a:pPr algn="l">
              <a:spcAft>
                <a:spcPts val="200"/>
              </a:spcAft>
            </a:pPr>
            <a:r>
              <a:rPr sz="1250" b="0">
                <a:solidFill>
                  <a:srgbClr val="21201C"/>
                </a:solidFill>
                <a:latin typeface="Calibri"/>
              </a:rPr>
              <a:t>List the source of each number at the end of the brief.</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do not name a skill. Ask for a deck and a document; Claude picks the format and the built-in skill.</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deck when it appears and page through all eight slides.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2 and slide 4 against your research.</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7.</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campaign brief in Docs and read the "claims we must not make" section.</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to each, for example: Shorten slide 6 to three bullets.</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deck as PowerPoint and open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deck has eight slides in the Lumo colours, with real charts for the price ladder and the discovery channels, the survey figures 62%, 74% and 34%, and a budget slide that shows S$60,000 with the Instagram and Influencers lines marked as open questions. The campaign brief in Docs has all nine sections, including "claims we must not make", and lists a source for every number. The deck opens in PowerPoint with its charts intact.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examples.</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lumo-brand-voice.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tone rules, words to avoid, hashtag rules, the checks to run.</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examples of on-brand and off-brand posts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Refine it later and save over it — Claude confirms before replacing.</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Pasting the brand guide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voice again in every chat.</a:t>
            </a:r>
          </a:p>
          <a:p>
            <a:pPr algn="l">
              <a:spcAft>
                <a:spcPts val="900"/>
              </a:spcAft>
            </a:pPr>
            <a:r>
              <a:rPr sz="1250" b="0">
                <a:solidFill>
                  <a:srgbClr val="21201C"/>
                </a:solidFill>
                <a:latin typeface="Calibri"/>
              </a:rPr>
              <a:t>•  Easy to forget a rule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Four channels drift into four voices.</a:t>
            </a:r>
          </a:p>
          <a:p>
            <a:pPr algn="l">
              <a:spcAft>
                <a:spcPts val="900"/>
              </a:spcAft>
            </a:pPr>
            <a:r>
              <a:rPr sz="1250" b="0">
                <a:solidFill>
                  <a:srgbClr val="21201C"/>
                </a:solidFill>
                <a:latin typeface="Calibri"/>
              </a:rPr>
              <a:t>•  Nothing to hand to a new joiner or agency.</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brand-voice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loaded by name.</a:t>
            </a:r>
          </a:p>
          <a:p>
            <a:pPr algn="l">
              <a:spcAft>
                <a:spcPts val="900"/>
              </a:spcAft>
            </a:pPr>
            <a:r>
              <a:rPr sz="1250" b="0">
                <a:solidFill>
                  <a:srgbClr val="21201C"/>
                </a:solidFill>
                <a:latin typeface="Calibri"/>
              </a:rPr>
              <a:t>•  Claude applies every rule, every time.</a:t>
            </a:r>
          </a:p>
          <a:p>
            <a:pPr algn="l">
              <a:spcAft>
                <a:spcPts val="900"/>
              </a:spcAft>
            </a:pPr>
            <a:r>
              <a:rPr sz="1250" b="0">
                <a:solidFill>
                  <a:srgbClr val="21201C"/>
                </a:solidFill>
                <a:latin typeface="Calibri"/>
              </a:rPr>
              <a:t>•  Every thread in the project shares it.</a:t>
            </a:r>
          </a:p>
          <a:p>
            <a:pPr algn="l">
              <a:spcAft>
                <a:spcPts val="900"/>
              </a:spcAft>
            </a:pPr>
            <a:r>
              <a:rPr sz="1250" b="0">
                <a:solidFill>
                  <a:srgbClr val="21201C"/>
                </a:solidFill>
                <a:latin typeface="Calibri"/>
              </a:rPr>
              <a:t>•  Instagram and LinkedIn still sound like one brand.</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use — Drive, Gmail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returns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checks built in</a:t>
            </a:r>
          </a:p>
          <a:p>
            <a:pPr algn="l">
              <a:spcAft>
                <a:spcPts val="300"/>
              </a:spcAft>
            </a:pPr>
            <a:r>
              <a:rPr sz="1150" b="0">
                <a:solidFill>
                  <a:srgbClr val="6B6862"/>
                </a:solidFill>
                <a:latin typeface="Calibri"/>
              </a:rPr>
              <a:t>It checks claims, prices and hashtags before it hands the post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publishing anything still needs you.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Rewrite content in the brand voice, verify it, and save the routine as a skill with /skill-creator</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Four channels and two weeks of posts are coming, and they all have to sound like Lumo. You rewrite five off-brand captions with Claude until they are right, then use /skill-creator to turn that verified routine into a lumo-brand-voice skill. From then on, every thread in the project — and every colleague — loads the same voice by name.</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lumo-brand-voice Agent Skill, tested on a new caption.</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Agent Skills, /skill-creator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400" b="0">
                <a:solidFill>
                  <a:srgbClr val="21201C"/>
                </a:solidFill>
                <a:latin typeface="Calibri"/>
              </a:rPr>
              <a:t>Rewrite the five captions in the attached file in the Lumo</a:t>
            </a:r>
          </a:p>
          <a:p>
            <a:pPr algn="l">
              <a:spcAft>
                <a:spcPts val="200"/>
              </a:spcAft>
            </a:pPr>
            <a:r>
              <a:rPr sz="1400" b="0">
                <a:solidFill>
                  <a:srgbClr val="21201C"/>
                </a:solidFill>
                <a:latin typeface="Calibri"/>
              </a:rPr>
              <a:t>brand voice, following lumo-brand-guidelines.md.</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For each caption, show:</a:t>
            </a:r>
          </a:p>
          <a:p>
            <a:pPr algn="l">
              <a:spcAft>
                <a:spcPts val="200"/>
              </a:spcAft>
            </a:pPr>
            <a:r>
              <a:rPr sz="1400" b="0">
                <a:solidFill>
                  <a:srgbClr val="21201C"/>
                </a:solidFill>
                <a:latin typeface="Calibri"/>
              </a:rPr>
              <a:t>- the original</a:t>
            </a:r>
          </a:p>
          <a:p>
            <a:pPr algn="l">
              <a:spcAft>
                <a:spcPts val="200"/>
              </a:spcAft>
            </a:pPr>
            <a:r>
              <a:rPr sz="1400" b="0">
                <a:solidFill>
                  <a:srgbClr val="21201C"/>
                </a:solidFill>
                <a:latin typeface="Calibri"/>
              </a:rPr>
              <a:t>- your rewrite</a:t>
            </a:r>
          </a:p>
          <a:p>
            <a:pPr algn="l">
              <a:spcAft>
                <a:spcPts val="200"/>
              </a:spcAft>
            </a:pPr>
            <a:r>
              <a:rPr sz="1400" b="0">
                <a:solidFill>
                  <a:srgbClr val="21201C"/>
                </a:solidFill>
                <a:latin typeface="Calibri"/>
              </a:rPr>
              <a:t>- every rule you applied, by name</a:t>
            </a:r>
          </a:p>
          <a:p>
            <a:pPr algn="l">
              <a:spcAft>
                <a:spcPts val="200"/>
              </a:spcAft>
            </a:pPr>
            <a:r>
              <a:rPr sz="1400" b="0">
                <a:solidFill>
                  <a:srgbClr val="21201C"/>
                </a:solidFill>
                <a:latin typeface="Calibri"/>
              </a:rPr>
              <a:t>- any claim you removed, and why</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Then run these checks on each rewrite and show the result:</a:t>
            </a:r>
          </a:p>
          <a:p>
            <a:pPr algn="l">
              <a:spcAft>
                <a:spcPts val="200"/>
              </a:spcAft>
            </a:pPr>
            <a:r>
              <a:rPr sz="1400" b="0">
                <a:solidFill>
                  <a:srgbClr val="21201C"/>
                </a:solidFill>
                <a:latin typeface="Calibri"/>
              </a:rPr>
              <a:t>price written as S$3.90; no "healthy" or medical claims; at</a:t>
            </a:r>
          </a:p>
          <a:p>
            <a:pPr algn="l">
              <a:spcAft>
                <a:spcPts val="200"/>
              </a:spcAft>
            </a:pPr>
            <a:r>
              <a:rPr sz="1400" b="0">
                <a:solidFill>
                  <a:srgbClr val="21201C"/>
                </a:solidFill>
                <a:latin typeface="Calibri"/>
              </a:rPr>
              <a:t>most one Singlish word; #LumoKopi present; no more than five</a:t>
            </a:r>
          </a:p>
          <a:p>
            <a:pPr algn="l">
              <a:spcAft>
                <a:spcPts val="200"/>
              </a:spcAft>
            </a:pPr>
            <a:r>
              <a:rPr sz="1400" b="0">
                <a:solidFill>
                  <a:srgbClr val="21201C"/>
                </a:solidFill>
                <a:latin typeface="Calibri"/>
              </a:rPr>
              <a:t>hashtags; ends with one clear call to action.</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Stop here. Refine the rewrites until they are right before you save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Create a skill called lumo-brand-voice from what we just did.</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Description: Use when writing or reviewing any customer-facing</a:t>
            </a:r>
          </a:p>
          <a:p>
            <a:pPr algn="l">
              <a:spcAft>
                <a:spcPts val="200"/>
              </a:spcAft>
            </a:pPr>
            <a:r>
              <a:rPr sz="1500" b="0">
                <a:solidFill>
                  <a:srgbClr val="21201C"/>
                </a:solidFill>
                <a:latin typeface="Calibri"/>
              </a:rPr>
              <a:t>Lumo Kopi content - social posts, captions, emails, video</a:t>
            </a:r>
          </a:p>
          <a:p>
            <a:pPr algn="l">
              <a:spcAft>
                <a:spcPts val="200"/>
              </a:spcAft>
            </a:pPr>
            <a:r>
              <a:rPr sz="1500" b="0">
                <a:solidFill>
                  <a:srgbClr val="21201C"/>
                </a:solidFill>
                <a:latin typeface="Calibri"/>
              </a:rPr>
              <a:t>scripts or ads.</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It should rewrite or draft content in the Lumo voice, apply the</a:t>
            </a:r>
          </a:p>
          <a:p>
            <a:pPr algn="l">
              <a:spcAft>
                <a:spcPts val="200"/>
              </a:spcAft>
            </a:pPr>
            <a:r>
              <a:rPr sz="1500" b="0">
                <a:solidFill>
                  <a:srgbClr val="21201C"/>
                </a:solidFill>
                <a:latin typeface="Calibri"/>
              </a:rPr>
              <a:t>brand rules, remove claims we cannot prove, and finish with the</a:t>
            </a:r>
          </a:p>
          <a:p>
            <a:pPr algn="l">
              <a:spcAft>
                <a:spcPts val="200"/>
              </a:spcAft>
            </a:pPr>
            <a:r>
              <a:rPr sz="1500" b="0">
                <a:solidFill>
                  <a:srgbClr val="21201C"/>
                </a:solidFill>
                <a:latin typeface="Calibri"/>
              </a:rPr>
              <a:t>same checklist of checks we used. Include two of today's</a:t>
            </a:r>
          </a:p>
          <a:p>
            <a:pPr algn="l">
              <a:spcAft>
                <a:spcPts val="200"/>
              </a:spcAft>
            </a:pPr>
            <a:r>
              <a:rPr sz="1500" b="0">
                <a:solidFill>
                  <a:srgbClr val="21201C"/>
                </a:solidFill>
                <a:latin typeface="Calibri"/>
              </a:rPr>
              <a:t>before-and-after examples as a resource.</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Type /skill-creator first, then paste the block.</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TEST</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Use lumo-brand-voice to write an Instagram caption announcing</a:t>
            </a:r>
          </a:p>
          <a:p>
            <a:pPr algn="l">
              <a:spcAft>
                <a:spcPts val="200"/>
              </a:spcAft>
            </a:pPr>
            <a:r>
              <a:rPr sz="1500" b="0">
                <a:solidFill>
                  <a:srgbClr val="21201C"/>
                </a:solidFill>
                <a:latin typeface="Calibri"/>
              </a:rPr>
              <a:t>that Lumo Cold Kopi 12-packs are available on Shopee from</a:t>
            </a:r>
          </a:p>
          <a:p>
            <a:pPr algn="l">
              <a:spcAft>
                <a:spcPts val="200"/>
              </a:spcAft>
            </a:pPr>
            <a:r>
              <a:rPr sz="1500" b="0">
                <a:solidFill>
                  <a:srgbClr val="21201C"/>
                </a:solidFill>
                <a:latin typeface="Calibri"/>
              </a:rPr>
              <a:t>1 December. It's super healthy and the best kopi in Singapore!</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Both claims in this prompt are traps — the skill must remove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lumo-sample-captions.txt and read the five captions.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file and send Block 1.</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each rewrite against the brand guidelines and refine until all five are right.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/skill-creator in the composer, then paste Block 2 and send.</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 Claude proposes, especially its description, and approve it.</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Skills and find lumo-brand-voice.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thread and send Block 3.</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caption: no "healthy", no "best kopi in Singapore", S$ prices, #LumoKopi present.</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lumo-brand-voice appears under Customize → Skills with a description that says when to use it. In a fresh thread, Block 3 loaded the skill without being asked to find it, and the caption it returned drops "healthy" and "best kopi in Singapore", includes #LumoKopi, uses at most five hashtags and ends with one call to action, followed by the checklist results.</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install the Marketing plugin and you get every skill, command and tool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Mods: Changing Claude Itself</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What a mod is</a:t>
            </a:r>
          </a:p>
          <a:p>
            <a:pPr algn="l">
              <a:spcAft>
                <a:spcPts val="300"/>
              </a:spcAft>
            </a:pPr>
            <a:r>
              <a:rPr sz="1150" b="0">
                <a:solidFill>
                  <a:srgbClr val="6B6862"/>
                </a:solidFill>
                <a:latin typeface="Calibri"/>
              </a:rPr>
              <a:t>A change to Claude's own interface or behaviour, rather than to the work it does.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panel or pane</a:t>
            </a:r>
          </a:p>
          <a:p>
            <a:pPr algn="l">
              <a:spcAft>
                <a:spcPts val="300"/>
              </a:spcAft>
            </a:pPr>
            <a:r>
              <a:rPr sz="1150" b="0">
                <a:solidFill>
                  <a:srgbClr val="6B6862"/>
                </a:solidFill>
                <a:latin typeface="Calibri"/>
              </a:rPr>
              <a:t>Something that stays beside the chat and updates — a running checklist, a campaign tracker.</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status line or toast</a:t>
            </a:r>
          </a:p>
          <a:p>
            <a:pPr algn="l">
              <a:spcAft>
                <a:spcPts val="300"/>
              </a:spcAft>
            </a:pPr>
            <a:r>
              <a:rPr sz="1150" b="0">
                <a:solidFill>
                  <a:srgbClr val="6B6862"/>
                </a:solidFill>
                <a:latin typeface="Calibri"/>
              </a:rPr>
              <a:t>A small always-visible signal, such as the active project or remaining usage.</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slash command</a:t>
            </a:r>
          </a:p>
          <a:p>
            <a:pPr algn="l">
              <a:spcAft>
                <a:spcPts val="300"/>
              </a:spcAft>
            </a:pPr>
            <a:r>
              <a:rPr sz="1150" b="0">
                <a:solidFill>
                  <a:srgbClr val="6B6862"/>
                </a:solidFill>
                <a:latin typeface="Calibri"/>
              </a:rPr>
              <a:t>Your own /command that starts a routine you use often.</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hook</a:t>
            </a:r>
          </a:p>
          <a:p>
            <a:pPr algn="l">
              <a:spcAft>
                <a:spcPts val="300"/>
              </a:spcAft>
            </a:pPr>
            <a:r>
              <a:rPr sz="1150" b="0">
                <a:solidFill>
                  <a:srgbClr val="6B6862"/>
                </a:solidFill>
                <a:latin typeface="Calibri"/>
              </a:rPr>
              <a:t>An action that runs automatically on an event — for example, before Claude sends anything.</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find them</a:t>
            </a:r>
          </a:p>
          <a:p>
            <a:pPr algn="l">
              <a:spcAft>
                <a:spcPts val="300"/>
              </a:spcAft>
            </a:pPr>
            <a:r>
              <a:rPr sz="1150" b="0">
                <a:solidFill>
                  <a:srgbClr val="6B6862"/>
                </a:solidFill>
                <a:latin typeface="Calibri"/>
              </a:rPr>
              <a:t>Under Customize, alongside Skills, Connectors and Plugins. Ask Claude to make one for you.</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 AND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 Plugin or Mod?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Three ways to extend Claude — and which one you reach for.</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Skill</a:t>
            </a:r>
          </a:p>
        </p:txBody>
      </p:sp>
      <p:sp>
        <p:nvSpPr>
          <p:cNvPr id="8" name="TextBox 7"/>
          <p:cNvSpPr txBox="1"/>
          <p:nvPr/>
        </p:nvSpPr>
        <p:spPr>
          <a:xfrm>
            <a:off x="5823284" y="2194560"/>
            <a:ext cx="227733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Plugin</a:t>
            </a:r>
          </a:p>
        </p:txBody>
      </p:sp>
      <p:sp>
        <p:nvSpPr>
          <p:cNvPr id="9" name="TextBox 8"/>
          <p:cNvSpPr txBox="1"/>
          <p:nvPr/>
        </p:nvSpPr>
        <p:spPr>
          <a:xfrm>
            <a:off x="8329221" y="2194560"/>
            <a:ext cx="300933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Mod</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Changes</a:t>
            </a:r>
          </a:p>
        </p:txBody>
      </p:sp>
      <p:sp>
        <p:nvSpPr>
          <p:cNvPr id="12" name="TextBox 11"/>
          <p:cNvSpPr txBox="1"/>
          <p:nvPr/>
        </p:nvSpPr>
        <p:spPr>
          <a:xfrm>
            <a:off x="3154680" y="2651760"/>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How a task is done</a:t>
            </a:r>
          </a:p>
        </p:txBody>
      </p:sp>
      <p:sp>
        <p:nvSpPr>
          <p:cNvPr id="13" name="TextBox 12"/>
          <p:cNvSpPr txBox="1"/>
          <p:nvPr/>
        </p:nvSpPr>
        <p:spPr>
          <a:xfrm>
            <a:off x="5823284" y="2651760"/>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whole toolkit</a:t>
            </a:r>
          </a:p>
        </p:txBody>
      </p:sp>
      <p:sp>
        <p:nvSpPr>
          <p:cNvPr id="14" name="TextBox 13"/>
          <p:cNvSpPr txBox="1"/>
          <p:nvPr/>
        </p:nvSpPr>
        <p:spPr>
          <a:xfrm>
            <a:off x="8329221" y="2651760"/>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Claude's own interface</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Contains</a:t>
            </a:r>
          </a:p>
        </p:txBody>
      </p:sp>
      <p:sp>
        <p:nvSpPr>
          <p:cNvPr id="17" name="TextBox 16"/>
          <p:cNvSpPr txBox="1"/>
          <p:nvPr/>
        </p:nvSpPr>
        <p:spPr>
          <a:xfrm>
            <a:off x="3154680" y="3387852"/>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SKILL.md + resources</a:t>
            </a:r>
          </a:p>
        </p:txBody>
      </p:sp>
      <p:sp>
        <p:nvSpPr>
          <p:cNvPr id="18" name="TextBox 17"/>
          <p:cNvSpPr txBox="1"/>
          <p:nvPr/>
        </p:nvSpPr>
        <p:spPr>
          <a:xfrm>
            <a:off x="5823284" y="3387852"/>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 tools, agents, hooks</a:t>
            </a:r>
          </a:p>
        </p:txBody>
      </p:sp>
      <p:sp>
        <p:nvSpPr>
          <p:cNvPr id="19" name="TextBox 18"/>
          <p:cNvSpPr txBox="1"/>
          <p:nvPr/>
        </p:nvSpPr>
        <p:spPr>
          <a:xfrm>
            <a:off x="8329221" y="3387852"/>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panel, command, hook or status line</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You get it by</a:t>
            </a:r>
          </a:p>
        </p:txBody>
      </p:sp>
      <p:sp>
        <p:nvSpPr>
          <p:cNvPr id="22" name="TextBox 21"/>
          <p:cNvSpPr txBox="1"/>
          <p:nvPr/>
        </p:nvSpPr>
        <p:spPr>
          <a:xfrm>
            <a:off x="3154680" y="4123944"/>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Writing it with /skill-creator</a:t>
            </a:r>
          </a:p>
        </p:txBody>
      </p:sp>
      <p:sp>
        <p:nvSpPr>
          <p:cNvPr id="23" name="TextBox 22"/>
          <p:cNvSpPr txBox="1"/>
          <p:nvPr/>
        </p:nvSpPr>
        <p:spPr>
          <a:xfrm>
            <a:off x="5823284" y="4123944"/>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Installing from Discover</a:t>
            </a:r>
          </a:p>
        </p:txBody>
      </p:sp>
      <p:sp>
        <p:nvSpPr>
          <p:cNvPr id="24" name="TextBox 23"/>
          <p:cNvSpPr txBox="1"/>
          <p:nvPr/>
        </p:nvSpPr>
        <p:spPr>
          <a:xfrm>
            <a:off x="8329221" y="4123944"/>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Asking Claude to make one</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60036"/>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7" name="TextBox 26"/>
          <p:cNvSpPr txBox="1"/>
          <p:nvPr/>
        </p:nvSpPr>
        <p:spPr>
          <a:xfrm>
            <a:off x="3154680" y="4860036"/>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lumo-brand-voice</a:t>
            </a:r>
          </a:p>
        </p:txBody>
      </p:sp>
      <p:sp>
        <p:nvSpPr>
          <p:cNvPr id="28" name="TextBox 27"/>
          <p:cNvSpPr txBox="1"/>
          <p:nvPr/>
        </p:nvSpPr>
        <p:spPr>
          <a:xfrm>
            <a:off x="5823284" y="4860036"/>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Marketing plugin</a:t>
            </a:r>
          </a:p>
        </p:txBody>
      </p:sp>
      <p:sp>
        <p:nvSpPr>
          <p:cNvPr id="29" name="TextBox 28"/>
          <p:cNvSpPr txBox="1"/>
          <p:nvPr/>
        </p:nvSpPr>
        <p:spPr>
          <a:xfrm>
            <a:off x="8329221" y="4860036"/>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launch-countdown panel</a:t>
            </a:r>
          </a:p>
        </p:txBody>
      </p:sp>
      <p:sp>
        <p:nvSpPr>
          <p:cNvPr id="30" name="Rectangle 29"/>
          <p:cNvSpPr/>
          <p:nvPr/>
        </p:nvSpPr>
        <p:spPr>
          <a:xfrm>
            <a:off x="822960" y="559612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Install a plugin and use its namespaced commands alongside your own skill</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You wrote one skill yourself; now you install a toolkit somebody else packaged. Anthropic's Marketing plugin bundles several marketing skills behind namespaced commands. You install it, use /marketing:campaign-plan to stress-test the launch plan, and run /marketing:brand-review on the deck copy — then compare a plugin with the skill you wrote, and see where mods fit.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Marketing plugin installed, a campaign plan review and a brand review of the launch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plugins, Customize</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PLAN</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/marketing:campaign-plan Review the Lumo Cold Kopi launch using</a:t>
            </a:r>
          </a:p>
          <a:p>
            <a:pPr algn="l">
              <a:spcAft>
                <a:spcPts val="200"/>
              </a:spcAft>
            </a:pPr>
            <a:r>
              <a:rPr sz="1500" b="0">
                <a:solidFill>
                  <a:srgbClr val="21201C"/>
                </a:solidFill>
                <a:latin typeface="Calibri"/>
              </a:rPr>
              <a:t>our campaign brief and research brief. Keep our objective,</a:t>
            </a:r>
          </a:p>
          <a:p>
            <a:pPr algn="l">
              <a:spcAft>
                <a:spcPts val="200"/>
              </a:spcAft>
            </a:pPr>
            <a:r>
              <a:rPr sz="1500" b="0">
                <a:solidFill>
                  <a:srgbClr val="21201C"/>
                </a:solidFill>
                <a:latin typeface="Calibri"/>
              </a:rPr>
              <a:t>audience, budget and dates. Tell me:</a:t>
            </a:r>
          </a:p>
          <a:p>
            <a:pPr algn="l">
              <a:spcAft>
                <a:spcPts val="200"/>
              </a:spcAft>
            </a:pPr>
            <a:r>
              <a:rPr sz="1500" b="0">
                <a:solidFill>
                  <a:srgbClr val="21201C"/>
                </a:solidFill>
                <a:latin typeface="Calibri"/>
              </a:rPr>
              <a:t>- what is missing from the plan,</a:t>
            </a:r>
          </a:p>
          <a:p>
            <a:pPr algn="l">
              <a:spcAft>
                <a:spcPts val="200"/>
              </a:spcAft>
            </a:pPr>
            <a:r>
              <a:rPr sz="1500" b="0">
                <a:solidFill>
                  <a:srgbClr val="21201C"/>
                </a:solidFill>
                <a:latin typeface="Calibri"/>
              </a:rPr>
              <a:t>- the three biggest risks to the 1 December launch,</a:t>
            </a:r>
          </a:p>
          <a:p>
            <a:pPr algn="l">
              <a:spcAft>
                <a:spcPts val="200"/>
              </a:spcAft>
            </a:pPr>
            <a:r>
              <a:rPr sz="1500" b="0">
                <a:solidFill>
                  <a:srgbClr val="21201C"/>
                </a:solidFill>
                <a:latin typeface="Calibri"/>
              </a:rPr>
              <a:t>- the KPIs you would track in the first two weeks, with targets.</a:t>
            </a:r>
          </a:p>
          <a:p>
            <a:pPr algn="l">
              <a:spcAft>
                <a:spcPts val="200"/>
              </a:spcAft>
            </a:pPr>
            <a:r>
              <a:rPr sz="1500" b="0">
                <a:solidFill>
                  <a:srgbClr val="21201C"/>
                </a:solidFill>
                <a:latin typeface="Calibri"/>
              </a:rPr>
              <a:t>Do not change the S$60,000 budget.</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Install the plugin first: Customize → Plugins → Browse → Marketing → Install.</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REVIEW</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/marketing:brand-review Review the copy on slides 1, 2 and 6 of</a:t>
            </a:r>
          </a:p>
          <a:p>
            <a:pPr algn="l">
              <a:spcAft>
                <a:spcPts val="200"/>
              </a:spcAft>
            </a:pPr>
            <a:r>
              <a:rPr sz="1500" b="0">
                <a:solidFill>
                  <a:srgbClr val="21201C"/>
                </a:solidFill>
                <a:latin typeface="Calibri"/>
              </a:rPr>
              <a:t>our launch deck against lumo-brand-guidelines.md. List each</a:t>
            </a:r>
          </a:p>
          <a:p>
            <a:pPr algn="l">
              <a:spcAft>
                <a:spcPts val="200"/>
              </a:spcAft>
            </a:pPr>
            <a:r>
              <a:rPr sz="1500" b="0">
                <a:solidFill>
                  <a:srgbClr val="21201C"/>
                </a:solidFill>
                <a:latin typeface="Calibri"/>
              </a:rPr>
              <a:t>change you would make and the rule behind it.</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plugin reviews; your own skill holds the house rules.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Plugins and browse the available plugins.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the Marketing plugin, read what it contains, and click Install.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composer, type /marketing and look at the commands it offers.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to stress-test the plan with /marketing:campaign-plan.</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risks and KPIs it proposes, and check the budget is unchanged at S$60,000.</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to review the deck copy with /marketing:brand-review.</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and look at the Mods section.</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Marketing plugin is installed and its /marketing: commands appear in the composer. /marketing:campaign-plan returned the gaps, three launch risks and two-week KPIs with targets while keeping the S$60,000 budget and the 1 December date. /marketing:brand-review reviewed the deck copy. You can explain the difference between lumo-brand-voice (a skill you wrote), the Marketing plugin (a packaged bundle) and a mod (a change to Claude's interface).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Connectors, Skills and Plugins</a:t>
            </a:r>
          </a:p>
        </p:txBody>
      </p:sp>
      <p:sp>
        <p:nvSpPr>
          <p:cNvPr id="5" name="Rectangle 4"/>
          <p:cNvSpPr/>
          <p:nvPr/>
        </p:nvSpPr>
        <p:spPr>
          <a:xfrm>
            <a:off x="548640" y="1783080"/>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04</a:t>
            </a:r>
          </a:p>
          <a:p>
            <a:pPr algn="l">
              <a:spcAft>
                <a:spcPts val="300"/>
              </a:spcAft>
            </a:pPr>
            <a:r>
              <a:rPr sz="1150" b="0">
                <a:solidFill>
                  <a:srgbClr val="6B6862"/>
                </a:solidFill>
                <a:latin typeface="Calibri"/>
              </a:rPr>
              <a:t>You can now connect Google Drive and Gmail, read campaign files from Drive and send an approved summary.</a:t>
            </a:r>
          </a:p>
        </p:txBody>
      </p:sp>
      <p:sp>
        <p:nvSpPr>
          <p:cNvPr id="10" name="Rectangle 9"/>
          <p:cNvSpPr/>
          <p:nvPr/>
        </p:nvSpPr>
        <p:spPr>
          <a:xfrm>
            <a:off x="548640" y="2852928"/>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2962656"/>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05</a:t>
            </a:r>
          </a:p>
          <a:p>
            <a:pPr algn="l">
              <a:spcAft>
                <a:spcPts val="300"/>
              </a:spcAft>
            </a:pPr>
            <a:r>
              <a:rPr sz="1150" b="0">
                <a:solidFill>
                  <a:srgbClr val="6B6862"/>
                </a:solidFill>
                <a:latin typeface="Calibri"/>
              </a:rPr>
              <a:t>You can now produce a launch deck in Slides and a campaign brief in Docs from the project's research.</a:t>
            </a:r>
          </a:p>
        </p:txBody>
      </p:sp>
      <p:sp>
        <p:nvSpPr>
          <p:cNvPr id="15" name="Rectangle 14"/>
          <p:cNvSpPr/>
          <p:nvPr/>
        </p:nvSpPr>
        <p:spPr>
          <a:xfrm>
            <a:off x="548640" y="3922776"/>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032504"/>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06</a:t>
            </a:r>
          </a:p>
          <a:p>
            <a:pPr algn="l">
              <a:spcAft>
                <a:spcPts val="300"/>
              </a:spcAft>
            </a:pPr>
            <a:r>
              <a:rPr sz="1150" b="0">
                <a:solidFill>
                  <a:srgbClr val="6B6862"/>
                </a:solidFill>
                <a:latin typeface="Calibri"/>
              </a:rPr>
              <a:t>You can now rewrite content in the brand voice, verify it, and save the routine as a skill with /skill-creator.</a:t>
            </a:r>
          </a:p>
        </p:txBody>
      </p:sp>
      <p:sp>
        <p:nvSpPr>
          <p:cNvPr id="20" name="Rectangle 19"/>
          <p:cNvSpPr/>
          <p:nvPr/>
        </p:nvSpPr>
        <p:spPr>
          <a:xfrm>
            <a:off x="548640" y="4992624"/>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1335024" y="5102352"/>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07</a:t>
            </a:r>
          </a:p>
          <a:p>
            <a:pPr algn="l">
              <a:spcAft>
                <a:spcPts val="300"/>
              </a:spcAft>
            </a:pPr>
            <a:r>
              <a:rPr sz="1150" b="0">
                <a:solidFill>
                  <a:srgbClr val="6B6862"/>
                </a:solidFill>
                <a:latin typeface="Calibri"/>
              </a:rPr>
              <a:t>You can now install a plugin and use its namespaced commands alongside your own skill.</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Content Production and Scheduled Work</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One thread per channel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Social post specs and brand checks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Script, storyboard, render: the video pipeline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Scheduled tasks, memory and usage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CONTENT IN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Thread per Channel</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Brief the lead</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message: the goal, the dates, the channels and the skill to use.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Split by channel</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lead agent starts one thread per platform with its own spec.</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Draft in parallel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Each thread drafts its posts using the brand-voice skill.</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Merge the calendar</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lead agent merges the drafts into one dated calendar.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 and approve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check claims, prices and dates before anything is scheduled.</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same pattern as the Lab 2 research — one message, independent subjects — applied to production.</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SOCIAL SPECS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Each Platform Needs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thread gets its platform's spec as its brief.</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Instagram</a:t>
            </a:r>
          </a:p>
          <a:p>
            <a:pPr algn="l">
              <a:spcAft>
                <a:spcPts val="300"/>
              </a:spcAft>
            </a:pPr>
            <a:r>
              <a:rPr sz="1150" b="0">
                <a:solidFill>
                  <a:srgbClr val="6B6862"/>
                </a:solidFill>
                <a:latin typeface="Calibri"/>
              </a:rPr>
              <a:t>Carousel or Reel. Hook in the first line; caption up to 2,200 characters; 3–5 hashtags.</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TikTok</a:t>
            </a:r>
          </a:p>
          <a:p>
            <a:pPr algn="l">
              <a:spcAft>
                <a:spcPts val="300"/>
              </a:spcAft>
            </a:pPr>
            <a:r>
              <a:rPr sz="1150" b="0">
                <a:solidFill>
                  <a:srgbClr val="6B6862"/>
                </a:solidFill>
                <a:latin typeface="Calibri"/>
              </a:rPr>
              <a:t>9:16 video, 15–30 s. A hook in the first 2 seconds; on-screen text; one call to action.</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LinkedIn</a:t>
            </a:r>
          </a:p>
          <a:p>
            <a:pPr algn="l">
              <a:spcAft>
                <a:spcPts val="300"/>
              </a:spcAft>
            </a:pPr>
            <a:r>
              <a:rPr sz="1150" b="0">
                <a:solidFill>
                  <a:srgbClr val="6B6862"/>
                </a:solidFill>
                <a:latin typeface="Calibri"/>
              </a:rPr>
              <a:t>Founder or team voice; the story behind the product; no more than 3 hashtags.</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Facebook</a:t>
            </a:r>
          </a:p>
          <a:p>
            <a:pPr algn="l">
              <a:spcAft>
                <a:spcPts val="300"/>
              </a:spcAft>
            </a:pPr>
            <a:r>
              <a:rPr sz="1150" b="0">
                <a:solidFill>
                  <a:srgbClr val="6B6862"/>
                </a:solidFill>
                <a:latin typeface="Calibri"/>
              </a:rPr>
              <a:t>Community and offers; a clear link to buy; questions that invite comments.</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Every thread loads lumo-brand-voice, so four formats still sound like one brand.</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Marketing Responsibly with AI</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Fast production is only useful if every post is safe to publish.</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Claims you can prove</a:t>
            </a:r>
          </a:p>
          <a:p>
            <a:pPr algn="l">
              <a:spcAft>
                <a:spcPts val="300"/>
              </a:spcAft>
            </a:pPr>
            <a:r>
              <a:rPr sz="1150" b="0">
                <a:solidFill>
                  <a:srgbClr val="6B6862"/>
                </a:solidFill>
                <a:latin typeface="Calibri"/>
              </a:rPr>
              <a:t>“5 g sugar” is on the label. “Healthy” is a claim Lumo cannot substantiate — never use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Consent for email</a:t>
            </a:r>
          </a:p>
          <a:p>
            <a:pPr algn="l">
              <a:spcAft>
                <a:spcPts val="300"/>
              </a:spcAft>
            </a:pPr>
            <a:r>
              <a:rPr sz="1150" b="0">
                <a:solidFill>
                  <a:srgbClr val="6B6862"/>
                </a:solidFill>
                <a:latin typeface="Calibri"/>
              </a:rPr>
              <a:t>Email only people who opted in. Lab emails go to yourself, never to real customers.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No real likenesses</a:t>
            </a:r>
          </a:p>
          <a:p>
            <a:pPr algn="l">
              <a:spcAft>
                <a:spcPts val="300"/>
              </a:spcAft>
            </a:pPr>
            <a:r>
              <a:rPr sz="1150" b="0">
                <a:solidFill>
                  <a:srgbClr val="6B6862"/>
                </a:solidFill>
                <a:latin typeface="Calibri"/>
              </a:rPr>
              <a:t>Do not generate a real person, influencer or competitor logo into an 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Disclose partnerships</a:t>
            </a:r>
          </a:p>
          <a:p>
            <a:pPr algn="l">
              <a:spcAft>
                <a:spcPts val="300"/>
              </a:spcAft>
            </a:pPr>
            <a:r>
              <a:rPr sz="1150" b="0">
                <a:solidFill>
                  <a:srgbClr val="6B6862"/>
                </a:solidFill>
                <a:latin typeface="Calibri"/>
              </a:rPr>
              <a:t>Influencer posts are labelled as paid partnerships.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human publishes</a:t>
            </a:r>
          </a:p>
          <a:p>
            <a:pPr algn="l">
              <a:spcAft>
                <a:spcPts val="300"/>
              </a:spcAft>
            </a:pPr>
            <a:r>
              <a:rPr sz="1150" b="0">
                <a:solidFill>
                  <a:srgbClr val="6B6862"/>
                </a:solidFill>
                <a:latin typeface="Calibri"/>
              </a:rPr>
              <a:t>Claude drafts and schedules drafts; a person approves every public post.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source</a:t>
            </a:r>
          </a:p>
          <a:p>
            <a:pPr algn="l">
              <a:spcAft>
                <a:spcPts val="300"/>
              </a:spcAft>
            </a:pPr>
            <a:r>
              <a:rPr sz="1150" b="0">
                <a:solidFill>
                  <a:srgbClr val="6B6862"/>
                </a:solidFill>
                <a:latin typeface="Calibri"/>
              </a:rPr>
              <a:t>Keep the research files, so every number in a post can be traced back.</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Content Production and Scheduled Work</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thread per channel</a:t>
            </a:r>
          </a:p>
          <a:p>
            <a:pPr algn="l">
              <a:spcAft>
                <a:spcPts val="300"/>
              </a:spcAft>
            </a:pPr>
            <a:r>
              <a:rPr sz="1150" b="0">
                <a:solidFill>
                  <a:srgbClr val="6B6862"/>
                </a:solidFill>
                <a:latin typeface="Calibri"/>
              </a:rPr>
              <a:t>The lead agent gives Instagram, TikTok, LinkedIn and Facebook a thread each, then merges one calendar.</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 inside a thread</a:t>
            </a:r>
          </a:p>
          <a:p>
            <a:pPr algn="l">
              <a:spcAft>
                <a:spcPts val="300"/>
              </a:spcAft>
            </a:pPr>
            <a:r>
              <a:rPr sz="1150" b="0">
                <a:solidFill>
                  <a:srgbClr val="6B6862"/>
                </a:solidFill>
                <a:latin typeface="Calibri"/>
              </a:rPr>
              <a:t>Every thread loads the same brand-voice skill, so four channels still sound like one brand.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Video as code</a:t>
            </a:r>
          </a:p>
          <a:p>
            <a:pPr algn="l">
              <a:spcAft>
                <a:spcPts val="300"/>
              </a:spcAft>
            </a:pPr>
            <a:r>
              <a:rPr sz="1150" b="0">
                <a:solidFill>
                  <a:srgbClr val="6B6862"/>
                </a:solidFill>
                <a:latin typeface="Calibri"/>
              </a:rPr>
              <a:t>Claude writes and runs the code that turns a storyboard and your images into an MP4.</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tasks</a:t>
            </a:r>
          </a:p>
          <a:p>
            <a:pPr algn="l">
              <a:spcAft>
                <a:spcPts val="300"/>
              </a:spcAft>
            </a:pPr>
            <a:r>
              <a:rPr sz="1150" b="0">
                <a:solidFill>
                  <a:srgbClr val="6B6862"/>
                </a:solidFill>
                <a:latin typeface="Calibri"/>
              </a:rPr>
              <a:t>A prompt that runs on a timetable inside the project — daily, weekly or monthly — while you are away.</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stays human</a:t>
            </a:r>
          </a:p>
          <a:p>
            <a:pPr algn="l">
              <a:spcAft>
                <a:spcPts val="300"/>
              </a:spcAft>
            </a:pPr>
            <a:r>
              <a:rPr sz="1150" b="0">
                <a:solidFill>
                  <a:srgbClr val="6B6862"/>
                </a:solidFill>
                <a:latin typeface="Calibri"/>
              </a:rPr>
              <a:t>A scheduled task drafts and emails the post to you. Publishing is still your click.</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Usage per thread</a:t>
            </a:r>
          </a:p>
          <a:p>
            <a:pPr algn="l">
              <a:spcAft>
                <a:spcPts val="300"/>
              </a:spcAft>
            </a:pPr>
            <a:r>
              <a:rPr sz="1150" b="0">
                <a:solidFill>
                  <a:srgbClr val="6B6862"/>
                </a:solidFill>
                <a:latin typeface="Calibri"/>
              </a:rPr>
              <a:t>Project settings show the tokens the lead agent and each thread used — the cost of parallel work.</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Social Media Posts in Parallel Threads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08</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Produce a two-week, four-platform social calendar with one thread per channel</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Launch fortnight needs ten posts across Instagram, TikTok, LinkedIn and Facebook. Each platform has its own format, so you hand the job to the lead agent and let it start one thread per platform. Every thread loads lumo-brand-voice, drafts its posts to its platform's spec, and the lead agent merges them into one dated calendar that you check before anything is scheduled.</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social-calendar.csv with ten dated posts across four platforms, plus lumo-social-posts.docx with the full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lead agent and threads, Agent Skills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Draft two weeks of posts, one thread per platform</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Create the launch social calendar for Lumo Cold Kopi: ten posts,</a:t>
            </a:r>
          </a:p>
          <a:p>
            <a:pPr algn="l">
              <a:spcAft>
                <a:spcPts val="200"/>
              </a:spcAft>
            </a:pPr>
            <a:r>
              <a:rPr sz="1250" b="0">
                <a:solidFill>
                  <a:srgbClr val="21201C"/>
                </a:solidFill>
                <a:latin typeface="Calibri"/>
              </a:rPr>
              <a:t>one each weekday from Tuesday 1 December to Monday 14 December</a:t>
            </a:r>
          </a:p>
          <a:p>
            <a:pPr algn="l">
              <a:spcAft>
                <a:spcPts val="200"/>
              </a:spcAft>
            </a:pPr>
            <a:r>
              <a:rPr sz="1250" b="0">
                <a:solidFill>
                  <a:srgbClr val="21201C"/>
                </a:solidFill>
                <a:latin typeface="Calibri"/>
              </a:rPr>
              <a:t>2026, using social-calendar-template.csv for the columns.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Split the drafting into four threads, one per platform, and run</a:t>
            </a:r>
          </a:p>
          <a:p>
            <a:pPr algn="l">
              <a:spcAft>
                <a:spcPts val="200"/>
              </a:spcAft>
            </a:pPr>
            <a:r>
              <a:rPr sz="1250" b="0">
                <a:solidFill>
                  <a:srgbClr val="21201C"/>
                </a:solidFill>
                <a:latin typeface="Calibri"/>
              </a:rPr>
              <a:t>them in parallel:</a:t>
            </a:r>
          </a:p>
          <a:p>
            <a:pPr algn="l">
              <a:spcAft>
                <a:spcPts val="200"/>
              </a:spcAft>
            </a:pPr>
            <a:r>
              <a:rPr sz="1250" b="0">
                <a:solidFill>
                  <a:srgbClr val="21201C"/>
                </a:solidFill>
                <a:latin typeface="Calibri"/>
              </a:rPr>
              <a:t>- Instagram: 3 posts (carousel or Reel), caption with a hook in</a:t>
            </a:r>
          </a:p>
          <a:p>
            <a:pPr algn="l">
              <a:spcAft>
                <a:spcPts val="200"/>
              </a:spcAft>
            </a:pPr>
            <a:r>
              <a:rPr sz="1250" b="0">
                <a:solidFill>
                  <a:srgbClr val="21201C"/>
                </a:solidFill>
                <a:latin typeface="Calibri"/>
              </a:rPr>
              <a:t>  the first line, 3-5 hashtags.</a:t>
            </a:r>
          </a:p>
          <a:p>
            <a:pPr algn="l">
              <a:spcAft>
                <a:spcPts val="200"/>
              </a:spcAft>
            </a:pPr>
            <a:r>
              <a:rPr sz="1250" b="0">
                <a:solidFill>
                  <a:srgbClr val="21201C"/>
                </a:solidFill>
                <a:latin typeface="Calibri"/>
              </a:rPr>
              <a:t>- TikTok: 3 posts, each a 15-second video script with a hook in</a:t>
            </a:r>
          </a:p>
          <a:p>
            <a:pPr algn="l">
              <a:spcAft>
                <a:spcPts val="200"/>
              </a:spcAft>
            </a:pPr>
            <a:r>
              <a:rPr sz="1250" b="0">
                <a:solidFill>
                  <a:srgbClr val="21201C"/>
                </a:solidFill>
                <a:latin typeface="Calibri"/>
              </a:rPr>
              <a:t>  the first 2 seconds and on-screen text.</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LinkedIn: 2 posts in the founder's voice, the story behind the</a:t>
            </a:r>
          </a:p>
          <a:p>
            <a:pPr algn="l">
              <a:spcAft>
                <a:spcPts val="200"/>
              </a:spcAft>
            </a:pPr>
            <a:r>
              <a:rPr sz="1250" b="0">
                <a:solidFill>
                  <a:srgbClr val="21201C"/>
                </a:solidFill>
                <a:latin typeface="Calibri"/>
              </a:rPr>
              <a:t>  product, no more than 3 hashtags.</a:t>
            </a:r>
          </a:p>
          <a:p>
            <a:pPr algn="l">
              <a:spcAft>
                <a:spcPts val="200"/>
              </a:spcAft>
            </a:pPr>
            <a:r>
              <a:rPr sz="1250" b="0">
                <a:solidFill>
                  <a:srgbClr val="21201C"/>
                </a:solidFill>
                <a:latin typeface="Calibri"/>
              </a:rPr>
              <a:t>- Facebook: 2 posts for community and the 12-pack offer.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thread must use the lumo-brand-voice skill and our top</a:t>
            </a:r>
          </a:p>
          <a:p>
            <a:pPr algn="l">
              <a:spcAft>
                <a:spcPts val="200"/>
              </a:spcAft>
            </a:pPr>
            <a:r>
              <a:rPr sz="1250" b="0">
                <a:solidFill>
                  <a:srgbClr val="21201C"/>
                </a:solidFill>
                <a:latin typeface="Calibri"/>
              </a:rPr>
              <a:t>content theme from the research. The 1 December launch-day</a:t>
            </a:r>
          </a:p>
          <a:p>
            <a:pPr algn="l">
              <a:spcAft>
                <a:spcPts val="200"/>
              </a:spcAft>
            </a:pPr>
            <a:r>
              <a:rPr sz="1250" b="0">
                <a:solidFill>
                  <a:srgbClr val="21201C"/>
                </a:solidFill>
                <a:latin typeface="Calibri"/>
              </a:rPr>
              <a:t>post is an Instagram Reel; TikTok follows on 2 December.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Then merge the threads into social-calendar.csv (date, platform,</a:t>
            </a:r>
          </a:p>
          <a:p>
            <a:pPr algn="l">
              <a:spcAft>
                <a:spcPts val="200"/>
              </a:spcAft>
            </a:pPr>
            <a:r>
              <a:rPr sz="1250" b="0">
                <a:solidFill>
                  <a:srgbClr val="21201C"/>
                </a:solidFill>
                <a:latin typeface="Calibri"/>
              </a:rPr>
              <a:t>format, hook, copy, hashtags, visual idea, call to action) and</a:t>
            </a:r>
          </a:p>
          <a:p>
            <a:pPr algn="l">
              <a:spcAft>
                <a:spcPts val="200"/>
              </a:spcAft>
            </a:pPr>
            <a:r>
              <a:rPr sz="1250" b="0">
                <a:solidFill>
                  <a:srgbClr val="21201C"/>
                </a:solidFill>
                <a:latin typeface="Calibri"/>
              </a:rPr>
              <a:t>lumo-social-posts.docx with the full copy. Report the brand-voice</a:t>
            </a:r>
          </a:p>
          <a:p>
            <a:pPr algn="l">
              <a:spcAft>
                <a:spcPts val="200"/>
              </a:spcAft>
            </a:pPr>
            <a:r>
              <a:rPr sz="1250" b="0">
                <a:solidFill>
                  <a:srgbClr val="21201C"/>
                </a:solidFill>
                <a:latin typeface="Calibri"/>
              </a:rPr>
              <a:t>checklist result for every post, and list any post that failed.</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social-calendar-template.csv from the Lab 08 data folder.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Social Media Posts in Parallel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social-calendar-template.csv and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the lead agent start the four platform threads.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Instagram thread and check it loaded lumo-brand-voice.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calendar arrives, count the rows and check the dates.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brand-voice checklist results.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Spot-check three posts against the campaign brief's "claims we must not make".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lumo-social-posts.docx and confirm the copy matches the calendar.</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Social Media Posts in Parallel Threads</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social-calendar.csv has ten rows dated on the ten weekdays from 1 to 14 December 2026 — Instagram 3, TikTok 3, LinkedIn 2, Facebook 2 — with the 1 December launch post an Instagram Reel and TikTok on 2 December. Every post passed the lumo-brand-voice checklist, none uses "healthy", every price is written S$3.90 or S$42.00, and lumo-social-posts.docx carries the same copy.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Video Pipeline</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Script</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Five lines, three seconds each — hook, problem, product, proof, call to action.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Storyboard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frame per line: which image, which on-screen text, which motion.</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Render</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and runs code that animates your images and text into an MP4.</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Length, size 1080 × 1920, brand colours, every claim true, end card with the price.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timing or text changes in plain English and render again.</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video is code: a change is a re-render, not a re-edit.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Launch Video Specs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the finished 15-second video must meet.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Format</a:t>
            </a:r>
          </a:p>
          <a:p>
            <a:pPr algn="l">
              <a:spcAft>
                <a:spcPts val="300"/>
              </a:spcAft>
            </a:pPr>
            <a:r>
              <a:rPr sz="1150" b="0">
                <a:solidFill>
                  <a:srgbClr val="6B6862"/>
                </a:solidFill>
                <a:latin typeface="Calibri"/>
              </a:rPr>
              <a:t>Vertical 9:16, 1080 × 1920 pixels, MP4 — fits Reels, TikTok and Shorts.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Length</a:t>
            </a:r>
          </a:p>
          <a:p>
            <a:pPr algn="l">
              <a:spcAft>
                <a:spcPts val="300"/>
              </a:spcAft>
            </a:pPr>
            <a:r>
              <a:rPr sz="1150" b="0">
                <a:solidFill>
                  <a:srgbClr val="6B6862"/>
                </a:solidFill>
                <a:latin typeface="Calibri"/>
              </a:rPr>
              <a:t>15 seconds: five scenes of three seconds each.</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Text</a:t>
            </a:r>
          </a:p>
          <a:p>
            <a:pPr algn="l">
              <a:spcAft>
                <a:spcPts val="300"/>
              </a:spcAft>
            </a:pPr>
            <a:r>
              <a:rPr sz="1150" b="0">
                <a:solidFill>
                  <a:srgbClr val="6B6862"/>
                </a:solidFill>
                <a:latin typeface="Calibri"/>
              </a:rPr>
              <a:t>Large, high-contrast captions — most people watch with the sound off.</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Brand</a:t>
            </a:r>
          </a:p>
          <a:p>
            <a:pPr algn="l">
              <a:spcAft>
                <a:spcPts val="300"/>
              </a:spcAft>
            </a:pPr>
            <a:r>
              <a:rPr sz="1150" b="0">
                <a:solidFill>
                  <a:srgbClr val="6B6862"/>
                </a:solidFill>
                <a:latin typeface="Calibri"/>
              </a:rPr>
              <a:t>Lumo colours and logo; the end card shows the price and the campaign hashtag.</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Assets</a:t>
            </a:r>
          </a:p>
          <a:p>
            <a:pPr algn="l">
              <a:spcAft>
                <a:spcPts val="300"/>
              </a:spcAft>
            </a:pPr>
            <a:r>
              <a:rPr sz="1150" b="0">
                <a:solidFill>
                  <a:srgbClr val="6B6862"/>
                </a:solidFill>
                <a:latin typeface="Calibri"/>
              </a:rPr>
              <a:t>Only the supplied product images — never a real person's likeness or a stock logo.</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Fallback</a:t>
            </a:r>
          </a:p>
          <a:p>
            <a:pPr algn="l">
              <a:spcAft>
                <a:spcPts val="300"/>
              </a:spcAft>
            </a:pPr>
            <a:r>
              <a:rPr sz="1150" b="0">
                <a:solidFill>
                  <a:srgbClr val="6B6862"/>
                </a:solidFill>
                <a:latin typeface="Calibri"/>
              </a:rPr>
              <a:t>No video tools in the session? Claude builds an animated HTML version to screen-record.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09</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Script, storyboard and render a vertical launch video from supplied brand assets</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TikTok and Instagram posts need a launch video. You give the project the supplied product images and logo; one thread writes a five-scene script and storyboard with lumo-brand-voice, another writes and runs the code that animates the images and captions into a 15-second, 1080 × 1920 MP4. You check it frame by frame and ask for changes in plain English.</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lumo-launch-15s.mp4 (1080 × 1920, 15 seconds), with its script and storyboard.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threads, code execution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Script, storyboard and render the video</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Make a 15-second vertical launch video for Lumo Cold Kopi, using</a:t>
            </a:r>
          </a:p>
          <a:p>
            <a:pPr algn="l">
              <a:spcAft>
                <a:spcPts val="200"/>
              </a:spcAft>
            </a:pPr>
            <a:r>
              <a:rPr sz="1200" b="0">
                <a:solidFill>
                  <a:srgbClr val="21201C"/>
                </a:solidFill>
                <a:latin typeface="Calibri"/>
              </a:rPr>
              <a:t>only the five images in the attached video-assets folder.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Use two threads:</a:t>
            </a:r>
          </a:p>
          <a:p>
            <a:pPr algn="l">
              <a:spcAft>
                <a:spcPts val="200"/>
              </a:spcAft>
            </a:pPr>
            <a:r>
              <a:rPr sz="1200" b="0">
                <a:solidFill>
                  <a:srgbClr val="21201C"/>
                </a:solidFill>
                <a:latin typeface="Calibri"/>
              </a:rPr>
              <a:t>Thread 1 - SCRIPT: with lumo-brand-voice, write five scenes of</a:t>
            </a:r>
          </a:p>
          <a:p>
            <a:pPr algn="l">
              <a:spcAft>
                <a:spcPts val="200"/>
              </a:spcAft>
            </a:pPr>
            <a:r>
              <a:rPr sz="1200" b="0">
                <a:solidFill>
                  <a:srgbClr val="21201C"/>
                </a:solidFill>
                <a:latin typeface="Calibri"/>
              </a:rPr>
              <a:t>  three seconds each: hook, problem, product, proof, call to action.</a:t>
            </a:r>
          </a:p>
          <a:p>
            <a:pPr algn="l">
              <a:spcAft>
                <a:spcPts val="200"/>
              </a:spcAft>
            </a:pPr>
            <a:r>
              <a:rPr sz="1200" b="0">
                <a:solidFill>
                  <a:srgbClr val="21201C"/>
                </a:solidFill>
                <a:latin typeface="Calibri"/>
              </a:rPr>
              <a:t>  For each scene give the image, the on-screen text (max 6 words)</a:t>
            </a:r>
          </a:p>
          <a:p>
            <a:pPr algn="l">
              <a:spcAft>
                <a:spcPts val="200"/>
              </a:spcAft>
            </a:pPr>
            <a:r>
              <a:rPr sz="1200" b="0">
                <a:solidFill>
                  <a:srgbClr val="21201C"/>
                </a:solidFill>
                <a:latin typeface="Calibri"/>
              </a:rPr>
              <a:t>  and the motion. Save it as lumo-video-storyboard.md.</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Thread 2 - RENDER: when the storyboard is ready, write and run</a:t>
            </a:r>
          </a:p>
          <a:p>
            <a:pPr algn="l">
              <a:spcAft>
                <a:spcPts val="200"/>
              </a:spcAft>
            </a:pPr>
            <a:r>
              <a:rPr sz="1200" b="0">
                <a:solidFill>
                  <a:srgbClr val="21201C"/>
                </a:solidFill>
                <a:latin typeface="Calibri"/>
              </a:rPr>
              <a:t>  code that renders it to lumo-launch-15s.mp4: 1080 x 1920, 30 fps,</a:t>
            </a:r>
          </a:p>
          <a:p>
            <a:pPr algn="l">
              <a:spcAft>
                <a:spcPts val="200"/>
              </a:spcAft>
            </a:pPr>
            <a:r>
              <a:rPr sz="1200" b="0">
                <a:solidFill>
                  <a:srgbClr val="21201C"/>
                </a:solidFill>
                <a:latin typeface="Calibri"/>
              </a:rPr>
              <a:t>  exactly 15 seconds, large high-contrast captions in the Lumo</a:t>
            </a:r>
          </a:p>
          <a:p>
            <a:pPr algn="l">
              <a:spcAft>
                <a:spcPts val="200"/>
              </a:spcAft>
            </a:pPr>
            <a:r>
              <a:rPr sz="1200" b="0">
                <a:solidFill>
                  <a:srgbClr val="21201C"/>
                </a:solidFill>
                <a:latin typeface="Calibri"/>
              </a:rPr>
              <a:t>  colours, a gentle zoom on each image, and an end card with the</a:t>
            </a:r>
          </a:p>
          <a:p>
            <a:pPr algn="l">
              <a:spcAft>
                <a:spcPts val="200"/>
              </a:spcAft>
            </a:pPr>
            <a:r>
              <a:rPr sz="1200" b="0">
                <a:solidFill>
                  <a:srgbClr val="21201C"/>
                </a:solidFill>
                <a:latin typeface="Calibri"/>
              </a:rPr>
              <a:t>  logo, "From S$3.90" and #KopiChilledRight.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If you cannot render video in this session, build the same thing</a:t>
            </a:r>
          </a:p>
          <a:p>
            <a:pPr algn="l">
              <a:spcAft>
                <a:spcPts val="200"/>
              </a:spcAft>
            </a:pPr>
            <a:r>
              <a:rPr sz="1200" b="0">
                <a:solidFill>
                  <a:srgbClr val="21201C"/>
                </a:solidFill>
                <a:latin typeface="Calibri"/>
              </a:rPr>
              <a:t>as an animated HTML page at 1080 x 1920 and tell me, so I can</a:t>
            </a:r>
          </a:p>
          <a:p>
            <a:pPr algn="l">
              <a:spcAft>
                <a:spcPts val="200"/>
              </a:spcAft>
            </a:pPr>
            <a:r>
              <a:rPr sz="1200" b="0">
                <a:solidFill>
                  <a:srgbClr val="21201C"/>
                </a:solidFill>
                <a:latin typeface="Calibri"/>
              </a:rPr>
              <a:t>screen-record it. Report the file's duration and size when done.</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whole video-assets folder. Use only the supplied images — never a real person's likeness or another brand's logo.</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09 data/video-assets folder and look at the five images.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folder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storyboard when Thread 1 finishes.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video arrives, check the reported duration and size.</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Play it through, then scrub it frame by frame.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for example: Hold the end card for one second longer and shorten scene 2.</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If Claude built the HTML fallback instead, open it full screen and screen-record 15 seconds.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2103120"/>
            <a:ext cx="1106424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24612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24028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lumo-launch-15s.mp4 is 1080 × 1920, 30 fps and 15 seconds long, uses only the supplied images, shows five scenes with captions of six words or fewer in the Lumo colours, and ends on a card with the logo, "From S$3.90" and #KopiChilledRight. lumo-video-storyboard.md sits beside it and matches what plays. No scene makes a health claim.</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Scheduled Task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prompt the project runs on a timetable, while you are away.</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Prompt</a:t>
            </a:r>
          </a:p>
          <a:p>
            <a:pPr algn="l">
              <a:spcAft>
                <a:spcPts val="300"/>
              </a:spcAft>
            </a:pPr>
            <a:r>
              <a:rPr sz="1150" b="0">
                <a:solidFill>
                  <a:srgbClr val="6B6862"/>
                </a:solidFill>
                <a:latin typeface="Calibri"/>
              </a:rPr>
              <a:t>Exactly what to do each run — written like a lab prompt, with the checks included.</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Frequency</a:t>
            </a:r>
          </a:p>
          <a:p>
            <a:pPr algn="l">
              <a:spcAft>
                <a:spcPts val="300"/>
              </a:spcAft>
            </a:pPr>
            <a:r>
              <a:rPr sz="1150" b="0">
                <a:solidFill>
                  <a:srgbClr val="6B6862"/>
                </a:solidFill>
                <a:latin typeface="Calibri"/>
              </a:rPr>
              <a:t>Daily, weekdays, weekly or monthly.</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Time</a:t>
            </a:r>
          </a:p>
          <a:p>
            <a:pPr algn="l">
              <a:spcAft>
                <a:spcPts val="300"/>
              </a:spcAft>
            </a:pPr>
            <a:r>
              <a:rPr sz="1150" b="0">
                <a:solidFill>
                  <a:srgbClr val="6B6862"/>
                </a:solidFill>
                <a:latin typeface="Calibri"/>
              </a:rPr>
              <a:t>When it runs, in your time zone — for example, weekdays at 9:00am.</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it runs</a:t>
            </a:r>
          </a:p>
          <a:p>
            <a:pPr algn="l">
              <a:spcAft>
                <a:spcPts val="300"/>
              </a:spcAft>
            </a:pPr>
            <a:r>
              <a:rPr sz="1150" b="0">
                <a:solidFill>
                  <a:srgbClr val="6B6862"/>
                </a:solidFill>
                <a:latin typeface="Calibri"/>
              </a:rPr>
              <a:t>Inside the project, so it reads the same goal, context, memory and skills.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Output</a:t>
            </a:r>
          </a:p>
          <a:p>
            <a:pPr algn="l">
              <a:spcAft>
                <a:spcPts val="300"/>
              </a:spcAft>
            </a:pPr>
            <a:r>
              <a:rPr sz="1150" b="0">
                <a:solidFill>
                  <a:srgbClr val="6B6862"/>
                </a:solidFill>
                <a:latin typeface="Calibri"/>
              </a:rPr>
              <a:t>Where the result goes — an email draft, a file in Drive, a note in the project.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a:t>
            </a:r>
          </a:p>
          <a:p>
            <a:pPr algn="l">
              <a:spcAft>
                <a:spcPts val="300"/>
              </a:spcAft>
            </a:pPr>
            <a:r>
              <a:rPr sz="1150" b="0">
                <a:solidFill>
                  <a:srgbClr val="6B6862"/>
                </a:solidFill>
                <a:latin typeface="Calibri"/>
              </a:rPr>
              <a:t>The step a human still takes — the task drafts, you publish.</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Scheduled Tasks for a Launch</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drafts for your approval — none publishes on its own.</a:t>
            </a:r>
          </a:p>
        </p:txBody>
      </p:sp>
      <p:sp>
        <p:nvSpPr>
          <p:cNvPr id="6" name="Rectangle 5"/>
          <p:cNvSpPr/>
          <p:nvPr/>
        </p:nvSpPr>
        <p:spPr>
          <a:xfrm>
            <a:off x="548640" y="2148840"/>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49326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9326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Daily post, weekdays 9:00am</a:t>
            </a:r>
          </a:p>
          <a:p>
            <a:pPr algn="l">
              <a:spcAft>
                <a:spcPts val="500"/>
              </a:spcAft>
            </a:pPr>
            <a:r>
              <a:rPr sz="1250" b="0">
                <a:solidFill>
                  <a:srgbClr val="6B6862"/>
                </a:solidFill>
                <a:latin typeface="Calibri"/>
              </a:rPr>
              <a:t>Take today's row from the social calendar, polish it with lumo-brand-voice and email it to me for approval.</a:t>
            </a:r>
          </a:p>
        </p:txBody>
      </p:sp>
      <p:sp>
        <p:nvSpPr>
          <p:cNvPr id="10" name="Rectangle 9"/>
          <p:cNvSpPr/>
          <p:nvPr/>
        </p:nvSpPr>
        <p:spPr>
          <a:xfrm>
            <a:off x="548640" y="3349752"/>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694176"/>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94176"/>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349752"/>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Weekly report, Mondays 8:00am</a:t>
            </a:r>
          </a:p>
          <a:p>
            <a:pPr algn="l">
              <a:spcAft>
                <a:spcPts val="500"/>
              </a:spcAft>
            </a:pPr>
            <a:r>
              <a:rPr sz="1250" b="0">
                <a:solidFill>
                  <a:srgbClr val="6B6862"/>
                </a:solidFill>
                <a:latin typeface="Calibri"/>
              </a:rPr>
              <a:t>Summarise last week's posts from the social calendar and anything new in the Lumo Launch Drive folder in five bullet points.</a:t>
            </a:r>
          </a:p>
        </p:txBody>
      </p:sp>
      <p:sp>
        <p:nvSpPr>
          <p:cNvPr id="14" name="Rectangle 13"/>
          <p:cNvSpPr/>
          <p:nvPr/>
        </p:nvSpPr>
        <p:spPr>
          <a:xfrm>
            <a:off x="548640" y="4550664"/>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89508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508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4550664"/>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Monthly scan, 1st at 10:00am</a:t>
            </a:r>
          </a:p>
          <a:p>
            <a:pPr algn="l">
              <a:spcAft>
                <a:spcPts val="500"/>
              </a:spcAft>
            </a:pPr>
            <a:r>
              <a:rPr sz="1250" b="0">
                <a:solidFill>
                  <a:srgbClr val="6B6862"/>
                </a:solidFill>
                <a:latin typeface="Calibri"/>
              </a:rPr>
              <a:t>Check the six competitors for new products or price changes and update the research brief.</a:t>
            </a:r>
          </a:p>
        </p:txBody>
      </p:sp>
      <p:sp>
        <p:nvSpPr>
          <p:cNvPr id="18" name="TextBox 17"/>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 local task needs the app open. To keep tasks running with the laptop closed, give the project a cloud environment in Project settings → Environment.</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Cloud Environments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 settings → Environment: let threads and tasks run with your laptop closed.</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Network access</a:t>
            </a:r>
          </a:p>
          <a:p>
            <a:pPr algn="l">
              <a:spcAft>
                <a:spcPts val="300"/>
              </a:spcAft>
            </a:pPr>
            <a:r>
              <a:rPr sz="1150" b="0">
                <a:solidFill>
                  <a:srgbClr val="6B6862"/>
                </a:solidFill>
                <a:latin typeface="Calibri"/>
              </a:rPr>
              <a:t>Which websites the threads may reach — add only the ones the work needs.</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Secrets</a:t>
            </a:r>
          </a:p>
          <a:p>
            <a:pPr algn="l">
              <a:spcAft>
                <a:spcPts val="300"/>
              </a:spcAft>
            </a:pPr>
            <a:r>
              <a:rPr sz="1150" b="0">
                <a:solidFill>
                  <a:srgbClr val="6B6862"/>
                </a:solidFill>
                <a:latin typeface="Calibri"/>
              </a:rPr>
              <a:t>API keys the threads can use. Once saved, nobody can read them back — not even you.</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Setup script</a:t>
            </a:r>
          </a:p>
          <a:p>
            <a:pPr algn="l">
              <a:spcAft>
                <a:spcPts val="300"/>
              </a:spcAft>
            </a:pPr>
            <a:r>
              <a:rPr sz="1150" b="0">
                <a:solidFill>
                  <a:srgbClr val="6B6862"/>
                </a:solidFill>
                <a:latin typeface="Calibri"/>
              </a:rPr>
              <a:t>What each thread installs before it starts work, such as one package-install line.</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 the Posts and Review the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10</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Schedule recurring project tasks, edit project memory and review thread usage</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needs a post drafted every weekday morning and a report every Monday, and nobody should have to remember either. You schedule both inside the project, test one with Run now, then do the housekeeping a real project needs: correct its memory when a plan changes, and read the usage of the lead agent and each thread to see what parallel work costs.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Two scheduled tasks in the project, a tested daily-post email, an updated memory file and a usage review.</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scheduled tasks, memory,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SCHEDULE</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Schedule two recurring tasks in this project.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Task 1 - "Today's Lumo post", every weekday at 9:00am:</a:t>
            </a:r>
          </a:p>
          <a:p>
            <a:pPr algn="l">
              <a:spcAft>
                <a:spcPts val="200"/>
              </a:spcAft>
            </a:pPr>
            <a:r>
              <a:rPr sz="1200" b="0">
                <a:solidFill>
                  <a:srgbClr val="21201C"/>
                </a:solidFill>
                <a:latin typeface="Calibri"/>
              </a:rPr>
              <a:t>take today's row from social-calendar.csv, polish it with</a:t>
            </a:r>
          </a:p>
          <a:p>
            <a:pPr algn="l">
              <a:spcAft>
                <a:spcPts val="200"/>
              </a:spcAft>
            </a:pPr>
            <a:r>
              <a:rPr sz="1200" b="0">
                <a:solidFill>
                  <a:srgbClr val="21201C"/>
                </a:solidFill>
                <a:latin typeface="Calibri"/>
              </a:rPr>
              <a:t>lumo-brand-voice, check every price and claim against the brand</a:t>
            </a:r>
          </a:p>
          <a:p>
            <a:pPr algn="l">
              <a:spcAft>
                <a:spcPts val="200"/>
              </a:spcAft>
            </a:pPr>
            <a:r>
              <a:rPr sz="1200" b="0">
                <a:solidFill>
                  <a:srgbClr val="21201C"/>
                </a:solidFill>
                <a:latin typeface="Calibri"/>
              </a:rPr>
              <a:t>kit, and email it to &lt;YOUR EMAIL&gt; as a draft with the subject</a:t>
            </a:r>
          </a:p>
          <a:p>
            <a:pPr algn="l">
              <a:spcAft>
                <a:spcPts val="200"/>
              </a:spcAft>
            </a:pPr>
            <a:r>
              <a:rPr sz="1200" b="0">
                <a:solidFill>
                  <a:srgbClr val="21201C"/>
                </a:solidFill>
                <a:latin typeface="Calibri"/>
              </a:rPr>
              <a:t>"Today's Lumo post - &lt;date&gt;". Never publish anything.</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Task 2 - "Weekly launch report", Mondays at 8:00am:</a:t>
            </a:r>
          </a:p>
          <a:p>
            <a:pPr algn="l">
              <a:spcAft>
                <a:spcPts val="200"/>
              </a:spcAft>
            </a:pPr>
            <a:r>
              <a:rPr sz="1200" b="0">
                <a:solidFill>
                  <a:srgbClr val="21201C"/>
                </a:solidFill>
                <a:latin typeface="Calibri"/>
              </a:rPr>
              <a:t>summarise last week's posts from the calendar and anything new</a:t>
            </a:r>
          </a:p>
          <a:p>
            <a:pPr algn="l">
              <a:spcAft>
                <a:spcPts val="200"/>
              </a:spcAft>
            </a:pPr>
            <a:r>
              <a:rPr sz="1200" b="0">
                <a:solidFill>
                  <a:srgbClr val="21201C"/>
                </a:solidFill>
                <a:latin typeface="Calibri"/>
              </a:rPr>
              <a:t>in the Lumo Launch Drive folder in five bullet points, and</a:t>
            </a:r>
          </a:p>
          <a:p>
            <a:pPr algn="l">
              <a:spcAft>
                <a:spcPts val="200"/>
              </a:spcAft>
            </a:pPr>
            <a:r>
              <a:rPr sz="1200" b="0">
                <a:solidFill>
                  <a:srgbClr val="21201C"/>
                </a:solidFill>
                <a:latin typeface="Calibri"/>
              </a:rPr>
              <a:t>email it to &lt;YOUR EMAIL&gt;.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Show me both tasks before you save them, then run Task 1 once</a:t>
            </a:r>
          </a:p>
          <a:p>
            <a:pPr algn="l">
              <a:spcAft>
                <a:spcPts val="200"/>
              </a:spcAft>
            </a:pPr>
            <a:r>
              <a:rPr sz="1200" b="0">
                <a:solidFill>
                  <a:srgbClr val="21201C"/>
                </a:solidFill>
                <a:latin typeface="Calibri"/>
              </a:rPr>
              <a:t>now as a test, using 1 December 2026 as today.</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The task drafts and emails — it never publishes.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MEMORY</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Remember this for the project: the Singapore launch has moved</a:t>
            </a:r>
          </a:p>
          <a:p>
            <a:pPr algn="l">
              <a:spcAft>
                <a:spcPts val="200"/>
              </a:spcAft>
            </a:pPr>
            <a:r>
              <a:rPr sz="1500" b="0">
                <a:solidFill>
                  <a:srgbClr val="21201C"/>
                </a:solidFill>
                <a:latin typeface="Calibri"/>
              </a:rPr>
              <a:t>from 1 December to 8 December 2026. Kuala Lumpur is unchanged.</a:t>
            </a:r>
          </a:p>
          <a:p>
            <a:pPr algn="l">
              <a:spcAft>
                <a:spcPts val="200"/>
              </a:spcAft>
            </a:pPr>
            <a:r>
              <a:rPr sz="1500" b="0">
                <a:solidFill>
                  <a:srgbClr val="21201C"/>
                </a:solidFill>
                <a:latin typeface="Calibri"/>
              </a:rPr>
              <a:t>Tell me everything in the project that depends on the launch</a:t>
            </a:r>
          </a:p>
          <a:p>
            <a:pPr algn="l">
              <a:spcAft>
                <a:spcPts val="200"/>
              </a:spcAft>
            </a:pPr>
            <a:r>
              <a:rPr sz="1500" b="0">
                <a:solidFill>
                  <a:srgbClr val="21201C"/>
                </a:solidFill>
                <a:latin typeface="Calibri"/>
              </a:rPr>
              <a:t>date - posts, tasks, the deck, the brief - and propose the</a:t>
            </a:r>
          </a:p>
          <a:p>
            <a:pPr algn="l">
              <a:spcAft>
                <a:spcPts val="200"/>
              </a:spcAft>
            </a:pPr>
            <a:r>
              <a:rPr sz="1500" b="0">
                <a:solidFill>
                  <a:srgbClr val="21201C"/>
                </a:solidFill>
                <a:latin typeface="Calibri"/>
              </a:rPr>
              <a:t>changes. Do not make them yet.</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Project settings → Memory and check what it wrote.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REVIEW</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Review this project for me: list the threads you started today,</a:t>
            </a:r>
          </a:p>
          <a:p>
            <a:pPr algn="l">
              <a:spcAft>
                <a:spcPts val="200"/>
              </a:spcAft>
            </a:pPr>
            <a:r>
              <a:rPr sz="1500" b="0">
                <a:solidFill>
                  <a:srgbClr val="21201C"/>
                </a:solidFill>
                <a:latin typeface="Calibri"/>
              </a:rPr>
              <a:t>what each produced, and where each output is saved. Then tell</a:t>
            </a:r>
          </a:p>
          <a:p>
            <a:pPr algn="l">
              <a:spcAft>
                <a:spcPts val="200"/>
              </a:spcAft>
            </a:pPr>
            <a:r>
              <a:rPr sz="1500" b="0">
                <a:solidFill>
                  <a:srgbClr val="21201C"/>
                </a:solidFill>
                <a:latin typeface="Calibri"/>
              </a:rPr>
              <a:t>me which context files, instructions or memory entries are now</a:t>
            </a:r>
          </a:p>
          <a:p>
            <a:pPr algn="l">
              <a:spcAft>
                <a:spcPts val="200"/>
              </a:spcAft>
            </a:pPr>
            <a:r>
              <a:rPr sz="1500" b="0">
                <a:solidFill>
                  <a:srgbClr val="21201C"/>
                </a:solidFill>
                <a:latin typeface="Calibri"/>
              </a:rPr>
              <a:t>out of date.</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Project settings → Usage and compare.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 the Posts and Review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with your own email address in place of &lt;YOUR EMAIL&gt;.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both tasks before they are saved: name, prompt, frequency and time.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your inbox and read the test email for 1 December.</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Scheduled in the project and confirm both tasks are listed.</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then read the list of things that depend on the date.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Memory and find the new launch-date entry. Edit it if the wording is wrong.</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3 at the end of the lab.</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Usage and read the lead agent's and each thread's tokens.</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 the Posts and Review the Project</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Two tasks are listed under Scheduled — Today's Lumo post on weekdays at 9:00am and Weekly launch report on Mondays at 8:00am. The test run emailed you a polished 1 December post as a draft, with S$ prices and no health claim, and nothing was published. Project memory records the 8 December Singapore launch, and the lead agent listed what depends on it. Project settings → Usage shows tokens for the lead agent and for each thread you started today.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Content Production and Scheduled Work</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08</a:t>
            </a:r>
          </a:p>
          <a:p>
            <a:pPr algn="l">
              <a:spcAft>
                <a:spcPts val="300"/>
              </a:spcAft>
            </a:pPr>
            <a:r>
              <a:rPr sz="1150" b="0">
                <a:solidFill>
                  <a:srgbClr val="6B6862"/>
                </a:solidFill>
                <a:latin typeface="Calibri"/>
              </a:rPr>
              <a:t>You can now produce a two-week, four-platform social calendar with one thread per channel.</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09</a:t>
            </a:r>
          </a:p>
          <a:p>
            <a:pPr algn="l">
              <a:spcAft>
                <a:spcPts val="300"/>
              </a:spcAft>
            </a:pPr>
            <a:r>
              <a:rPr sz="1150" b="0">
                <a:solidFill>
                  <a:srgbClr val="6B6862"/>
                </a:solidFill>
                <a:latin typeface="Calibri"/>
              </a:rPr>
              <a:t>You can now script, storyboard and render a vertical launch video from supplied brand assets.</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10</a:t>
            </a:r>
          </a:p>
          <a:p>
            <a:pPr algn="l">
              <a:spcAft>
                <a:spcPts val="300"/>
              </a:spcAft>
            </a:pPr>
            <a:r>
              <a:rPr sz="1150" b="0">
                <a:solidFill>
                  <a:srgbClr val="6B6862"/>
                </a:solidFill>
                <a:latin typeface="Calibri"/>
              </a:rPr>
              <a:t>You can now schedule recurring project tasks, edit project memory and review thread usage.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with a goal, instructions, context and memory, and explain how its lead agent splits work into parallel threads.</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threads</a:t>
            </a:r>
          </a:p>
          <a:p>
            <a:pPr algn="l">
              <a:spcAft>
                <a:spcPts val="300"/>
              </a:spcAft>
            </a:pPr>
            <a:r>
              <a:rPr sz="950" b="0">
                <a:solidFill>
                  <a:srgbClr val="6B6862"/>
                </a:solidFill>
                <a:latin typeface="Calibri"/>
              </a:rPr>
              <a:t>Run multi-subject market research as parallel threads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 in threads</a:t>
            </a:r>
          </a:p>
          <a:p>
            <a:pPr algn="l">
              <a:spcAft>
                <a:spcPts val="300"/>
              </a:spcAft>
            </a:pPr>
            <a:r>
              <a:rPr sz="950" b="0">
                <a:solidFill>
                  <a:srgbClr val="6B6862"/>
                </a:solidFill>
                <a:latin typeface="Calibri"/>
              </a:rPr>
              <a:t>Create a two-week, multi-platform set of social media posts in parallel threads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maintain project memory and review thread usage, keeping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Lumo data — never real customer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Drive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and the brief's numbers back against the source file.</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each drafted email and post in full; approve it only when the facts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customer.</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Watch thread usage</a:t>
            </a:r>
          </a:p>
          <a:p>
            <a:pPr algn="l">
              <a:spcAft>
                <a:spcPts val="300"/>
              </a:spcAft>
            </a:pPr>
            <a:r>
              <a:rPr sz="1150" b="0">
                <a:solidFill>
                  <a:srgbClr val="6B6862"/>
                </a:solidFill>
                <a:latin typeface="Calibri"/>
              </a:rPr>
              <a:t>Parallel threads multiply usage — check Project settings → Usage.</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real Project</a:t>
            </a:r>
          </a:p>
          <a:p>
            <a:pPr algn="l">
              <a:spcAft>
                <a:spcPts val="300"/>
              </a:spcAft>
            </a:pPr>
            <a:r>
              <a:rPr sz="1150" b="0">
                <a:solidFill>
                  <a:srgbClr val="6B6862"/>
                </a:solidFill>
                <a:latin typeface="Calibri"/>
              </a:rPr>
              <a:t>Give your next campaign a project with a goal, instructions and context.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Split one job into threads</a:t>
            </a:r>
          </a:p>
          <a:p>
            <a:pPr algn="l">
              <a:spcAft>
                <a:spcPts val="300"/>
              </a:spcAft>
            </a:pPr>
            <a:r>
              <a:rPr sz="1150" b="0">
                <a:solidFill>
                  <a:srgbClr val="6B6862"/>
                </a:solidFill>
                <a:latin typeface="Calibri"/>
              </a:rPr>
              <a:t>Next time you research competitors, give each one its own thread.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Capture your brand voice</a:t>
            </a:r>
          </a:p>
          <a:p>
            <a:pPr algn="l">
              <a:spcAft>
                <a:spcPts val="300"/>
              </a:spcAft>
            </a:pPr>
            <a:r>
              <a:rPr sz="1150" b="0">
                <a:solidFill>
                  <a:srgbClr val="6B6862"/>
                </a:solidFill>
                <a:latin typeface="Calibri"/>
              </a:rPr>
              <a:t>Turn your real brand guide into a skill your whole team shares.</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 one routine</a:t>
            </a:r>
          </a:p>
          <a:p>
            <a:pPr algn="l">
              <a:spcAft>
                <a:spcPts val="300"/>
              </a:spcAft>
            </a:pPr>
            <a:r>
              <a:rPr sz="1150" b="0">
                <a:solidFill>
                  <a:srgbClr val="6B6862"/>
                </a:solidFill>
                <a:latin typeface="Calibri"/>
              </a:rPr>
              <a:t>Pick the post or report you produce every week and schedule the draft.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Browse Discover</a:t>
            </a:r>
          </a:p>
          <a:p>
            <a:pPr algn="l">
              <a:spcAft>
                <a:spcPts val="300"/>
              </a:spcAft>
            </a:pPr>
            <a:r>
              <a:rPr sz="1150" b="0">
                <a:solidFill>
                  <a:srgbClr val="6B6862"/>
                </a:solidFill>
                <a:latin typeface="Calibri"/>
              </a:rPr>
              <a:t>See which plugins already exist before you write a skill someone has packaged.</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launch project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Claude Project with a lead agent and threads, verified market research, a Live Artefact dashboard, a deck and brief, a brand-voice skill, two weeks of social posts, a launch video and the scheduled tasks that keep it all moving.</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Masterclass</dc:title>
  <dc:subject>C1382 · v5.0</dc:subject>
  <dc:creator>Tertiary Infotech Academy Pte Ltd</dc:creator>
  <cp:keywords/>
  <dc:description/>
  <cp:lastModifiedBy>Tertiary Infotech Academy Pte Ltd</cp:lastModifiedBy>
  <cp:revision>1</cp:revision>
  <dcterms:created xsi:type="dcterms:W3CDTF">2013-01-27T09:14:16Z</dcterms:created>
  <dcterms:modified xsi:type="dcterms:W3CDTF">2013-01-27T09:15:58Z</dcterms:modified>
  <cp:category/>
</cp:coreProperties>
</file>