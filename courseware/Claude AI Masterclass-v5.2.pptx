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v5.2  ·  27 October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AI Masterclass</a:t>
            </a:r>
          </a:p>
        </p:txBody>
      </p:sp>
      <p:sp>
        <p:nvSpPr>
          <p:cNvPr id="8" name="TextBox 7"/>
          <p:cNvSpPr txBox="1"/>
          <p:nvPr/>
        </p:nvSpPr>
        <p:spPr>
          <a:xfrm>
            <a:off x="822960" y="3931920"/>
            <a:ext cx="8229600" cy="457200"/>
          </a:xfrm>
          <a:prstGeom prst="rect">
            <a:avLst/>
          </a:prstGeom>
          <a:noFill/>
        </p:spPr>
        <p:txBody>
          <a:bodyPr wrap="square" anchor="t" lIns="0" rIns="0" tIns="0" bIns="0">
            <a:spAutoFit/>
          </a:bodyPr>
          <a:lstStyle/>
          <a:p>
            <a:pPr algn="l">
              <a:spcAft>
                <a:spcPts val="400"/>
              </a:spcAft>
            </a:pPr>
            <a:r>
              <a:rPr sz="2200" b="1">
                <a:solidFill>
                  <a:srgbClr val="D97757"/>
                </a:solidFill>
                <a:latin typeface="Cambria"/>
              </a:rPr>
              <a:t>Classic Projects Edition</a:t>
            </a:r>
          </a:p>
        </p:txBody>
      </p:sp>
      <p:sp>
        <p:nvSpPr>
          <p:cNvPr id="9" name="TextBox 8"/>
          <p:cNvSpPr txBox="1"/>
          <p:nvPr/>
        </p:nvSpPr>
        <p:spPr>
          <a:xfrm>
            <a:off x="822960" y="443484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Projects, artefacts, connectors, skills and content — for marketing teams</a:t>
            </a:r>
          </a:p>
        </p:txBody>
      </p:sp>
      <p:sp>
        <p:nvSpPr>
          <p:cNvPr id="10" name="TextBox 9"/>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1" name="TextBox 10"/>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2" name="TextBox 11"/>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marketing work</a:t>
            </a:r>
          </a:p>
          <a:p>
            <a:pPr algn="l">
              <a:spcAft>
                <a:spcPts val="300"/>
              </a:spcAft>
            </a:pPr>
            <a:r>
              <a:rPr sz="1150" b="0">
                <a:solidFill>
                  <a:srgbClr val="6B6862"/>
                </a:solidFill>
                <a:latin typeface="Calibri"/>
              </a:rPr>
              <a:t>One piece of content or report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channels</a:t>
            </a:r>
          </a:p>
          <a:p>
            <a:pPr algn="l">
              <a:spcAft>
                <a:spcPts val="300"/>
              </a:spcAft>
            </a:pPr>
            <a:r>
              <a:rPr sz="1150" b="0">
                <a:solidFill>
                  <a:srgbClr val="6B6862"/>
                </a:solidFill>
                <a:latin typeface="Calibri"/>
              </a:rPr>
              <a:t>Which social platforms and tools your team actually uses.</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Claude to take off your plate.</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TN</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 Trainer Name ]</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 Title / Role ]</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Qualifications:  ____________________________________________</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Expertise:  _________________________________________________</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Experience:  ________________________________________________</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Contact / Profile:  __________________________________________</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61188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AC</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Dr. Alfred Ang</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AI Trainer &amp; Engineer</a:t>
            </a:r>
          </a:p>
        </p:txBody>
      </p:sp>
      <p:pic>
        <p:nvPicPr>
          <p:cNvPr id="10" name="Picture 9" descr="Claude Certified Associate"/>
          <p:cNvPicPr>
            <a:picLocks noChangeAspect="1"/>
          </p:cNvPicPr>
          <p:nvPr/>
        </p:nvPicPr>
        <p:blipFill>
          <a:blip r:embed="rId2"/>
          <a:stretch>
            <a:fillRect/>
          </a:stretch>
        </p:blipFill>
        <p:spPr>
          <a:xfrm>
            <a:off x="1691640" y="4005072"/>
            <a:ext cx="1005840" cy="1005840"/>
          </a:xfrm>
          <a:prstGeom prst="rect">
            <a:avLst/>
          </a:prstGeom>
        </p:spPr>
      </p:pic>
      <p:sp>
        <p:nvSpPr>
          <p:cNvPr id="11" name="Rectangle 10"/>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3" name="TextBox 12"/>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PhD-qualified trainer specialising in AI, software engineering and developer tooling.</a:t>
            </a:r>
          </a:p>
        </p:txBody>
      </p:sp>
      <p:sp>
        <p:nvSpPr>
          <p:cNvPr id="14" name="Rectangle 13"/>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6" name="TextBox 15"/>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Hands-on experience building agentic AI applications and automations with Claude.</a:t>
            </a:r>
          </a:p>
        </p:txBody>
      </p:sp>
      <p:sp>
        <p:nvSpPr>
          <p:cNvPr id="17" name="Rectangle 16"/>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9" name="TextBox 18"/>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Trains professionals across Singapore on practical, project-based AI skills.</a:t>
            </a:r>
          </a:p>
        </p:txBody>
      </p:sp>
      <p:sp>
        <p:nvSpPr>
          <p:cNvPr id="20" name="Rectangle 19"/>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2" name="TextBox 21"/>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Certifications: Claude Certified Associate (Foundations), PMP, AWS, Microsoft, CompTIA, CKA, CKAD.</a:t>
            </a:r>
          </a:p>
        </p:txBody>
      </p:sp>
      <p:sp>
        <p:nvSpPr>
          <p:cNvPr id="23" name="Rectangle 22"/>
          <p:cNvSpPr/>
          <p:nvPr/>
        </p:nvSpPr>
        <p:spPr>
          <a:xfrm>
            <a:off x="420624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5" name="TextBox 24"/>
          <p:cNvSpPr txBox="1"/>
          <p:nvPr/>
        </p:nvSpPr>
        <p:spPr>
          <a:xfrm>
            <a:off x="489204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linkedin.com/in/angchewhoe</a:t>
            </a:r>
          </a:p>
        </p:txBody>
      </p:sp>
      <p:sp>
        <p:nvSpPr>
          <p:cNvPr id="26" name="Rectangle 25"/>
          <p:cNvSpPr/>
          <p:nvPr/>
        </p:nvSpPr>
        <p:spPr>
          <a:xfrm>
            <a:off x="822960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8" name="TextBox 27"/>
          <p:cNvSpPr txBox="1"/>
          <p:nvPr/>
        </p:nvSpPr>
        <p:spPr>
          <a:xfrm>
            <a:off x="891540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github.com/alfredang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block of theory is followed by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customer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publish</a:t>
            </a:r>
          </a:p>
          <a:p>
            <a:pPr algn="l">
              <a:spcAft>
                <a:spcPts val="300"/>
              </a:spcAft>
            </a:pPr>
            <a:r>
              <a:rPr sz="1150" b="0">
                <a:solidFill>
                  <a:srgbClr val="6B6862"/>
                </a:solidFill>
                <a:latin typeface="Calibri"/>
              </a:rPr>
              <a:t>Approve every post and email against the source facts.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 and Market Research</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family and setup</a:t>
            </a:r>
          </a:p>
          <a:p>
            <a:pPr algn="l">
              <a:spcAft>
                <a:spcPts val="800"/>
              </a:spcAft>
            </a:pPr>
            <a:r>
              <a:rPr sz="1200" b="0">
                <a:solidFill>
                  <a:srgbClr val="6B6862"/>
                </a:solidFill>
                <a:latin typeface="Calibri"/>
              </a:rPr>
              <a:t>•  Projects: instructions, context, folder, scheduled</a:t>
            </a:r>
          </a:p>
          <a:p>
            <a:pPr algn="l">
              <a:spcAft>
                <a:spcPts val="800"/>
              </a:spcAft>
            </a:pPr>
            <a:r>
              <a:rPr sz="1200" b="0">
                <a:solidFill>
                  <a:srgbClr val="6B6862"/>
                </a:solidFill>
                <a:latin typeface="Calibri"/>
              </a:rPr>
              <a:t>•  Parallel tasks for parallel work</a:t>
            </a:r>
          </a:p>
          <a:p>
            <a:pPr algn="l">
              <a:spcAft>
                <a:spcPts val="800"/>
              </a:spcAft>
            </a:pPr>
            <a:r>
              <a:rPr sz="1200" b="0">
                <a:solidFill>
                  <a:srgbClr val="6B6862"/>
                </a:solidFill>
                <a:latin typeface="Calibri"/>
              </a:rPr>
              <a:t>•  Market research and Live Artefacts</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Connectors, Skills and Plugins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Connectors: Drive and Gmail</a:t>
            </a:r>
          </a:p>
          <a:p>
            <a:pPr algn="l">
              <a:spcAft>
                <a:spcPts val="800"/>
              </a:spcAft>
            </a:pPr>
            <a:r>
              <a:rPr sz="1200" b="0">
                <a:solidFill>
                  <a:srgbClr val="6B6862"/>
                </a:solidFill>
                <a:latin typeface="Calibri"/>
              </a:rPr>
              <a:t>•  Context window housekeeping</a:t>
            </a:r>
          </a:p>
          <a:p>
            <a:pPr algn="l">
              <a:spcAft>
                <a:spcPts val="800"/>
              </a:spcAft>
            </a:pPr>
            <a:r>
              <a:rPr sz="1200" b="0">
                <a:solidFill>
                  <a:srgbClr val="6B6862"/>
                </a:solidFill>
                <a:latin typeface="Calibri"/>
              </a:rPr>
              <a:t>•  Slides, Docs and built-in skills</a:t>
            </a:r>
          </a:p>
          <a:p>
            <a:pPr algn="l">
              <a:spcAft>
                <a:spcPts val="800"/>
              </a:spcAft>
            </a:pPr>
            <a:r>
              <a:rPr sz="1200" b="0">
                <a:solidFill>
                  <a:srgbClr val="6B6862"/>
                </a:solidFill>
                <a:latin typeface="Calibri"/>
              </a:rPr>
              <a:t>•  Agent Skills, plugins and mods</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Content Production and Scheduled Work</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One prompt, four platforms</a:t>
            </a:r>
          </a:p>
          <a:p>
            <a:pPr algn="l">
              <a:spcAft>
                <a:spcPts val="800"/>
              </a:spcAft>
            </a:pPr>
            <a:r>
              <a:rPr sz="1200" b="0">
                <a:solidFill>
                  <a:srgbClr val="6B6862"/>
                </a:solidFill>
                <a:latin typeface="Calibri"/>
              </a:rPr>
              <a:t>•  Social post specs and brand checks</a:t>
            </a:r>
          </a:p>
          <a:p>
            <a:pPr algn="l">
              <a:spcAft>
                <a:spcPts val="800"/>
              </a:spcAft>
            </a:pPr>
            <a:r>
              <a:rPr sz="1200" b="0">
                <a:solidFill>
                  <a:srgbClr val="6B6862"/>
                </a:solidFill>
                <a:latin typeface="Calibri"/>
              </a:rPr>
              <a:t>•  Script, storyboard, render: the video pipeline</a:t>
            </a:r>
          </a:p>
          <a:p>
            <a:pPr algn="l">
              <a:spcAft>
                <a:spcPts val="800"/>
              </a:spcAft>
            </a:pPr>
            <a:r>
              <a:rPr sz="1200" b="0">
                <a:solidFill>
                  <a:srgbClr val="6B6862"/>
                </a:solidFill>
                <a:latin typeface="Calibri"/>
              </a:rPr>
              <a:t>•  Scheduled tasks and the memory file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in Cowork with instructions, context, a working folder and a project memory file.</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parallel tasks</a:t>
            </a:r>
          </a:p>
          <a:p>
            <a:pPr algn="l">
              <a:spcAft>
                <a:spcPts val="300"/>
              </a:spcAft>
            </a:pPr>
            <a:r>
              <a:rPr sz="950" b="0">
                <a:solidFill>
                  <a:srgbClr val="6B6862"/>
                </a:solidFill>
                <a:latin typeface="Calibri"/>
              </a:rPr>
              <a:t>Run multi-subject market research as parallel tasks in one project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 and Gmail</a:t>
            </a:r>
          </a:p>
          <a:p>
            <a:pPr algn="l">
              <a:spcAft>
                <a:spcPts val="300"/>
              </a:spcAft>
            </a:pPr>
            <a:r>
              <a:rPr sz="950" b="0">
                <a:solidFill>
                  <a:srgbClr val="6B6862"/>
                </a:solidFill>
                <a:latin typeface="Calibri"/>
              </a:rPr>
              <a:t>Connect Google Drive and Gmail so Claude reads campaign files and sends an approved summary.</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Slides and Docs</a:t>
            </a:r>
          </a:p>
          <a:p>
            <a:pPr algn="l">
              <a:spcAft>
                <a:spcPts val="300"/>
              </a:spcAft>
            </a:pPr>
            <a:r>
              <a:rPr sz="950" b="0">
                <a:solidFill>
                  <a:srgbClr val="6B6862"/>
                </a:solidFill>
                <a:latin typeface="Calibri"/>
              </a:rPr>
              <a:t>Produce a launch deck and a campaign brief with Claude's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a:t>
            </a:r>
          </a:p>
          <a:p>
            <a:pPr algn="l">
              <a:spcAft>
                <a:spcPts val="300"/>
              </a:spcAft>
            </a:pPr>
            <a:r>
              <a:rPr sz="950" b="0">
                <a:solidFill>
                  <a:srgbClr val="6B6862"/>
                </a:solidFill>
                <a:latin typeface="Calibri"/>
              </a:rPr>
              <a:t>Create a two-week, multi-platform set of social media posts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and keep the project's instructions, context and memory file current, with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9:00  Welcome</a:t>
            </a:r>
          </a:p>
          <a:p>
            <a:pPr algn="l">
              <a:spcAft>
                <a:spcPts val="300"/>
              </a:spcAft>
            </a:pPr>
            <a:r>
              <a:rPr sz="950" b="0">
                <a:solidFill>
                  <a:srgbClr val="21201C"/>
                </a:solidFill>
                <a:latin typeface="Calibri"/>
              </a:rPr>
              <a:t>•  9:20  Topic 1 — Claude Projects and Market Research</a:t>
            </a:r>
          </a:p>
          <a:p>
            <a:pPr algn="l">
              <a:spcAft>
                <a:spcPts val="300"/>
              </a:spcAft>
            </a:pPr>
            <a:r>
              <a:rPr sz="950" b="0">
                <a:solidFill>
                  <a:srgbClr val="21201C"/>
                </a:solidFill>
                <a:latin typeface="Calibri"/>
              </a:rPr>
              <a:t>•  9:55  Hands-on: Lab 1</a:t>
            </a:r>
          </a:p>
          <a:p>
            <a:pPr algn="l">
              <a:spcAft>
                <a:spcPts val="300"/>
              </a:spcAft>
            </a:pPr>
            <a:r>
              <a:rPr sz="950" b="0">
                <a:solidFill>
                  <a:srgbClr val="21201C"/>
                </a:solidFill>
                <a:latin typeface="Calibri"/>
              </a:rPr>
              <a:t>•  10:20  Tea break</a:t>
            </a:r>
          </a:p>
          <a:p>
            <a:pPr algn="l">
              <a:spcAft>
                <a:spcPts val="300"/>
              </a:spcAft>
            </a:pPr>
            <a:r>
              <a:rPr sz="950" b="0">
                <a:solidFill>
                  <a:srgbClr val="21201C"/>
                </a:solidFill>
                <a:latin typeface="Calibri"/>
              </a:rPr>
              <a:t>•  10:35  Hands-on: Lab 2</a:t>
            </a:r>
          </a:p>
          <a:p>
            <a:pPr algn="l">
              <a:spcAft>
                <a:spcPts val="300"/>
              </a:spcAft>
            </a:pPr>
            <a:r>
              <a:rPr sz="950" b="0">
                <a:solidFill>
                  <a:srgbClr val="21201C"/>
                </a:solidFill>
                <a:latin typeface="Calibri"/>
              </a:rPr>
              <a:t>•  11:15  Topic 1 — Live Artefacts</a:t>
            </a:r>
          </a:p>
          <a:p>
            <a:pPr algn="l">
              <a:spcAft>
                <a:spcPts val="300"/>
              </a:spcAft>
            </a:pPr>
            <a:r>
              <a:rPr sz="950" b="0">
                <a:solidFill>
                  <a:srgbClr val="21201C"/>
                </a:solidFill>
                <a:latin typeface="Calibri"/>
              </a:rPr>
              <a:t>•  11:25  Hands-on: Lab 3</a:t>
            </a:r>
          </a:p>
          <a:p>
            <a:pPr algn="l">
              <a:spcAft>
                <a:spcPts val="300"/>
              </a:spcAft>
            </a:pPr>
            <a:r>
              <a:rPr sz="950" b="0">
                <a:solidFill>
                  <a:srgbClr val="21201C"/>
                </a:solidFill>
                <a:latin typeface="Calibri"/>
              </a:rPr>
              <a:t>•  12:05  Topic 2 — Connectors, Skills and Plugins</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12:30  Lunch break</a:t>
            </a:r>
          </a:p>
          <a:p>
            <a:pPr algn="l">
              <a:spcAft>
                <a:spcPts val="300"/>
              </a:spcAft>
            </a:pPr>
            <a:r>
              <a:rPr sz="950" b="0">
                <a:solidFill>
                  <a:srgbClr val="21201C"/>
                </a:solidFill>
                <a:latin typeface="Calibri"/>
              </a:rPr>
              <a:t>•  13:30  Hands-on: Lab 4</a:t>
            </a:r>
          </a:p>
          <a:p>
            <a:pPr algn="l">
              <a:spcAft>
                <a:spcPts val="300"/>
              </a:spcAft>
            </a:pPr>
            <a:r>
              <a:rPr sz="950" b="0">
                <a:solidFill>
                  <a:srgbClr val="21201C"/>
                </a:solidFill>
                <a:latin typeface="Calibri"/>
              </a:rPr>
              <a:t>•  14:05  Topic 2 — Slides, Docs and Agent Skills</a:t>
            </a:r>
          </a:p>
          <a:p>
            <a:pPr algn="l">
              <a:spcAft>
                <a:spcPts val="300"/>
              </a:spcAft>
            </a:pPr>
            <a:r>
              <a:rPr sz="950" b="0">
                <a:solidFill>
                  <a:srgbClr val="21201C"/>
                </a:solidFill>
                <a:latin typeface="Calibri"/>
              </a:rPr>
              <a:t>•  14:15  Hands-on: Lab 5</a:t>
            </a:r>
          </a:p>
          <a:p>
            <a:pPr algn="l">
              <a:spcAft>
                <a:spcPts val="300"/>
              </a:spcAft>
            </a:pPr>
            <a:r>
              <a:rPr sz="950" b="0">
                <a:solidFill>
                  <a:srgbClr val="21201C"/>
                </a:solidFill>
                <a:latin typeface="Calibri"/>
              </a:rPr>
              <a:t>•  14:45  Hands-on: Lab 6</a:t>
            </a:r>
          </a:p>
          <a:p>
            <a:pPr algn="l">
              <a:spcAft>
                <a:spcPts val="300"/>
              </a:spcAft>
            </a:pPr>
            <a:r>
              <a:rPr sz="950" b="0">
                <a:solidFill>
                  <a:srgbClr val="21201C"/>
                </a:solidFill>
                <a:latin typeface="Calibri"/>
              </a:rPr>
              <a:t>•  15:15  Tea break</a:t>
            </a:r>
          </a:p>
          <a:p>
            <a:pPr algn="l">
              <a:spcAft>
                <a:spcPts val="300"/>
              </a:spcAft>
            </a:pPr>
            <a:r>
              <a:rPr sz="950" b="0">
                <a:solidFill>
                  <a:srgbClr val="21201C"/>
                </a:solidFill>
                <a:latin typeface="Calibri"/>
              </a:rPr>
              <a:t>•  15:30  Topic 2 — Plugins and mods</a:t>
            </a:r>
          </a:p>
          <a:p>
            <a:pPr algn="l">
              <a:spcAft>
                <a:spcPts val="300"/>
              </a:spcAft>
            </a:pPr>
            <a:r>
              <a:rPr sz="950" b="0">
                <a:solidFill>
                  <a:srgbClr val="21201C"/>
                </a:solidFill>
                <a:latin typeface="Calibri"/>
              </a:rPr>
              <a:t>•  15:40  Hands-on: Lab 7</a:t>
            </a:r>
          </a:p>
          <a:p>
            <a:pPr algn="l">
              <a:spcAft>
                <a:spcPts val="300"/>
              </a:spcAft>
            </a:pPr>
            <a:r>
              <a:rPr sz="950" b="0">
                <a:solidFill>
                  <a:srgbClr val="21201C"/>
                </a:solidFill>
                <a:latin typeface="Calibri"/>
              </a:rPr>
              <a:t>•  16:05  Topic 3 — Content Production and Scheduled Work</a:t>
            </a:r>
          </a:p>
          <a:p>
            <a:pPr algn="l">
              <a:spcAft>
                <a:spcPts val="300"/>
              </a:spcAft>
            </a:pPr>
            <a:r>
              <a:rPr sz="950" b="0">
                <a:solidFill>
                  <a:srgbClr val="21201C"/>
                </a:solidFill>
                <a:latin typeface="Calibri"/>
              </a:rPr>
              <a:t>•  16:15  Hands-on: Lab 8</a:t>
            </a:r>
          </a:p>
          <a:p>
            <a:pPr algn="l">
              <a:spcAft>
                <a:spcPts val="300"/>
              </a:spcAft>
            </a:pPr>
            <a:r>
              <a:rPr sz="950" b="0">
                <a:solidFill>
                  <a:srgbClr val="21201C"/>
                </a:solidFill>
                <a:latin typeface="Calibri"/>
              </a:rPr>
              <a:t>•  16:55  Hands-on: Lab 9</a:t>
            </a:r>
          </a:p>
          <a:p>
            <a:pPr algn="l">
              <a:spcAft>
                <a:spcPts val="300"/>
              </a:spcAft>
            </a:pPr>
            <a:r>
              <a:rPr sz="950" b="0">
                <a:solidFill>
                  <a:srgbClr val="21201C"/>
                </a:solidFill>
                <a:latin typeface="Calibri"/>
              </a:rPr>
              <a:t>•  17:25  Hands-on: Lab 10</a:t>
            </a:r>
          </a:p>
          <a:p>
            <a:pPr algn="l">
              <a:spcAft>
                <a:spcPts val="300"/>
              </a:spcAft>
            </a:pPr>
            <a:r>
              <a:rPr sz="950" b="0">
                <a:solidFill>
                  <a:srgbClr val="21201C"/>
                </a:solidFill>
                <a:latin typeface="Calibri"/>
              </a:rPr>
              <a:t>•  17:45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Ten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BEFORE WE START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Course Materials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Open the prompts page now — you will paste from it in every lab.</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Copy-ready prompts</a:t>
            </a:r>
          </a:p>
          <a:p>
            <a:pPr algn="l">
              <a:spcAft>
                <a:spcPts val="300"/>
              </a:spcAft>
            </a:pPr>
            <a:r>
              <a:rPr sz="1150" b="0">
                <a:solidFill>
                  <a:srgbClr val="6B6862"/>
                </a:solidFill>
                <a:latin typeface="Calibri"/>
              </a:rPr>
              <a:t>https://tertiarycourses.github.io/C1382-Claude-AI-Masterclass/prompts/ — every lab's prompt with a copy button. Keep it open in a browser tab all day.</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files and data</a:t>
            </a:r>
          </a:p>
          <a:p>
            <a:pPr algn="l">
              <a:spcAft>
                <a:spcPts val="300"/>
              </a:spcAft>
            </a:pPr>
            <a:r>
              <a:rPr sz="1150" b="0">
                <a:solidFill>
                  <a:srgbClr val="6B6862"/>
                </a:solidFill>
                <a:latin typeface="Calibri"/>
              </a:rPr>
              <a:t>https://github.com/tertiarycourses/C1382-Claude-AI-Masterclass — each lab folder holds its prompt PDF and, where needed, a data folder of mock files.</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Learner Guide</a:t>
            </a:r>
          </a:p>
          <a:p>
            <a:pPr algn="l">
              <a:spcAft>
                <a:spcPts val="300"/>
              </a:spcAft>
            </a:pPr>
            <a:r>
              <a:rPr sz="1150" b="0">
                <a:solidFill>
                  <a:srgbClr val="6B6862"/>
                </a:solidFill>
                <a:latin typeface="Calibri"/>
              </a:rPr>
              <a:t>The full step-by-step for every lab, the reason for each step, and the check to run at the end.</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The Lumo Cold Kopi launch</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It is late October 2026. Lumo Kopi Co. launches Lumo Cold Kopi, its first ready-to-drink canned kopi, in Singapore on 1 December — six weeks away — and in Kuala Lumpur in January. The marketing team is small, the budget is S$60,000, and nothing has been produced yet: no research, no deck, no posts, no video.</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THE SCENARIO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Brand, Ten Labs, One Project</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role</a:t>
            </a:r>
          </a:p>
          <a:p>
            <a:pPr algn="l">
              <a:spcAft>
                <a:spcPts val="300"/>
              </a:spcAft>
            </a:pPr>
            <a:r>
              <a:rPr sz="1150" b="0">
                <a:solidFill>
                  <a:srgbClr val="6B6862"/>
                </a:solidFill>
                <a:latin typeface="Calibri"/>
              </a:rPr>
              <a:t>You are the Lumo marketing team. Instead of juggling a dozen separate chats, you run the whole launch from one Claude Project in Cowork: its instructions, brand kit and working folder are set up once, and every task you start inside it already knows the brand.</a:t>
            </a:r>
          </a:p>
        </p:txBody>
      </p:sp>
      <p:sp>
        <p:nvSpPr>
          <p:cNvPr id="8" name="Rectangle 7"/>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19272"/>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mission</a:t>
            </a:r>
          </a:p>
          <a:p>
            <a:pPr algn="l">
              <a:spcAft>
                <a:spcPts val="300"/>
              </a:spcAft>
            </a:pPr>
            <a:r>
              <a:rPr sz="1150" b="0">
                <a:solidFill>
                  <a:srgbClr val="6B6862"/>
                </a:solidFill>
                <a:latin typeface="Calibri"/>
              </a:rPr>
              <a:t>By the end of the day the project holds everything the launch needs — verified market research, a dashboard, a deck and brief, a brand-voice skill, two weeks of social posts, a launch video — and scheduled tasks that keep it moving while you are away.</a:t>
            </a:r>
          </a:p>
        </p:txBody>
      </p:sp>
      <p:sp>
        <p:nvSpPr>
          <p:cNvPr id="11" name="Rectangle 10"/>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45736"/>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Synthetic data only</a:t>
            </a:r>
          </a:p>
          <a:p>
            <a:pPr algn="l">
              <a:spcAft>
                <a:spcPts val="300"/>
              </a:spcAft>
            </a:pPr>
            <a:r>
              <a:rPr sz="1150" b="0">
                <a:solidFill>
                  <a:srgbClr val="6B6862"/>
                </a:solidFill>
                <a:latin typeface="Calibri"/>
              </a:rPr>
              <a:t>All brands, figures, survey answers and documents in this course are synthetic and used for training only.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Claude Projects and Market Research</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family and setup</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Projects: instructions, context, folder, scheduled</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Parallel tasks for parallel work</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Market research and Live Artefacts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9" name="TextBox 8"/>
          <p:cNvSpPr txBox="1"/>
          <p:nvPr/>
        </p:nvSpPr>
        <p:spPr>
          <a:xfrm>
            <a:off x="82296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(Chat + Cowork)</a:t>
            </a:r>
          </a:p>
        </p:txBody>
      </p:sp>
      <p:sp>
        <p:nvSpPr>
          <p:cNvPr id="10" name="TextBox 9"/>
          <p:cNvSpPr txBox="1"/>
          <p:nvPr/>
        </p:nvSpPr>
        <p:spPr>
          <a:xfrm>
            <a:off x="82296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Chat + Cowork in one app — web, desktop &amp; mobile.</a:t>
            </a:r>
          </a:p>
        </p:txBody>
      </p:sp>
      <p:sp>
        <p:nvSpPr>
          <p:cNvPr id="11" name="Rectangle 10"/>
          <p:cNvSpPr/>
          <p:nvPr/>
        </p:nvSpPr>
        <p:spPr>
          <a:xfrm>
            <a:off x="429768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47802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Co</a:t>
            </a:r>
          </a:p>
        </p:txBody>
      </p:sp>
      <p:sp>
        <p:nvSpPr>
          <p:cNvPr id="14" name="TextBox 13"/>
          <p:cNvSpPr txBox="1"/>
          <p:nvPr/>
        </p:nvSpPr>
        <p:spPr>
          <a:xfrm>
            <a:off x="457200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457200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agentic tool for building — terminal, IDE &amp; web.</a:t>
            </a:r>
          </a:p>
        </p:txBody>
      </p:sp>
      <p:sp>
        <p:nvSpPr>
          <p:cNvPr id="16" name="Rectangle 15"/>
          <p:cNvSpPr/>
          <p:nvPr/>
        </p:nvSpPr>
        <p:spPr>
          <a:xfrm>
            <a:off x="804672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19" name="TextBox 18"/>
          <p:cNvSpPr txBox="1"/>
          <p:nvPr/>
        </p:nvSpPr>
        <p:spPr>
          <a:xfrm>
            <a:off x="832104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0" name="TextBox 19"/>
          <p:cNvSpPr txBox="1"/>
          <p:nvPr/>
        </p:nvSpPr>
        <p:spPr>
          <a:xfrm>
            <a:off x="832104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Polished UI, prototypes &amp; front-end designs.</a:t>
            </a:r>
          </a:p>
        </p:txBody>
      </p:sp>
      <p:sp>
        <p:nvSpPr>
          <p:cNvPr id="21" name="Rectangle 20"/>
          <p:cNvSpPr/>
          <p:nvPr/>
        </p:nvSpPr>
        <p:spPr>
          <a:xfrm>
            <a:off x="54864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4" name="TextBox 23"/>
          <p:cNvSpPr txBox="1"/>
          <p:nvPr/>
        </p:nvSpPr>
        <p:spPr>
          <a:xfrm>
            <a:off x="82296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25" name="TextBox 24"/>
          <p:cNvSpPr txBox="1"/>
          <p:nvPr/>
        </p:nvSpPr>
        <p:spPr>
          <a:xfrm>
            <a:off x="82296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Excel, PowerPoint, Word &amp; Outlook.</a:t>
            </a:r>
          </a:p>
        </p:txBody>
      </p:sp>
      <p:sp>
        <p:nvSpPr>
          <p:cNvPr id="26" name="Rectangle 25"/>
          <p:cNvSpPr/>
          <p:nvPr/>
        </p:nvSpPr>
        <p:spPr>
          <a:xfrm>
            <a:off x="429768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16966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Ch</a:t>
            </a:r>
          </a:p>
        </p:txBody>
      </p:sp>
      <p:sp>
        <p:nvSpPr>
          <p:cNvPr id="29" name="TextBox 28"/>
          <p:cNvSpPr txBox="1"/>
          <p:nvPr/>
        </p:nvSpPr>
        <p:spPr>
          <a:xfrm>
            <a:off x="457200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0" name="TextBox 29"/>
          <p:cNvSpPr txBox="1"/>
          <p:nvPr/>
        </p:nvSpPr>
        <p:spPr>
          <a:xfrm>
            <a:off x="457200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clicks &amp; fills forms in Chrome.</a:t>
            </a:r>
          </a:p>
        </p:txBody>
      </p:sp>
      <p:sp>
        <p:nvSpPr>
          <p:cNvPr id="31" name="Rectangle 30"/>
          <p:cNvSpPr/>
          <p:nvPr/>
        </p:nvSpPr>
        <p:spPr>
          <a:xfrm>
            <a:off x="804672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210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4" name="TextBox 33"/>
          <p:cNvSpPr txBox="1"/>
          <p:nvPr/>
        </p:nvSpPr>
        <p:spPr>
          <a:xfrm>
            <a:off x="832104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35" name="TextBox 34"/>
          <p:cNvSpPr txBox="1"/>
          <p:nvPr/>
        </p:nvSpPr>
        <p:spPr>
          <a:xfrm>
            <a:off x="832104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36" name="TextBox 35"/>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 Projects span Claude and Claude Code.</a:t>
            </a:r>
          </a:p>
        </p:txBody>
      </p:sp>
      <p:sp>
        <p:nvSpPr>
          <p:cNvPr id="37" name="TextBox 3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9" name="TextBox 3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(Chat + Cowork) and Claude Code</a:t>
            </a:r>
          </a:p>
        </p:txBody>
      </p:sp>
      <p:sp>
        <p:nvSpPr>
          <p:cNvPr id="5" name="Oval 4"/>
          <p:cNvSpPr/>
          <p:nvPr/>
        </p:nvSpPr>
        <p:spPr>
          <a:xfrm>
            <a:off x="285521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5521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7" name="TextBox 6"/>
          <p:cNvSpPr txBox="1"/>
          <p:nvPr/>
        </p:nvSpPr>
        <p:spPr>
          <a:xfrm>
            <a:off x="54864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(Chat + Cowork)</a:t>
            </a:r>
          </a:p>
        </p:txBody>
      </p:sp>
      <p:sp>
        <p:nvSpPr>
          <p:cNvPr id="8" name="TextBox 7"/>
          <p:cNvSpPr txBox="1"/>
          <p:nvPr/>
        </p:nvSpPr>
        <p:spPr>
          <a:xfrm>
            <a:off x="54864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“Thinking and work partner — this course”</a:t>
            </a:r>
          </a:p>
        </p:txBody>
      </p:sp>
      <p:sp>
        <p:nvSpPr>
          <p:cNvPr id="9" name="Rectangle 8"/>
          <p:cNvSpPr/>
          <p:nvPr/>
        </p:nvSpPr>
        <p:spPr>
          <a:xfrm>
            <a:off x="320268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268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268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5745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5745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15" name="TextBox 14"/>
          <p:cNvSpPr txBox="1"/>
          <p:nvPr/>
        </p:nvSpPr>
        <p:spPr>
          <a:xfrm>
            <a:off x="82296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Chat: ask, draft, analyse and research with web search</a:t>
            </a:r>
          </a:p>
          <a:p>
            <a:pPr algn="l">
              <a:spcAft>
                <a:spcPts val="700"/>
              </a:spcAft>
            </a:pPr>
            <a:r>
              <a:rPr sz="1250" b="0">
                <a:solidFill>
                  <a:srgbClr val="21201C"/>
                </a:solidFill>
                <a:latin typeface="Calibri"/>
              </a:rPr>
              <a:t>•  Cowork: plans and runs multi-step tasks on your files</a:t>
            </a:r>
          </a:p>
          <a:p>
            <a:pPr algn="l">
              <a:spcAft>
                <a:spcPts val="700"/>
              </a:spcAft>
            </a:pPr>
            <a:r>
              <a:rPr sz="1250" b="0">
                <a:solidFill>
                  <a:srgbClr val="21201C"/>
                </a:solidFill>
                <a:latin typeface="Calibri"/>
              </a:rPr>
              <a:t>•  Projects, connectors and skills: Drive, Gmail, Calendar</a:t>
            </a:r>
          </a:p>
          <a:p>
            <a:pPr algn="l">
              <a:spcAft>
                <a:spcPts val="700"/>
              </a:spcAft>
            </a:pPr>
            <a:r>
              <a:rPr sz="1250" b="0">
                <a:solidFill>
                  <a:srgbClr val="21201C"/>
                </a:solidFill>
                <a:latin typeface="Calibri"/>
              </a:rPr>
              <a:t>•  For everyone — web, desktop and mobile apps</a:t>
            </a:r>
          </a:p>
        </p:txBody>
      </p:sp>
      <p:sp>
        <p:nvSpPr>
          <p:cNvPr id="16" name="Oval 15"/>
          <p:cNvSpPr/>
          <p:nvPr/>
        </p:nvSpPr>
        <p:spPr>
          <a:xfrm>
            <a:off x="859307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307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a:t>
            </a:r>
          </a:p>
        </p:txBody>
      </p:sp>
      <p:sp>
        <p:nvSpPr>
          <p:cNvPr id="18" name="TextBox 17"/>
          <p:cNvSpPr txBox="1"/>
          <p:nvPr/>
        </p:nvSpPr>
        <p:spPr>
          <a:xfrm>
            <a:off x="628650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Code</a:t>
            </a:r>
          </a:p>
        </p:txBody>
      </p:sp>
      <p:sp>
        <p:nvSpPr>
          <p:cNvPr id="19" name="TextBox 18"/>
          <p:cNvSpPr txBox="1"/>
          <p:nvPr/>
        </p:nvSpPr>
        <p:spPr>
          <a:xfrm>
            <a:off x="628650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“Build partner”</a:t>
            </a:r>
          </a:p>
        </p:txBody>
      </p:sp>
      <p:sp>
        <p:nvSpPr>
          <p:cNvPr id="20" name="Rectangle 19"/>
          <p:cNvSpPr/>
          <p:nvPr/>
        </p:nvSpPr>
        <p:spPr>
          <a:xfrm>
            <a:off x="894054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4054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4054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8650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9531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531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26" name="TextBox 25"/>
          <p:cNvSpPr txBox="1"/>
          <p:nvPr/>
        </p:nvSpPr>
        <p:spPr>
          <a:xfrm>
            <a:off x="656082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Builds software, sites and automations</a:t>
            </a:r>
          </a:p>
          <a:p>
            <a:pPr algn="l">
              <a:spcAft>
                <a:spcPts val="700"/>
              </a:spcAft>
            </a:pPr>
            <a:r>
              <a:rPr sz="1250" b="0">
                <a:solidFill>
                  <a:srgbClr val="21201C"/>
                </a:solidFill>
                <a:latin typeface="Calibri"/>
              </a:rPr>
              <a:t>•  Runs in the terminal, VS Code, desktop app and web</a:t>
            </a:r>
          </a:p>
          <a:p>
            <a:pPr algn="l">
              <a:spcAft>
                <a:spcPts val="700"/>
              </a:spcAft>
            </a:pPr>
            <a:r>
              <a:rPr sz="1250" b="0">
                <a:solidFill>
                  <a:srgbClr val="21201C"/>
                </a:solidFill>
                <a:latin typeface="Calibri"/>
              </a:rPr>
              <a:t>•  Edits files, runs commands and calls MCP tools</a:t>
            </a:r>
          </a:p>
          <a:p>
            <a:pPr algn="l">
              <a:spcAft>
                <a:spcPts val="700"/>
              </a:spcAft>
            </a:pPr>
            <a:r>
              <a:rPr sz="1250" b="0">
                <a:solidFill>
                  <a:srgbClr val="21201C"/>
                </a:solidFill>
                <a:latin typeface="Calibri"/>
              </a:rPr>
              <a:t>•  Extended with CLAUDE.md, skills, sub agents and hooks</a:t>
            </a:r>
          </a:p>
        </p:txBody>
      </p:sp>
      <p:sp>
        <p:nvSpPr>
          <p:cNvPr id="27" name="TextBox 26"/>
          <p:cNvSpPr txBox="1"/>
          <p:nvPr/>
        </p:nvSpPr>
        <p:spPr>
          <a:xfrm>
            <a:off x="548640" y="5989320"/>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Chat and Cowork are now one app: Claude. A marketing team works there — and a Project ties the work together around one goal.</a:t>
            </a:r>
          </a:p>
        </p:txBody>
      </p:sp>
      <p:sp>
        <p:nvSpPr>
          <p:cNvPr id="28" name="TextBox 2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0" name="TextBox 2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Brief History of AI, 2023–2026</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ChatGPT goes mainstream; results depend on the prompt wording.</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Models call tools and MCP launches; results depend on context.</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Claude Code &amp; Codex: systems that plan, act and check their work.</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AI Agents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Always-on agents work 24/7 — OpenClaw, Hermes Agent, agent teams.</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From wording one prompt → curating context → engineering the harness → AI agents that work around the clock.</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Cowork Mode Adds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Five things a chat window cannot do.</a:t>
            </a:r>
          </a:p>
        </p:txBody>
      </p:sp>
      <p:sp>
        <p:nvSpPr>
          <p:cNvPr id="6" name="Rectangle 5"/>
          <p:cNvSpPr/>
          <p:nvPr/>
        </p:nvSpPr>
        <p:spPr>
          <a:xfrm>
            <a:off x="548640"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Access local files</a:t>
            </a:r>
          </a:p>
          <a:p>
            <a:pPr algn="l">
              <a:spcAft>
                <a:spcPts val="300"/>
              </a:spcAft>
            </a:pPr>
            <a:r>
              <a:rPr sz="1150" b="0">
                <a:solidFill>
                  <a:srgbClr val="6B6862"/>
                </a:solidFill>
                <a:latin typeface="Calibri"/>
              </a:rPr>
              <a:t>Read, write and reorganise the folders on your computer.</a:t>
            </a:r>
          </a:p>
        </p:txBody>
      </p:sp>
      <p:sp>
        <p:nvSpPr>
          <p:cNvPr id="11" name="Rectangle 10"/>
          <p:cNvSpPr/>
          <p:nvPr/>
        </p:nvSpPr>
        <p:spPr>
          <a:xfrm>
            <a:off x="6163056"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&amp; run code</a:t>
            </a:r>
          </a:p>
          <a:p>
            <a:pPr algn="l">
              <a:spcAft>
                <a:spcPts val="300"/>
              </a:spcAft>
            </a:pPr>
            <a:r>
              <a:rPr sz="1150" b="0">
                <a:solidFill>
                  <a:srgbClr val="6B6862"/>
                </a:solidFill>
                <a:latin typeface="Calibri"/>
              </a:rPr>
              <a:t>It writes the code a task needs — a chart, a video — and runs it for you.</a:t>
            </a:r>
          </a:p>
        </p:txBody>
      </p:sp>
      <p:sp>
        <p:nvSpPr>
          <p:cNvPr id="16" name="Rectangle 15"/>
          <p:cNvSpPr/>
          <p:nvPr/>
        </p:nvSpPr>
        <p:spPr>
          <a:xfrm>
            <a:off x="548640"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to tools</a:t>
            </a:r>
          </a:p>
          <a:p>
            <a:pPr algn="l">
              <a:spcAft>
                <a:spcPts val="300"/>
              </a:spcAft>
            </a:pPr>
            <a:r>
              <a:rPr sz="1150" b="0">
                <a:solidFill>
                  <a:srgbClr val="6B6862"/>
                </a:solidFill>
                <a:latin typeface="Calibri"/>
              </a:rPr>
              <a:t>Reach Google Drive, Gmail and Calendar through connectors.</a:t>
            </a:r>
          </a:p>
        </p:txBody>
      </p:sp>
      <p:sp>
        <p:nvSpPr>
          <p:cNvPr id="21" name="Rectangle 20"/>
          <p:cNvSpPr/>
          <p:nvPr/>
        </p:nvSpPr>
        <p:spPr>
          <a:xfrm>
            <a:off x="6163056"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&amp; plugins</a:t>
            </a:r>
          </a:p>
          <a:p>
            <a:pPr algn="l">
              <a:spcAft>
                <a:spcPts val="300"/>
              </a:spcAft>
            </a:pPr>
            <a:r>
              <a:rPr sz="1150" b="0">
                <a:solidFill>
                  <a:srgbClr val="6B6862"/>
                </a:solidFill>
                <a:latin typeface="Calibri"/>
              </a:rPr>
              <a:t>Reusable instructions it loads on demand, shareable with your team.</a:t>
            </a:r>
          </a:p>
        </p:txBody>
      </p:sp>
      <p:sp>
        <p:nvSpPr>
          <p:cNvPr id="26" name="Rectangle 25"/>
          <p:cNvSpPr/>
          <p:nvPr/>
        </p:nvSpPr>
        <p:spPr>
          <a:xfrm>
            <a:off x="548640" y="4514088"/>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514088"/>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8493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8493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623816"/>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loop</a:t>
            </a:r>
          </a:p>
          <a:p>
            <a:pPr algn="l">
              <a:spcAft>
                <a:spcPts val="300"/>
              </a:spcAft>
            </a:pPr>
            <a:r>
              <a:rPr sz="1150" b="0">
                <a:solidFill>
                  <a:srgbClr val="6B6862"/>
                </a:solidFill>
                <a:latin typeface="Calibri"/>
              </a:rPr>
              <a:t>Plan, act, check, correct — it keeps working until the task is done.</a:t>
            </a:r>
          </a:p>
        </p:txBody>
      </p:sp>
      <p:sp>
        <p:nvSpPr>
          <p:cNvPr id="31" name="TextBox 30"/>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Together these are why Claude finishes a task instead of describing how to do it.</a:t>
            </a:r>
          </a:p>
        </p:txBody>
      </p:sp>
      <p:sp>
        <p:nvSpPr>
          <p:cNvPr id="32" name="TextBox 3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4" name="TextBox 3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Plans and Pricing</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Free lets you try Claude; Cowork, scheduled tasks and full Projects need Pro or Max.</a:t>
            </a:r>
          </a:p>
        </p:txBody>
      </p:sp>
      <p:sp>
        <p:nvSpPr>
          <p:cNvPr id="6" name="Rectangle 5"/>
          <p:cNvSpPr/>
          <p:nvPr/>
        </p:nvSpPr>
        <p:spPr>
          <a:xfrm>
            <a:off x="54864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F</a:t>
            </a:r>
          </a:p>
        </p:txBody>
      </p:sp>
      <p:sp>
        <p:nvSpPr>
          <p:cNvPr id="9" name="TextBox 8"/>
          <p:cNvSpPr txBox="1"/>
          <p:nvPr/>
        </p:nvSpPr>
        <p:spPr>
          <a:xfrm>
            <a:off x="82296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Free</a:t>
            </a:r>
          </a:p>
        </p:txBody>
      </p:sp>
      <p:sp>
        <p:nvSpPr>
          <p:cNvPr id="10" name="TextBox 9"/>
          <p:cNvSpPr txBox="1"/>
          <p:nvPr/>
        </p:nvSpPr>
        <p:spPr>
          <a:xfrm>
            <a:off x="82296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$0. Chat, Slides, Docs, connectors and skills, up to five projects. Sonnet and Haiku.</a:t>
            </a:r>
          </a:p>
        </p:txBody>
      </p:sp>
      <p:sp>
        <p:nvSpPr>
          <p:cNvPr id="11" name="Rectangle 10"/>
          <p:cNvSpPr/>
          <p:nvPr/>
        </p:nvSpPr>
        <p:spPr>
          <a:xfrm>
            <a:off x="336042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P</a:t>
            </a:r>
          </a:p>
        </p:txBody>
      </p:sp>
      <p:sp>
        <p:nvSpPr>
          <p:cNvPr id="14" name="TextBox 13"/>
          <p:cNvSpPr txBox="1"/>
          <p:nvPr/>
        </p:nvSpPr>
        <p:spPr>
          <a:xfrm>
            <a:off x="363474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Pro</a:t>
            </a:r>
          </a:p>
        </p:txBody>
      </p:sp>
      <p:sp>
        <p:nvSpPr>
          <p:cNvPr id="15" name="TextBox 14"/>
          <p:cNvSpPr txBox="1"/>
          <p:nvPr/>
        </p:nvSpPr>
        <p:spPr>
          <a:xfrm>
            <a:off x="363474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$17/mo billed annually · $20 monthly. Cowork, Projects, scheduled tasks and Opus.</a:t>
            </a:r>
          </a:p>
        </p:txBody>
      </p:sp>
      <p:sp>
        <p:nvSpPr>
          <p:cNvPr id="16" name="Rectangle 15"/>
          <p:cNvSpPr/>
          <p:nvPr/>
        </p:nvSpPr>
        <p:spPr>
          <a:xfrm>
            <a:off x="617220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M</a:t>
            </a:r>
          </a:p>
        </p:txBody>
      </p:sp>
      <p:sp>
        <p:nvSpPr>
          <p:cNvPr id="19" name="TextBox 18"/>
          <p:cNvSpPr txBox="1"/>
          <p:nvPr/>
        </p:nvSpPr>
        <p:spPr>
          <a:xfrm>
            <a:off x="644652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Max</a:t>
            </a:r>
          </a:p>
        </p:txBody>
      </p:sp>
      <p:sp>
        <p:nvSpPr>
          <p:cNvPr id="20" name="TextBox 19"/>
          <p:cNvSpPr txBox="1"/>
          <p:nvPr/>
        </p:nvSpPr>
        <p:spPr>
          <a:xfrm>
            <a:off x="644652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From $100/mo — 5× or 20× Pro's usage, priority at busy times, $100–$200/mo API credits.</a:t>
            </a:r>
          </a:p>
        </p:txBody>
      </p:sp>
      <p:sp>
        <p:nvSpPr>
          <p:cNvPr id="21" name="Rectangle 20"/>
          <p:cNvSpPr/>
          <p:nvPr/>
        </p:nvSpPr>
        <p:spPr>
          <a:xfrm>
            <a:off x="898398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T</a:t>
            </a:r>
          </a:p>
        </p:txBody>
      </p:sp>
      <p:sp>
        <p:nvSpPr>
          <p:cNvPr id="24" name="TextBox 23"/>
          <p:cNvSpPr txBox="1"/>
          <p:nvPr/>
        </p:nvSpPr>
        <p:spPr>
          <a:xfrm>
            <a:off x="925830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Team · Enterprise</a:t>
            </a:r>
          </a:p>
        </p:txBody>
      </p:sp>
      <p:sp>
        <p:nvSpPr>
          <p:cNvPr id="25" name="TextBox 24"/>
          <p:cNvSpPr txBox="1"/>
          <p:nvPr/>
        </p:nvSpPr>
        <p:spPr>
          <a:xfrm>
            <a:off x="925830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Team $20/seat annual ($25 monthly), premium seats $100. Enterprise $20/seat + usage.</a:t>
            </a:r>
          </a:p>
        </p:txBody>
      </p:sp>
      <p:sp>
        <p:nvSpPr>
          <p:cNvPr id="26" name="Rectangle 25"/>
          <p:cNvSpPr/>
          <p:nvPr/>
        </p:nvSpPr>
        <p:spPr>
          <a:xfrm>
            <a:off x="548640" y="4892040"/>
            <a:ext cx="11064240" cy="7772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892040"/>
            <a:ext cx="10515600" cy="777240"/>
          </a:xfrm>
          <a:prstGeom prst="rect">
            <a:avLst/>
          </a:prstGeom>
          <a:noFill/>
        </p:spPr>
        <p:txBody>
          <a:bodyPr wrap="square" anchor="ctr" lIns="0" rIns="0" tIns="0" bIns="0">
            <a:spAutoFit/>
          </a:bodyPr>
          <a:lstStyle/>
          <a:p>
            <a:pPr algn="l">
              <a:spcAft>
                <a:spcPts val="400"/>
              </a:spcAft>
            </a:pPr>
            <a:r>
              <a:rPr sz="1300" b="0">
                <a:solidFill>
                  <a:srgbClr val="B9B4A9"/>
                </a:solidFill>
                <a:latin typeface="Calibri"/>
              </a:rPr>
              <a:t>Parallel tasks multiply usage: four tasks cost roughly four times one chat. Watch Settings → Usage.</a:t>
            </a:r>
          </a:p>
        </p:txBody>
      </p:sp>
      <p:sp>
        <p:nvSpPr>
          <p:cNvPr id="28" name="TextBox 27"/>
          <p:cNvSpPr txBox="1"/>
          <p:nvPr/>
        </p:nvSpPr>
        <p:spPr>
          <a:xfrm>
            <a:off x="548640" y="5806440"/>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Usage resets every five hours, with weekly limits on paid plans. US$ prices as of 27 October 2026 — verify at claude.com/pricing.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Your Plan and Usage</a:t>
            </a:r>
          </a:p>
        </p:txBody>
      </p:sp>
      <p:sp>
        <p:nvSpPr>
          <p:cNvPr id="5" name="Rectangle 4"/>
          <p:cNvSpPr/>
          <p:nvPr/>
        </p:nvSpPr>
        <p:spPr>
          <a:xfrm>
            <a:off x="1438864" y="1600200"/>
            <a:ext cx="5123271" cy="4297679"/>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38864" y="1600200"/>
            <a:ext cx="5123271"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ccount-menu.png"/>
          <p:cNvPicPr>
            <a:picLocks noChangeAspect="1"/>
          </p:cNvPicPr>
          <p:nvPr/>
        </p:nvPicPr>
        <p:blipFill>
          <a:blip r:embed="rId2"/>
          <a:stretch>
            <a:fillRect/>
          </a:stretch>
        </p:blipFill>
        <p:spPr>
          <a:xfrm>
            <a:off x="1548592" y="1709928"/>
            <a:ext cx="4903815" cy="4078223"/>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Usage</a:t>
            </a:r>
          </a:p>
          <a:p>
            <a:pPr algn="l">
              <a:spcAft>
                <a:spcPts val="300"/>
              </a:spcAft>
            </a:pPr>
            <a:r>
              <a:rPr sz="1250" b="0">
                <a:solidFill>
                  <a:srgbClr val="6B6862"/>
                </a:solidFill>
                <a:latin typeface="Calibri"/>
              </a:rPr>
              <a:t>How much of your five-hour and weekly limits you have used.</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View all plans</a:t>
            </a:r>
          </a:p>
          <a:p>
            <a:pPr algn="l">
              <a:spcAft>
                <a:spcPts val="300"/>
              </a:spcAft>
            </a:pPr>
            <a:r>
              <a:rPr sz="1250" b="0">
                <a:solidFill>
                  <a:srgbClr val="6B6862"/>
                </a:solidFill>
                <a:latin typeface="Calibri"/>
              </a:rPr>
              <a:t>Compare Free, Pro, Max, Team and Enterprise, and upgrade.</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Settings</a:t>
            </a:r>
          </a:p>
          <a:p>
            <a:pPr algn="l">
              <a:spcAft>
                <a:spcPts val="300"/>
              </a:spcAft>
            </a:pPr>
            <a:r>
              <a:rPr sz="1250" b="0">
                <a:solidFill>
                  <a:srgbClr val="6B6862"/>
                </a:solidFill>
                <a:latin typeface="Calibri"/>
              </a:rPr>
              <a:t>Your profile, connectors and capabilities. Shortcut: Ctrl + comma.</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Click your name at the bottom of the sidebar — the plan shows beside it (here, Max).</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Models: Haiku, Sonnet, Opus and Fable</a:t>
            </a:r>
          </a:p>
        </p:txBody>
      </p:sp>
      <p:sp>
        <p:nvSpPr>
          <p:cNvPr id="5" name="TextBox 4"/>
          <p:cNvSpPr txBox="1"/>
          <p:nvPr/>
        </p:nvSpPr>
        <p:spPr>
          <a:xfrm>
            <a:off x="548640" y="1691640"/>
            <a:ext cx="11064240" cy="7315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Four families, smallest to most capable; all read up to 1M tokens. API prices are US$ per million tokens, input · output.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Model</a:t>
            </a:r>
          </a:p>
        </p:txBody>
      </p:sp>
      <p:sp>
        <p:nvSpPr>
          <p:cNvPr id="7" name="TextBox 6"/>
          <p:cNvSpPr txBox="1"/>
          <p:nvPr/>
        </p:nvSpPr>
        <p:spPr>
          <a:xfrm>
            <a:off x="3154680" y="2194560"/>
            <a:ext cx="244381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What it is</a:t>
            </a:r>
          </a:p>
        </p:txBody>
      </p:sp>
      <p:sp>
        <p:nvSpPr>
          <p:cNvPr id="8" name="TextBox 7"/>
          <p:cNvSpPr txBox="1"/>
          <p:nvPr/>
        </p:nvSpPr>
        <p:spPr>
          <a:xfrm>
            <a:off x="5827098" y="2194560"/>
            <a:ext cx="283260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Use it for</a:t>
            </a:r>
          </a:p>
        </p:txBody>
      </p:sp>
      <p:sp>
        <p:nvSpPr>
          <p:cNvPr id="9" name="TextBox 8"/>
          <p:cNvSpPr txBox="1"/>
          <p:nvPr/>
        </p:nvSpPr>
        <p:spPr>
          <a:xfrm>
            <a:off x="8888306" y="2194560"/>
            <a:ext cx="77757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API price</a:t>
            </a:r>
          </a:p>
        </p:txBody>
      </p:sp>
      <p:sp>
        <p:nvSpPr>
          <p:cNvPr id="10" name="TextBox 9"/>
          <p:cNvSpPr txBox="1"/>
          <p:nvPr/>
        </p:nvSpPr>
        <p:spPr>
          <a:xfrm>
            <a:off x="9894484" y="2194560"/>
            <a:ext cx="144407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On plans</a:t>
            </a:r>
          </a:p>
        </p:txBody>
      </p:sp>
      <p:sp>
        <p:nvSpPr>
          <p:cNvPr id="11" name="Rectangle 10"/>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65176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Haiku 5.5</a:t>
            </a:r>
          </a:p>
        </p:txBody>
      </p:sp>
      <p:sp>
        <p:nvSpPr>
          <p:cNvPr id="13" name="TextBox 12"/>
          <p:cNvSpPr txBox="1"/>
          <p:nvPr/>
        </p:nvSpPr>
        <p:spPr>
          <a:xfrm>
            <a:off x="3154680" y="265176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Fastest, most cost-efficient</a:t>
            </a:r>
          </a:p>
        </p:txBody>
      </p:sp>
      <p:sp>
        <p:nvSpPr>
          <p:cNvPr id="14" name="TextBox 13"/>
          <p:cNvSpPr txBox="1"/>
          <p:nvPr/>
        </p:nvSpPr>
        <p:spPr>
          <a:xfrm>
            <a:off x="5827098" y="265176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Quick, high-volume jobs: tagging, short replies</a:t>
            </a:r>
          </a:p>
        </p:txBody>
      </p:sp>
      <p:sp>
        <p:nvSpPr>
          <p:cNvPr id="15" name="TextBox 14"/>
          <p:cNvSpPr txBox="1"/>
          <p:nvPr/>
        </p:nvSpPr>
        <p:spPr>
          <a:xfrm>
            <a:off x="8888306" y="265176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$0.10 / $0.50</a:t>
            </a:r>
          </a:p>
        </p:txBody>
      </p:sp>
      <p:sp>
        <p:nvSpPr>
          <p:cNvPr id="16" name="TextBox 15"/>
          <p:cNvSpPr txBox="1"/>
          <p:nvPr/>
        </p:nvSpPr>
        <p:spPr>
          <a:xfrm>
            <a:off x="9894484" y="265176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All plans</a:t>
            </a:r>
          </a:p>
        </p:txBody>
      </p:sp>
      <p:sp>
        <p:nvSpPr>
          <p:cNvPr id="17" name="Rectangle 16"/>
          <p:cNvSpPr/>
          <p:nvPr/>
        </p:nvSpPr>
        <p:spPr>
          <a:xfrm>
            <a:off x="822960" y="339471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39471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Sonnet 5.5</a:t>
            </a:r>
          </a:p>
        </p:txBody>
      </p:sp>
      <p:sp>
        <p:nvSpPr>
          <p:cNvPr id="19" name="TextBox 18"/>
          <p:cNvSpPr txBox="1"/>
          <p:nvPr/>
        </p:nvSpPr>
        <p:spPr>
          <a:xfrm>
            <a:off x="3154680" y="339471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High performance for coding and agents</a:t>
            </a:r>
          </a:p>
        </p:txBody>
      </p:sp>
      <p:sp>
        <p:nvSpPr>
          <p:cNvPr id="20" name="TextBox 19"/>
          <p:cNvSpPr txBox="1"/>
          <p:nvPr/>
        </p:nvSpPr>
        <p:spPr>
          <a:xfrm>
            <a:off x="5827098" y="339471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Everyday drafting, research and analysis</a:t>
            </a:r>
          </a:p>
        </p:txBody>
      </p:sp>
      <p:sp>
        <p:nvSpPr>
          <p:cNvPr id="21" name="TextBox 20"/>
          <p:cNvSpPr txBox="1"/>
          <p:nvPr/>
        </p:nvSpPr>
        <p:spPr>
          <a:xfrm>
            <a:off x="8888306" y="339471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$2 / $10</a:t>
            </a:r>
          </a:p>
        </p:txBody>
      </p:sp>
      <p:sp>
        <p:nvSpPr>
          <p:cNvPr id="22" name="TextBox 21"/>
          <p:cNvSpPr txBox="1"/>
          <p:nvPr/>
        </p:nvSpPr>
        <p:spPr>
          <a:xfrm>
            <a:off x="9894484" y="339471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All plans</a:t>
            </a:r>
          </a:p>
        </p:txBody>
      </p:sp>
      <p:sp>
        <p:nvSpPr>
          <p:cNvPr id="23" name="Rectangle 22"/>
          <p:cNvSpPr/>
          <p:nvPr/>
        </p:nvSpPr>
        <p:spPr>
          <a:xfrm>
            <a:off x="822960" y="413766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13766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Opus 5.5</a:t>
            </a:r>
          </a:p>
        </p:txBody>
      </p:sp>
      <p:sp>
        <p:nvSpPr>
          <p:cNvPr id="25" name="TextBox 24"/>
          <p:cNvSpPr txBox="1"/>
          <p:nvPr/>
        </p:nvSpPr>
        <p:spPr>
          <a:xfrm>
            <a:off x="3154680" y="413766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Daily driver for agentic and enterprise work</a:t>
            </a:r>
          </a:p>
        </p:txBody>
      </p:sp>
      <p:sp>
        <p:nvSpPr>
          <p:cNvPr id="26" name="TextBox 25"/>
          <p:cNvSpPr txBox="1"/>
          <p:nvPr/>
        </p:nvSpPr>
        <p:spPr>
          <a:xfrm>
            <a:off x="5827098" y="413766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Multi-step projects, parallel work, careful reviews</a:t>
            </a:r>
          </a:p>
        </p:txBody>
      </p:sp>
      <p:sp>
        <p:nvSpPr>
          <p:cNvPr id="27" name="TextBox 26"/>
          <p:cNvSpPr txBox="1"/>
          <p:nvPr/>
        </p:nvSpPr>
        <p:spPr>
          <a:xfrm>
            <a:off x="8888306" y="413766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$4 / $20</a:t>
            </a:r>
          </a:p>
        </p:txBody>
      </p:sp>
      <p:sp>
        <p:nvSpPr>
          <p:cNvPr id="28" name="TextBox 27"/>
          <p:cNvSpPr txBox="1"/>
          <p:nvPr/>
        </p:nvSpPr>
        <p:spPr>
          <a:xfrm>
            <a:off x="9894484" y="413766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Pro and above</a:t>
            </a:r>
          </a:p>
        </p:txBody>
      </p:sp>
      <p:sp>
        <p:nvSpPr>
          <p:cNvPr id="29" name="Rectangle 28"/>
          <p:cNvSpPr/>
          <p:nvPr/>
        </p:nvSpPr>
        <p:spPr>
          <a:xfrm>
            <a:off x="822960" y="488061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88061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Fable 5.1</a:t>
            </a:r>
          </a:p>
        </p:txBody>
      </p:sp>
      <p:sp>
        <p:nvSpPr>
          <p:cNvPr id="31" name="TextBox 30"/>
          <p:cNvSpPr txBox="1"/>
          <p:nvPr/>
        </p:nvSpPr>
        <p:spPr>
          <a:xfrm>
            <a:off x="3154680" y="488061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Most capable, for long-running agents</a:t>
            </a:r>
          </a:p>
        </p:txBody>
      </p:sp>
      <p:sp>
        <p:nvSpPr>
          <p:cNvPr id="32" name="TextBox 31"/>
          <p:cNvSpPr txBox="1"/>
          <p:nvPr/>
        </p:nvSpPr>
        <p:spPr>
          <a:xfrm>
            <a:off x="5827098" y="488061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hardest, longest jobs</a:t>
            </a:r>
          </a:p>
        </p:txBody>
      </p:sp>
      <p:sp>
        <p:nvSpPr>
          <p:cNvPr id="33" name="TextBox 32"/>
          <p:cNvSpPr txBox="1"/>
          <p:nvPr/>
        </p:nvSpPr>
        <p:spPr>
          <a:xfrm>
            <a:off x="8888306" y="488061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$10 / $50</a:t>
            </a:r>
          </a:p>
        </p:txBody>
      </p:sp>
      <p:sp>
        <p:nvSpPr>
          <p:cNvPr id="34" name="TextBox 33"/>
          <p:cNvSpPr txBox="1"/>
          <p:nvPr/>
        </p:nvSpPr>
        <p:spPr>
          <a:xfrm>
            <a:off x="9894484" y="488061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Max; Pro via usage credits</a:t>
            </a:r>
          </a:p>
        </p:txBody>
      </p:sp>
      <p:sp>
        <p:nvSpPr>
          <p:cNvPr id="35" name="Rectangle 34"/>
          <p:cNvSpPr/>
          <p:nvPr/>
        </p:nvSpPr>
        <p:spPr>
          <a:xfrm>
            <a:off x="822960" y="562356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Pick the model from the model menu. Bigger models think harder and use more of your plan — save Fable for the jobs that need it.</a:t>
            </a:r>
          </a:p>
        </p:txBody>
      </p:sp>
      <p:sp>
        <p:nvSpPr>
          <p:cNvPr id="37" name="TextBox 3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9" name="TextBox 3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Pick a Model in the App</a:t>
            </a:r>
          </a:p>
        </p:txBody>
      </p:sp>
      <p:sp>
        <p:nvSpPr>
          <p:cNvPr id="5" name="Rectangle 4"/>
          <p:cNvSpPr/>
          <p:nvPr/>
        </p:nvSpPr>
        <p:spPr>
          <a:xfrm>
            <a:off x="548640" y="1811137"/>
            <a:ext cx="6903720" cy="3875805"/>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11137"/>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model-menu.png"/>
          <p:cNvPicPr>
            <a:picLocks noChangeAspect="1"/>
          </p:cNvPicPr>
          <p:nvPr/>
        </p:nvPicPr>
        <p:blipFill>
          <a:blip r:embed="rId2"/>
          <a:stretch>
            <a:fillRect/>
          </a:stretch>
        </p:blipFill>
        <p:spPr>
          <a:xfrm>
            <a:off x="658368" y="1920865"/>
            <a:ext cx="6684264" cy="3656349"/>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Fable 5.1</a:t>
            </a:r>
          </a:p>
          <a:p>
            <a:pPr algn="l">
              <a:spcAft>
                <a:spcPts val="300"/>
              </a:spcAft>
            </a:pPr>
            <a:r>
              <a:rPr sz="1250" b="0">
                <a:solidFill>
                  <a:srgbClr val="6B6862"/>
                </a:solidFill>
                <a:latin typeface="Calibri"/>
              </a:rPr>
              <a:t>For your toughest challenges — uses the most of your plan.</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Opus 5.5</a:t>
            </a:r>
          </a:p>
          <a:p>
            <a:pPr algn="l">
              <a:spcAft>
                <a:spcPts val="300"/>
              </a:spcAft>
            </a:pPr>
            <a:r>
              <a:rPr sz="1250" b="0">
                <a:solidFill>
                  <a:srgbClr val="6B6862"/>
                </a:solidFill>
                <a:latin typeface="Calibri"/>
              </a:rPr>
              <a:t>Complex work and everyday tasks.</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Sonnet 5.5</a:t>
            </a:r>
          </a:p>
          <a:p>
            <a:pPr algn="l">
              <a:spcAft>
                <a:spcPts val="300"/>
              </a:spcAft>
            </a:pPr>
            <a:r>
              <a:rPr sz="1250" b="0">
                <a:solidFill>
                  <a:srgbClr val="6B6862"/>
                </a:solidFill>
                <a:latin typeface="Calibri"/>
              </a:rPr>
              <a:t>Efficient for most jobs — a sensible default.</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Haiku 5.5</a:t>
            </a:r>
          </a:p>
          <a:p>
            <a:pPr algn="l">
              <a:spcAft>
                <a:spcPts val="300"/>
              </a:spcAft>
            </a:pPr>
            <a:r>
              <a:rPr sz="1250" b="0">
                <a:solidFill>
                  <a:srgbClr val="6B6862"/>
                </a:solidFill>
                <a:latin typeface="Calibri"/>
              </a:rPr>
              <a:t>Fastest, for quick answers.</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model menu sits under the message box of every new session.</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Effort: How Hard Claude Thinks</a:t>
            </a:r>
          </a:p>
        </p:txBody>
      </p:sp>
      <p:sp>
        <p:nvSpPr>
          <p:cNvPr id="5" name="Rectangle 4"/>
          <p:cNvSpPr/>
          <p:nvPr/>
        </p:nvSpPr>
        <p:spPr>
          <a:xfrm>
            <a:off x="548640" y="1624329"/>
            <a:ext cx="6903720" cy="4249422"/>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24329"/>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effort-menu.png"/>
          <p:cNvPicPr>
            <a:picLocks noChangeAspect="1"/>
          </p:cNvPicPr>
          <p:nvPr/>
        </p:nvPicPr>
        <p:blipFill>
          <a:blip r:embed="rId2"/>
          <a:stretch>
            <a:fillRect/>
          </a:stretch>
        </p:blipFill>
        <p:spPr>
          <a:xfrm>
            <a:off x="658368" y="1734057"/>
            <a:ext cx="6684264" cy="4029966"/>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Low · Medium</a:t>
            </a:r>
          </a:p>
          <a:p>
            <a:pPr algn="l">
              <a:spcAft>
                <a:spcPts val="300"/>
              </a:spcAft>
            </a:pPr>
            <a:r>
              <a:rPr sz="1250" b="0">
                <a:solidFill>
                  <a:srgbClr val="6B6862"/>
                </a:solidFill>
                <a:latin typeface="Calibri"/>
              </a:rPr>
              <a:t>Quick, everyday work. Medium is the recommended default.</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High · Extra</a:t>
            </a:r>
          </a:p>
          <a:p>
            <a:pPr algn="l">
              <a:spcAft>
                <a:spcPts val="300"/>
              </a:spcAft>
            </a:pPr>
            <a:r>
              <a:rPr sz="1250" b="0">
                <a:solidFill>
                  <a:srgbClr val="6B6862"/>
                </a:solidFill>
                <a:latin typeface="Calibri"/>
              </a:rPr>
              <a:t>Harder problems: more thorough, but slower and uses your limits faster.</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Max</a:t>
            </a:r>
          </a:p>
          <a:p>
            <a:pPr algn="l">
              <a:spcAft>
                <a:spcPts val="300"/>
              </a:spcAft>
            </a:pPr>
            <a:r>
              <a:rPr sz="1250" b="0">
                <a:solidFill>
                  <a:srgbClr val="6B6862"/>
                </a:solidFill>
                <a:latin typeface="Calibri"/>
              </a:rPr>
              <a:t>Five times or more the usage — save it for the hardest job.</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Model menu → Effort. Medium is recommended for most work.</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Projects, Cowork mode and Live Artefacts run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Projects, Cowork and Live Artefacts all run there.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Use the account that has your Pro or Max subscription.</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Find Projects</a:t>
            </a:r>
          </a:p>
          <a:p>
            <a:pPr algn="l">
              <a:spcAft>
                <a:spcPts val="300"/>
              </a:spcAft>
            </a:pPr>
            <a:r>
              <a:rPr sz="1150" b="0">
                <a:solidFill>
                  <a:srgbClr val="6B6862"/>
                </a:solidFill>
                <a:latin typeface="Calibri"/>
              </a:rPr>
              <a:t>Switch to Cowork and open Projects from the sidebar — each project is backed by a folder on your computer.</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the lab files</a:t>
            </a:r>
          </a:p>
          <a:p>
            <a:pPr algn="l">
              <a:spcAft>
                <a:spcPts val="300"/>
              </a:spcAft>
            </a:pPr>
            <a:r>
              <a:rPr sz="1150" b="0">
                <a:solidFill>
                  <a:srgbClr val="6B6862"/>
                </a:solidFill>
                <a:latin typeface="Calibri"/>
              </a:rPr>
              <a:t>Get the course labs from the GitHub repository; each lab has a prompt PDF and a data folder.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a lab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Tasks and local scheduled tasks stop when the app closes.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Permission Mode: Manual or Auto</a:t>
            </a:r>
          </a:p>
        </p:txBody>
      </p:sp>
      <p:sp>
        <p:nvSpPr>
          <p:cNvPr id="5" name="Rectangle 4"/>
          <p:cNvSpPr/>
          <p:nvPr/>
        </p:nvSpPr>
        <p:spPr>
          <a:xfrm>
            <a:off x="1206371" y="1600200"/>
            <a:ext cx="5588257"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06371" y="1600200"/>
            <a:ext cx="5588257"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permission-mode.png"/>
          <p:cNvPicPr>
            <a:picLocks noChangeAspect="1"/>
          </p:cNvPicPr>
          <p:nvPr/>
        </p:nvPicPr>
        <p:blipFill>
          <a:blip r:embed="rId2"/>
          <a:stretch>
            <a:fillRect/>
          </a:stretch>
        </p:blipFill>
        <p:spPr>
          <a:xfrm>
            <a:off x="1316099" y="1709928"/>
            <a:ext cx="5368801"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Manual</a:t>
            </a:r>
          </a:p>
          <a:p>
            <a:pPr algn="l">
              <a:spcAft>
                <a:spcPts val="300"/>
              </a:spcAft>
            </a:pPr>
            <a:r>
              <a:rPr sz="1250" b="0">
                <a:solidFill>
                  <a:srgbClr val="6B6862"/>
                </a:solidFill>
                <a:latin typeface="Calibri"/>
              </a:rPr>
              <a:t>Claude asks before it uses a new tool or opens a new site.</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Auto</a:t>
            </a:r>
          </a:p>
          <a:p>
            <a:pPr algn="l">
              <a:spcAft>
                <a:spcPts val="300"/>
              </a:spcAft>
            </a:pPr>
            <a:r>
              <a:rPr sz="1250" b="0">
                <a:solidFill>
                  <a:srgbClr val="6B6862"/>
                </a:solidFill>
                <a:latin typeface="Calibri"/>
              </a:rPr>
              <a:t>Claude runs on its own and pauses to ask only if something looks unsafe.</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Which to use</a:t>
            </a:r>
          </a:p>
          <a:p>
            <a:pPr algn="l">
              <a:spcAft>
                <a:spcPts val="300"/>
              </a:spcAft>
            </a:pPr>
            <a:r>
              <a:rPr sz="1250" b="0">
                <a:solidFill>
                  <a:srgbClr val="6B6862"/>
                </a:solidFill>
                <a:latin typeface="Calibri"/>
              </a:rPr>
              <a:t>Manual while you learn a new connector; Auto once you trust the job.</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menu beside the model sets how freely Claude acts in a session.</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Projects in Cowork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Set up the brand and the rules once; every task starts from them.</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chat for copy, one for visuals, one for competitors.</a:t>
            </a:r>
          </a:p>
          <a:p>
            <a:pPr algn="l">
              <a:spcAft>
                <a:spcPts val="900"/>
              </a:spcAft>
            </a:pPr>
            <a:r>
              <a:rPr sz="1250" b="0">
                <a:solidFill>
                  <a:srgbClr val="21201C"/>
                </a:solidFill>
                <a:latin typeface="Calibri"/>
              </a:rPr>
              <a:t>•  Re-attach the brand kit every time.</a:t>
            </a:r>
          </a:p>
          <a:p>
            <a:pPr algn="l">
              <a:spcAft>
                <a:spcPts val="900"/>
              </a:spcAft>
            </a:pPr>
            <a:r>
              <a:rPr sz="1250" b="0">
                <a:solidFill>
                  <a:srgbClr val="21201C"/>
                </a:solidFill>
                <a:latin typeface="Calibri"/>
              </a:rPr>
              <a:t>•  Restate the rules from memory each time.</a:t>
            </a:r>
          </a:p>
          <a:p>
            <a:pPr algn="l">
              <a:spcAft>
                <a:spcPts val="900"/>
              </a:spcAft>
            </a:pPr>
            <a:r>
              <a:rPr sz="1250" b="0">
                <a:solidFill>
                  <a:srgbClr val="21201C"/>
                </a:solidFill>
                <a:latin typeface="Calibri"/>
              </a:rPr>
              <a:t>•  Outputs scattered across conversations.</a:t>
            </a:r>
          </a:p>
          <a:p>
            <a:pPr algn="l">
              <a:spcAft>
                <a:spcPts val="900"/>
              </a:spcAft>
            </a:pPr>
            <a:r>
              <a:rPr sz="1250" b="0">
                <a:solidFill>
                  <a:srgbClr val="21201C"/>
                </a:solidFill>
                <a:latin typeface="Calibri"/>
              </a:rPr>
              <a:t>•  Nothing for a colleague to pick up.</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Claude Project in Cowork</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Instructions written once, followed by every task.</a:t>
            </a:r>
          </a:p>
          <a:p>
            <a:pPr algn="l">
              <a:spcAft>
                <a:spcPts val="900"/>
              </a:spcAft>
            </a:pPr>
            <a:r>
              <a:rPr sz="1250" b="0">
                <a:solidFill>
                  <a:srgbClr val="21201C"/>
                </a:solidFill>
                <a:latin typeface="Calibri"/>
              </a:rPr>
              <a:t>•  The brand kit added once as context.</a:t>
            </a:r>
          </a:p>
          <a:p>
            <a:pPr algn="l">
              <a:spcAft>
                <a:spcPts val="900"/>
              </a:spcAft>
            </a:pPr>
            <a:r>
              <a:rPr sz="1250" b="0">
                <a:solidFill>
                  <a:srgbClr val="21201C"/>
                </a:solidFill>
                <a:latin typeface="Calibri"/>
              </a:rPr>
              <a:t>•  A real working folder Claude reads and writes.</a:t>
            </a:r>
          </a:p>
          <a:p>
            <a:pPr algn="l">
              <a:spcAft>
                <a:spcPts val="900"/>
              </a:spcAft>
            </a:pPr>
            <a:r>
              <a:rPr sz="1250" b="0">
                <a:solidFill>
                  <a:srgbClr val="21201C"/>
                </a:solidFill>
                <a:latin typeface="Calibri"/>
              </a:rPr>
              <a:t>•  Scheduled tasks that belong to the project.</a:t>
            </a:r>
          </a:p>
          <a:p>
            <a:pPr algn="l">
              <a:spcAft>
                <a:spcPts val="900"/>
              </a:spcAft>
            </a:pPr>
            <a:r>
              <a:rPr sz="1250" b="0">
                <a:solidFill>
                  <a:srgbClr val="21201C"/>
                </a:solidFill>
                <a:latin typeface="Calibri"/>
              </a:rPr>
              <a:t>•  Hand the folder to a colleague and they are ready.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Project vs Session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project is the room; a session is one working day in it.</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session — one piece of work</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One conversation with Claude: a chat, or a task in Cowork.</a:t>
            </a:r>
          </a:p>
          <a:p>
            <a:pPr algn="l">
              <a:spcAft>
                <a:spcPts val="900"/>
              </a:spcAft>
            </a:pPr>
            <a:r>
              <a:rPr sz="1250" b="0">
                <a:solidFill>
                  <a:srgbClr val="21201C"/>
                </a:solidFill>
                <a:latin typeface="Calibri"/>
              </a:rPr>
              <a:t>•  Has its own context window, which fills up as you work.</a:t>
            </a:r>
          </a:p>
          <a:p>
            <a:pPr algn="l">
              <a:spcAft>
                <a:spcPts val="900"/>
              </a:spcAft>
            </a:pPr>
            <a:r>
              <a:rPr sz="1250" b="0">
                <a:solidFill>
                  <a:srgbClr val="21201C"/>
                </a:solidFill>
                <a:latin typeface="Calibri"/>
              </a:rPr>
              <a:t>•  Ends when the job is done; the next session starts blank.</a:t>
            </a:r>
          </a:p>
          <a:p>
            <a:pPr algn="l">
              <a:spcAft>
                <a:spcPts val="900"/>
              </a:spcAft>
            </a:pPr>
            <a:r>
              <a:rPr sz="1250" b="0">
                <a:solidFill>
                  <a:srgbClr val="21201C"/>
                </a:solidFill>
                <a:latin typeface="Calibri"/>
              </a:rPr>
              <a:t>•  Remembers only what was said inside it.</a:t>
            </a:r>
          </a:p>
          <a:p>
            <a:pPr algn="l">
              <a:spcAft>
                <a:spcPts val="900"/>
              </a:spcAft>
            </a:pPr>
            <a:r>
              <a:rPr sz="1250" b="0">
                <a:solidFill>
                  <a:srgbClr val="21201C"/>
                </a:solidFill>
                <a:latin typeface="Calibri"/>
              </a:rPr>
              <a:t>•  Lumo: “Draft the Instagram launch post.”</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project — the whole goal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lasting workspace that holds many sessions.</a:t>
            </a:r>
          </a:p>
          <a:p>
            <a:pPr algn="l">
              <a:spcAft>
                <a:spcPts val="900"/>
              </a:spcAft>
            </a:pPr>
            <a:r>
              <a:rPr sz="1250" b="0">
                <a:solidFill>
                  <a:srgbClr val="21201C"/>
                </a:solidFill>
                <a:latin typeface="Calibri"/>
              </a:rPr>
              <a:t>•  Its instructions, context and folder load into every session.</a:t>
            </a:r>
          </a:p>
          <a:p>
            <a:pPr algn="l">
              <a:spcAft>
                <a:spcPts val="900"/>
              </a:spcAft>
            </a:pPr>
            <a:r>
              <a:rPr sz="1250" b="0">
                <a:solidFill>
                  <a:srgbClr val="21201C"/>
                </a:solidFill>
                <a:latin typeface="Calibri"/>
              </a:rPr>
              <a:t>•  Stays until you delete it — for weeks or months.</a:t>
            </a:r>
          </a:p>
          <a:p>
            <a:pPr algn="l">
              <a:spcAft>
                <a:spcPts val="900"/>
              </a:spcAft>
            </a:pPr>
            <a:r>
              <a:rPr sz="1250" b="0">
                <a:solidFill>
                  <a:srgbClr val="21201C"/>
                </a:solidFill>
                <a:latin typeface="Calibri"/>
              </a:rPr>
              <a:t>•  What one session decides, the next reads from the memory file.</a:t>
            </a:r>
          </a:p>
          <a:p>
            <a:pPr algn="l">
              <a:spcAft>
                <a:spcPts val="900"/>
              </a:spcAft>
            </a:pPr>
            <a:r>
              <a:rPr sz="1250" b="0">
                <a:solidFill>
                  <a:srgbClr val="21201C"/>
                </a:solidFill>
                <a:latin typeface="Calibri"/>
              </a:rPr>
              <a:t>•  Lumo: “Lumo Cold Kopi Launch.”</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Sessions Sit Inside a Project</a:t>
            </a:r>
          </a:p>
        </p:txBody>
      </p:sp>
      <p:sp>
        <p:nvSpPr>
          <p:cNvPr id="5" name="Rectangle 4"/>
          <p:cNvSpPr/>
          <p:nvPr/>
        </p:nvSpPr>
        <p:spPr>
          <a:xfrm>
            <a:off x="548640" y="2057400"/>
            <a:ext cx="11091672"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31436"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31436"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Claude Project</a:t>
            </a:r>
          </a:p>
        </p:txBody>
      </p:sp>
      <p:sp>
        <p:nvSpPr>
          <p:cNvPr id="8" name="Rectangle 7"/>
          <p:cNvSpPr/>
          <p:nvPr/>
        </p:nvSpPr>
        <p:spPr>
          <a:xfrm>
            <a:off x="914400" y="2560320"/>
            <a:ext cx="2103120" cy="914400"/>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78992" y="2386584"/>
            <a:ext cx="57150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386584"/>
            <a:ext cx="57150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You</a:t>
            </a:r>
          </a:p>
        </p:txBody>
      </p:sp>
      <p:sp>
        <p:nvSpPr>
          <p:cNvPr id="11" name="TextBox 10"/>
          <p:cNvSpPr txBox="1"/>
          <p:nvPr/>
        </p:nvSpPr>
        <p:spPr>
          <a:xfrm>
            <a:off x="1024128" y="2706624"/>
            <a:ext cx="1883664" cy="69494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Start each session</a:t>
            </a:r>
          </a:p>
          <a:p>
            <a:pPr algn="ctr">
              <a:spcAft>
                <a:spcPts val="100"/>
              </a:spcAft>
            </a:pPr>
            <a:r>
              <a:rPr sz="1150" b="0">
                <a:solidFill>
                  <a:srgbClr val="21201C"/>
                </a:solidFill>
                <a:latin typeface="Courier New"/>
              </a:rPr>
              <a:t>inside the project</a:t>
            </a:r>
          </a:p>
        </p:txBody>
      </p:sp>
      <p:sp>
        <p:nvSpPr>
          <p:cNvPr id="12" name="TextBox 11"/>
          <p:cNvSpPr txBox="1"/>
          <p:nvPr/>
        </p:nvSpPr>
        <p:spPr>
          <a:xfrm>
            <a:off x="3017520" y="2834640"/>
            <a:ext cx="548640" cy="365760"/>
          </a:xfrm>
          <a:prstGeom prst="rect">
            <a:avLst/>
          </a:prstGeom>
          <a:noFill/>
        </p:spPr>
        <p:txBody>
          <a:bodyPr wrap="square" anchor="ctr" lIns="0" rIns="0" tIns="0" bIns="0">
            <a:spAutoFit/>
          </a:bodyPr>
          <a:lstStyle/>
          <a:p>
            <a:pPr algn="ctr">
              <a:spcAft>
                <a:spcPts val="400"/>
              </a:spcAft>
            </a:pPr>
            <a:r>
              <a:rPr sz="1200" b="1">
                <a:solidFill>
                  <a:srgbClr val="D97757"/>
                </a:solidFill>
                <a:latin typeface="Calibri"/>
              </a:rPr>
              <a:t>◀ ▶</a:t>
            </a:r>
          </a:p>
        </p:txBody>
      </p:sp>
      <p:sp>
        <p:nvSpPr>
          <p:cNvPr id="13" name="Rectangle 12"/>
          <p:cNvSpPr/>
          <p:nvPr/>
        </p:nvSpPr>
        <p:spPr>
          <a:xfrm>
            <a:off x="3566160" y="2560320"/>
            <a:ext cx="3291840" cy="914400"/>
          </a:xfrm>
          <a:prstGeom prst="rect">
            <a:avLst/>
          </a:prstGeom>
          <a:solidFill>
            <a:srgbClr val="F7DAC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30752" y="2386584"/>
            <a:ext cx="1728216"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30752" y="2386584"/>
            <a:ext cx="1728216"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Project set-up</a:t>
            </a:r>
          </a:p>
        </p:txBody>
      </p:sp>
      <p:sp>
        <p:nvSpPr>
          <p:cNvPr id="16" name="TextBox 15"/>
          <p:cNvSpPr txBox="1"/>
          <p:nvPr/>
        </p:nvSpPr>
        <p:spPr>
          <a:xfrm>
            <a:off x="3675888" y="2706624"/>
            <a:ext cx="3072384" cy="69494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Instructions · Context</a:t>
            </a:r>
          </a:p>
          <a:p>
            <a:pPr algn="ctr">
              <a:spcAft>
                <a:spcPts val="100"/>
              </a:spcAft>
            </a:pPr>
            <a:r>
              <a:rPr sz="1150" b="0">
                <a:solidFill>
                  <a:srgbClr val="21201C"/>
                </a:solidFill>
                <a:latin typeface="Courier New"/>
              </a:rPr>
              <a:t>Folder · Scheduled</a:t>
            </a:r>
          </a:p>
        </p:txBody>
      </p:sp>
      <p:sp>
        <p:nvSpPr>
          <p:cNvPr id="17" name="Rectangle 16"/>
          <p:cNvSpPr/>
          <p:nvPr/>
        </p:nvSpPr>
        <p:spPr>
          <a:xfrm>
            <a:off x="7223760" y="2560320"/>
            <a:ext cx="4050792" cy="914400"/>
          </a:xfrm>
          <a:prstGeom prst="rect">
            <a:avLst/>
          </a:prstGeom>
          <a:solidFill>
            <a:srgbClr val="D6E6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88352" y="2386584"/>
            <a:ext cx="57150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88352" y="2386584"/>
            <a:ext cx="57150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Key</a:t>
            </a:r>
          </a:p>
        </p:txBody>
      </p:sp>
      <p:sp>
        <p:nvSpPr>
          <p:cNvPr id="20" name="TextBox 19"/>
          <p:cNvSpPr txBox="1"/>
          <p:nvPr/>
        </p:nvSpPr>
        <p:spPr>
          <a:xfrm>
            <a:off x="7333488" y="2706624"/>
            <a:ext cx="3831336" cy="69494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Project = the lasting workspace</a:t>
            </a:r>
          </a:p>
          <a:p>
            <a:pPr algn="ctr">
              <a:spcAft>
                <a:spcPts val="100"/>
              </a:spcAft>
            </a:pPr>
            <a:r>
              <a:rPr sz="1150" b="0">
                <a:solidFill>
                  <a:srgbClr val="21201C"/>
                </a:solidFill>
                <a:latin typeface="Courier New"/>
              </a:rPr>
              <a:t>Session = one conversation</a:t>
            </a:r>
          </a:p>
          <a:p>
            <a:pPr algn="ctr">
              <a:spcAft>
                <a:spcPts val="100"/>
              </a:spcAft>
            </a:pPr>
            <a:r>
              <a:rPr sz="1150" b="0">
                <a:solidFill>
                  <a:srgbClr val="21201C"/>
                </a:solidFill>
                <a:latin typeface="Courier New"/>
              </a:rPr>
              <a:t>Each session starts fresh</a:t>
            </a:r>
          </a:p>
        </p:txBody>
      </p:sp>
      <p:sp>
        <p:nvSpPr>
          <p:cNvPr id="21" name="Rectangle 20"/>
          <p:cNvSpPr/>
          <p:nvPr/>
        </p:nvSpPr>
        <p:spPr>
          <a:xfrm>
            <a:off x="5200650" y="3474720"/>
            <a:ext cx="22860" cy="20116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06549" y="3675887"/>
            <a:ext cx="7975854" cy="2286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95119"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4400"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78992" y="3849624"/>
            <a:ext cx="1202436"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8992" y="3849624"/>
            <a:ext cx="1202436"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Session 1</a:t>
            </a:r>
          </a:p>
        </p:txBody>
      </p:sp>
      <p:sp>
        <p:nvSpPr>
          <p:cNvPr id="27" name="TextBox 26"/>
          <p:cNvSpPr txBox="1"/>
          <p:nvPr/>
        </p:nvSpPr>
        <p:spPr>
          <a:xfrm>
            <a:off x="1024128"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Market research</a:t>
            </a:r>
          </a:p>
          <a:p>
            <a:pPr algn="ctr">
              <a:spcAft>
                <a:spcPts val="100"/>
              </a:spcAft>
            </a:pPr>
            <a:r>
              <a:rPr sz="1150" b="0">
                <a:solidFill>
                  <a:srgbClr val="21201C"/>
                </a:solidFill>
                <a:latin typeface="Courier New"/>
              </a:rPr>
              <a:t>Monday</a:t>
            </a:r>
          </a:p>
        </p:txBody>
      </p:sp>
      <p:sp>
        <p:nvSpPr>
          <p:cNvPr id="28" name="Rectangle 27"/>
          <p:cNvSpPr/>
          <p:nvPr/>
        </p:nvSpPr>
        <p:spPr>
          <a:xfrm>
            <a:off x="4753737"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73018"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37610" y="3849624"/>
            <a:ext cx="1202436"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37610" y="3849624"/>
            <a:ext cx="1202436"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Session 2</a:t>
            </a:r>
          </a:p>
        </p:txBody>
      </p:sp>
      <p:sp>
        <p:nvSpPr>
          <p:cNvPr id="32" name="TextBox 31"/>
          <p:cNvSpPr txBox="1"/>
          <p:nvPr/>
        </p:nvSpPr>
        <p:spPr>
          <a:xfrm>
            <a:off x="3682746"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Instagram post</a:t>
            </a:r>
          </a:p>
          <a:p>
            <a:pPr algn="ctr">
              <a:spcAft>
                <a:spcPts val="100"/>
              </a:spcAft>
            </a:pPr>
            <a:r>
              <a:rPr sz="1150" b="0">
                <a:solidFill>
                  <a:srgbClr val="21201C"/>
                </a:solidFill>
                <a:latin typeface="Courier New"/>
              </a:rPr>
              <a:t>Tuesday</a:t>
            </a:r>
          </a:p>
        </p:txBody>
      </p:sp>
      <p:sp>
        <p:nvSpPr>
          <p:cNvPr id="33" name="Rectangle 32"/>
          <p:cNvSpPr/>
          <p:nvPr/>
        </p:nvSpPr>
        <p:spPr>
          <a:xfrm>
            <a:off x="7412355"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31636"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96228" y="3849624"/>
            <a:ext cx="1202436"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96228" y="3849624"/>
            <a:ext cx="1202436"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Session 3</a:t>
            </a:r>
          </a:p>
        </p:txBody>
      </p:sp>
      <p:sp>
        <p:nvSpPr>
          <p:cNvPr id="37" name="TextBox 36"/>
          <p:cNvSpPr txBox="1"/>
          <p:nvPr/>
        </p:nvSpPr>
        <p:spPr>
          <a:xfrm>
            <a:off x="6341364"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Launch video</a:t>
            </a:r>
          </a:p>
          <a:p>
            <a:pPr algn="ctr">
              <a:spcAft>
                <a:spcPts val="100"/>
              </a:spcAft>
            </a:pPr>
            <a:r>
              <a:rPr sz="1150" b="0">
                <a:solidFill>
                  <a:srgbClr val="21201C"/>
                </a:solidFill>
                <a:latin typeface="Courier New"/>
              </a:rPr>
              <a:t>Wednesday</a:t>
            </a:r>
          </a:p>
        </p:txBody>
      </p:sp>
      <p:sp>
        <p:nvSpPr>
          <p:cNvPr id="38" name="Rectangle 37"/>
          <p:cNvSpPr/>
          <p:nvPr/>
        </p:nvSpPr>
        <p:spPr>
          <a:xfrm>
            <a:off x="10070973"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890254" y="4023360"/>
            <a:ext cx="2384298" cy="868680"/>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54846" y="3849624"/>
            <a:ext cx="1202436"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54846" y="3849624"/>
            <a:ext cx="1202436"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Scheduled</a:t>
            </a:r>
          </a:p>
        </p:txBody>
      </p:sp>
      <p:sp>
        <p:nvSpPr>
          <p:cNvPr id="42" name="TextBox 41"/>
          <p:cNvSpPr txBox="1"/>
          <p:nvPr/>
        </p:nvSpPr>
        <p:spPr>
          <a:xfrm>
            <a:off x="8999982"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Post drafts</a:t>
            </a:r>
          </a:p>
          <a:p>
            <a:pPr algn="ctr">
              <a:spcAft>
                <a:spcPts val="100"/>
              </a:spcAft>
            </a:pPr>
            <a:r>
              <a:rPr sz="1150" b="0">
                <a:solidFill>
                  <a:srgbClr val="21201C"/>
                </a:solidFill>
                <a:latin typeface="Courier New"/>
              </a:rPr>
              <a:t>every Monday 9am</a:t>
            </a:r>
          </a:p>
        </p:txBody>
      </p:sp>
      <p:sp>
        <p:nvSpPr>
          <p:cNvPr id="43" name="Rectangle 42"/>
          <p:cNvSpPr/>
          <p:nvPr/>
        </p:nvSpPr>
        <p:spPr>
          <a:xfrm>
            <a:off x="914400" y="5074920"/>
            <a:ext cx="10360152" cy="411480"/>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074920"/>
            <a:ext cx="10360152" cy="411480"/>
          </a:xfrm>
          <a:prstGeom prst="rect">
            <a:avLst/>
          </a:prstGeom>
          <a:noFill/>
        </p:spPr>
        <p:txBody>
          <a:bodyPr wrap="square" anchor="ctr" lIns="0" rIns="0" tIns="0" bIns="0">
            <a:spAutoFit/>
          </a:bodyPr>
          <a:lstStyle/>
          <a:p>
            <a:pPr algn="ctr">
              <a:spcAft>
                <a:spcPts val="400"/>
              </a:spcAft>
            </a:pPr>
            <a:r>
              <a:rPr sz="1200" b="1">
                <a:solidFill>
                  <a:srgbClr val="21201C"/>
                </a:solidFill>
                <a:latin typeface="Courier New"/>
              </a:rPr>
              <a:t>Memory file in the folder: what one session decides, the next one reads</a:t>
            </a:r>
          </a:p>
        </p:txBody>
      </p:sp>
      <p:sp>
        <p:nvSpPr>
          <p:cNvPr id="45" name="TextBox 44"/>
          <p:cNvSpPr txBox="1"/>
          <p:nvPr/>
        </p:nvSpPr>
        <p:spPr>
          <a:xfrm>
            <a:off x="548640" y="58338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Close a session and its chat ends, but the project's instructions, context, folder and memory file are still there for the next one.</a:t>
            </a:r>
          </a:p>
        </p:txBody>
      </p:sp>
      <p:sp>
        <p:nvSpPr>
          <p:cNvPr id="46" name="TextBox 4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7" name="TextBox 4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8" name="TextBox 4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Inside a Project</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Claude Project</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folder-backed project with four panels</a:t>
            </a:r>
          </a:p>
        </p:txBody>
      </p:sp>
      <p:sp>
        <p:nvSpPr>
          <p:cNvPr id="9" name="Rectangle 8"/>
          <p:cNvSpPr/>
          <p:nvPr/>
        </p:nvSpPr>
        <p:spPr>
          <a:xfrm>
            <a:off x="1417320" y="2926080"/>
            <a:ext cx="2926080" cy="996696"/>
          </a:xfrm>
          <a:prstGeom prst="rect">
            <a:avLst/>
          </a:prstGeom>
          <a:solidFill>
            <a:srgbClr val="F7DAC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1517904"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1517904"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Instructions</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Rules every</a:t>
            </a:r>
          </a:p>
          <a:p>
            <a:pPr algn="ctr">
              <a:spcAft>
                <a:spcPts val="200"/>
              </a:spcAft>
            </a:pPr>
            <a:r>
              <a:rPr sz="1200" b="0">
                <a:solidFill>
                  <a:srgbClr val="21201C"/>
                </a:solidFill>
                <a:latin typeface="Courier New"/>
              </a:rPr>
              <a:t>task follows</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992124"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992124"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Context</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Files Claude</a:t>
            </a:r>
          </a:p>
          <a:p>
            <a:pPr algn="ctr">
              <a:spcAft>
                <a:spcPts val="200"/>
              </a:spcAft>
            </a:pPr>
            <a:r>
              <a:rPr sz="1200" b="0">
                <a:solidFill>
                  <a:srgbClr val="21201C"/>
                </a:solidFill>
                <a:latin typeface="Courier New"/>
              </a:rPr>
              <a:t>reads</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Folder</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Where Claude</a:t>
            </a:r>
          </a:p>
          <a:p>
            <a:pPr algn="ctr">
              <a:spcAft>
                <a:spcPts val="200"/>
              </a:spcAft>
            </a:pPr>
            <a:r>
              <a:rPr sz="1200" b="0">
                <a:solidFill>
                  <a:srgbClr val="21201C"/>
                </a:solidFill>
                <a:latin typeface="Courier New"/>
              </a:rPr>
              <a:t>works</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1202436"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1202436"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Scheduled</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Tasks on a</a:t>
            </a:r>
          </a:p>
          <a:p>
            <a:pPr algn="ctr">
              <a:spcAft>
                <a:spcPts val="200"/>
              </a:spcAft>
            </a:pPr>
            <a:r>
              <a:rPr sz="1200" b="0">
                <a:solidFill>
                  <a:srgbClr val="21201C"/>
                </a:solidFill>
                <a:latin typeface="Courier New"/>
              </a:rPr>
              <a:t>timetable</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130759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130759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Your tasks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Run one or</a:t>
            </a:r>
          </a:p>
          <a:p>
            <a:pPr algn="ctr">
              <a:spcAft>
                <a:spcPts val="200"/>
              </a:spcAft>
            </a:pPr>
            <a:r>
              <a:rPr sz="1200" b="0">
                <a:solidFill>
                  <a:srgbClr val="21201C"/>
                </a:solidFill>
                <a:latin typeface="Courier New"/>
              </a:rPr>
              <a:t>several at once</a:t>
            </a:r>
          </a:p>
        </p:txBody>
      </p:sp>
      <p:sp>
        <p:nvSpPr>
          <p:cNvPr id="29" name="Rectangle 28"/>
          <p:cNvSpPr/>
          <p:nvPr/>
        </p:nvSpPr>
        <p:spPr>
          <a:xfrm>
            <a:off x="78181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141274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141274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Memory file</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Decisions kept</a:t>
            </a:r>
          </a:p>
          <a:p>
            <a:pPr algn="ctr">
              <a:spcAft>
                <a:spcPts val="200"/>
              </a:spcAft>
            </a:pPr>
            <a:r>
              <a:rPr sz="1200" b="0">
                <a:solidFill>
                  <a:srgbClr val="21201C"/>
                </a:solidFill>
                <a:latin typeface="Courier New"/>
              </a:rPr>
              <a:t>in the folder</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Every task you start in the project reads its instructions, context and folder. Start several at once and they run in parallel — one task per subject.</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Project Answers Four Questions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four panels on the project page, each answering one question.</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How Claude must work: brand voice, prices in S$, ask before sending — rules every task follows.</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What Claude needs to know: brand guidelines, product sheet, launch brief — read, never edited.</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Where Claude works: the real folder on your computer it reads data from and saves outputs to.</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When work runs without you: Monday 9am the week's post drafts, Friday the weekly report.</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memory file in the folder keeps what each session decides for the next.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Project Page in the App</a:t>
            </a:r>
          </a:p>
        </p:txBody>
      </p:sp>
      <p:sp>
        <p:nvSpPr>
          <p:cNvPr id="5" name="Rectangle 4"/>
          <p:cNvSpPr/>
          <p:nvPr/>
        </p:nvSpPr>
        <p:spPr>
          <a:xfrm>
            <a:off x="2951468" y="1600200"/>
            <a:ext cx="6258584"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951468" y="1600200"/>
            <a:ext cx="625858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dd-folder.png"/>
          <p:cNvPicPr>
            <a:picLocks noChangeAspect="1"/>
          </p:cNvPicPr>
          <p:nvPr/>
        </p:nvPicPr>
        <p:blipFill>
          <a:blip r:embed="rId2"/>
          <a:stretch>
            <a:fillRect/>
          </a:stretch>
        </p:blipFill>
        <p:spPr>
          <a:xfrm>
            <a:off x="3061196" y="1709928"/>
            <a:ext cx="6039128"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Instructions · Context</a:t>
            </a:r>
          </a:p>
          <a:p>
            <a:pPr algn="l">
              <a:spcAft>
                <a:spcPts val="300"/>
              </a:spcAft>
            </a:pPr>
            <a:r>
              <a:rPr sz="1250" b="0">
                <a:solidFill>
                  <a:srgbClr val="6B6862"/>
                </a:solidFill>
                <a:latin typeface="Calibri"/>
              </a:rPr>
              <a:t>HOW and WHAT — click Add to write the rules or attach reference files.</a:t>
            </a:r>
          </a:p>
        </p:txBody>
      </p:sp>
      <p:sp>
        <p:nvSpPr>
          <p:cNvPr id="11" name="Oval 10"/>
          <p:cNvSpPr/>
          <p:nvPr/>
        </p:nvSpPr>
        <p:spPr>
          <a:xfrm>
            <a:off x="33832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384048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Add folder</a:t>
            </a:r>
          </a:p>
          <a:p>
            <a:pPr algn="l">
              <a:spcAft>
                <a:spcPts val="300"/>
              </a:spcAft>
            </a:pPr>
            <a:r>
              <a:rPr sz="1250" b="0">
                <a:solidFill>
                  <a:srgbClr val="6B6862"/>
                </a:solidFill>
                <a:latin typeface="Calibri"/>
              </a:rPr>
              <a:t>WHERE — under the message box, pick the folder Claude reads from and saves to.</a:t>
            </a:r>
          </a:p>
        </p:txBody>
      </p:sp>
      <p:sp>
        <p:nvSpPr>
          <p:cNvPr id="14" name="Oval 13"/>
          <p:cNvSpPr/>
          <p:nvPr/>
        </p:nvSpPr>
        <p:spPr>
          <a:xfrm>
            <a:off x="621792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667512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Memory · Scheduled</a:t>
            </a:r>
          </a:p>
          <a:p>
            <a:pPr algn="l">
              <a:spcAft>
                <a:spcPts val="300"/>
              </a:spcAft>
            </a:pPr>
            <a:r>
              <a:rPr sz="1250" b="0">
                <a:solidFill>
                  <a:srgbClr val="6B6862"/>
                </a:solidFill>
                <a:latin typeface="Calibri"/>
              </a:rPr>
              <a:t>What Claude has learned about the project, and WHEN tasks run on their own.</a:t>
            </a:r>
          </a:p>
        </p:txBody>
      </p:sp>
      <p:sp>
        <p:nvSpPr>
          <p:cNvPr id="17" name="Oval 16"/>
          <p:cNvSpPr/>
          <p:nvPr/>
        </p:nvSpPr>
        <p:spPr>
          <a:xfrm>
            <a:off x="90525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950976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New session</a:t>
            </a:r>
          </a:p>
          <a:p>
            <a:pPr algn="l">
              <a:spcAft>
                <a:spcPts val="300"/>
              </a:spcAft>
            </a:pPr>
            <a:r>
              <a:rPr sz="1250" b="0">
                <a:solidFill>
                  <a:srgbClr val="6B6862"/>
                </a:solidFill>
                <a:latin typeface="Calibri"/>
              </a:rPr>
              <a:t>Type in the box to start a session; earlier sessions are listed beneath it.</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project from the class: the goal under its name, the project's panels on the right.</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 Menu: What a Session Can Use</a:t>
            </a:r>
          </a:p>
        </p:txBody>
      </p:sp>
      <p:sp>
        <p:nvSpPr>
          <p:cNvPr id="5" name="Rectangle 4"/>
          <p:cNvSpPr/>
          <p:nvPr/>
        </p:nvSpPr>
        <p:spPr>
          <a:xfrm>
            <a:off x="548640" y="1855436"/>
            <a:ext cx="6903720" cy="3787208"/>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55436"/>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plus-menu.png"/>
          <p:cNvPicPr>
            <a:picLocks noChangeAspect="1"/>
          </p:cNvPicPr>
          <p:nvPr/>
        </p:nvPicPr>
        <p:blipFill>
          <a:blip r:embed="rId2"/>
          <a:stretch>
            <a:fillRect/>
          </a:stretch>
        </p:blipFill>
        <p:spPr>
          <a:xfrm>
            <a:off x="658368" y="1965164"/>
            <a:ext cx="6684264" cy="3567752"/>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Files and folders</a:t>
            </a:r>
          </a:p>
          <a:p>
            <a:pPr algn="l">
              <a:spcAft>
                <a:spcPts val="300"/>
              </a:spcAft>
            </a:pPr>
            <a:r>
              <a:rPr sz="1250" b="0">
                <a:solidFill>
                  <a:srgbClr val="6B6862"/>
                </a:solidFill>
                <a:latin typeface="Calibri"/>
              </a:rPr>
              <a:t>Upload a file, or add a folder, for this session.</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Skills · Connectors · Plugins</a:t>
            </a:r>
          </a:p>
          <a:p>
            <a:pPr algn="l">
              <a:spcAft>
                <a:spcPts val="300"/>
              </a:spcAft>
            </a:pPr>
            <a:r>
              <a:rPr sz="1250" b="0">
                <a:solidFill>
                  <a:srgbClr val="6B6862"/>
                </a:solidFill>
                <a:latin typeface="Calibri"/>
              </a:rPr>
              <a:t>Choose what the session may use — the brand-voice skill, Gmail, a plugin.</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Record a skill</a:t>
            </a:r>
          </a:p>
          <a:p>
            <a:pPr algn="l">
              <a:spcAft>
                <a:spcPts val="300"/>
              </a:spcAft>
            </a:pPr>
            <a:r>
              <a:rPr sz="1250" b="0">
                <a:solidFill>
                  <a:srgbClr val="6B6862"/>
                </a:solidFill>
                <a:latin typeface="Calibri"/>
              </a:rPr>
              <a:t>Capture a routine you show Claude as a new skill.</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Research · Memory</a:t>
            </a:r>
          </a:p>
          <a:p>
            <a:pPr algn="l">
              <a:spcAft>
                <a:spcPts val="300"/>
              </a:spcAft>
            </a:pPr>
            <a:r>
              <a:rPr sz="1250" b="0">
                <a:solidFill>
                  <a:srgbClr val="6B6862"/>
                </a:solidFill>
                <a:latin typeface="Calibri"/>
              </a:rPr>
              <a:t>Deeper web research; the tick shows the session uses project memory.</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Click + in the message box to bring files and tools into the session.</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When to Use a Project</a:t>
            </a:r>
          </a:p>
        </p:txBody>
      </p:sp>
      <p:sp>
        <p:nvSpPr>
          <p:cNvPr id="5" name="Rectangle 4"/>
          <p:cNvSpPr/>
          <p:nvPr/>
        </p:nvSpPr>
        <p:spPr>
          <a:xfrm>
            <a:off x="548640"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long-running goal</a:t>
            </a:r>
          </a:p>
          <a:p>
            <a:pPr algn="l">
              <a:spcAft>
                <a:spcPts val="300"/>
              </a:spcAft>
            </a:pPr>
            <a:r>
              <a:rPr sz="1150" b="0">
                <a:solidFill>
                  <a:srgbClr val="6B6862"/>
                </a:solidFill>
                <a:latin typeface="Calibri"/>
              </a:rPr>
              <a:t>Work keeps arriving for weeks — a product launch, a channel, an app.</a:t>
            </a:r>
          </a:p>
        </p:txBody>
      </p:sp>
      <p:sp>
        <p:nvSpPr>
          <p:cNvPr id="10" name="Rectangle 9"/>
          <p:cNvSpPr/>
          <p:nvPr/>
        </p:nvSpPr>
        <p:spPr>
          <a:xfrm>
            <a:off x="6163056"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job that splits</a:t>
            </a:r>
          </a:p>
          <a:p>
            <a:pPr algn="l">
              <a:spcAft>
                <a:spcPts val="300"/>
              </a:spcAft>
            </a:pPr>
            <a:r>
              <a:rPr sz="1150" b="0">
                <a:solidFill>
                  <a:srgbClr val="6B6862"/>
                </a:solidFill>
                <a:latin typeface="Calibri"/>
              </a:rPr>
              <a:t>One big job breaks into pieces that can run at once — assets, ads, competitors, email.</a:t>
            </a:r>
          </a:p>
        </p:txBody>
      </p:sp>
      <p:sp>
        <p:nvSpPr>
          <p:cNvPr id="15" name="Rectangle 14"/>
          <p:cNvSpPr/>
          <p:nvPr/>
        </p:nvSpPr>
        <p:spPr>
          <a:xfrm>
            <a:off x="548640"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Lots of research</a:t>
            </a:r>
          </a:p>
          <a:p>
            <a:pPr algn="l">
              <a:spcAft>
                <a:spcPts val="300"/>
              </a:spcAft>
            </a:pPr>
            <a:r>
              <a:rPr sz="1150" b="0">
                <a:solidFill>
                  <a:srgbClr val="6B6862"/>
                </a:solidFill>
                <a:latin typeface="Calibri"/>
              </a:rPr>
              <a:t>Many subjects to look into — one task per competitor, market or segment.</a:t>
            </a:r>
          </a:p>
        </p:txBody>
      </p:sp>
      <p:sp>
        <p:nvSpPr>
          <p:cNvPr id="20" name="Rectangle 19"/>
          <p:cNvSpPr/>
          <p:nvPr/>
        </p:nvSpPr>
        <p:spPr>
          <a:xfrm>
            <a:off x="6163056"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Regular routines</a:t>
            </a:r>
          </a:p>
          <a:p>
            <a:pPr algn="l">
              <a:spcAft>
                <a:spcPts val="300"/>
              </a:spcAft>
            </a:pPr>
            <a:r>
              <a:rPr sz="1150" b="0">
                <a:solidFill>
                  <a:srgbClr val="6B6862"/>
                </a:solidFill>
                <a:latin typeface="Calibri"/>
              </a:rPr>
              <a:t>Work that repeats on a timetable — scheduled tasks that belong to the project.</a:t>
            </a:r>
          </a:p>
        </p:txBody>
      </p:sp>
      <p:sp>
        <p:nvSpPr>
          <p:cNvPr id="25" name="TextBox 24"/>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one-off question that is done in one reply? Use an ordinary chat.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four panels on the project page, the tasks you run, and the memory file you keep.</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Standing rules you write: brand voice, currency, never publish without approval.</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a:t>
            </a:r>
          </a:p>
          <a:p>
            <a:pPr algn="l">
              <a:spcAft>
                <a:spcPts val="300"/>
              </a:spcAft>
            </a:pPr>
            <a:r>
              <a:rPr sz="1150" b="0">
                <a:solidFill>
                  <a:srgbClr val="6B6862"/>
                </a:solidFill>
                <a:latin typeface="Calibri"/>
              </a:rPr>
              <a:t>Documents Claude READS and never edits — the brand guidelines, product sheet and launch brief.</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a:t>
            </a:r>
          </a:p>
          <a:p>
            <a:pPr algn="l">
              <a:spcAft>
                <a:spcPts val="300"/>
              </a:spcAft>
            </a:pPr>
            <a:r>
              <a:rPr sz="1150" b="0">
                <a:solidFill>
                  <a:srgbClr val="6B6862"/>
                </a:solidFill>
                <a:latin typeface="Calibri"/>
              </a:rPr>
              <a:t>A real folder on your computer where Claude WORKS: it reads the data there and writes output back.</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a:t>
            </a:r>
          </a:p>
          <a:p>
            <a:pPr algn="l">
              <a:spcAft>
                <a:spcPts val="300"/>
              </a:spcAft>
            </a:pPr>
            <a:r>
              <a:rPr sz="1150" b="0">
                <a:solidFill>
                  <a:srgbClr val="6B6862"/>
                </a:solidFill>
                <a:latin typeface="Calibri"/>
              </a:rPr>
              <a:t>Recurring tasks that belong to this project — the daily post draft, the weekly report.</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Tasks</a:t>
            </a:r>
          </a:p>
          <a:p>
            <a:pPr algn="l">
              <a:spcAft>
                <a:spcPts val="300"/>
              </a:spcAft>
            </a:pPr>
            <a:r>
              <a:rPr sz="1150" b="0">
                <a:solidFill>
                  <a:srgbClr val="6B6862"/>
                </a:solidFill>
                <a:latin typeface="Calibri"/>
              </a:rPr>
              <a:t>Each job you start in the project. Several can run at once, one per subject.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Memory file</a:t>
            </a:r>
          </a:p>
          <a:p>
            <a:pPr algn="l">
              <a:spcAft>
                <a:spcPts val="300"/>
              </a:spcAft>
            </a:pPr>
            <a:r>
              <a:rPr sz="1150" b="0">
                <a:solidFill>
                  <a:srgbClr val="6B6862"/>
                </a:solidFill>
                <a:latin typeface="Calibri"/>
              </a:rPr>
              <a:t>lumo-project-memory.md in the folder: decisions you ask Claude to record, read by every later task.</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a Project, Field by Field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New project opens the Create a project dialog.</a:t>
            </a:r>
          </a:p>
        </p:txBody>
      </p:sp>
      <p:sp>
        <p:nvSpPr>
          <p:cNvPr id="6" name="Rectangle 5"/>
          <p:cNvSpPr/>
          <p:nvPr/>
        </p:nvSpPr>
        <p:spPr>
          <a:xfrm>
            <a:off x="548640" y="2148840"/>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34315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4315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What are you working on?</a:t>
            </a:r>
          </a:p>
          <a:p>
            <a:pPr algn="l">
              <a:spcAft>
                <a:spcPts val="500"/>
              </a:spcAft>
            </a:pPr>
            <a:r>
              <a:rPr sz="1250" b="0">
                <a:solidFill>
                  <a:srgbClr val="6B6862"/>
                </a:solidFill>
                <a:latin typeface="Calibri"/>
              </a:rPr>
              <a:t>The project's name — Lumo Cold Kopi Launch. This is how you find it in the sidebar.</a:t>
            </a:r>
          </a:p>
        </p:txBody>
      </p:sp>
      <p:sp>
        <p:nvSpPr>
          <p:cNvPr id="10" name="Rectangle 9"/>
          <p:cNvSpPr/>
          <p:nvPr/>
        </p:nvSpPr>
        <p:spPr>
          <a:xfrm>
            <a:off x="548640" y="3049524"/>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24383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4383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049524"/>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What are you trying to achieve?</a:t>
            </a:r>
          </a:p>
          <a:p>
            <a:pPr algn="l">
              <a:spcAft>
                <a:spcPts val="500"/>
              </a:spcAft>
            </a:pPr>
            <a:r>
              <a:rPr sz="1250" b="0">
                <a:solidFill>
                  <a:srgbClr val="6B6862"/>
                </a:solidFill>
                <a:latin typeface="Calibri"/>
              </a:rPr>
              <a:t>The goal in two or three sentences. Every task in the project inherits it.</a:t>
            </a:r>
          </a:p>
        </p:txBody>
      </p:sp>
      <p:sp>
        <p:nvSpPr>
          <p:cNvPr id="14" name="Rectangle 13"/>
          <p:cNvSpPr/>
          <p:nvPr/>
        </p:nvSpPr>
        <p:spPr>
          <a:xfrm>
            <a:off x="548640" y="3950208"/>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14451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4451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950208"/>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Use a folder</a:t>
            </a:r>
          </a:p>
          <a:p>
            <a:pPr algn="l">
              <a:spcAft>
                <a:spcPts val="500"/>
              </a:spcAft>
            </a:pPr>
            <a:r>
              <a:rPr sz="1250" b="0">
                <a:solidFill>
                  <a:srgbClr val="6B6862"/>
                </a:solidFill>
                <a:latin typeface="Calibri"/>
              </a:rPr>
              <a:t>Point the project at a folder on your computer, so the files and outputs are yours to open.</a:t>
            </a:r>
          </a:p>
        </p:txBody>
      </p:sp>
      <p:sp>
        <p:nvSpPr>
          <p:cNvPr id="18" name="Rectangle 17"/>
          <p:cNvSpPr/>
          <p:nvPr/>
        </p:nvSpPr>
        <p:spPr>
          <a:xfrm>
            <a:off x="548640" y="4850892"/>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504520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4520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850892"/>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Create project</a:t>
            </a:r>
          </a:p>
          <a:p>
            <a:pPr algn="l">
              <a:spcAft>
                <a:spcPts val="500"/>
              </a:spcAft>
            </a:pPr>
            <a:r>
              <a:rPr sz="1250" b="0">
                <a:solidFill>
                  <a:srgbClr val="6B6862"/>
                </a:solidFill>
                <a:latin typeface="Calibri"/>
              </a:rPr>
              <a:t>The project page opens with four panels: Instructions, Context, Folder and Scheduled.</a:t>
            </a:r>
          </a:p>
        </p:txBody>
      </p:sp>
      <p:sp>
        <p:nvSpPr>
          <p:cNvPr id="22" name="TextBox 2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Start a new project from Projects in Cowork. The instructions and context are added afterwards, from the project page.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Instructions vs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Quick test: a sentence that starts Always, Never or Write in… is an instruction. A document is context.</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Instructions — how to behave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Short standing rules you write in the Instructions panel.</a:t>
            </a:r>
          </a:p>
          <a:p>
            <a:pPr algn="l">
              <a:spcAft>
                <a:spcPts val="900"/>
              </a:spcAft>
            </a:pPr>
            <a:r>
              <a:rPr sz="1250" b="0">
                <a:solidFill>
                  <a:srgbClr val="21201C"/>
                </a:solidFill>
                <a:latin typeface="Calibri"/>
              </a:rPr>
              <a:t>•  Followed by every session in the project.</a:t>
            </a:r>
          </a:p>
          <a:p>
            <a:pPr algn="l">
              <a:spcAft>
                <a:spcPts val="900"/>
              </a:spcAft>
            </a:pPr>
            <a:r>
              <a:rPr sz="1250" b="0">
                <a:solidFill>
                  <a:srgbClr val="21201C"/>
                </a:solidFill>
                <a:latin typeface="Calibri"/>
              </a:rPr>
              <a:t>•  Like the house rules pinned on the office wall.</a:t>
            </a:r>
          </a:p>
          <a:p>
            <a:pPr algn="l">
              <a:spcAft>
                <a:spcPts val="900"/>
              </a:spcAft>
            </a:pPr>
            <a:r>
              <a:rPr sz="1250" b="0">
                <a:solidFill>
                  <a:srgbClr val="21201C"/>
                </a:solidFill>
                <a:latin typeface="Calibri"/>
              </a:rPr>
              <a:t>•  Keep them short: they are loaded into every session.</a:t>
            </a:r>
          </a:p>
          <a:p>
            <a:pPr algn="l">
              <a:spcAft>
                <a:spcPts val="900"/>
              </a:spcAft>
            </a:pPr>
            <a:r>
              <a:rPr sz="1250" b="0">
                <a:solidFill>
                  <a:srgbClr val="21201C"/>
                </a:solidFill>
                <a:latin typeface="Calibri"/>
              </a:rPr>
              <a:t>•  Lumo: “Prices in S$. No health claims. Ask before sending.”</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Context — what to know</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Reference documents Claude reads but never edits.</a:t>
            </a:r>
          </a:p>
          <a:p>
            <a:pPr algn="l">
              <a:spcAft>
                <a:spcPts val="900"/>
              </a:spcAft>
            </a:pPr>
            <a:r>
              <a:rPr sz="1250" b="0">
                <a:solidFill>
                  <a:srgbClr val="21201C"/>
                </a:solidFill>
                <a:latin typeface="Calibri"/>
              </a:rPr>
              <a:t>•  Files you add in the Context panel.</a:t>
            </a:r>
          </a:p>
          <a:p>
            <a:pPr algn="l">
              <a:spcAft>
                <a:spcPts val="900"/>
              </a:spcAft>
            </a:pPr>
            <a:r>
              <a:rPr sz="1250" b="0">
                <a:solidFill>
                  <a:srgbClr val="21201C"/>
                </a:solidFill>
                <a:latin typeface="Calibri"/>
              </a:rPr>
              <a:t>•  Like the reference binders on the office shelf.</a:t>
            </a:r>
          </a:p>
          <a:p>
            <a:pPr algn="l">
              <a:spcAft>
                <a:spcPts val="900"/>
              </a:spcAft>
            </a:pPr>
            <a:r>
              <a:rPr sz="1250" b="0">
                <a:solidFill>
                  <a:srgbClr val="21201C"/>
                </a:solidFill>
                <a:latin typeface="Calibri"/>
              </a:rPr>
              <a:t>•  Add them once; you never re-attach them again.</a:t>
            </a:r>
          </a:p>
          <a:p>
            <a:pPr algn="l">
              <a:spcAft>
                <a:spcPts val="900"/>
              </a:spcAft>
            </a:pPr>
            <a:r>
              <a:rPr sz="1250" b="0">
                <a:solidFill>
                  <a:srgbClr val="21201C"/>
                </a:solidFill>
                <a:latin typeface="Calibri"/>
              </a:rPr>
              <a:t>•  Lumo: brand guidelines, product sheet, launch brief.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Instructions, Context or Memory?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When the output is wrong, this tells you which one to edit.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1458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Instructions</a:t>
            </a:r>
          </a:p>
        </p:txBody>
      </p:sp>
      <p:sp>
        <p:nvSpPr>
          <p:cNvPr id="8" name="TextBox 7"/>
          <p:cNvSpPr txBox="1"/>
          <p:nvPr/>
        </p:nvSpPr>
        <p:spPr>
          <a:xfrm>
            <a:off x="5797867" y="2194560"/>
            <a:ext cx="241458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Context</a:t>
            </a:r>
          </a:p>
        </p:txBody>
      </p:sp>
      <p:sp>
        <p:nvSpPr>
          <p:cNvPr id="9" name="TextBox 8"/>
          <p:cNvSpPr txBox="1"/>
          <p:nvPr/>
        </p:nvSpPr>
        <p:spPr>
          <a:xfrm>
            <a:off x="8441054" y="2194560"/>
            <a:ext cx="2897505"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Memory file</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Who writes it</a:t>
            </a:r>
          </a:p>
        </p:txBody>
      </p:sp>
      <p:sp>
        <p:nvSpPr>
          <p:cNvPr id="12" name="TextBox 11"/>
          <p:cNvSpPr txBox="1"/>
          <p:nvPr/>
        </p:nvSpPr>
        <p:spPr>
          <a:xfrm>
            <a:off x="3154680" y="2651760"/>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a:t>
            </a:r>
          </a:p>
        </p:txBody>
      </p:sp>
      <p:sp>
        <p:nvSpPr>
          <p:cNvPr id="13" name="TextBox 12"/>
          <p:cNvSpPr txBox="1"/>
          <p:nvPr/>
        </p:nvSpPr>
        <p:spPr>
          <a:xfrm>
            <a:off x="5797867" y="2651760"/>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 add it</a:t>
            </a:r>
          </a:p>
        </p:txBody>
      </p:sp>
      <p:sp>
        <p:nvSpPr>
          <p:cNvPr id="14" name="TextBox 13"/>
          <p:cNvSpPr txBox="1"/>
          <p:nvPr/>
        </p:nvSpPr>
        <p:spPr>
          <a:xfrm>
            <a:off x="8441054" y="2651760"/>
            <a:ext cx="2897505"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Claude, when you ask it to</a:t>
            </a:r>
          </a:p>
        </p:txBody>
      </p:sp>
      <p:sp>
        <p:nvSpPr>
          <p:cNvPr id="15" name="Rectangle 14"/>
          <p:cNvSpPr/>
          <p:nvPr/>
        </p:nvSpPr>
        <p:spPr>
          <a:xfrm>
            <a:off x="822960" y="331927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19272"/>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What it holds</a:t>
            </a:r>
          </a:p>
        </p:txBody>
      </p:sp>
      <p:sp>
        <p:nvSpPr>
          <p:cNvPr id="17" name="TextBox 16"/>
          <p:cNvSpPr txBox="1"/>
          <p:nvPr/>
        </p:nvSpPr>
        <p:spPr>
          <a:xfrm>
            <a:off x="3154680" y="3319272"/>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Rules and style</a:t>
            </a:r>
          </a:p>
        </p:txBody>
      </p:sp>
      <p:sp>
        <p:nvSpPr>
          <p:cNvPr id="18" name="TextBox 17"/>
          <p:cNvSpPr txBox="1"/>
          <p:nvPr/>
        </p:nvSpPr>
        <p:spPr>
          <a:xfrm>
            <a:off x="5797867" y="3319272"/>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Files to read</a:t>
            </a:r>
          </a:p>
        </p:txBody>
      </p:sp>
      <p:sp>
        <p:nvSpPr>
          <p:cNvPr id="19" name="TextBox 18"/>
          <p:cNvSpPr txBox="1"/>
          <p:nvPr/>
        </p:nvSpPr>
        <p:spPr>
          <a:xfrm>
            <a:off x="8441054" y="3319272"/>
            <a:ext cx="2897505"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Decisions and facts to keep</a:t>
            </a:r>
          </a:p>
        </p:txBody>
      </p:sp>
      <p:sp>
        <p:nvSpPr>
          <p:cNvPr id="20" name="Rectangle 19"/>
          <p:cNvSpPr/>
          <p:nvPr/>
        </p:nvSpPr>
        <p:spPr>
          <a:xfrm>
            <a:off x="822960" y="398678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986784"/>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2" name="TextBox 21"/>
          <p:cNvSpPr txBox="1"/>
          <p:nvPr/>
        </p:nvSpPr>
        <p:spPr>
          <a:xfrm>
            <a:off x="3154680" y="3986784"/>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Prices in S$; no health claims</a:t>
            </a:r>
          </a:p>
        </p:txBody>
      </p:sp>
      <p:sp>
        <p:nvSpPr>
          <p:cNvPr id="23" name="TextBox 22"/>
          <p:cNvSpPr txBox="1"/>
          <p:nvPr/>
        </p:nvSpPr>
        <p:spPr>
          <a:xfrm>
            <a:off x="5797867" y="3986784"/>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Brand guidelines, launch brief</a:t>
            </a:r>
          </a:p>
        </p:txBody>
      </p:sp>
      <p:sp>
        <p:nvSpPr>
          <p:cNvPr id="24" name="TextBox 23"/>
          <p:cNvSpPr txBox="1"/>
          <p:nvPr/>
        </p:nvSpPr>
        <p:spPr>
          <a:xfrm>
            <a:off x="8441054" y="3986784"/>
            <a:ext cx="2897505"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Launch date moved to 8 December</a:t>
            </a:r>
          </a:p>
        </p:txBody>
      </p:sp>
      <p:sp>
        <p:nvSpPr>
          <p:cNvPr id="25" name="Rectangle 24"/>
          <p:cNvSpPr/>
          <p:nvPr/>
        </p:nvSpPr>
        <p:spPr>
          <a:xfrm>
            <a:off x="822960" y="465429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654296"/>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Edit it in</a:t>
            </a:r>
          </a:p>
        </p:txBody>
      </p:sp>
      <p:sp>
        <p:nvSpPr>
          <p:cNvPr id="27" name="TextBox 26"/>
          <p:cNvSpPr txBox="1"/>
          <p:nvPr/>
        </p:nvSpPr>
        <p:spPr>
          <a:xfrm>
            <a:off x="3154680" y="4654296"/>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Instructions panel</a:t>
            </a:r>
          </a:p>
        </p:txBody>
      </p:sp>
      <p:sp>
        <p:nvSpPr>
          <p:cNvPr id="28" name="TextBox 27"/>
          <p:cNvSpPr txBox="1"/>
          <p:nvPr/>
        </p:nvSpPr>
        <p:spPr>
          <a:xfrm>
            <a:off x="5797867" y="4654296"/>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Context panel</a:t>
            </a:r>
          </a:p>
        </p:txBody>
      </p:sp>
      <p:sp>
        <p:nvSpPr>
          <p:cNvPr id="29" name="TextBox 28"/>
          <p:cNvSpPr txBox="1"/>
          <p:nvPr/>
        </p:nvSpPr>
        <p:spPr>
          <a:xfrm>
            <a:off x="8441054" y="4654296"/>
            <a:ext cx="2897505"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lumo-project-memory.md in the folder</a:t>
            </a:r>
          </a:p>
        </p:txBody>
      </p:sp>
      <p:sp>
        <p:nvSpPr>
          <p:cNvPr id="30" name="Rectangle 29"/>
          <p:cNvSpPr/>
          <p:nvPr/>
        </p:nvSpPr>
        <p:spPr>
          <a:xfrm>
            <a:off x="822960" y="532180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321808"/>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When output is wrong</a:t>
            </a:r>
          </a:p>
        </p:txBody>
      </p:sp>
      <p:sp>
        <p:nvSpPr>
          <p:cNvPr id="32" name="TextBox 31"/>
          <p:cNvSpPr txBox="1"/>
          <p:nvPr/>
        </p:nvSpPr>
        <p:spPr>
          <a:xfrm>
            <a:off x="3154680" y="5321808"/>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Tighten the rule</a:t>
            </a:r>
          </a:p>
        </p:txBody>
      </p:sp>
      <p:sp>
        <p:nvSpPr>
          <p:cNvPr id="33" name="TextBox 32"/>
          <p:cNvSpPr txBox="1"/>
          <p:nvPr/>
        </p:nvSpPr>
        <p:spPr>
          <a:xfrm>
            <a:off x="5797867" y="5321808"/>
            <a:ext cx="2414587"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missing file</a:t>
            </a:r>
          </a:p>
        </p:txBody>
      </p:sp>
      <p:sp>
        <p:nvSpPr>
          <p:cNvPr id="34" name="TextBox 33"/>
          <p:cNvSpPr txBox="1"/>
          <p:nvPr/>
        </p:nvSpPr>
        <p:spPr>
          <a:xfrm>
            <a:off x="8441054" y="5321808"/>
            <a:ext cx="2897505"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Correct the line in the file</a:t>
            </a:r>
          </a:p>
        </p:txBody>
      </p:sp>
      <p:sp>
        <p:nvSpPr>
          <p:cNvPr id="35" name="Rectangle 34"/>
          <p:cNvSpPr/>
          <p:nvPr/>
        </p:nvSpPr>
        <p:spPr>
          <a:xfrm>
            <a:off x="822960" y="598932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 Analogy: The Project Room</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Picture the project as a room your team works in for the whole launch.</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In Claude</a:t>
            </a:r>
          </a:p>
        </p:txBody>
      </p:sp>
      <p:sp>
        <p:nvSpPr>
          <p:cNvPr id="7" name="TextBox 6"/>
          <p:cNvSpPr txBox="1"/>
          <p:nvPr/>
        </p:nvSpPr>
        <p:spPr>
          <a:xfrm>
            <a:off x="3154680" y="2194560"/>
            <a:ext cx="2263370"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In the office</a:t>
            </a:r>
          </a:p>
        </p:txBody>
      </p:sp>
      <p:sp>
        <p:nvSpPr>
          <p:cNvPr id="8" name="TextBox 7"/>
          <p:cNvSpPr txBox="1"/>
          <p:nvPr/>
        </p:nvSpPr>
        <p:spPr>
          <a:xfrm>
            <a:off x="5646650" y="2194560"/>
            <a:ext cx="2965796"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What it means</a:t>
            </a:r>
          </a:p>
        </p:txBody>
      </p:sp>
      <p:sp>
        <p:nvSpPr>
          <p:cNvPr id="9" name="TextBox 8"/>
          <p:cNvSpPr txBox="1"/>
          <p:nvPr/>
        </p:nvSpPr>
        <p:spPr>
          <a:xfrm>
            <a:off x="8841046" y="2194560"/>
            <a:ext cx="2497512"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Lumo example</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Project</a:t>
            </a:r>
          </a:p>
        </p:txBody>
      </p:sp>
      <p:sp>
        <p:nvSpPr>
          <p:cNvPr id="12" name="TextBox 11"/>
          <p:cNvSpPr txBox="1"/>
          <p:nvPr/>
        </p:nvSpPr>
        <p:spPr>
          <a:xfrm>
            <a:off x="3154680" y="2651760"/>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project room</a:t>
            </a:r>
          </a:p>
        </p:txBody>
      </p:sp>
      <p:sp>
        <p:nvSpPr>
          <p:cNvPr id="13" name="TextBox 12"/>
          <p:cNvSpPr txBox="1"/>
          <p:nvPr/>
        </p:nvSpPr>
        <p:spPr>
          <a:xfrm>
            <a:off x="5646650" y="2651760"/>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Stays set up for weeks</a:t>
            </a:r>
          </a:p>
        </p:txBody>
      </p:sp>
      <p:sp>
        <p:nvSpPr>
          <p:cNvPr id="14" name="TextBox 13"/>
          <p:cNvSpPr txBox="1"/>
          <p:nvPr/>
        </p:nvSpPr>
        <p:spPr>
          <a:xfrm>
            <a:off x="8841046" y="2651760"/>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 Cold Kopi Launch</a:t>
            </a:r>
          </a:p>
        </p:txBody>
      </p:sp>
      <p:sp>
        <p:nvSpPr>
          <p:cNvPr id="15" name="Rectangle 14"/>
          <p:cNvSpPr/>
          <p:nvPr/>
        </p:nvSpPr>
        <p:spPr>
          <a:xfrm>
            <a:off x="822960" y="31285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128554"/>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Session</a:t>
            </a:r>
          </a:p>
        </p:txBody>
      </p:sp>
      <p:sp>
        <p:nvSpPr>
          <p:cNvPr id="17" name="TextBox 16"/>
          <p:cNvSpPr txBox="1"/>
          <p:nvPr/>
        </p:nvSpPr>
        <p:spPr>
          <a:xfrm>
            <a:off x="3154680" y="3128554"/>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working day in the room</a:t>
            </a:r>
          </a:p>
        </p:txBody>
      </p:sp>
      <p:sp>
        <p:nvSpPr>
          <p:cNvPr id="18" name="TextBox 17"/>
          <p:cNvSpPr txBox="1"/>
          <p:nvPr/>
        </p:nvSpPr>
        <p:spPr>
          <a:xfrm>
            <a:off x="5646650" y="3128554"/>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Starts fresh; the room is still set up</a:t>
            </a:r>
          </a:p>
        </p:txBody>
      </p:sp>
      <p:sp>
        <p:nvSpPr>
          <p:cNvPr id="19" name="TextBox 18"/>
          <p:cNvSpPr txBox="1"/>
          <p:nvPr/>
        </p:nvSpPr>
        <p:spPr>
          <a:xfrm>
            <a:off x="8841046" y="3128554"/>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Draft the Instagram post</a:t>
            </a:r>
          </a:p>
        </p:txBody>
      </p:sp>
      <p:sp>
        <p:nvSpPr>
          <p:cNvPr id="20" name="Rectangle 19"/>
          <p:cNvSpPr/>
          <p:nvPr/>
        </p:nvSpPr>
        <p:spPr>
          <a:xfrm>
            <a:off x="822960" y="360534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605348"/>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Instructions</a:t>
            </a:r>
          </a:p>
        </p:txBody>
      </p:sp>
      <p:sp>
        <p:nvSpPr>
          <p:cNvPr id="22" name="TextBox 21"/>
          <p:cNvSpPr txBox="1"/>
          <p:nvPr/>
        </p:nvSpPr>
        <p:spPr>
          <a:xfrm>
            <a:off x="3154680" y="3605348"/>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House rules on the wall</a:t>
            </a:r>
          </a:p>
        </p:txBody>
      </p:sp>
      <p:sp>
        <p:nvSpPr>
          <p:cNvPr id="23" name="TextBox 22"/>
          <p:cNvSpPr txBox="1"/>
          <p:nvPr/>
        </p:nvSpPr>
        <p:spPr>
          <a:xfrm>
            <a:off x="5646650" y="3605348"/>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How every session must behave</a:t>
            </a:r>
          </a:p>
        </p:txBody>
      </p:sp>
      <p:sp>
        <p:nvSpPr>
          <p:cNvPr id="24" name="TextBox 23"/>
          <p:cNvSpPr txBox="1"/>
          <p:nvPr/>
        </p:nvSpPr>
        <p:spPr>
          <a:xfrm>
            <a:off x="8841046" y="3605348"/>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Prices in S$; no health claims</a:t>
            </a:r>
          </a:p>
        </p:txBody>
      </p:sp>
      <p:sp>
        <p:nvSpPr>
          <p:cNvPr id="25" name="Rectangle 24"/>
          <p:cNvSpPr/>
          <p:nvPr/>
        </p:nvSpPr>
        <p:spPr>
          <a:xfrm>
            <a:off x="822960" y="408214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082142"/>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Context</a:t>
            </a:r>
          </a:p>
        </p:txBody>
      </p:sp>
      <p:sp>
        <p:nvSpPr>
          <p:cNvPr id="27" name="TextBox 26"/>
          <p:cNvSpPr txBox="1"/>
          <p:nvPr/>
        </p:nvSpPr>
        <p:spPr>
          <a:xfrm>
            <a:off x="3154680" y="4082142"/>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Binders on the shelf</a:t>
            </a:r>
          </a:p>
        </p:txBody>
      </p:sp>
      <p:sp>
        <p:nvSpPr>
          <p:cNvPr id="28" name="TextBox 27"/>
          <p:cNvSpPr txBox="1"/>
          <p:nvPr/>
        </p:nvSpPr>
        <p:spPr>
          <a:xfrm>
            <a:off x="5646650" y="4082142"/>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What Claude reads, never edits</a:t>
            </a:r>
          </a:p>
        </p:txBody>
      </p:sp>
      <p:sp>
        <p:nvSpPr>
          <p:cNvPr id="29" name="TextBox 28"/>
          <p:cNvSpPr txBox="1"/>
          <p:nvPr/>
        </p:nvSpPr>
        <p:spPr>
          <a:xfrm>
            <a:off x="8841046" y="4082142"/>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Brand guidelines, product sheet</a:t>
            </a:r>
          </a:p>
        </p:txBody>
      </p:sp>
      <p:sp>
        <p:nvSpPr>
          <p:cNvPr id="30" name="Rectangle 29"/>
          <p:cNvSpPr/>
          <p:nvPr/>
        </p:nvSpPr>
        <p:spPr>
          <a:xfrm>
            <a:off x="822960" y="45589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558936"/>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Folder</a:t>
            </a:r>
          </a:p>
        </p:txBody>
      </p:sp>
      <p:sp>
        <p:nvSpPr>
          <p:cNvPr id="32" name="TextBox 31"/>
          <p:cNvSpPr txBox="1"/>
          <p:nvPr/>
        </p:nvSpPr>
        <p:spPr>
          <a:xfrm>
            <a:off x="3154680" y="4558936"/>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desk</a:t>
            </a:r>
          </a:p>
        </p:txBody>
      </p:sp>
      <p:sp>
        <p:nvSpPr>
          <p:cNvPr id="33" name="TextBox 32"/>
          <p:cNvSpPr txBox="1"/>
          <p:nvPr/>
        </p:nvSpPr>
        <p:spPr>
          <a:xfrm>
            <a:off x="5646650" y="4558936"/>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Where work is done and left</a:t>
            </a:r>
          </a:p>
        </p:txBody>
      </p:sp>
      <p:sp>
        <p:nvSpPr>
          <p:cNvPr id="34" name="TextBox 33"/>
          <p:cNvSpPr txBox="1"/>
          <p:nvPr/>
        </p:nvSpPr>
        <p:spPr>
          <a:xfrm>
            <a:off x="8841046" y="4558936"/>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Survey CSV in, posts out</a:t>
            </a:r>
          </a:p>
        </p:txBody>
      </p:sp>
      <p:sp>
        <p:nvSpPr>
          <p:cNvPr id="35" name="Rectangle 34"/>
          <p:cNvSpPr/>
          <p:nvPr/>
        </p:nvSpPr>
        <p:spPr>
          <a:xfrm>
            <a:off x="822960" y="503573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035730"/>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Scheduled</a:t>
            </a:r>
          </a:p>
        </p:txBody>
      </p:sp>
      <p:sp>
        <p:nvSpPr>
          <p:cNvPr id="37" name="TextBox 36"/>
          <p:cNvSpPr txBox="1"/>
          <p:nvPr/>
        </p:nvSpPr>
        <p:spPr>
          <a:xfrm>
            <a:off x="3154680" y="5035730"/>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room's recurring calendar</a:t>
            </a:r>
          </a:p>
        </p:txBody>
      </p:sp>
      <p:sp>
        <p:nvSpPr>
          <p:cNvPr id="38" name="TextBox 37"/>
          <p:cNvSpPr txBox="1"/>
          <p:nvPr/>
        </p:nvSpPr>
        <p:spPr>
          <a:xfrm>
            <a:off x="5646650" y="5035730"/>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Work that runs on a timetable</a:t>
            </a:r>
          </a:p>
        </p:txBody>
      </p:sp>
      <p:sp>
        <p:nvSpPr>
          <p:cNvPr id="39" name="TextBox 38"/>
          <p:cNvSpPr txBox="1"/>
          <p:nvPr/>
        </p:nvSpPr>
        <p:spPr>
          <a:xfrm>
            <a:off x="8841046" y="5035730"/>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Monday 9am: the week's posts</a:t>
            </a:r>
          </a:p>
        </p:txBody>
      </p:sp>
      <p:sp>
        <p:nvSpPr>
          <p:cNvPr id="40" name="Rectangle 39"/>
          <p:cNvSpPr/>
          <p:nvPr/>
        </p:nvSpPr>
        <p:spPr>
          <a:xfrm>
            <a:off x="822960" y="551252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5512524"/>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Memory file</a:t>
            </a:r>
          </a:p>
        </p:txBody>
      </p:sp>
      <p:sp>
        <p:nvSpPr>
          <p:cNvPr id="42" name="TextBox 41"/>
          <p:cNvSpPr txBox="1"/>
          <p:nvPr/>
        </p:nvSpPr>
        <p:spPr>
          <a:xfrm>
            <a:off x="3154680" y="5512524"/>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team logbook</a:t>
            </a:r>
          </a:p>
        </p:txBody>
      </p:sp>
      <p:sp>
        <p:nvSpPr>
          <p:cNvPr id="43" name="TextBox 42"/>
          <p:cNvSpPr txBox="1"/>
          <p:nvPr/>
        </p:nvSpPr>
        <p:spPr>
          <a:xfrm>
            <a:off x="5646650" y="5512524"/>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Decisions kept between sessions</a:t>
            </a:r>
          </a:p>
        </p:txBody>
      </p:sp>
      <p:sp>
        <p:nvSpPr>
          <p:cNvPr id="44" name="TextBox 43"/>
          <p:cNvSpPr txBox="1"/>
          <p:nvPr/>
        </p:nvSpPr>
        <p:spPr>
          <a:xfrm>
            <a:off x="8841046" y="5512524"/>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Launch price confirmed at S$3.90</a:t>
            </a:r>
          </a:p>
        </p:txBody>
      </p:sp>
      <p:sp>
        <p:nvSpPr>
          <p:cNvPr id="45" name="Rectangle 44"/>
          <p:cNvSpPr/>
          <p:nvPr/>
        </p:nvSpPr>
        <p:spPr>
          <a:xfrm>
            <a:off x="822960" y="59893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7" name="TextBox 4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8" name="TextBox 4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brand kit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Research, posts and artefacts are scattered.</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Work stops when you stop typing.</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Context is added once and read by every task.</a:t>
            </a:r>
          </a:p>
          <a:p>
            <a:pPr algn="l">
              <a:spcAft>
                <a:spcPts val="900"/>
              </a:spcAft>
            </a:pPr>
            <a:r>
              <a:rPr sz="1250" b="0">
                <a:solidFill>
                  <a:srgbClr val="21201C"/>
                </a:solidFill>
                <a:latin typeface="Calibri"/>
              </a:rPr>
              <a:t>•  Instructions apply to every task in the project.</a:t>
            </a:r>
          </a:p>
          <a:p>
            <a:pPr algn="l">
              <a:spcAft>
                <a:spcPts val="900"/>
              </a:spcAft>
            </a:pPr>
            <a:r>
              <a:rPr sz="1250" b="0">
                <a:solidFill>
                  <a:srgbClr val="21201C"/>
                </a:solidFill>
                <a:latin typeface="Calibri"/>
              </a:rPr>
              <a:t>•  Outputs land together in the project folder.</a:t>
            </a:r>
          </a:p>
          <a:p>
            <a:pPr algn="l">
              <a:spcAft>
                <a:spcPts val="900"/>
              </a:spcAft>
            </a:pPr>
            <a:r>
              <a:rPr sz="1250" b="0">
                <a:solidFill>
                  <a:srgbClr val="21201C"/>
                </a:solidFill>
                <a:latin typeface="Calibri"/>
              </a:rPr>
              <a:t>•  A colleague opens the folder and is ready.</a:t>
            </a:r>
          </a:p>
          <a:p>
            <a:pPr algn="l">
              <a:spcAft>
                <a:spcPts val="900"/>
              </a:spcAft>
            </a:pPr>
            <a:r>
              <a:rPr sz="1250" b="0">
                <a:solidFill>
                  <a:srgbClr val="21201C"/>
                </a:solidFill>
                <a:latin typeface="Calibri"/>
              </a:rPr>
              <a:t>•  Scheduled tasks run while you are away.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COMING SOON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Coming Soon: Projects with a Lead Agent and Threads</a:t>
            </a:r>
          </a:p>
        </p:txBody>
      </p:sp>
      <p:sp>
        <p:nvSpPr>
          <p:cNvPr id="5" name="TextBox 4"/>
          <p:cNvSpPr txBox="1"/>
          <p:nvPr/>
        </p:nvSpPr>
        <p:spPr>
          <a:xfrm>
            <a:off x="548640" y="1691640"/>
            <a:ext cx="11064240" cy="7315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redesigned Claude Projects in September 2026. The new version is in beta, rolling out to Pro and Max accounts first — if your Projects page shows a Goal and talks about threads, you already have it.</a:t>
            </a:r>
          </a:p>
        </p:txBody>
      </p:sp>
      <p:sp>
        <p:nvSpPr>
          <p:cNvPr id="6" name="Rectangle 5"/>
          <p:cNvSpPr/>
          <p:nvPr/>
        </p:nvSpPr>
        <p:spPr>
          <a:xfrm>
            <a:off x="548640" y="2423160"/>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423160"/>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36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36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532888"/>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Lead agent</a:t>
            </a:r>
          </a:p>
          <a:p>
            <a:pPr algn="l">
              <a:spcAft>
                <a:spcPts val="300"/>
              </a:spcAft>
            </a:pPr>
            <a:r>
              <a:rPr sz="1150" b="0">
                <a:solidFill>
                  <a:srgbClr val="6B6862"/>
                </a:solidFill>
                <a:latin typeface="Calibri"/>
              </a:rPr>
              <a:t>You state a goal once; a coordinator plans the work, splits it and merges the results.</a:t>
            </a:r>
          </a:p>
        </p:txBody>
      </p:sp>
      <p:sp>
        <p:nvSpPr>
          <p:cNvPr id="11" name="Rectangle 10"/>
          <p:cNvSpPr/>
          <p:nvPr/>
        </p:nvSpPr>
        <p:spPr>
          <a:xfrm>
            <a:off x="6163056" y="2423160"/>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423160"/>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36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36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532888"/>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Parallel threads</a:t>
            </a:r>
          </a:p>
          <a:p>
            <a:pPr algn="l">
              <a:spcAft>
                <a:spcPts val="300"/>
              </a:spcAft>
            </a:pPr>
            <a:r>
              <a:rPr sz="1150" b="0">
                <a:solidFill>
                  <a:srgbClr val="6B6862"/>
                </a:solidFill>
                <a:latin typeface="Calibri"/>
              </a:rPr>
              <a:t>The lead agent starts one thread per subject itself — what you do by hand with tasks in Lab 2.</a:t>
            </a:r>
          </a:p>
        </p:txBody>
      </p:sp>
      <p:sp>
        <p:nvSpPr>
          <p:cNvPr id="16" name="Rectangle 15"/>
          <p:cNvSpPr/>
          <p:nvPr/>
        </p:nvSpPr>
        <p:spPr>
          <a:xfrm>
            <a:off x="548640" y="3636264"/>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636264"/>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98678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98678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745992"/>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Goal</a:t>
            </a:r>
          </a:p>
          <a:p>
            <a:pPr algn="l">
              <a:spcAft>
                <a:spcPts val="300"/>
              </a:spcAft>
            </a:pPr>
            <a:r>
              <a:rPr sz="1150" b="0">
                <a:solidFill>
                  <a:srgbClr val="6B6862"/>
                </a:solidFill>
                <a:latin typeface="Calibri"/>
              </a:rPr>
              <a:t>One outcome statement that every decision in the project steers toward.</a:t>
            </a:r>
          </a:p>
        </p:txBody>
      </p:sp>
      <p:sp>
        <p:nvSpPr>
          <p:cNvPr id="21" name="Rectangle 20"/>
          <p:cNvSpPr/>
          <p:nvPr/>
        </p:nvSpPr>
        <p:spPr>
          <a:xfrm>
            <a:off x="6163056" y="3636264"/>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636264"/>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98678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98678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745992"/>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Project memory</a:t>
            </a:r>
          </a:p>
          <a:p>
            <a:pPr algn="l">
              <a:spcAft>
                <a:spcPts val="300"/>
              </a:spcAft>
            </a:pPr>
            <a:r>
              <a:rPr sz="1150" b="0">
                <a:solidFill>
                  <a:srgbClr val="6B6862"/>
                </a:solidFill>
                <a:latin typeface="Calibri"/>
              </a:rPr>
              <a:t>Memory the project writes and you edit in settings — replacing the memory file you keep in Lab 1.</a:t>
            </a:r>
          </a:p>
        </p:txBody>
      </p:sp>
      <p:sp>
        <p:nvSpPr>
          <p:cNvPr id="26" name="Rectangle 25"/>
          <p:cNvSpPr/>
          <p:nvPr/>
        </p:nvSpPr>
        <p:spPr>
          <a:xfrm>
            <a:off x="548640" y="4849368"/>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849368"/>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9988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9988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959096"/>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Usage per thread</a:t>
            </a:r>
          </a:p>
          <a:p>
            <a:pPr algn="l">
              <a:spcAft>
                <a:spcPts val="300"/>
              </a:spcAft>
            </a:pPr>
            <a:r>
              <a:rPr sz="1150" b="0">
                <a:solidFill>
                  <a:srgbClr val="6B6862"/>
                </a:solidFill>
                <a:latin typeface="Calibri"/>
              </a:rPr>
              <a:t>Project settings show the tokens used by the lead agent and by each thread.</a:t>
            </a:r>
          </a:p>
        </p:txBody>
      </p:sp>
      <p:sp>
        <p:nvSpPr>
          <p:cNvPr id="31" name="Rectangle 30"/>
          <p:cNvSpPr/>
          <p:nvPr/>
        </p:nvSpPr>
        <p:spPr>
          <a:xfrm>
            <a:off x="6163056" y="4849368"/>
            <a:ext cx="5449824" cy="10485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849368"/>
            <a:ext cx="54864" cy="104851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9988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9988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959096"/>
            <a:ext cx="4434840" cy="82905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Cloud environment</a:t>
            </a:r>
          </a:p>
          <a:p>
            <a:pPr algn="l">
              <a:spcAft>
                <a:spcPts val="300"/>
              </a:spcAft>
            </a:pPr>
            <a:r>
              <a:rPr sz="1150" b="0">
                <a:solidFill>
                  <a:srgbClr val="6B6862"/>
                </a:solidFill>
                <a:latin typeface="Calibri"/>
              </a:rPr>
              <a:t>Threads keep working in the cloud with your laptop closed.</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COMING SOON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Today's Labs on the New Projects</a:t>
            </a:r>
          </a:p>
        </p:txBody>
      </p:sp>
      <p:sp>
        <p:nvSpPr>
          <p:cNvPr id="5" name="TextBox 4"/>
          <p:cNvSpPr txBox="1"/>
          <p:nvPr/>
        </p:nvSpPr>
        <p:spPr>
          <a:xfrm>
            <a:off x="822960" y="1874519"/>
            <a:ext cx="514350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In today's labs (classic)</a:t>
            </a:r>
          </a:p>
        </p:txBody>
      </p:sp>
      <p:sp>
        <p:nvSpPr>
          <p:cNvPr id="6" name="TextBox 5"/>
          <p:cNvSpPr txBox="1"/>
          <p:nvPr/>
        </p:nvSpPr>
        <p:spPr>
          <a:xfrm>
            <a:off x="6195060" y="1874519"/>
            <a:ext cx="5143500"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With the new Projects</a:t>
            </a:r>
          </a:p>
        </p:txBody>
      </p:sp>
      <p:sp>
        <p:nvSpPr>
          <p:cNvPr id="7" name="Rectangle 6"/>
          <p:cNvSpPr/>
          <p:nvPr/>
        </p:nvSpPr>
        <p:spPr>
          <a:xfrm>
            <a:off x="822960" y="2240279"/>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19"/>
            <a:ext cx="5143500" cy="658368"/>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Lab 2: you start four tasks, then a merge task</a:t>
            </a:r>
          </a:p>
        </p:txBody>
      </p:sp>
      <p:sp>
        <p:nvSpPr>
          <p:cNvPr id="9" name="TextBox 8"/>
          <p:cNvSpPr txBox="1"/>
          <p:nvPr/>
        </p:nvSpPr>
        <p:spPr>
          <a:xfrm>
            <a:off x="6195060" y="2331719"/>
            <a:ext cx="5143500" cy="65836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message; the lead agent starts four threads and merges them</a:t>
            </a:r>
          </a:p>
        </p:txBody>
      </p:sp>
      <p:sp>
        <p:nvSpPr>
          <p:cNvPr id="10" name="Rectangle 9"/>
          <p:cNvSpPr/>
          <p:nvPr/>
        </p:nvSpPr>
        <p:spPr>
          <a:xfrm>
            <a:off x="822960" y="299008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90087"/>
            <a:ext cx="5143500" cy="658368"/>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Lab 8: one task drafts all four platforms</a:t>
            </a:r>
          </a:p>
        </p:txBody>
      </p:sp>
      <p:sp>
        <p:nvSpPr>
          <p:cNvPr id="12" name="TextBox 11"/>
          <p:cNvSpPr txBox="1"/>
          <p:nvPr/>
        </p:nvSpPr>
        <p:spPr>
          <a:xfrm>
            <a:off x="6195060" y="2990087"/>
            <a:ext cx="5143500" cy="65836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thread per platform, merged into one calendar</a:t>
            </a:r>
          </a:p>
        </p:txBody>
      </p:sp>
      <p:sp>
        <p:nvSpPr>
          <p:cNvPr id="13" name="Rectangle 12"/>
          <p:cNvSpPr/>
          <p:nvPr/>
        </p:nvSpPr>
        <p:spPr>
          <a:xfrm>
            <a:off x="822960" y="364845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648455"/>
            <a:ext cx="5143500" cy="658368"/>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lumo-project-memory.md in the folder</a:t>
            </a:r>
          </a:p>
        </p:txBody>
      </p:sp>
      <p:sp>
        <p:nvSpPr>
          <p:cNvPr id="15" name="TextBox 14"/>
          <p:cNvSpPr txBox="1"/>
          <p:nvPr/>
        </p:nvSpPr>
        <p:spPr>
          <a:xfrm>
            <a:off x="6195060" y="3648455"/>
            <a:ext cx="5143500" cy="65836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Project settings → Memory, editable memory files</a:t>
            </a:r>
          </a:p>
        </p:txBody>
      </p:sp>
      <p:sp>
        <p:nvSpPr>
          <p:cNvPr id="16" name="Rectangle 15"/>
          <p:cNvSpPr/>
          <p:nvPr/>
        </p:nvSpPr>
        <p:spPr>
          <a:xfrm>
            <a:off x="822960" y="430682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306823"/>
            <a:ext cx="5143500" cy="658368"/>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Instructions panel</a:t>
            </a:r>
          </a:p>
        </p:txBody>
      </p:sp>
      <p:sp>
        <p:nvSpPr>
          <p:cNvPr id="18" name="TextBox 17"/>
          <p:cNvSpPr txBox="1"/>
          <p:nvPr/>
        </p:nvSpPr>
        <p:spPr>
          <a:xfrm>
            <a:off x="6195060" y="4306823"/>
            <a:ext cx="5143500" cy="65836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Project instructions under settings, plus a Goal</a:t>
            </a:r>
          </a:p>
        </p:txBody>
      </p:sp>
      <p:sp>
        <p:nvSpPr>
          <p:cNvPr id="19" name="Rectangle 18"/>
          <p:cNvSpPr/>
          <p:nvPr/>
        </p:nvSpPr>
        <p:spPr>
          <a:xfrm>
            <a:off x="822960" y="4965191"/>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965191"/>
            <a:ext cx="5143500" cy="658368"/>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Settings → Usage for your whole plan</a:t>
            </a:r>
          </a:p>
        </p:txBody>
      </p:sp>
      <p:sp>
        <p:nvSpPr>
          <p:cNvPr id="21" name="TextBox 20"/>
          <p:cNvSpPr txBox="1"/>
          <p:nvPr/>
        </p:nvSpPr>
        <p:spPr>
          <a:xfrm>
            <a:off x="6195060" y="4965191"/>
            <a:ext cx="5143500" cy="65836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Usage per thread for this project</a:t>
            </a:r>
          </a:p>
        </p:txBody>
      </p:sp>
      <p:sp>
        <p:nvSpPr>
          <p:cNvPr id="22" name="Rectangle 21"/>
          <p:cNvSpPr/>
          <p:nvPr/>
        </p:nvSpPr>
        <p:spPr>
          <a:xfrm>
            <a:off x="822960" y="562355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Everything you build today carries over: skills, connectors, artefacts and scheduled tasks work the same way. The Threads edition of this course runs the same ten labs on the new Projects — see the course repository.</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Claude Projects and Market Research</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Project</a:t>
            </a:r>
          </a:p>
          <a:p>
            <a:pPr algn="l">
              <a:spcAft>
                <a:spcPts val="300"/>
              </a:spcAft>
            </a:pPr>
            <a:r>
              <a:rPr sz="1150" b="0">
                <a:solidFill>
                  <a:srgbClr val="6B6862"/>
                </a:solidFill>
                <a:latin typeface="Calibri"/>
              </a:rPr>
              <a:t>A home for a long-running body of work. Its rules, files and outputs build up instead of resetting each chat.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Backed by a folder</a:t>
            </a:r>
          </a:p>
          <a:p>
            <a:pPr algn="l">
              <a:spcAft>
                <a:spcPts val="300"/>
              </a:spcAft>
            </a:pPr>
            <a:r>
              <a:rPr sz="1150" b="0">
                <a:solidFill>
                  <a:srgbClr val="6B6862"/>
                </a:solidFill>
                <a:latin typeface="Calibri"/>
              </a:rPr>
              <a:t>In Cowork a project points at a real folder on your computer — Claude works there, and you can open it yourself.</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Standing rules every task in the project follows: currency, brand voice, approval before sending.</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vs Folder</a:t>
            </a:r>
          </a:p>
          <a:p>
            <a:pPr algn="l">
              <a:spcAft>
                <a:spcPts val="300"/>
              </a:spcAft>
            </a:pPr>
            <a:r>
              <a:rPr sz="1150" b="0">
                <a:solidFill>
                  <a:srgbClr val="6B6862"/>
                </a:solidFill>
                <a:latin typeface="Calibri"/>
              </a:rPr>
              <a:t>Context is what Claude reads and never edits. Folder is where it works — reading data and writing output.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Parallel tasks</a:t>
            </a:r>
          </a:p>
          <a:p>
            <a:pPr algn="l">
              <a:spcAft>
                <a:spcPts val="300"/>
              </a:spcAft>
            </a:pPr>
            <a:r>
              <a:rPr sz="1150" b="0">
                <a:solidFill>
                  <a:srgbClr val="6B6862"/>
                </a:solidFill>
                <a:latin typeface="Calibri"/>
              </a:rPr>
              <a:t>Several tasks can run in one project at once — one per subject — and a final task merges their files.</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 dashboards, trackers — that persist in your workspace instead of scrolling away in chat.</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Create a Claude Project in Cowork with instructions, context, a working folder and a memory file</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Lumo Kopi Co. launches Lumo Cold Kopi in six weeks, and the marketing work will keep coming until launch day — exactly what a Claude Project is for. You create the Lumo Cold Kopi Launch project in Cowork, point it at a working folder, write its standing instructions, add the brand kit as context, and check that Claude understood all of it. Every later lab runs inside this project.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Lumo Cold Kopi Launch project, with instructions, three context files, a working folder and a project memory file.</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(Cowork), Claude Projects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01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Set up: paste Block 2 into the Instructions panel — S$ prices, brand guidelines, no health claims, approval first.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Set up: add the brand kit in the Context panel — guidelines, product sheet and launch brief.</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Set up: point the project at your Lumo Launch folder; lumo-project-memory.md starts here.</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yet — Lab 8 adds the first scheduled task.</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GOAL</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Launch Lumo Cold Kopi in Singapore on 1 December 2026.</a:t>
            </a:r>
          </a:p>
          <a:p>
            <a:pPr algn="l">
              <a:spcAft>
                <a:spcPts val="200"/>
              </a:spcAft>
            </a:pPr>
            <a:r>
              <a:rPr sz="1500" b="0">
                <a:solidFill>
                  <a:srgbClr val="21201C"/>
                </a:solidFill>
                <a:latin typeface="Calibri"/>
              </a:rPr>
              <a:t>Produce the market research, a launch deck, a campaign brief,</a:t>
            </a:r>
          </a:p>
          <a:p>
            <a:pPr algn="l">
              <a:spcAft>
                <a:spcPts val="200"/>
              </a:spcAft>
            </a:pPr>
            <a:r>
              <a:rPr sz="1500" b="0">
                <a:solidFill>
                  <a:srgbClr val="21201C"/>
                </a:solidFill>
                <a:latin typeface="Calibri"/>
              </a:rPr>
              <a:t>two weeks of social media posts and a 15-second launch video,</a:t>
            </a:r>
          </a:p>
          <a:p>
            <a:pPr algn="l">
              <a:spcAft>
                <a:spcPts val="200"/>
              </a:spcAft>
            </a:pPr>
            <a:r>
              <a:rPr sz="1500" b="0">
                <a:solidFill>
                  <a:srgbClr val="21201C"/>
                </a:solidFill>
                <a:latin typeface="Calibri"/>
              </a:rPr>
              <a:t>within a S$60,000 budget, so that 25-34 year-olds on Instagram</a:t>
            </a:r>
          </a:p>
          <a:p>
            <a:pPr algn="l">
              <a:spcAft>
                <a:spcPts val="200"/>
              </a:spcAft>
            </a:pPr>
            <a:r>
              <a:rPr sz="1500" b="0">
                <a:solidFill>
                  <a:srgbClr val="21201C"/>
                </a:solidFill>
                <a:latin typeface="Calibri"/>
              </a:rPr>
              <a:t>and TikTok know the product exists by launch day.</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Name: Lumo Cold Kopi Launch. Use a folder: your empty Lumo Launch folder.</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INSTRUCTIONS</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You are the marketing team for Lumo Kopi Co.</a:t>
            </a:r>
          </a:p>
          <a:p>
            <a:pPr algn="l">
              <a:spcAft>
                <a:spcPts val="200"/>
              </a:spcAft>
            </a:pPr>
            <a:r>
              <a:rPr sz="1500" b="0">
                <a:solidFill>
                  <a:srgbClr val="21201C"/>
                </a:solidFill>
                <a:latin typeface="Calibri"/>
              </a:rPr>
              <a:t>- Prices are in Singapore dollars: S$3.90 per can, S$42.00 per</a:t>
            </a:r>
          </a:p>
          <a:p>
            <a:pPr algn="l">
              <a:spcAft>
                <a:spcPts val="200"/>
              </a:spcAft>
            </a:pPr>
            <a:r>
              <a:rPr sz="1500" b="0">
                <a:solidFill>
                  <a:srgbClr val="21201C"/>
                </a:solidFill>
                <a:latin typeface="Calibri"/>
              </a:rPr>
              <a:t>  12-pack. Always two decimals.</a:t>
            </a:r>
          </a:p>
          <a:p>
            <a:pPr algn="l">
              <a:spcAft>
                <a:spcPts val="200"/>
              </a:spcAft>
            </a:pPr>
            <a:r>
              <a:rPr sz="1500" b="0">
                <a:solidFill>
                  <a:srgbClr val="21201C"/>
                </a:solidFill>
                <a:latin typeface="Calibri"/>
              </a:rPr>
              <a:t>- Follow lumo-brand-guidelines.md for anything customer-facing.</a:t>
            </a:r>
          </a:p>
          <a:p>
            <a:pPr algn="l">
              <a:spcAft>
                <a:spcPts val="200"/>
              </a:spcAft>
            </a:pPr>
            <a:r>
              <a:rPr sz="1500" b="0">
                <a:solidFill>
                  <a:srgbClr val="21201C"/>
                </a:solidFill>
                <a:latin typeface="Calibri"/>
              </a:rPr>
              <a:t>- Never describe the product as healthy. You may say 5 g sugar.</a:t>
            </a:r>
          </a:p>
          <a:p>
            <a:pPr algn="l">
              <a:spcAft>
                <a:spcPts val="200"/>
              </a:spcAft>
            </a:pPr>
            <a:r>
              <a:rPr sz="1500" b="0">
                <a:solidFill>
                  <a:srgbClr val="21201C"/>
                </a:solidFill>
                <a:latin typeface="Calibri"/>
              </a:rPr>
              <a:t>- Never send an email or publish a post without my approval.</a:t>
            </a:r>
          </a:p>
          <a:p>
            <a:pPr algn="l">
              <a:spcAft>
                <a:spcPts val="200"/>
              </a:spcAft>
            </a:pPr>
            <a:r>
              <a:rPr sz="1500" b="0">
                <a:solidFill>
                  <a:srgbClr val="21201C"/>
                </a:solidFill>
                <a:latin typeface="Calibri"/>
              </a:rPr>
              <a:t>- Save every output to the project folder.</a:t>
            </a:r>
          </a:p>
          <a:p>
            <a:pPr algn="l">
              <a:spcAft>
                <a:spcPts val="200"/>
              </a:spcAft>
            </a:pPr>
            <a:r>
              <a:rPr sz="1500" b="0">
                <a:solidFill>
                  <a:srgbClr val="21201C"/>
                </a:solidFill>
                <a:latin typeface="Calibri"/>
              </a:rPr>
              <a:t>- Read lumo-project-memory.md before you start any task.</a:t>
            </a:r>
          </a:p>
          <a:p>
            <a:pPr algn="l">
              <a:spcAft>
                <a:spcPts val="200"/>
              </a:spcAft>
            </a:pPr>
            <a:r>
              <a:rPr sz="1500" b="0">
                <a:solidFill>
                  <a:srgbClr val="21201C"/>
                </a:solidFill>
                <a:latin typeface="Calibri"/>
              </a:rPr>
              <a:t>- Flag any figure that two sources disagree on. Do not pick one.</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Save the instructions, then add the brand kit under Context.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FIRST TASK</a:t>
            </a:r>
          </a:p>
        </p:txBody>
      </p:sp>
      <p:sp>
        <p:nvSpPr>
          <p:cNvPr id="5" name="Rectangle 4"/>
          <p:cNvSpPr/>
          <p:nvPr/>
        </p:nvSpPr>
        <p:spPr>
          <a:xfrm>
            <a:off x="548640" y="1828800"/>
            <a:ext cx="11064240" cy="340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0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2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Before we start work, check your setup:</a:t>
            </a:r>
          </a:p>
          <a:p>
            <a:pPr algn="l">
              <a:spcAft>
                <a:spcPts val="200"/>
              </a:spcAft>
            </a:pPr>
            <a:r>
              <a:rPr sz="1500" b="0">
                <a:solidFill>
                  <a:srgbClr val="21201C"/>
                </a:solidFill>
                <a:latin typeface="Calibri"/>
              </a:rPr>
              <a:t>1. Restate the project goal in one line.</a:t>
            </a:r>
          </a:p>
          <a:p>
            <a:pPr algn="l">
              <a:spcAft>
                <a:spcPts val="200"/>
              </a:spcAft>
            </a:pPr>
            <a:r>
              <a:rPr sz="1500" b="0">
                <a:solidFill>
                  <a:srgbClr val="21201C"/>
                </a:solidFill>
                <a:latin typeface="Calibri"/>
              </a:rPr>
              <a:t>2. List the context files you can read and what each is for.</a:t>
            </a:r>
          </a:p>
          <a:p>
            <a:pPr algn="l">
              <a:spcAft>
                <a:spcPts val="200"/>
              </a:spcAft>
            </a:pPr>
            <a:r>
              <a:rPr sz="1500" b="0">
                <a:solidFill>
                  <a:srgbClr val="21201C"/>
                </a:solidFill>
                <a:latin typeface="Calibri"/>
              </a:rPr>
              <a:t>3. List the three instructions you think matter most.</a:t>
            </a:r>
          </a:p>
          <a:p>
            <a:pPr algn="l">
              <a:spcAft>
                <a:spcPts val="200"/>
              </a:spcAft>
            </a:pPr>
            <a:r>
              <a:rPr sz="1500" b="0">
                <a:solidFill>
                  <a:srgbClr val="21201C"/>
                </a:solidFill>
                <a:latin typeface="Calibri"/>
              </a:rPr>
              <a:t>4. From the product sheet, give me the price per can, the sugar</a:t>
            </a:r>
          </a:p>
          <a:p>
            <a:pPr algn="l">
              <a:spcAft>
                <a:spcPts val="200"/>
              </a:spcAft>
            </a:pPr>
            <a:r>
              <a:rPr sz="1500" b="0">
                <a:solidFill>
                  <a:srgbClr val="21201C"/>
                </a:solidFill>
                <a:latin typeface="Calibri"/>
              </a:rPr>
              <a:t>   per can and the launch date.</a:t>
            </a:r>
          </a:p>
          <a:p>
            <a:pPr algn="l">
              <a:spcAft>
                <a:spcPts val="200"/>
              </a:spcAft>
            </a:pPr>
            <a:r>
              <a:rPr sz="1500" b="0">
                <a:solidFill>
                  <a:srgbClr val="21201C"/>
                </a:solidFill>
                <a:latin typeface="Calibri"/>
              </a:rPr>
              <a:t>Then create lumo-project-memory.md in the project folder with</a:t>
            </a:r>
          </a:p>
          <a:p>
            <a:pPr algn="l">
              <a:spcAft>
                <a:spcPts val="200"/>
              </a:spcAft>
            </a:pPr>
            <a:r>
              <a:rPr sz="1500" b="0">
                <a:solidFill>
                  <a:srgbClr val="21201C"/>
                </a:solidFill>
                <a:latin typeface="Calibri"/>
              </a:rPr>
              <a:t>the heading "Project memory" and record: our primary audience</a:t>
            </a:r>
          </a:p>
          <a:p>
            <a:pPr algn="l">
              <a:spcAft>
                <a:spcPts val="200"/>
              </a:spcAft>
            </a:pPr>
            <a:r>
              <a:rPr sz="1500" b="0">
                <a:solidFill>
                  <a:srgbClr val="21201C"/>
                </a:solidFill>
                <a:latin typeface="Calibri"/>
              </a:rPr>
              <a:t>is 25-34 year-olds in Singapore, and our secondary market is</a:t>
            </a:r>
          </a:p>
          <a:p>
            <a:pPr algn="l">
              <a:spcAft>
                <a:spcPts val="200"/>
              </a:spcAft>
            </a:pPr>
            <a:r>
              <a:rPr sz="1500" b="0">
                <a:solidFill>
                  <a:srgbClr val="21201C"/>
                </a:solidFill>
                <a:latin typeface="Calibri"/>
              </a:rPr>
              <a:t>Kuala Lumpur, launching 15 January 2027.</a:t>
            </a:r>
          </a:p>
        </p:txBody>
      </p:sp>
      <p:sp>
        <p:nvSpPr>
          <p:cNvPr id="9" name="TextBox 8"/>
          <p:cNvSpPr txBox="1"/>
          <p:nvPr/>
        </p:nvSpPr>
        <p:spPr>
          <a:xfrm>
            <a:off x="548640" y="551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Check the four answers, then open the new memory file in the folder.</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course labs and open the Lab 01 data/brand-kit folder. Create an empty folder called Lumo Launch on your computer.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Claude desktop app, switch to Cowork, open Projects and start a new project.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Under "What are you working on?" type Lumo Cold Kopi Launch, and paste Block 1 into "What are you trying to achieve?".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Choose Use a folder, pick your Lumo Launch folder, and click Create project.</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Instructions panel and paste Block 2. Save.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Context panel and add the three brand-kit files.</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task in the project and send Block 3.</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answers: S$3.90 per can, 5 g sugar, launch 1 December 2026.</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Lumo Launch folder on your computer and read lumo-project-memory.md.</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Lumo Cold Kopi Launch project exists in Cowork, using your Lumo Launch folder, with the Block 2 instructions saved and the three brand-kit files under Context. Claude restated the goal, listed all three context files, and quoted S$3.90 per can, 5 g sugar and a 1 December 2026 launch. lumo-project-memory.md in the folder records the 25-34 audience and the 15 January 2027 Kuala Lumpur launch.</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RESEARCH IN PARALLEL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 Research in Four Tasks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Four subjects, none depending on another — so they can run at once.</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Task 1 — Competitors</a:t>
            </a:r>
          </a:p>
          <a:p>
            <a:pPr algn="l">
              <a:spcAft>
                <a:spcPts val="300"/>
              </a:spcAft>
            </a:pPr>
            <a:r>
              <a:rPr sz="1150" b="0">
                <a:solidFill>
                  <a:srgbClr val="6B6862"/>
                </a:solidFill>
                <a:latin typeface="Calibri"/>
              </a:rPr>
              <a:t>Six cold-brew brands: price, pack, positioning, and the gap Lumo can own.</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Task 2 — Customers</a:t>
            </a:r>
          </a:p>
          <a:p>
            <a:pPr algn="l">
              <a:spcAft>
                <a:spcPts val="300"/>
              </a:spcAft>
            </a:pPr>
            <a:r>
              <a:rPr sz="1150" b="0">
                <a:solidFill>
                  <a:srgbClr val="6B6862"/>
                </a:solidFill>
                <a:latin typeface="Calibri"/>
              </a:rPr>
              <a:t>400 survey respondents: who is likely to buy, why, and where they discover drinks.</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Task 3 — Pricing</a:t>
            </a:r>
          </a:p>
          <a:p>
            <a:pPr algn="l">
              <a:spcAft>
                <a:spcPts val="300"/>
              </a:spcAft>
            </a:pPr>
            <a:r>
              <a:rPr sz="1150" b="0">
                <a:solidFill>
                  <a:srgbClr val="6B6862"/>
                </a:solidFill>
                <a:latin typeface="Calibri"/>
              </a:rPr>
              <a:t>Where S$3.90 sits against the market, and what the survey says people will pay.</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Task 4 — Social trends</a:t>
            </a:r>
          </a:p>
          <a:p>
            <a:pPr algn="l">
              <a:spcAft>
                <a:spcPts val="300"/>
              </a:spcAft>
            </a:pPr>
            <a:r>
              <a:rPr sz="1150" b="0">
                <a:solidFill>
                  <a:srgbClr val="6B6862"/>
                </a:solidFill>
                <a:latin typeface="Calibri"/>
              </a:rPr>
              <a:t>Which content themes earn the most engagement in the category right now.</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Start four tasks in the project at once, one subject each, each saving its own file to the folder. A fifth task merges them into the research brief.</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Tasks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Split a multi-subject research job into parallel tasks and verify the merged brief</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Before anyone writes a post, the team needs to know the market. Four subjects need research — competitors, the customer survey, pricing and social trends — and none depends on another. So you start four tasks in the project at once, one per subject, each saving its findings to the folder. A fifth task merges the four files into one research brief, which you check against the data.</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Four research files and lumo-research-brief.docx merged from them, in the project folder.</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in Cowork, parallel tasks, web search</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02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save every output to the folder, and flag any figure two sources disagree on.</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launch brief, so every task knows the product, price and audience.</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Adds: copy in the three CSVs; four research files and lumo-research-brief.docx are saved here.</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you start the four tasks yourself, now.</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COMPETITORS</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Research COMPETITORS for the Lumo Cold Kopi launch using</a:t>
            </a:r>
          </a:p>
          <a:p>
            <a:pPr algn="l">
              <a:spcAft>
                <a:spcPts val="200"/>
              </a:spcAft>
            </a:pPr>
            <a:r>
              <a:rPr sz="1500" b="0">
                <a:solidFill>
                  <a:srgbClr val="21201C"/>
                </a:solidFill>
                <a:latin typeface="Calibri"/>
              </a:rPr>
              <a:t>lumo-competitors.csv: price per can, pack, positioning and</a:t>
            </a:r>
          </a:p>
          <a:p>
            <a:pPr algn="l">
              <a:spcAft>
                <a:spcPts val="200"/>
              </a:spcAft>
            </a:pPr>
            <a:r>
              <a:rPr sz="1500" b="0">
                <a:solidFill>
                  <a:srgbClr val="21201C"/>
                </a:solidFill>
                <a:latin typeface="Calibri"/>
              </a:rPr>
              <a:t>channel for each brand, and the gap Lumo can own.</a:t>
            </a:r>
          </a:p>
          <a:p>
            <a:pPr algn="l">
              <a:spcAft>
                <a:spcPts val="200"/>
              </a:spcAft>
            </a:pPr>
            <a:r>
              <a:rPr sz="1500" b="0">
                <a:solidFill>
                  <a:srgbClr val="21201C"/>
                </a:solidFill>
                <a:latin typeface="Calibri"/>
              </a:rPr>
              <a:t>Save your findings as research-1-competitors.md in the project</a:t>
            </a:r>
          </a:p>
          <a:p>
            <a:pPr algn="l">
              <a:spcAft>
                <a:spcPts val="200"/>
              </a:spcAft>
            </a:pPr>
            <a:r>
              <a:rPr sz="1500" b="0">
                <a:solidFill>
                  <a:srgbClr val="21201C"/>
                </a:solidFill>
                <a:latin typeface="Calibri"/>
              </a:rPr>
              <a:t>folder.</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Start the next task straight away — these four run in parallel.</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CUSTOMERS</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Research CUSTOMERS using lumo-consumer-survey-2026.csv: the share</a:t>
            </a:r>
          </a:p>
          <a:p>
            <a:pPr algn="l">
              <a:spcAft>
                <a:spcPts val="200"/>
              </a:spcAft>
            </a:pPr>
            <a:r>
              <a:rPr sz="1500" b="0">
                <a:solidFill>
                  <a:srgbClr val="21201C"/>
                </a:solidFill>
                <a:latin typeface="Calibri"/>
              </a:rPr>
              <a:t>likely to buy (intent 4 or 5), split by age band and city; the</a:t>
            </a:r>
          </a:p>
          <a:p>
            <a:pPr algn="l">
              <a:spcAft>
                <a:spcPts val="200"/>
              </a:spcAft>
            </a:pPr>
            <a:r>
              <a:rPr sz="1500" b="0">
                <a:solidFill>
                  <a:srgbClr val="21201C"/>
                </a:solidFill>
                <a:latin typeface="Calibri"/>
              </a:rPr>
              <a:t>top purchase drivers; the top discovery channels. Show your</a:t>
            </a:r>
          </a:p>
          <a:p>
            <a:pPr algn="l">
              <a:spcAft>
                <a:spcPts val="200"/>
              </a:spcAft>
            </a:pPr>
            <a:r>
              <a:rPr sz="1500" b="0">
                <a:solidFill>
                  <a:srgbClr val="21201C"/>
                </a:solidFill>
                <a:latin typeface="Calibri"/>
              </a:rPr>
              <a:t>working for every percentage. Save your findings as</a:t>
            </a:r>
          </a:p>
          <a:p>
            <a:pPr algn="l">
              <a:spcAft>
                <a:spcPts val="200"/>
              </a:spcAft>
            </a:pPr>
            <a:r>
              <a:rPr sz="1500" b="0">
                <a:solidFill>
                  <a:srgbClr val="21201C"/>
                </a:solidFill>
                <a:latin typeface="Calibri"/>
              </a:rPr>
              <a:t>research-2-customers.md in the project folder.</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Show your working is what lets you check every percentage.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PRICING</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Research PRICING using lumo-competitors.csv and</a:t>
            </a:r>
          </a:p>
          <a:p>
            <a:pPr algn="l">
              <a:spcAft>
                <a:spcPts val="200"/>
              </a:spcAft>
            </a:pPr>
            <a:r>
              <a:rPr sz="1500" b="0">
                <a:solidFill>
                  <a:srgbClr val="21201C"/>
                </a:solidFill>
                <a:latin typeface="Calibri"/>
              </a:rPr>
              <a:t>lumo-consumer-survey-2026.csv: where S$3.90 sits against the</a:t>
            </a:r>
          </a:p>
          <a:p>
            <a:pPr algn="l">
              <a:spcAft>
                <a:spcPts val="200"/>
              </a:spcAft>
            </a:pPr>
            <a:r>
              <a:rPr sz="1500" b="0">
                <a:solidFill>
                  <a:srgbClr val="21201C"/>
                </a:solidFill>
                <a:latin typeface="Calibri"/>
              </a:rPr>
              <a:t>competitor median, and the share of respondents willing to pay</a:t>
            </a:r>
          </a:p>
          <a:p>
            <a:pPr algn="l">
              <a:spcAft>
                <a:spcPts val="200"/>
              </a:spcAft>
            </a:pPr>
            <a:r>
              <a:rPr sz="1500" b="0">
                <a:solidFill>
                  <a:srgbClr val="21201C"/>
                </a:solidFill>
                <a:latin typeface="Calibri"/>
              </a:rPr>
              <a:t>S$3.50 or more. Show your working. Save your findings as</a:t>
            </a:r>
          </a:p>
          <a:p>
            <a:pPr algn="l">
              <a:spcAft>
                <a:spcPts val="200"/>
              </a:spcAft>
            </a:pPr>
            <a:r>
              <a:rPr sz="1500" b="0">
                <a:solidFill>
                  <a:srgbClr val="21201C"/>
                </a:solidFill>
                <a:latin typeface="Calibri"/>
              </a:rPr>
              <a:t>research-3-pricing.md in the project folder.</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"S$3.50 or more" includes S$3.50 exactly.</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4 — TRENDS</a:t>
            </a:r>
          </a:p>
        </p:txBody>
      </p:sp>
      <p:sp>
        <p:nvSpPr>
          <p:cNvPr id="5" name="Rectangle 4"/>
          <p:cNvSpPr/>
          <p:nvPr/>
        </p:nvSpPr>
        <p:spPr>
          <a:xfrm>
            <a:off x="548640" y="1828800"/>
            <a:ext cx="11064240" cy="188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8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19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Research SOCIAL TRENDS using lumo-social-trends.csv: the three</a:t>
            </a:r>
          </a:p>
          <a:p>
            <a:pPr algn="l">
              <a:spcAft>
                <a:spcPts val="200"/>
              </a:spcAft>
            </a:pPr>
            <a:r>
              <a:rPr sz="1500" b="0">
                <a:solidFill>
                  <a:srgbClr val="21201C"/>
                </a:solidFill>
                <a:latin typeface="Calibri"/>
              </a:rPr>
              <a:t>content themes with the highest engagement, with one post idea</a:t>
            </a:r>
          </a:p>
          <a:p>
            <a:pPr algn="l">
              <a:spcAft>
                <a:spcPts val="200"/>
              </a:spcAft>
            </a:pPr>
            <a:r>
              <a:rPr sz="1500" b="0">
                <a:solidFill>
                  <a:srgbClr val="21201C"/>
                </a:solidFill>
                <a:latin typeface="Calibri"/>
              </a:rPr>
              <a:t>each. Save your findings as research-4-trends.md in the project</a:t>
            </a:r>
          </a:p>
          <a:p>
            <a:pPr algn="l">
              <a:spcAft>
                <a:spcPts val="200"/>
              </a:spcAft>
            </a:pPr>
            <a:r>
              <a:rPr sz="1500" b="0">
                <a:solidFill>
                  <a:srgbClr val="21201C"/>
                </a:solidFill>
                <a:latin typeface="Calibri"/>
              </a:rPr>
              <a:t>folder.</a:t>
            </a:r>
          </a:p>
        </p:txBody>
      </p:sp>
      <p:sp>
        <p:nvSpPr>
          <p:cNvPr id="9" name="TextBox 8"/>
          <p:cNvSpPr txBox="1"/>
          <p:nvPr/>
        </p:nvSpPr>
        <p:spPr>
          <a:xfrm>
            <a:off x="548640" y="398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Four tasks, four subjects, four fresh context windows.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5 — MERGE</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Merge research-1-competitors.md, research-2-customers.md,</a:t>
            </a:r>
          </a:p>
          <a:p>
            <a:pPr algn="l">
              <a:spcAft>
                <a:spcPts val="200"/>
              </a:spcAft>
            </a:pPr>
            <a:r>
              <a:rPr sz="1500" b="0">
                <a:solidFill>
                  <a:srgbClr val="21201C"/>
                </a:solidFill>
                <a:latin typeface="Calibri"/>
              </a:rPr>
              <a:t>research-3-pricing.md and research-4-trends.md from the project</a:t>
            </a:r>
          </a:p>
          <a:p>
            <a:pPr algn="l">
              <a:spcAft>
                <a:spcPts val="200"/>
              </a:spcAft>
            </a:pPr>
            <a:r>
              <a:rPr sz="1500" b="0">
                <a:solidFill>
                  <a:srgbClr val="21201C"/>
                </a:solidFill>
                <a:latin typeface="Calibri"/>
              </a:rPr>
              <a:t>folder into one research brief, lumo-research-brief.docx:</a:t>
            </a:r>
          </a:p>
          <a:p>
            <a:pPr algn="l">
              <a:spcAft>
                <a:spcPts val="200"/>
              </a:spcAft>
            </a:pPr>
            <a:r>
              <a:rPr sz="1500" b="0">
                <a:solidFill>
                  <a:srgbClr val="21201C"/>
                </a:solidFill>
                <a:latin typeface="Calibri"/>
              </a:rPr>
              <a:t>a one-paragraph summary, one section per subject with the key</a:t>
            </a:r>
          </a:p>
          <a:p>
            <a:pPr algn="l">
              <a:spcAft>
                <a:spcPts val="200"/>
              </a:spcAft>
            </a:pPr>
            <a:r>
              <a:rPr sz="1500" b="0">
                <a:solidFill>
                  <a:srgbClr val="21201C"/>
                </a:solidFill>
                <a:latin typeface="Calibri"/>
              </a:rPr>
              <a:t>numbers, and three recommendations for the launch. Name the</a:t>
            </a:r>
          </a:p>
          <a:p>
            <a:pPr algn="l">
              <a:spcAft>
                <a:spcPts val="200"/>
              </a:spcAft>
            </a:pPr>
            <a:r>
              <a:rPr sz="1500" b="0">
                <a:solidFill>
                  <a:srgbClr val="21201C"/>
                </a:solidFill>
                <a:latin typeface="Calibri"/>
              </a:rPr>
              <a:t>source file under each section, and flag anything the four</a:t>
            </a:r>
          </a:p>
          <a:p>
            <a:pPr algn="l">
              <a:spcAft>
                <a:spcPts val="200"/>
              </a:spcAft>
            </a:pPr>
            <a:r>
              <a:rPr sz="1500" b="0">
                <a:solidFill>
                  <a:srgbClr val="21201C"/>
                </a:solidFill>
                <a:latin typeface="Calibri"/>
              </a:rPr>
              <a:t>files disagree on.</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You are doing by hand what the new Projects' lead agent does automatically.</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Tasks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02 data folder and glance at the three CSV files.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Copy the three CSV files into your Lumo Launch project folder.</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task in the project and send Block 1. Do not wait for it.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second task and send Block 2.</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third task and send Block 3.</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fourth task and send Block 4.</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four research files are in the folder, start a fifth task and send Block 5.</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merged brief arrives, check the survey numbers.</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channel, driver and pricing findings.</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trends section and the recommendations.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Tasks</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project folder holds the four research files and lumo-research-brief.docx, whose summary, four sections and three recommendations name their source files. The brief reports 400 respondents, 248 likely to buy (62%), 112 of 152 aged 25-34 (74%), Instagram as the top discovery channel at 34%, Taste as the top driver at 31%, a competitor median of S$4.30 with Lumo's S$3.90 below it, 228 respondents (57%) willing to pay S$3.50 or more, and Taste tests and first-sip reactions as the top content theme.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place in the workspace.</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Can refresh from connected data when reopened.</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planner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an Artefact Can and Cannot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Artefacts run in a sandbox, so anything needing the internet has to come in another way.</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An artefact CAN</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Run interactive code — inputs, filters, charts.</a:t>
            </a:r>
          </a:p>
          <a:p>
            <a:pPr algn="l">
              <a:spcAft>
                <a:spcPts val="900"/>
              </a:spcAft>
            </a:pPr>
            <a:r>
              <a:rPr sz="1250" b="0">
                <a:solidFill>
                  <a:srgbClr val="21201C"/>
                </a:solidFill>
                <a:latin typeface="Calibri"/>
              </a:rPr>
              <a:t>•  Use data you gave it, or that Claude looked up while building.</a:t>
            </a:r>
          </a:p>
          <a:p>
            <a:pPr algn="l">
              <a:spcAft>
                <a:spcPts val="900"/>
              </a:spcAft>
            </a:pPr>
            <a:r>
              <a:rPr sz="1250" b="0">
                <a:solidFill>
                  <a:srgbClr val="21201C"/>
                </a:solidFill>
                <a:latin typeface="Calibri"/>
              </a:rPr>
              <a:t>•  Keep what you type into it between sessions.</a:t>
            </a:r>
          </a:p>
          <a:p>
            <a:pPr algn="l">
              <a:spcAft>
                <a:spcPts val="900"/>
              </a:spcAft>
            </a:pPr>
            <a:r>
              <a:rPr sz="1250" b="0">
                <a:solidFill>
                  <a:srgbClr val="21201C"/>
                </a:solidFill>
                <a:latin typeface="Calibri"/>
              </a:rPr>
              <a:t>•  Be saved, reopened and shared.</a:t>
            </a:r>
          </a:p>
          <a:p>
            <a:pPr algn="l">
              <a:spcAft>
                <a:spcPts val="900"/>
              </a:spcAft>
            </a:pPr>
            <a:r>
              <a:rPr sz="1250" b="0">
                <a:solidFill>
                  <a:srgbClr val="21201C"/>
                </a:solidFill>
                <a:latin typeface="Calibri"/>
              </a:rPr>
              <a:t>•  Be downloaded as a file you own.</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artefact CANNOT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Call an external API or website — the sandbox blocks it.</a:t>
            </a:r>
          </a:p>
          <a:p>
            <a:pPr algn="l">
              <a:spcAft>
                <a:spcPts val="900"/>
              </a:spcAft>
            </a:pPr>
            <a:r>
              <a:rPr sz="1250" b="0">
                <a:solidFill>
                  <a:srgbClr val="21201C"/>
                </a:solidFill>
                <a:latin typeface="Calibri"/>
              </a:rPr>
              <a:t>•  Load a script, font or image from another site.</a:t>
            </a:r>
          </a:p>
          <a:p>
            <a:pPr algn="l">
              <a:spcAft>
                <a:spcPts val="900"/>
              </a:spcAft>
            </a:pPr>
            <a:r>
              <a:rPr sz="1250" b="0">
                <a:solidFill>
                  <a:srgbClr val="21201C"/>
                </a:solidFill>
                <a:latin typeface="Calibri"/>
              </a:rPr>
              <a:t>•  Reach your local files or network.</a:t>
            </a:r>
          </a:p>
          <a:p>
            <a:pPr algn="l">
              <a:spcAft>
                <a:spcPts val="900"/>
              </a:spcAft>
            </a:pPr>
            <a:r>
              <a:rPr sz="1250" b="0">
                <a:solidFill>
                  <a:srgbClr val="21201C"/>
                </a:solidFill>
                <a:latin typeface="Calibri"/>
              </a:rPr>
              <a:t>•  Refresh third-party data on its own.</a:t>
            </a:r>
          </a:p>
          <a:p>
            <a:pPr algn="l">
              <a:spcAft>
                <a:spcPts val="900"/>
              </a:spcAft>
            </a:pPr>
            <a:r>
              <a:rPr sz="1250" b="0">
                <a:solidFill>
                  <a:srgbClr val="21201C"/>
                </a:solidFill>
                <a:latin typeface="Calibri"/>
              </a:rPr>
              <a:t>•  So: bake the data in, or download the HTML and run it yourself.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Turn research data into an interactive Live Artefact dashboard and save it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research brief is a document; the launch team wants something they can explore. You turn the survey and competitor data into a Live Artefact — KPI tiles, a channel chart, a price ladder and a city filter — refine it in plain English, save it and download a copy. The launch deck in Lab 5 quotes this dashboard's numbers.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Market Insights Live Artefact, plus a downloaded HTML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Live Artefacts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03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S$ prices with two decimals on every tile and chart.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product sheet, for Lumo's own price beside the competitors.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the survey and competitor CSVs in the folder; save the HTML copy here too.</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dashboard</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Using lumo-consumer-survey-2026.csv and lumo-competitors.csv, build</a:t>
            </a:r>
          </a:p>
          <a:p>
            <a:pPr algn="l">
              <a:spcAft>
                <a:spcPts val="200"/>
              </a:spcAft>
            </a:pPr>
            <a:r>
              <a:rPr sz="1200" b="0">
                <a:solidFill>
                  <a:srgbClr val="21201C"/>
                </a:solidFill>
                <a:latin typeface="Calibri"/>
              </a:rPr>
              <a:t>a Live Artefact: an interactive Market Insights dashboard for the</a:t>
            </a:r>
          </a:p>
          <a:p>
            <a:pPr algn="l">
              <a:spcAft>
                <a:spcPts val="200"/>
              </a:spcAft>
            </a:pPr>
            <a:r>
              <a:rPr sz="1200" b="0">
                <a:solidFill>
                  <a:srgbClr val="21201C"/>
                </a:solidFill>
                <a:latin typeface="Calibri"/>
              </a:rPr>
              <a:t>Lumo Cold Kopi launch.</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Include:</a:t>
            </a:r>
          </a:p>
          <a:p>
            <a:pPr algn="l">
              <a:spcAft>
                <a:spcPts val="200"/>
              </a:spcAft>
            </a:pPr>
            <a:r>
              <a:rPr sz="1200" b="0">
                <a:solidFill>
                  <a:srgbClr val="21201C"/>
                </a:solidFill>
                <a:latin typeface="Calibri"/>
              </a:rPr>
              <a:t>- KPI tiles: respondents, % likely to buy (intent 4 or 5), top</a:t>
            </a:r>
          </a:p>
          <a:p>
            <a:pPr algn="l">
              <a:spcAft>
                <a:spcPts val="200"/>
              </a:spcAft>
            </a:pPr>
            <a:r>
              <a:rPr sz="1200" b="0">
                <a:solidFill>
                  <a:srgbClr val="21201C"/>
                </a:solidFill>
                <a:latin typeface="Calibri"/>
              </a:rPr>
              <a:t>  discovery channel, competitor median price.</a:t>
            </a:r>
          </a:p>
          <a:p>
            <a:pPr algn="l">
              <a:spcAft>
                <a:spcPts val="200"/>
              </a:spcAft>
            </a:pPr>
            <a:r>
              <a:rPr sz="1200" b="0">
                <a:solidFill>
                  <a:srgbClr val="21201C"/>
                </a:solidFill>
                <a:latin typeface="Calibri"/>
              </a:rPr>
              <a:t>- A bar chart of discovery channels.</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 A bar chart of purchase drivers.</a:t>
            </a:r>
          </a:p>
          <a:p>
            <a:pPr algn="l">
              <a:spcAft>
                <a:spcPts val="200"/>
              </a:spcAft>
            </a:pPr>
            <a:r>
              <a:rPr sz="1200" b="0">
                <a:solidFill>
                  <a:srgbClr val="21201C"/>
                </a:solidFill>
                <a:latin typeface="Calibri"/>
              </a:rPr>
              <a:t>- A price ladder: the six competitors and Lumo at S$3.90, cheapest</a:t>
            </a:r>
          </a:p>
          <a:p>
            <a:pPr algn="l">
              <a:spcAft>
                <a:spcPts val="200"/>
              </a:spcAft>
            </a:pPr>
            <a:r>
              <a:rPr sz="1200" b="0">
                <a:solidFill>
                  <a:srgbClr val="21201C"/>
                </a:solidFill>
                <a:latin typeface="Calibri"/>
              </a:rPr>
              <a:t>  to dearest, with Lumo highlighted.</a:t>
            </a:r>
          </a:p>
          <a:p>
            <a:pPr algn="l">
              <a:spcAft>
                <a:spcPts val="200"/>
              </a:spcAft>
            </a:pPr>
            <a:r>
              <a:rPr sz="1200" b="0">
                <a:solidFill>
                  <a:srgbClr val="21201C"/>
                </a:solidFill>
                <a:latin typeface="Calibri"/>
              </a:rPr>
              <a:t>- A filter for city: All, Singapore, Kuala Lumpur. The KPI tiles and</a:t>
            </a:r>
          </a:p>
          <a:p>
            <a:pPr algn="l">
              <a:spcAft>
                <a:spcPts val="200"/>
              </a:spcAft>
            </a:pPr>
            <a:r>
              <a:rPr sz="1200" b="0">
                <a:solidFill>
                  <a:srgbClr val="21201C"/>
                </a:solidFill>
                <a:latin typeface="Calibri"/>
              </a:rPr>
              <a:t>  both survey charts must follow the filter.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Bake the data into the artefact - do not fetch anything. Use the</a:t>
            </a:r>
          </a:p>
          <a:p>
            <a:pPr algn="l">
              <a:spcAft>
                <a:spcPts val="200"/>
              </a:spcAft>
            </a:pPr>
            <a:r>
              <a:rPr sz="1200" b="0">
                <a:solidFill>
                  <a:srgbClr val="21201C"/>
                </a:solidFill>
                <a:latin typeface="Calibri"/>
              </a:rPr>
              <a:t>Lumo brand colours from the brand guidelines. Title it</a:t>
            </a:r>
          </a:p>
          <a:p>
            <a:pPr algn="l">
              <a:spcAft>
                <a:spcPts val="200"/>
              </a:spcAft>
            </a:pPr>
            <a:r>
              <a:rPr sz="1200" b="0">
                <a:solidFill>
                  <a:srgbClr val="21201C"/>
                </a:solidFill>
                <a:latin typeface="Calibri"/>
              </a:rPr>
              <a:t>"Lumo Cold Kopi - Market Insights".</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Artefacts run in a sandbox and cannot call the internet, which is why the prompt says to bake the data in.</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 with the two CSV files attached or in Context.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KPI tiles with the filter on 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Switch the filter to Singapore, then Kuala Lumpur.</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price ladder.</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refinement, for example: Put the price ladder beside the channel chart.</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artefact, then download a copy as HTML.</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 Insights artefact shows 400 respondents, 62% likely to buy, Instagram as the top channel and a S$4.30 competitor median. The city filter changes the respondent count to 240 (Singapore) and 160 (Kuala Lumpur) and both survey charts follow it. The price ladder runs from S$3.20 to S$5.60 with Lumo highlighted at S$3.90. The artefact is saved and an HTML copy is downloaded.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Lumo Social Trends</a:t>
            </a:r>
          </a:p>
        </p:txBody>
      </p:sp>
      <p:sp>
        <p:nvSpPr>
          <p:cNvPr id="5" name="Rectangle 4"/>
          <p:cNvSpPr/>
          <p:nvPr/>
        </p:nvSpPr>
        <p:spPr>
          <a:xfrm>
            <a:off x="1121180" y="1600200"/>
            <a:ext cx="5758639"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1180" y="1600200"/>
            <a:ext cx="5758639"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efact-social-trends.png"/>
          <p:cNvPicPr>
            <a:picLocks noChangeAspect="1"/>
          </p:cNvPicPr>
          <p:nvPr/>
        </p:nvPicPr>
        <p:blipFill>
          <a:blip r:embed="rId2"/>
          <a:stretch>
            <a:fillRect/>
          </a:stretch>
        </p:blipFill>
        <p:spPr>
          <a:xfrm>
            <a:off x="1230908" y="1709928"/>
            <a:ext cx="5539183" cy="4078224"/>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Filters</a:t>
            </a:r>
          </a:p>
          <a:p>
            <a:pPr algn="l">
              <a:spcAft>
                <a:spcPts val="300"/>
              </a:spcAft>
            </a:pPr>
            <a:r>
              <a:rPr sz="1250" b="0">
                <a:solidFill>
                  <a:srgbClr val="6B6862"/>
                </a:solidFill>
                <a:latin typeface="Calibri"/>
              </a:rPr>
              <a:t>Rank by engagement, views or posts; filter by platform and trend.</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Themes ranked</a:t>
            </a:r>
          </a:p>
          <a:p>
            <a:pPr algn="l">
              <a:spcAft>
                <a:spcPts val="300"/>
              </a:spcAft>
            </a:pPr>
            <a:r>
              <a:rPr sz="1250" b="0">
                <a:solidFill>
                  <a:srgbClr val="6B6862"/>
                </a:solidFill>
                <a:latin typeface="Calibri"/>
              </a:rPr>
              <a:t>Taste tests and first-sip reactions lead at 7.4%, and are rising.</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Pick a bar</a:t>
            </a:r>
          </a:p>
          <a:p>
            <a:pPr algn="l">
              <a:spcAft>
                <a:spcPts val="300"/>
              </a:spcAft>
            </a:pPr>
            <a:r>
              <a:rPr sz="1250" b="0">
                <a:solidFill>
                  <a:srgbClr val="6B6862"/>
                </a:solidFill>
                <a:latin typeface="Calibri"/>
              </a:rPr>
              <a:t>The right-hand card shows that theme's numbers and a draft post idea.</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Spot the gap</a:t>
            </a:r>
          </a:p>
          <a:p>
            <a:pPr algn="l">
              <a:spcAft>
                <a:spcPts val="300"/>
              </a:spcAft>
            </a:pPr>
            <a:r>
              <a:rPr sz="1250" b="0">
                <a:solidFill>
                  <a:srgbClr val="6B6862"/>
                </a:solidFill>
                <a:latin typeface="Calibri"/>
              </a:rPr>
              <a:t>The summary cards show '—'. Ask Claude to fix them — always check the numbers.</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Live Artefact built in class from the social trends research.</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Who Is Likely to Buy?</a:t>
            </a:r>
          </a:p>
        </p:txBody>
      </p:sp>
      <p:sp>
        <p:nvSpPr>
          <p:cNvPr id="5" name="Rectangle 4"/>
          <p:cNvSpPr/>
          <p:nvPr/>
        </p:nvSpPr>
        <p:spPr>
          <a:xfrm>
            <a:off x="971428" y="1600200"/>
            <a:ext cx="6058144"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1428" y="1600200"/>
            <a:ext cx="605814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efact-customer-intent.png"/>
          <p:cNvPicPr>
            <a:picLocks noChangeAspect="1"/>
          </p:cNvPicPr>
          <p:nvPr/>
        </p:nvPicPr>
        <p:blipFill>
          <a:blip r:embed="rId2"/>
          <a:stretch>
            <a:fillRect/>
          </a:stretch>
        </p:blipFill>
        <p:spPr>
          <a:xfrm>
            <a:off x="1081156" y="1709928"/>
            <a:ext cx="5838688" cy="4078224"/>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Filters</a:t>
            </a:r>
          </a:p>
          <a:p>
            <a:pPr algn="l">
              <a:spcAft>
                <a:spcPts val="300"/>
              </a:spcAft>
            </a:pPr>
            <a:r>
              <a:rPr sz="1250" b="0">
                <a:solidFill>
                  <a:srgbClr val="6B6862"/>
                </a:solidFill>
                <a:latin typeface="Calibri"/>
              </a:rPr>
              <a:t>City and age band; Jump to opens the primary and secondary audiences.</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Headline</a:t>
            </a:r>
          </a:p>
          <a:p>
            <a:pPr algn="l">
              <a:spcAft>
                <a:spcPts val="300"/>
              </a:spcAft>
            </a:pPr>
            <a:r>
              <a:rPr sz="1250" b="0">
                <a:solidFill>
                  <a:srgbClr val="6B6862"/>
                </a:solidFill>
                <a:latin typeface="Calibri"/>
              </a:rPr>
              <a:t>60.0% of 160 KL respondents are likely to buy — 2 points below the overall average.</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Price tolerance</a:t>
            </a:r>
          </a:p>
          <a:p>
            <a:pPr algn="l">
              <a:spcAft>
                <a:spcPts val="300"/>
              </a:spcAft>
            </a:pPr>
            <a:r>
              <a:rPr sz="1250" b="0">
                <a:solidFill>
                  <a:srgbClr val="6B6862"/>
                </a:solidFill>
                <a:latin typeface="Calibri"/>
              </a:rPr>
              <a:t>A third of likely buyers would pay S$3.90 or more.</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Explore</a:t>
            </a:r>
          </a:p>
          <a:p>
            <a:pPr algn="l">
              <a:spcAft>
                <a:spcPts val="300"/>
              </a:spcAft>
            </a:pPr>
            <a:r>
              <a:rPr sz="1250" b="0">
                <a:solidFill>
                  <a:srgbClr val="6B6862"/>
                </a:solidFill>
                <a:latin typeface="Calibri"/>
              </a:rPr>
              <a:t>Click any city and age cell to open that segment; small samples are flagged.</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Live Artefact on the consumer survey, filtered here to Kuala Lumpur.</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Lumo Pricing Explorer</a:t>
            </a:r>
          </a:p>
        </p:txBody>
      </p:sp>
      <p:sp>
        <p:nvSpPr>
          <p:cNvPr id="5" name="Rectangle 4"/>
          <p:cNvSpPr/>
          <p:nvPr/>
        </p:nvSpPr>
        <p:spPr>
          <a:xfrm>
            <a:off x="840885" y="1600200"/>
            <a:ext cx="6319230"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885" y="1600200"/>
            <a:ext cx="631923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efact-pricing-explorer.png"/>
          <p:cNvPicPr>
            <a:picLocks noChangeAspect="1"/>
          </p:cNvPicPr>
          <p:nvPr/>
        </p:nvPicPr>
        <p:blipFill>
          <a:blip r:embed="rId2"/>
          <a:stretch>
            <a:fillRect/>
          </a:stretch>
        </p:blipFill>
        <p:spPr>
          <a:xfrm>
            <a:off x="950613" y="1709928"/>
            <a:ext cx="6099774"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Price slider</a:t>
            </a:r>
          </a:p>
          <a:p>
            <a:pPr algn="l">
              <a:spcAft>
                <a:spcPts val="300"/>
              </a:spcAft>
            </a:pPr>
            <a:r>
              <a:rPr sz="1250" b="0">
                <a:solidFill>
                  <a:srgbClr val="6B6862"/>
                </a:solidFill>
                <a:latin typeface="Calibri"/>
              </a:rPr>
              <a:t>Drag it, or pick S$3.50 (12-pack) or S$3.90 (single can).</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Against competitors</a:t>
            </a:r>
          </a:p>
          <a:p>
            <a:pPr algn="l">
              <a:spcAft>
                <a:spcPts val="300"/>
              </a:spcAft>
            </a:pPr>
            <a:r>
              <a:rPr sz="1250" b="0">
                <a:solidFill>
                  <a:srgbClr val="6B6862"/>
                </a:solidFill>
                <a:latin typeface="Calibri"/>
              </a:rPr>
              <a:t>Lumo's S$3.90 can is 9.3% below the S$4.30 competitor median.</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chart</a:t>
            </a:r>
          </a:p>
          <a:p>
            <a:pPr algn="l">
              <a:spcAft>
                <a:spcPts val="300"/>
              </a:spcAft>
            </a:pPr>
            <a:r>
              <a:rPr sz="1250" b="0">
                <a:solidFill>
                  <a:srgbClr val="6B6862"/>
                </a:solidFill>
                <a:latin typeface="Calibri"/>
              </a:rPr>
              <a:t>Listed and pack prices per can, with both medians as dashed lines.</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Drag the price and every card recalculates who would still buy.</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All Your Artefacts in One Place</a:t>
            </a:r>
          </a:p>
        </p:txBody>
      </p:sp>
      <p:sp>
        <p:nvSpPr>
          <p:cNvPr id="5" name="Rectangle 4"/>
          <p:cNvSpPr/>
          <p:nvPr/>
        </p:nvSpPr>
        <p:spPr>
          <a:xfrm>
            <a:off x="2467789" y="1600200"/>
            <a:ext cx="7225941"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67789" y="1600200"/>
            <a:ext cx="7225941"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ifacts-gallery.png"/>
          <p:cNvPicPr>
            <a:picLocks noChangeAspect="1"/>
          </p:cNvPicPr>
          <p:nvPr/>
        </p:nvPicPr>
        <p:blipFill>
          <a:blip r:embed="rId2"/>
          <a:stretch>
            <a:fillRect/>
          </a:stretch>
        </p:blipFill>
        <p:spPr>
          <a:xfrm>
            <a:off x="2577517" y="1709928"/>
            <a:ext cx="7006485"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Artifacts</a:t>
            </a:r>
          </a:p>
          <a:p>
            <a:pPr algn="l">
              <a:spcAft>
                <a:spcPts val="300"/>
              </a:spcAft>
            </a:pPr>
            <a:r>
              <a:rPr sz="1250" b="0">
                <a:solidFill>
                  <a:srgbClr val="6B6862"/>
                </a:solidFill>
                <a:latin typeface="Calibri"/>
              </a:rPr>
              <a:t>Open, search, sort and filter all your artefacts.</a:t>
            </a:r>
          </a:p>
        </p:txBody>
      </p:sp>
      <p:sp>
        <p:nvSpPr>
          <p:cNvPr id="11" name="Oval 10"/>
          <p:cNvSpPr/>
          <p:nvPr/>
        </p:nvSpPr>
        <p:spPr>
          <a:xfrm>
            <a:off x="43281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Lock or globe</a:t>
            </a:r>
          </a:p>
          <a:p>
            <a:pPr algn="l">
              <a:spcAft>
                <a:spcPts val="300"/>
              </a:spcAft>
            </a:pPr>
            <a:r>
              <a:rPr sz="1250" b="0">
                <a:solidFill>
                  <a:srgbClr val="6B6862"/>
                </a:solidFill>
                <a:latin typeface="Calibri"/>
              </a:rPr>
              <a:t>A lock means private; a globe means shared by link.</a:t>
            </a:r>
          </a:p>
        </p:txBody>
      </p:sp>
      <p:sp>
        <p:nvSpPr>
          <p:cNvPr id="14" name="Oval 13"/>
          <p:cNvSpPr/>
          <p:nvPr/>
        </p:nvSpPr>
        <p:spPr>
          <a:xfrm>
            <a:off x="81076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Pinned</a:t>
            </a:r>
          </a:p>
          <a:p>
            <a:pPr algn="l">
              <a:spcAft>
                <a:spcPts val="300"/>
              </a:spcAft>
            </a:pPr>
            <a:r>
              <a:rPr sz="1250" b="0">
                <a:solidFill>
                  <a:srgbClr val="6B6862"/>
                </a:solidFill>
                <a:latin typeface="Calibri"/>
              </a:rPr>
              <a:t>The Lumo project and its sessions stay pinned in the sidebar.</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Artifacts in the sidebar lists everything you have built, across every project.</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 and Market Research</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create a Claude Project in Cowork with instructions, context, a working folder and a memory file.</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split a multi-subject research job into parallel tasks and verify the merged brief.</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turn research data into an interactive Live Artefact dashboard and save it.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Connectors, Skills and Plugins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Connectors: Drive and Gmail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Context window housekeeping</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Slides, Docs and built-in skills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 plugins and mods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Drive</a:t>
            </a:r>
          </a:p>
          <a:p>
            <a:pPr algn="l">
              <a:spcAft>
                <a:spcPts val="300"/>
              </a:spcAft>
            </a:pPr>
            <a:r>
              <a:rPr sz="11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Gmail</a:t>
            </a:r>
          </a:p>
          <a:p>
            <a:pPr algn="l">
              <a:spcAft>
                <a:spcPts val="300"/>
              </a:spcAft>
            </a:pPr>
            <a:r>
              <a:rPr sz="1150" b="0">
                <a:solidFill>
                  <a:srgbClr val="6B6862"/>
                </a:solidFill>
                <a:latin typeface="Calibri"/>
              </a:rPr>
              <a:t>Search and read mail, draft messages, send / reply / forward with approval, and manage labels.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Calendar</a:t>
            </a:r>
          </a:p>
          <a:p>
            <a:pPr algn="l">
              <a:spcAft>
                <a:spcPts val="300"/>
              </a:spcAft>
            </a:pPr>
            <a:r>
              <a:rPr sz="1150" b="0">
                <a:solidFill>
                  <a:srgbClr val="6B6862"/>
                </a:solidFill>
                <a:latin typeface="Calibri"/>
              </a:rPr>
              <a:t>View events, find availability, and create or update meetings.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Social and ads tools</a:t>
            </a:r>
          </a:p>
          <a:p>
            <a:pPr algn="l">
              <a:spcAft>
                <a:spcPts val="300"/>
              </a:spcAft>
            </a:pPr>
            <a:r>
              <a:rPr sz="1150" b="0">
                <a:solidFill>
                  <a:srgbClr val="6B6862"/>
                </a:solidFill>
                <a:latin typeface="Calibri"/>
              </a:rPr>
              <a:t>Where your workspace has them, connectors for scheduling and ad platforms reach the same way — always with approval.</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by default</a:t>
            </a:r>
          </a:p>
          <a:p>
            <a:pPr algn="l">
              <a:spcAft>
                <a:spcPts val="300"/>
              </a:spcAft>
            </a:pPr>
            <a:r>
              <a:rPr sz="1150" b="0">
                <a:solidFill>
                  <a:srgbClr val="6B6862"/>
                </a:solidFill>
                <a:latin typeface="Calibri"/>
              </a:rPr>
              <a:t>Claude asks for explicit approval before it sends, replies to or forwards an email.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manage them</a:t>
            </a:r>
          </a:p>
          <a:p>
            <a:pPr algn="l">
              <a:spcAft>
                <a:spcPts val="300"/>
              </a:spcAft>
            </a:pPr>
            <a:r>
              <a:rPr sz="1150" b="0">
                <a:solidFill>
                  <a:srgbClr val="6B6862"/>
                </a:solidFill>
                <a:latin typeface="Calibri"/>
              </a:rPr>
              <a:t>Individually from the + menu; account-wide under Customize → Connectors.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and Gmail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each on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 — including file read access.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Connector at Work: Gmail</a:t>
            </a:r>
          </a:p>
        </p:txBody>
      </p:sp>
      <p:sp>
        <p:nvSpPr>
          <p:cNvPr id="5" name="Rectangle 4"/>
          <p:cNvSpPr/>
          <p:nvPr/>
        </p:nvSpPr>
        <p:spPr>
          <a:xfrm>
            <a:off x="548640" y="1600200"/>
            <a:ext cx="11064240" cy="2105505"/>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1106424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gmail-send-prompt.png"/>
          <p:cNvPicPr>
            <a:picLocks noChangeAspect="1"/>
          </p:cNvPicPr>
          <p:nvPr/>
        </p:nvPicPr>
        <p:blipFill>
          <a:blip r:embed="rId2"/>
          <a:stretch>
            <a:fillRect/>
          </a:stretch>
        </p:blipFill>
        <p:spPr>
          <a:xfrm>
            <a:off x="658368" y="1709928"/>
            <a:ext cx="10844784" cy="1886049"/>
          </a:xfrm>
          <a:prstGeom prst="rect">
            <a:avLst/>
          </a:prstGeom>
        </p:spPr>
      </p:pic>
      <p:sp>
        <p:nvSpPr>
          <p:cNvPr id="8" name="Oval 7"/>
          <p:cNvSpPr/>
          <p:nvPr/>
        </p:nvSpPr>
        <p:spPr>
          <a:xfrm>
            <a:off x="548640" y="4025745"/>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025745"/>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044033"/>
            <a:ext cx="3048000" cy="1780695"/>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Ask in plain English</a:t>
            </a:r>
          </a:p>
          <a:p>
            <a:pPr algn="l">
              <a:spcAft>
                <a:spcPts val="300"/>
              </a:spcAft>
            </a:pPr>
            <a:r>
              <a:rPr sz="1250" b="0">
                <a:solidFill>
                  <a:srgbClr val="6B6862"/>
                </a:solidFill>
                <a:latin typeface="Calibri"/>
              </a:rPr>
              <a:t>Say what to send and to whom; no menus to find.</a:t>
            </a:r>
          </a:p>
        </p:txBody>
      </p:sp>
      <p:sp>
        <p:nvSpPr>
          <p:cNvPr id="11" name="Oval 10"/>
          <p:cNvSpPr/>
          <p:nvPr/>
        </p:nvSpPr>
        <p:spPr>
          <a:xfrm>
            <a:off x="4328160" y="4025745"/>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025745"/>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044033"/>
            <a:ext cx="3048000" cy="1780695"/>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Watch the tool call</a:t>
            </a:r>
          </a:p>
          <a:p>
            <a:pPr algn="l">
              <a:spcAft>
                <a:spcPts val="300"/>
              </a:spcAft>
            </a:pPr>
            <a:r>
              <a:rPr sz="1250" b="0">
                <a:solidFill>
                  <a:srgbClr val="6B6862"/>
                </a:solidFill>
                <a:latin typeface="Calibri"/>
              </a:rPr>
              <a:t>'Using Gmail: Send email message' names the connector and action. Click › for detail.</a:t>
            </a:r>
          </a:p>
        </p:txBody>
      </p:sp>
      <p:sp>
        <p:nvSpPr>
          <p:cNvPr id="14" name="Oval 13"/>
          <p:cNvSpPr/>
          <p:nvPr/>
        </p:nvSpPr>
        <p:spPr>
          <a:xfrm>
            <a:off x="8107680" y="4025745"/>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025745"/>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044033"/>
            <a:ext cx="3048000" cy="1780695"/>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Stay in control</a:t>
            </a:r>
          </a:p>
          <a:p>
            <a:pPr algn="l">
              <a:spcAft>
                <a:spcPts val="300"/>
              </a:spcAft>
            </a:pPr>
            <a:r>
              <a:rPr sz="1250" b="0">
                <a:solidFill>
                  <a:srgbClr val="6B6862"/>
                </a:solidFill>
                <a:latin typeface="Calibri"/>
              </a:rPr>
              <a:t>Ask for a draft first when the email goes to anyone but you.</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One plain request — Claude chose the Gmail connector's Send email action.</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Result in Gmail</a:t>
            </a:r>
          </a:p>
        </p:txBody>
      </p:sp>
      <p:sp>
        <p:nvSpPr>
          <p:cNvPr id="5" name="Rectangle 4"/>
          <p:cNvSpPr/>
          <p:nvPr/>
        </p:nvSpPr>
        <p:spPr>
          <a:xfrm>
            <a:off x="548640" y="1876849"/>
            <a:ext cx="6903720" cy="3744382"/>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76849"/>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gmail-result.png"/>
          <p:cNvPicPr>
            <a:picLocks noChangeAspect="1"/>
          </p:cNvPicPr>
          <p:nvPr/>
        </p:nvPicPr>
        <p:blipFill>
          <a:blip r:embed="rId2"/>
          <a:stretch>
            <a:fillRect/>
          </a:stretch>
        </p:blipFill>
        <p:spPr>
          <a:xfrm>
            <a:off x="658368" y="1986577"/>
            <a:ext cx="6684264" cy="3524926"/>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Read from the file</a:t>
            </a:r>
          </a:p>
          <a:p>
            <a:pPr algn="l">
              <a:spcAft>
                <a:spcPts val="300"/>
              </a:spcAft>
            </a:pPr>
            <a:r>
              <a:rPr sz="1250" b="0">
                <a:solidFill>
                  <a:srgbClr val="6B6862"/>
                </a:solidFill>
                <a:latin typeface="Calibri"/>
              </a:rPr>
              <a:t>Claude summarised the workbook: 14 facilities in 9 countries, 2023–2025.</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Ready to read</a:t>
            </a:r>
          </a:p>
          <a:p>
            <a:pPr algn="l">
              <a:spcAft>
                <a:spcPts val="300"/>
              </a:spcAft>
            </a:pPr>
            <a:r>
              <a:rPr sz="1250" b="0">
                <a:solidFill>
                  <a:srgbClr val="6B6862"/>
                </a:solidFill>
                <a:latin typeface="Calibri"/>
              </a:rPr>
              <a:t>Headings and bullets, formatted for email.</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Verify</a:t>
            </a:r>
          </a:p>
          <a:p>
            <a:pPr algn="l">
              <a:spcAft>
                <a:spcPts val="300"/>
              </a:spcAft>
            </a:pPr>
            <a:r>
              <a:rPr sz="1250" b="0">
                <a:solidFill>
                  <a:srgbClr val="6B6862"/>
                </a:solidFill>
                <a:latin typeface="Calibri"/>
              </a:rPr>
              <a:t>Spot-check one total against the source file before you forward it.</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summary arrived seconds later, written from the project's sustainability workbook.</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Context Window</a:t>
            </a:r>
          </a:p>
        </p:txBody>
      </p:sp>
      <p:sp>
        <p:nvSpPr>
          <p:cNvPr id="5" name="TextBox 4"/>
          <p:cNvSpPr txBox="1"/>
          <p:nvPr/>
        </p:nvSpPr>
        <p:spPr>
          <a:xfrm>
            <a:off x="685800" y="2331720"/>
            <a:ext cx="822960" cy="822960"/>
          </a:xfrm>
          <a:prstGeom prst="rect">
            <a:avLst/>
          </a:prstGeom>
          <a:noFill/>
        </p:spPr>
        <p:txBody>
          <a:bodyPr wrap="square" anchor="t" lIns="0" rIns="0" tIns="0" bIns="0">
            <a:spAutoFit/>
          </a:bodyPr>
          <a:lstStyle/>
          <a:p>
            <a:pPr algn="l">
              <a:spcAft>
                <a:spcPts val="400"/>
              </a:spcAft>
            </a:pPr>
            <a:r>
              <a:rPr sz="6200" b="1">
                <a:solidFill>
                  <a:srgbClr val="D97757"/>
                </a:solidFill>
                <a:latin typeface="Cambria"/>
              </a:rPr>
              <a:t>“</a:t>
            </a:r>
          </a:p>
        </p:txBody>
      </p:sp>
      <p:sp>
        <p:nvSpPr>
          <p:cNvPr id="6" name="TextBox 5"/>
          <p:cNvSpPr txBox="1"/>
          <p:nvPr/>
        </p:nvSpPr>
        <p:spPr>
          <a:xfrm>
            <a:off x="1508760" y="2606040"/>
            <a:ext cx="9509760" cy="1828800"/>
          </a:xfrm>
          <a:prstGeom prst="rect">
            <a:avLst/>
          </a:prstGeom>
          <a:noFill/>
        </p:spPr>
        <p:txBody>
          <a:bodyPr wrap="square" anchor="ctr" lIns="0" rIns="0" tIns="0" bIns="0">
            <a:spAutoFit/>
          </a:bodyPr>
          <a:lstStyle/>
          <a:p>
            <a:pPr algn="l">
              <a:spcAft>
                <a:spcPts val="400"/>
              </a:spcAft>
            </a:pPr>
            <a:r>
              <a:rPr sz="2100" b="0">
                <a:solidFill>
                  <a:srgbClr val="21201C"/>
                </a:solidFill>
                <a:latin typeface="Courier New"/>
              </a:rPr>
              <a:t>The context window is all the information the model can “see” when producing a response.</a:t>
            </a:r>
          </a:p>
        </p:txBody>
      </p:sp>
      <p:sp>
        <p:nvSpPr>
          <p:cNvPr id="7" name="TextBox 6"/>
          <p:cNvSpPr txBox="1"/>
          <p:nvPr/>
        </p:nvSpPr>
        <p:spPr>
          <a:xfrm>
            <a:off x="10698480" y="4160520"/>
            <a:ext cx="822960" cy="822960"/>
          </a:xfrm>
          <a:prstGeom prst="rect">
            <a:avLst/>
          </a:prstGeom>
          <a:noFill/>
        </p:spPr>
        <p:txBody>
          <a:bodyPr wrap="square" anchor="t" lIns="0" rIns="0" tIns="0" bIns="0">
            <a:spAutoFit/>
          </a:bodyPr>
          <a:lstStyle/>
          <a:p>
            <a:pPr algn="r">
              <a:spcAft>
                <a:spcPts val="400"/>
              </a:spcAft>
            </a:pPr>
            <a:r>
              <a:rPr sz="6200" b="1">
                <a:solidFill>
                  <a:srgbClr val="D97757"/>
                </a:solidFill>
                <a:latin typeface="Cambria"/>
              </a:rPr>
              <a:t>”</a:t>
            </a:r>
          </a:p>
        </p:txBody>
      </p:sp>
      <p:sp>
        <p:nvSpPr>
          <p:cNvPr id="8" name="TextBox 7"/>
          <p:cNvSpPr txBox="1"/>
          <p:nvPr/>
        </p:nvSpPr>
        <p:spPr>
          <a:xfrm>
            <a:off x="548640" y="5669280"/>
            <a:ext cx="11064240" cy="45720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Files, instructions, tools and skills all have to fit inside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Fills the Context Window</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At the start of a task.</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995781"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4421" y="2514600"/>
            <a:ext cx="221284"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65705" y="2514600"/>
            <a:ext cx="276606"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2311" y="2514600"/>
            <a:ext cx="442569"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4880" y="2514600"/>
            <a:ext cx="719175"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6" name="Oval 15"/>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18" name="Oval 17"/>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07492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0" name="Oval 19"/>
          <p:cNvSpPr/>
          <p:nvPr/>
        </p:nvSpPr>
        <p:spPr>
          <a:xfrm>
            <a:off x="608076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2" name="Oval 21"/>
          <p:cNvSpPr/>
          <p:nvPr/>
        </p:nvSpPr>
        <p:spPr>
          <a:xfrm>
            <a:off x="608076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4" name="TextBox 23"/>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At the start of a task only the fixed overhead is loaded — most of the window is still free.</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Same Window, Later in the Task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After reading files, calling tools and running skills.</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63854"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2494" y="2514600"/>
            <a:ext cx="154899"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7393" y="2514600"/>
            <a:ext cx="177027"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4420" y="2514600"/>
            <a:ext cx="331927"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6347" y="2514600"/>
            <a:ext cx="3761841"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188" y="2514600"/>
            <a:ext cx="1548993" cy="1371600"/>
          </a:xfrm>
          <a:prstGeom prst="rect">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87181" y="2514600"/>
            <a:ext cx="1217066" cy="1371600"/>
          </a:xfrm>
          <a:prstGeom prst="rect">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4247" y="2514600"/>
            <a:ext cx="995781" cy="1371600"/>
          </a:xfrm>
          <a:prstGeom prst="rect">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9" name="Oval 18"/>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21" name="Oval 20"/>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3" name="Oval 22"/>
          <p:cNvSpPr/>
          <p:nvPr/>
        </p:nvSpPr>
        <p:spPr>
          <a:xfrm>
            <a:off x="426720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638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5" name="Oval 24"/>
          <p:cNvSpPr/>
          <p:nvPr/>
        </p:nvSpPr>
        <p:spPr>
          <a:xfrm>
            <a:off x="426720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638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7" name="Oval 26"/>
          <p:cNvSpPr/>
          <p:nvPr/>
        </p:nvSpPr>
        <p:spPr>
          <a:xfrm>
            <a:off x="4267200" y="5120640"/>
            <a:ext cx="182880" cy="182880"/>
          </a:xfrm>
          <a:prstGeom prst="ellipse">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638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Files read</a:t>
            </a:r>
          </a:p>
        </p:txBody>
      </p:sp>
      <p:sp>
        <p:nvSpPr>
          <p:cNvPr id="29" name="Oval 28"/>
          <p:cNvSpPr/>
          <p:nvPr/>
        </p:nvSpPr>
        <p:spPr>
          <a:xfrm>
            <a:off x="7894320" y="4389120"/>
            <a:ext cx="182880" cy="182880"/>
          </a:xfrm>
          <a:prstGeom prst="ellipse">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350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call results</a:t>
            </a:r>
          </a:p>
        </p:txBody>
      </p:sp>
      <p:sp>
        <p:nvSpPr>
          <p:cNvPr id="31" name="Oval 30"/>
          <p:cNvSpPr/>
          <p:nvPr/>
        </p:nvSpPr>
        <p:spPr>
          <a:xfrm>
            <a:off x="7894320" y="4754880"/>
            <a:ext cx="182880" cy="182880"/>
          </a:xfrm>
          <a:prstGeom prst="ellipse">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350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Skills executed</a:t>
            </a:r>
          </a:p>
        </p:txBody>
      </p:sp>
      <p:sp>
        <p:nvSpPr>
          <p:cNvPr id="33" name="TextBox 32"/>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 the task runs, files, tool results and executed skills all accumulate. This is why a big job is better split into several focused tasks, each with a fresh window.</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When the Context Window Fills Up</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Context rot</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Performance degrades. Recall of specific facts gets worse, the model starts confusing similar entities, and reasoning quality drops.</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Tool confusion</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Claude sees every tool definition. The more options competing for its attention, the more likely it picks the wrong one or fills in the wrong parameters.</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Slower responses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model processes every token on every turn. A bigger context means more work per message, which means longer waits before you see a reply.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Eats up your usage faster</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Your entire context gets resent with each new message — so more tokens are burned per turn, and your limits are reached sooner.</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The fix is housekeeping: one job per task, only the connectors you need, and only the files the job actually reads.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Five Levers of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you actually control.</a:t>
            </a:r>
          </a:p>
        </p:txBody>
      </p:sp>
      <p:sp>
        <p:nvSpPr>
          <p:cNvPr id="6" name="Rectangle 5"/>
          <p:cNvSpPr/>
          <p:nvPr/>
        </p:nvSpPr>
        <p:spPr>
          <a:xfrm>
            <a:off x="548640" y="2148840"/>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253081"/>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53081"/>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Conversation</a:t>
            </a:r>
          </a:p>
          <a:p>
            <a:pPr algn="l">
              <a:spcAft>
                <a:spcPts val="500"/>
              </a:spcAft>
            </a:pPr>
            <a:r>
              <a:rPr sz="1250" b="0">
                <a:solidFill>
                  <a:srgbClr val="6B6862"/>
                </a:solidFill>
                <a:latin typeface="Calibri"/>
              </a:rPr>
              <a:t>Your prompt. The messages you send, including both text and attachments.</a:t>
            </a:r>
          </a:p>
        </p:txBody>
      </p:sp>
      <p:sp>
        <p:nvSpPr>
          <p:cNvPr id="10" name="Rectangle 9"/>
          <p:cNvSpPr/>
          <p:nvPr/>
        </p:nvSpPr>
        <p:spPr>
          <a:xfrm>
            <a:off x="548640" y="2869387"/>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97362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362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2869387"/>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Project context</a:t>
            </a:r>
          </a:p>
          <a:p>
            <a:pPr algn="l">
              <a:spcAft>
                <a:spcPts val="500"/>
              </a:spcAft>
            </a:pPr>
            <a:r>
              <a:rPr sz="1250" b="0">
                <a:solidFill>
                  <a:srgbClr val="6B6862"/>
                </a:solidFill>
                <a:latin typeface="Calibri"/>
              </a:rPr>
              <a:t>The files the project reads, and the folder it works in.</a:t>
            </a:r>
          </a:p>
        </p:txBody>
      </p:sp>
      <p:sp>
        <p:nvSpPr>
          <p:cNvPr id="14" name="Rectangle 13"/>
          <p:cNvSpPr/>
          <p:nvPr/>
        </p:nvSpPr>
        <p:spPr>
          <a:xfrm>
            <a:off x="548640" y="3589934"/>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69417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589934"/>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Connectors</a:t>
            </a:r>
          </a:p>
          <a:p>
            <a:pPr algn="l">
              <a:spcAft>
                <a:spcPts val="500"/>
              </a:spcAft>
            </a:pPr>
            <a:r>
              <a:rPr sz="1250" b="0">
                <a:solidFill>
                  <a:srgbClr val="6B6862"/>
                </a:solidFill>
                <a:latin typeface="Calibri"/>
              </a:rPr>
              <a:t>The connected tools Claude can pull data from, and take actions in.</a:t>
            </a:r>
          </a:p>
        </p:txBody>
      </p:sp>
      <p:sp>
        <p:nvSpPr>
          <p:cNvPr id="18" name="Rectangle 17"/>
          <p:cNvSpPr/>
          <p:nvPr/>
        </p:nvSpPr>
        <p:spPr>
          <a:xfrm>
            <a:off x="548640" y="4310481"/>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1472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1472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310481"/>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Skills</a:t>
            </a:r>
          </a:p>
          <a:p>
            <a:pPr algn="l">
              <a:spcAft>
                <a:spcPts val="500"/>
              </a:spcAft>
            </a:pPr>
            <a:r>
              <a:rPr sz="1250" b="0">
                <a:solidFill>
                  <a:srgbClr val="6B6862"/>
                </a:solidFill>
                <a:latin typeface="Calibri"/>
              </a:rPr>
              <a:t>A set of instructions Claude follows for a repeatable workflow.</a:t>
            </a:r>
          </a:p>
        </p:txBody>
      </p:sp>
      <p:sp>
        <p:nvSpPr>
          <p:cNvPr id="22" name="Rectangle 21"/>
          <p:cNvSpPr/>
          <p:nvPr/>
        </p:nvSpPr>
        <p:spPr>
          <a:xfrm>
            <a:off x="548640" y="5031028"/>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135269"/>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35269"/>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5" name="TextBox 24"/>
          <p:cNvSpPr txBox="1"/>
          <p:nvPr/>
        </p:nvSpPr>
        <p:spPr>
          <a:xfrm>
            <a:off x="1508760" y="5031028"/>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 &amp; memory file</a:t>
            </a:r>
          </a:p>
          <a:p>
            <a:pPr algn="l">
              <a:spcAft>
                <a:spcPts val="500"/>
              </a:spcAft>
            </a:pPr>
            <a:r>
              <a:rPr sz="1250" b="0">
                <a:solidFill>
                  <a:srgbClr val="6B6862"/>
                </a:solidFill>
                <a:latin typeface="Calibri"/>
              </a:rPr>
              <a:t>Project rules you wrote, and decisions kept in the memory file.</a:t>
            </a: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 lab today pulls one of these levers — context in Lab 1, connectors in Lab 4, skills in Labs 5–7, and the memory file in Lab 10.</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It Yourself: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Estimated usage by category, for a 1M-token window.</a:t>
            </a:r>
          </a:p>
        </p:txBody>
      </p:sp>
      <p:sp>
        <p:nvSpPr>
          <p:cNvPr id="6" name="TextBox 5"/>
          <p:cNvSpPr txBox="1"/>
          <p:nvPr/>
        </p:nvSpPr>
        <p:spPr>
          <a:xfrm>
            <a:off x="822960" y="2194560"/>
            <a:ext cx="5943600" cy="310896"/>
          </a:xfrm>
          <a:prstGeom prst="rect">
            <a:avLst/>
          </a:prstGeom>
          <a:noFill/>
        </p:spPr>
        <p:txBody>
          <a:bodyPr wrap="square" anchor="t" lIns="0" rIns="0" tIns="0" bIns="0">
            <a:spAutoFit/>
          </a:bodyPr>
          <a:lstStyle/>
          <a:p>
            <a:pPr algn="l">
              <a:spcAft>
                <a:spcPts val="400"/>
              </a:spcAft>
            </a:pPr>
            <a:r>
              <a:rPr sz="1250" b="1">
                <a:solidFill>
                  <a:srgbClr val="6B6862"/>
                </a:solidFill>
                <a:latin typeface="Calibri"/>
              </a:rPr>
              <a:t>Category</a:t>
            </a:r>
          </a:p>
        </p:txBody>
      </p:sp>
      <p:sp>
        <p:nvSpPr>
          <p:cNvPr id="7" name="TextBox 6"/>
          <p:cNvSpPr txBox="1"/>
          <p:nvPr/>
        </p:nvSpPr>
        <p:spPr>
          <a:xfrm>
            <a:off x="6949440" y="2194560"/>
            <a:ext cx="219456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Tokens</a:t>
            </a:r>
          </a:p>
        </p:txBody>
      </p:sp>
      <p:sp>
        <p:nvSpPr>
          <p:cNvPr id="8" name="TextBox 7"/>
          <p:cNvSpPr txBox="1"/>
          <p:nvPr/>
        </p:nvSpPr>
        <p:spPr>
          <a:xfrm>
            <a:off x="9326880" y="2194560"/>
            <a:ext cx="201168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Percentage</a:t>
            </a:r>
          </a:p>
        </p:txBody>
      </p:sp>
      <p:sp>
        <p:nvSpPr>
          <p:cNvPr id="9" name="Rectangle 8"/>
          <p:cNvSpPr/>
          <p:nvPr/>
        </p:nvSpPr>
        <p:spPr>
          <a:xfrm>
            <a:off x="822960" y="2523744"/>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33472"/>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prompt</a:t>
            </a:r>
          </a:p>
        </p:txBody>
      </p:sp>
      <p:sp>
        <p:nvSpPr>
          <p:cNvPr id="11" name="TextBox 10"/>
          <p:cNvSpPr txBox="1"/>
          <p:nvPr/>
        </p:nvSpPr>
        <p:spPr>
          <a:xfrm>
            <a:off x="6949440" y="2633472"/>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35.3k</a:t>
            </a:r>
          </a:p>
        </p:txBody>
      </p:sp>
      <p:sp>
        <p:nvSpPr>
          <p:cNvPr id="12" name="TextBox 11"/>
          <p:cNvSpPr txBox="1"/>
          <p:nvPr/>
        </p:nvSpPr>
        <p:spPr>
          <a:xfrm>
            <a:off x="9326880" y="2633472"/>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a:t>
            </a:r>
          </a:p>
        </p:txBody>
      </p:sp>
      <p:sp>
        <p:nvSpPr>
          <p:cNvPr id="13" name="Rectangle 12"/>
          <p:cNvSpPr/>
          <p:nvPr/>
        </p:nvSpPr>
        <p:spPr>
          <a:xfrm>
            <a:off x="822960" y="301866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18663"/>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tools</a:t>
            </a:r>
          </a:p>
        </p:txBody>
      </p:sp>
      <p:sp>
        <p:nvSpPr>
          <p:cNvPr id="15" name="TextBox 14"/>
          <p:cNvSpPr txBox="1"/>
          <p:nvPr/>
        </p:nvSpPr>
        <p:spPr>
          <a:xfrm>
            <a:off x="6949440" y="3018663"/>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768</a:t>
            </a:r>
          </a:p>
        </p:txBody>
      </p:sp>
      <p:sp>
        <p:nvSpPr>
          <p:cNvPr id="16" name="TextBox 15"/>
          <p:cNvSpPr txBox="1"/>
          <p:nvPr/>
        </p:nvSpPr>
        <p:spPr>
          <a:xfrm>
            <a:off x="9326880" y="3018663"/>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0.1%</a:t>
            </a:r>
          </a:p>
        </p:txBody>
      </p:sp>
      <p:sp>
        <p:nvSpPr>
          <p:cNvPr id="17" name="Rectangle 16"/>
          <p:cNvSpPr/>
          <p:nvPr/>
        </p:nvSpPr>
        <p:spPr>
          <a:xfrm>
            <a:off x="822960" y="34038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03854"/>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a:t>
            </a:r>
          </a:p>
        </p:txBody>
      </p:sp>
      <p:sp>
        <p:nvSpPr>
          <p:cNvPr id="19" name="TextBox 18"/>
          <p:cNvSpPr txBox="1"/>
          <p:nvPr/>
        </p:nvSpPr>
        <p:spPr>
          <a:xfrm>
            <a:off x="6949440" y="3403854"/>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2.6k</a:t>
            </a:r>
          </a:p>
        </p:txBody>
      </p:sp>
      <p:sp>
        <p:nvSpPr>
          <p:cNvPr id="20" name="TextBox 19"/>
          <p:cNvSpPr txBox="1"/>
          <p:nvPr/>
        </p:nvSpPr>
        <p:spPr>
          <a:xfrm>
            <a:off x="9326880" y="3403854"/>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0.3%</a:t>
            </a:r>
          </a:p>
        </p:txBody>
      </p:sp>
      <p:sp>
        <p:nvSpPr>
          <p:cNvPr id="21" name="Rectangle 20"/>
          <p:cNvSpPr/>
          <p:nvPr/>
        </p:nvSpPr>
        <p:spPr>
          <a:xfrm>
            <a:off x="822960" y="378904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89045"/>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 (deferred)</a:t>
            </a:r>
          </a:p>
        </p:txBody>
      </p:sp>
      <p:sp>
        <p:nvSpPr>
          <p:cNvPr id="23" name="TextBox 22"/>
          <p:cNvSpPr txBox="1"/>
          <p:nvPr/>
        </p:nvSpPr>
        <p:spPr>
          <a:xfrm>
            <a:off x="6949440" y="3789045"/>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301.7k</a:t>
            </a:r>
          </a:p>
        </p:txBody>
      </p:sp>
      <p:sp>
        <p:nvSpPr>
          <p:cNvPr id="24" name="TextBox 23"/>
          <p:cNvSpPr txBox="1"/>
          <p:nvPr/>
        </p:nvSpPr>
        <p:spPr>
          <a:xfrm>
            <a:off x="9326880" y="3789045"/>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30.2%</a:t>
            </a:r>
          </a:p>
        </p:txBody>
      </p:sp>
      <p:sp>
        <p:nvSpPr>
          <p:cNvPr id="25" name="Rectangle 24"/>
          <p:cNvSpPr/>
          <p:nvPr/>
        </p:nvSpPr>
        <p:spPr>
          <a:xfrm>
            <a:off x="822960" y="41742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74236"/>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Memory files</a:t>
            </a:r>
          </a:p>
        </p:txBody>
      </p:sp>
      <p:sp>
        <p:nvSpPr>
          <p:cNvPr id="27" name="TextBox 26"/>
          <p:cNvSpPr txBox="1"/>
          <p:nvPr/>
        </p:nvSpPr>
        <p:spPr>
          <a:xfrm>
            <a:off x="6949440" y="4174236"/>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81</a:t>
            </a:r>
          </a:p>
        </p:txBody>
      </p:sp>
      <p:sp>
        <p:nvSpPr>
          <p:cNvPr id="28" name="TextBox 27"/>
          <p:cNvSpPr txBox="1"/>
          <p:nvPr/>
        </p:nvSpPr>
        <p:spPr>
          <a:xfrm>
            <a:off x="9326880" y="4174236"/>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29" name="Rectangle 28"/>
          <p:cNvSpPr/>
          <p:nvPr/>
        </p:nvSpPr>
        <p:spPr>
          <a:xfrm>
            <a:off x="822960" y="455942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59427"/>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a:t>
            </a:r>
          </a:p>
        </p:txBody>
      </p:sp>
      <p:sp>
        <p:nvSpPr>
          <p:cNvPr id="31" name="TextBox 30"/>
          <p:cNvSpPr txBox="1"/>
          <p:nvPr/>
        </p:nvSpPr>
        <p:spPr>
          <a:xfrm>
            <a:off x="6949440" y="4559427"/>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9k</a:t>
            </a:r>
          </a:p>
        </p:txBody>
      </p:sp>
      <p:sp>
        <p:nvSpPr>
          <p:cNvPr id="32" name="TextBox 31"/>
          <p:cNvSpPr txBox="1"/>
          <p:nvPr/>
        </p:nvSpPr>
        <p:spPr>
          <a:xfrm>
            <a:off x="9326880" y="4559427"/>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0.9%</a:t>
            </a:r>
          </a:p>
        </p:txBody>
      </p:sp>
      <p:sp>
        <p:nvSpPr>
          <p:cNvPr id="33" name="Rectangle 32"/>
          <p:cNvSpPr/>
          <p:nvPr/>
        </p:nvSpPr>
        <p:spPr>
          <a:xfrm>
            <a:off x="822960" y="49446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944618"/>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Messages</a:t>
            </a:r>
          </a:p>
        </p:txBody>
      </p:sp>
      <p:sp>
        <p:nvSpPr>
          <p:cNvPr id="35" name="TextBox 34"/>
          <p:cNvSpPr txBox="1"/>
          <p:nvPr/>
        </p:nvSpPr>
        <p:spPr>
          <a:xfrm>
            <a:off x="6949440" y="4944618"/>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13</a:t>
            </a:r>
          </a:p>
        </p:txBody>
      </p:sp>
      <p:sp>
        <p:nvSpPr>
          <p:cNvPr id="36" name="TextBox 35"/>
          <p:cNvSpPr txBox="1"/>
          <p:nvPr/>
        </p:nvSpPr>
        <p:spPr>
          <a:xfrm>
            <a:off x="9326880" y="4944618"/>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37" name="Rectangle 36"/>
          <p:cNvSpPr/>
          <p:nvPr/>
        </p:nvSpPr>
        <p:spPr>
          <a:xfrm>
            <a:off x="822960" y="532980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29809"/>
            <a:ext cx="5943600" cy="3851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Free space</a:t>
            </a:r>
          </a:p>
        </p:txBody>
      </p:sp>
      <p:sp>
        <p:nvSpPr>
          <p:cNvPr id="39" name="TextBox 38"/>
          <p:cNvSpPr txBox="1"/>
          <p:nvPr/>
        </p:nvSpPr>
        <p:spPr>
          <a:xfrm>
            <a:off x="6949440" y="5329809"/>
            <a:ext cx="219456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650.5k</a:t>
            </a:r>
          </a:p>
        </p:txBody>
      </p:sp>
      <p:sp>
        <p:nvSpPr>
          <p:cNvPr id="40" name="TextBox 39"/>
          <p:cNvSpPr txBox="1"/>
          <p:nvPr/>
        </p:nvSpPr>
        <p:spPr>
          <a:xfrm>
            <a:off x="9326880" y="5329809"/>
            <a:ext cx="201168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a:t>
            </a:r>
          </a:p>
        </p:txBody>
      </p:sp>
      <p:sp>
        <p:nvSpPr>
          <p:cNvPr id="41" name="Rectangle 40"/>
          <p:cNvSpPr/>
          <p:nvPr/>
        </p:nvSpPr>
        <p:spPr>
          <a:xfrm>
            <a:off x="822960" y="57150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In Claude Code, run /context to see this for your own session. Note how much a large set of connectors costs before you have typed anything — turn off the ones you do not need.</a:t>
            </a:r>
          </a:p>
        </p:txBody>
      </p:sp>
      <p:sp>
        <p:nvSpPr>
          <p:cNvPr id="43" name="TextBox 4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5" name="TextBox 4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Connectors, Skills and Plugins</a:t>
            </a:r>
          </a:p>
        </p:txBody>
      </p:sp>
      <p:sp>
        <p:nvSpPr>
          <p:cNvPr id="5" name="Rectangle 4"/>
          <p:cNvSpPr/>
          <p:nvPr/>
        </p:nvSpPr>
        <p:spPr>
          <a:xfrm>
            <a:off x="548640"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Connectors</a:t>
            </a:r>
          </a:p>
          <a:p>
            <a:pPr algn="l">
              <a:spcAft>
                <a:spcPts val="300"/>
              </a:spcAft>
            </a:pPr>
            <a:r>
              <a:rPr sz="1150" b="0">
                <a:solidFill>
                  <a:srgbClr val="6B6862"/>
                </a:solidFill>
                <a:latin typeface="Calibri"/>
              </a:rPr>
              <a:t>Toggle Gmail, Drive and Calendar on from the + menu so Claude can reach data outside the chat.</a:t>
            </a:r>
          </a:p>
        </p:txBody>
      </p:sp>
      <p:sp>
        <p:nvSpPr>
          <p:cNvPr id="10" name="Rectangle 9"/>
          <p:cNvSpPr/>
          <p:nvPr/>
        </p:nvSpPr>
        <p:spPr>
          <a:xfrm>
            <a:off x="6163056"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folder</a:t>
            </a:r>
          </a:p>
          <a:p>
            <a:pPr algn="l">
              <a:spcAft>
                <a:spcPts val="300"/>
              </a:spcAft>
            </a:pPr>
            <a:r>
              <a:rPr sz="1150" b="0">
                <a:solidFill>
                  <a:srgbClr val="6B6862"/>
                </a:solidFill>
                <a:latin typeface="Calibri"/>
              </a:rPr>
              <a:t>Point Claude at one Drive folder for the task — not your whole Drive.</a:t>
            </a:r>
          </a:p>
        </p:txBody>
      </p:sp>
      <p:sp>
        <p:nvSpPr>
          <p:cNvPr id="15" name="Rectangle 14"/>
          <p:cNvSpPr/>
          <p:nvPr/>
        </p:nvSpPr>
        <p:spPr>
          <a:xfrm>
            <a:off x="548640"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to send</a:t>
            </a:r>
          </a:p>
          <a:p>
            <a:pPr algn="l">
              <a:spcAft>
                <a:spcPts val="300"/>
              </a:spcAft>
            </a:pPr>
            <a:r>
              <a:rPr sz="1150" b="0">
                <a:solidFill>
                  <a:srgbClr val="6B6862"/>
                </a:solidFill>
                <a:latin typeface="Calibri"/>
              </a:rPr>
              <a:t>Claude drafts, sends and replies in Gmail — sending asks for explicit approval by default.</a:t>
            </a:r>
          </a:p>
        </p:txBody>
      </p:sp>
      <p:sp>
        <p:nvSpPr>
          <p:cNvPr id="20" name="Rectangle 19"/>
          <p:cNvSpPr/>
          <p:nvPr/>
        </p:nvSpPr>
        <p:spPr>
          <a:xfrm>
            <a:off x="6163056"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 and Docs</a:t>
            </a:r>
          </a:p>
          <a:p>
            <a:pPr algn="l">
              <a:spcAft>
                <a:spcPts val="300"/>
              </a:spcAft>
            </a:pPr>
            <a:r>
              <a:rPr sz="1150" b="0">
                <a:solidFill>
                  <a:srgbClr val="6B6862"/>
                </a:solidFill>
                <a:latin typeface="Calibri"/>
              </a:rPr>
              <a:t>Claude's own deck and document formats: shareable, editable, and downloadable as PowerPoint, Word or PDF.</a:t>
            </a:r>
          </a:p>
        </p:txBody>
      </p:sp>
      <p:sp>
        <p:nvSpPr>
          <p:cNvPr id="25" name="Rectangle 24"/>
          <p:cNvSpPr/>
          <p:nvPr/>
        </p:nvSpPr>
        <p:spPr>
          <a:xfrm>
            <a:off x="548640"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Skills</a:t>
            </a:r>
          </a:p>
          <a:p>
            <a:pPr algn="l">
              <a:spcAft>
                <a:spcPts val="300"/>
              </a:spcAft>
            </a:pPr>
            <a:r>
              <a:rPr sz="1150" b="0">
                <a:solidFill>
                  <a:srgbClr val="6B6862"/>
                </a:solidFill>
                <a:latin typeface="Calibri"/>
              </a:rPr>
              <a:t>A folder of instructions Claude loads on demand, so a task runs the same way every time.</a:t>
            </a:r>
          </a:p>
        </p:txBody>
      </p:sp>
      <p:sp>
        <p:nvSpPr>
          <p:cNvPr id="30" name="Rectangle 29"/>
          <p:cNvSpPr/>
          <p:nvPr/>
        </p:nvSpPr>
        <p:spPr>
          <a:xfrm>
            <a:off x="6163056"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/skill-creator</a:t>
            </a:r>
          </a:p>
          <a:p>
            <a:pPr algn="l">
              <a:spcAft>
                <a:spcPts val="300"/>
              </a:spcAft>
            </a:pPr>
            <a:r>
              <a:rPr sz="1150" b="0">
                <a:solidFill>
                  <a:srgbClr val="6B6862"/>
                </a:solidFill>
                <a:latin typeface="Calibri"/>
              </a:rPr>
              <a:t>Do the task once, verify the output, then let skill-creator write the SKILL.md for you.</a:t>
            </a:r>
          </a:p>
        </p:txBody>
      </p:sp>
      <p:sp>
        <p:nvSpPr>
          <p:cNvPr id="35" name="Rectangle 34"/>
          <p:cNvSpPr/>
          <p:nvPr/>
        </p:nvSpPr>
        <p:spPr>
          <a:xfrm>
            <a:off x="548640"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Plugins</a:t>
            </a:r>
          </a:p>
          <a:p>
            <a:pPr algn="l">
              <a:spcAft>
                <a:spcPts val="300"/>
              </a:spcAft>
            </a:pPr>
            <a:r>
              <a:rPr sz="1150" b="0">
                <a:solidFill>
                  <a:srgbClr val="6B6862"/>
                </a:solidFill>
                <a:latin typeface="Calibri"/>
              </a:rPr>
              <a:t>A bundle somebody else packaged — several skills plus the tools they need, installed in one click.</a:t>
            </a:r>
          </a:p>
        </p:txBody>
      </p:sp>
      <p:sp>
        <p:nvSpPr>
          <p:cNvPr id="40" name="Rectangle 39"/>
          <p:cNvSpPr/>
          <p:nvPr/>
        </p:nvSpPr>
        <p:spPr>
          <a:xfrm>
            <a:off x="6163056"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Mods</a:t>
            </a:r>
          </a:p>
          <a:p>
            <a:pPr algn="l">
              <a:spcAft>
                <a:spcPts val="300"/>
              </a:spcAft>
            </a:pPr>
            <a:r>
              <a:rPr sz="1150" b="0">
                <a:solidFill>
                  <a:srgbClr val="6B6862"/>
                </a:solidFill>
                <a:latin typeface="Calibri"/>
              </a:rPr>
              <a:t>Changes to Claude's own interface or behaviour — a side panel, a status line, a slash command or a hook.</a:t>
            </a:r>
          </a:p>
        </p:txBody>
      </p:sp>
      <p:sp>
        <p:nvSpPr>
          <p:cNvPr id="45" name="TextBox 4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6" name="TextBox 4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7" name="TextBox 4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Connect Google Drive and Gmail, read campaign files from Drive and send an approved summary</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budget and timeline live in a shared Google Drive folder, not on your laptop. You upload the Lab 04 data folder to Drive, connect the Google Drive and Gmail connectors, and have the project read the budget from Drive, reconcile it against the launch brief, save the research brief back to Drive, and email you an approved summary. The budget sheet and the brief disagree on two lines — the project should catch it.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Drive and Gmail connected, the research brief saved to Drive, and an approved launch summary emailed to yourself.</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Google Drive connector,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04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never send without approval — Claude drafts the email, you approve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launch brief's budget, compared line by line with the Drive sheet.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Reaches out: the Lumo Launch folder in Google Drive and your Gmail, by connector.</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Reconcile the budget and send the summary</a:t>
            </a:r>
          </a:p>
        </p:txBody>
      </p:sp>
      <p:sp>
        <p:nvSpPr>
          <p:cNvPr id="5" name="Rectangle 4"/>
          <p:cNvSpPr/>
          <p:nvPr/>
        </p:nvSpPr>
        <p:spPr>
          <a:xfrm>
            <a:off x="548640" y="1828800"/>
            <a:ext cx="11064240" cy="28117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811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Google Drive, open the "Lumo Launch" folder.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Read lumo-launch-budget.csv and lumo-launch-timeline.csv.</a:t>
            </a:r>
          </a:p>
          <a:p>
            <a:pPr algn="l">
              <a:spcAft>
                <a:spcPts val="200"/>
              </a:spcAft>
            </a:pPr>
            <a:r>
              <a:rPr sz="1250" b="0">
                <a:solidFill>
                  <a:srgbClr val="21201C"/>
                </a:solidFill>
                <a:latin typeface="Calibri"/>
              </a:rPr>
              <a:t>2. Compare the budget sheet, line by line, with the budget in</a:t>
            </a:r>
          </a:p>
          <a:p>
            <a:pPr algn="l">
              <a:spcAft>
                <a:spcPts val="200"/>
              </a:spcAft>
            </a:pPr>
            <a:r>
              <a:rPr sz="1250" b="0">
                <a:solidFill>
                  <a:srgbClr val="21201C"/>
                </a:solidFill>
                <a:latin typeface="Calibri"/>
              </a:rPr>
              <a:t>   lumo-launch-brief.md from our project context. Show both in one</a:t>
            </a:r>
          </a:p>
          <a:p>
            <a:pPr algn="l">
              <a:spcAft>
                <a:spcPts val="200"/>
              </a:spcAft>
            </a:pPr>
            <a:r>
              <a:rPr sz="1250" b="0">
                <a:solidFill>
                  <a:srgbClr val="21201C"/>
                </a:solidFill>
                <a:latin typeface="Calibri"/>
              </a:rPr>
              <a:t>   table and flag every line where they disagree. Do not decide</a:t>
            </a:r>
          </a:p>
          <a:p>
            <a:pPr algn="l">
              <a:spcAft>
                <a:spcPts val="200"/>
              </a:spcAft>
            </a:pPr>
            <a:r>
              <a:rPr sz="1250" b="0">
                <a:solidFill>
                  <a:srgbClr val="21201C"/>
                </a:solidFill>
                <a:latin typeface="Calibri"/>
              </a:rPr>
              <a:t>   which is right.</a:t>
            </a:r>
          </a:p>
        </p:txBody>
      </p:sp>
      <p:sp>
        <p:nvSpPr>
          <p:cNvPr id="9" name="TextBox 8"/>
          <p:cNvSpPr txBox="1"/>
          <p:nvPr/>
        </p:nvSpPr>
        <p:spPr>
          <a:xfrm>
            <a:off x="628650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3. Upload lumo-research-brief.docx from Lab 2 into the same Drive</a:t>
            </a:r>
          </a:p>
          <a:p>
            <a:pPr algn="l">
              <a:spcAft>
                <a:spcPts val="200"/>
              </a:spcAft>
            </a:pPr>
            <a:r>
              <a:rPr sz="1250" b="0">
                <a:solidFill>
                  <a:srgbClr val="21201C"/>
                </a:solidFill>
                <a:latin typeface="Calibri"/>
              </a:rPr>
              <a:t>   folder.</a:t>
            </a:r>
          </a:p>
          <a:p>
            <a:pPr algn="l">
              <a:spcAft>
                <a:spcPts val="200"/>
              </a:spcAft>
            </a:pPr>
            <a:r>
              <a:rPr sz="1250" b="0">
                <a:solidFill>
                  <a:srgbClr val="21201C"/>
                </a:solidFill>
                <a:latin typeface="Calibri"/>
              </a:rPr>
              <a:t>4. Draft an email to &lt;YOUR EMAIL&gt; with the subject</a:t>
            </a:r>
          </a:p>
          <a:p>
            <a:pPr algn="l">
              <a:spcAft>
                <a:spcPts val="200"/>
              </a:spcAft>
            </a:pPr>
            <a:r>
              <a:rPr sz="1250" b="0">
                <a:solidFill>
                  <a:srgbClr val="21201C"/>
                </a:solidFill>
                <a:latin typeface="Calibri"/>
              </a:rPr>
              <a:t>   "Lumo launch - research and budget check": three bullet points</a:t>
            </a:r>
          </a:p>
          <a:p>
            <a:pPr algn="l">
              <a:spcAft>
                <a:spcPts val="200"/>
              </a:spcAft>
            </a:pPr>
            <a:r>
              <a:rPr sz="1250" b="0">
                <a:solidFill>
                  <a:srgbClr val="21201C"/>
                </a:solidFill>
                <a:latin typeface="Calibri"/>
              </a:rPr>
              <a:t>   from the research brief, the budget table with the disagreements</a:t>
            </a:r>
          </a:p>
          <a:p>
            <a:pPr algn="l">
              <a:spcAft>
                <a:spcPts val="200"/>
              </a:spcAft>
            </a:pPr>
            <a:r>
              <a:rPr sz="1250" b="0">
                <a:solidFill>
                  <a:srgbClr val="21201C"/>
                </a:solidFill>
                <a:latin typeface="Calibri"/>
              </a:rPr>
              <a:t>   flagged, the next milestone from the timeline, and a link to the</a:t>
            </a:r>
          </a:p>
          <a:p>
            <a:pPr algn="l">
              <a:spcAft>
                <a:spcPts val="200"/>
              </a:spcAft>
            </a:pPr>
            <a:r>
              <a:rPr sz="1250" b="0">
                <a:solidFill>
                  <a:srgbClr val="21201C"/>
                </a:solidFill>
                <a:latin typeface="Calibri"/>
              </a:rPr>
              <a:t>   brief in Drive.</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Show me the draft. Do not send it until I approve.</a:t>
            </a:r>
          </a:p>
        </p:txBody>
      </p:sp>
      <p:sp>
        <p:nvSpPr>
          <p:cNvPr id="10" name="Rectangle 9"/>
          <p:cNvSpPr/>
          <p:nvPr/>
        </p:nvSpPr>
        <p:spPr>
          <a:xfrm>
            <a:off x="6080760" y="2395728"/>
            <a:ext cx="9144" cy="20345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9149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with your own address. Send lab emails only to yourself.</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Upload the Lab 04 data/Lumo Launch folder to your Google Drive.</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click + → Connectors and switch on Google Drive and Gmail, signing in to Google.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the lab prompt with your own email address in place of &lt;YOUR EMAIL&gt;.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budget table Claude produces.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Claude flagged both lines instead of choosing one.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that lumo-research-brief.docx now sits in the Lumo Launch folder in Drive.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draft email in full, then approve it.</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your inbox and confirm the email arrived with the Drive link working.</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Google Drive and Gmail are connected. Claude read both CSV files from the Lumo Launch folder, showed a budget table totalling S$60,000 on both sides, and flagged Instagram (S$18,000 vs S$20,000) and Influencers (S$12,000 vs S$10,000) without choosing between them. lumo-research-brief.docx is in the Drive folder, and the approved summary email arrived in your own inbox with a working link.</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4 in Class: Reading from Google Drive</a:t>
            </a:r>
          </a:p>
        </p:txBody>
      </p:sp>
      <p:sp>
        <p:nvSpPr>
          <p:cNvPr id="5" name="Rectangle 4"/>
          <p:cNvSpPr/>
          <p:nvPr/>
        </p:nvSpPr>
        <p:spPr>
          <a:xfrm>
            <a:off x="2067973" y="1600200"/>
            <a:ext cx="8025574"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67973" y="1600200"/>
            <a:ext cx="802557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drive-read.png"/>
          <p:cNvPicPr>
            <a:picLocks noChangeAspect="1"/>
          </p:cNvPicPr>
          <p:nvPr/>
        </p:nvPicPr>
        <p:blipFill>
          <a:blip r:embed="rId2"/>
          <a:stretch>
            <a:fillRect/>
          </a:stretch>
        </p:blipFill>
        <p:spPr>
          <a:xfrm>
            <a:off x="2177701" y="1709928"/>
            <a:ext cx="7806118"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Plan first</a:t>
            </a:r>
          </a:p>
          <a:p>
            <a:pPr algn="l">
              <a:spcAft>
                <a:spcPts val="300"/>
              </a:spcAft>
            </a:pPr>
            <a:r>
              <a:rPr sz="1250" b="0">
                <a:solidFill>
                  <a:srgbClr val="6B6862"/>
                </a:solidFill>
                <a:latin typeface="Calibri"/>
              </a:rPr>
              <a:t>Open the Lumo Launch folder, read both CSVs, compare the budget with the brief, then email.</a:t>
            </a:r>
          </a:p>
        </p:txBody>
      </p:sp>
      <p:sp>
        <p:nvSpPr>
          <p:cNvPr id="11" name="Oval 10"/>
          <p:cNvSpPr/>
          <p:nvPr/>
        </p:nvSpPr>
        <p:spPr>
          <a:xfrm>
            <a:off x="43281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tool call</a:t>
            </a:r>
          </a:p>
          <a:p>
            <a:pPr algn="l">
              <a:spcAft>
                <a:spcPts val="300"/>
              </a:spcAft>
            </a:pPr>
            <a:r>
              <a:rPr sz="1250" b="0">
                <a:solidFill>
                  <a:srgbClr val="6B6862"/>
                </a:solidFill>
                <a:latin typeface="Calibri"/>
              </a:rPr>
              <a:t>'Using Google Drive: Read file content' — the connector at work.</a:t>
            </a:r>
          </a:p>
        </p:txBody>
      </p:sp>
      <p:sp>
        <p:nvSpPr>
          <p:cNvPr id="14" name="Oval 13"/>
          <p:cNvSpPr/>
          <p:nvPr/>
        </p:nvSpPr>
        <p:spPr>
          <a:xfrm>
            <a:off x="81076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Watch it</a:t>
            </a:r>
          </a:p>
          <a:p>
            <a:pPr algn="l">
              <a:spcAft>
                <a:spcPts val="300"/>
              </a:spcAft>
            </a:pPr>
            <a:r>
              <a:rPr sz="1250" b="0">
                <a:solidFill>
                  <a:srgbClr val="6B6862"/>
                </a:solidFill>
                <a:latin typeface="Calibri"/>
              </a:rPr>
              <a:t>Each tool call shows its time; click › to see what was read.</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Claude states its plan, then calls the Google Drive connector.</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Following the Progress Panel</a:t>
            </a:r>
          </a:p>
        </p:txBody>
      </p:sp>
      <p:sp>
        <p:nvSpPr>
          <p:cNvPr id="5" name="Rectangle 4"/>
          <p:cNvSpPr/>
          <p:nvPr/>
        </p:nvSpPr>
        <p:spPr>
          <a:xfrm>
            <a:off x="1536083" y="1600200"/>
            <a:ext cx="4928833" cy="4297679"/>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36083" y="1600200"/>
            <a:ext cx="4928833"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progress-panel.png"/>
          <p:cNvPicPr>
            <a:picLocks noChangeAspect="1"/>
          </p:cNvPicPr>
          <p:nvPr/>
        </p:nvPicPr>
        <p:blipFill>
          <a:blip r:embed="rId2"/>
          <a:stretch>
            <a:fillRect/>
          </a:stretch>
        </p:blipFill>
        <p:spPr>
          <a:xfrm>
            <a:off x="1645811" y="1709928"/>
            <a:ext cx="4709377" cy="4078223"/>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Steps</a:t>
            </a:r>
          </a:p>
          <a:p>
            <a:pPr algn="l">
              <a:spcAft>
                <a:spcPts val="300"/>
              </a:spcAft>
            </a:pPr>
            <a:r>
              <a:rPr sz="1250" b="0">
                <a:solidFill>
                  <a:srgbClr val="6B6862"/>
                </a:solidFill>
                <a:latin typeface="Calibri"/>
              </a:rPr>
              <a:t>Find the folder → compare budget and brief → prepare the email.</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Current step</a:t>
            </a:r>
          </a:p>
          <a:p>
            <a:pPr algn="l">
              <a:spcAft>
                <a:spcPts val="300"/>
              </a:spcAft>
            </a:pPr>
            <a:r>
              <a:rPr sz="1250" b="0">
                <a:solidFill>
                  <a:srgbClr val="6B6862"/>
                </a:solidFill>
                <a:latin typeface="Calibri"/>
              </a:rPr>
              <a:t>The orange dot marks the step in progress.</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Used in this session</a:t>
            </a:r>
          </a:p>
          <a:p>
            <a:pPr algn="l">
              <a:spcAft>
                <a:spcPts val="300"/>
              </a:spcAft>
            </a:pPr>
            <a:r>
              <a:rPr sz="1250" b="0">
                <a:solidFill>
                  <a:srgbClr val="6B6862"/>
                </a:solidFill>
                <a:latin typeface="Calibri"/>
              </a:rPr>
              <a:t>The connectors it called: Gmail and Google Drive.</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progress panel ticks off each step and lists what the session used.</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Lab 4 Email</a:t>
            </a:r>
          </a:p>
        </p:txBody>
      </p:sp>
      <p:sp>
        <p:nvSpPr>
          <p:cNvPr id="5" name="Rectangle 4"/>
          <p:cNvSpPr/>
          <p:nvPr/>
        </p:nvSpPr>
        <p:spPr>
          <a:xfrm>
            <a:off x="1415839" y="1600200"/>
            <a:ext cx="5169321"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15839" y="1600200"/>
            <a:ext cx="5169321"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email-draft.png"/>
          <p:cNvPicPr>
            <a:picLocks noChangeAspect="1"/>
          </p:cNvPicPr>
          <p:nvPr/>
        </p:nvPicPr>
        <p:blipFill>
          <a:blip r:embed="rId2"/>
          <a:stretch>
            <a:fillRect/>
          </a:stretch>
        </p:blipFill>
        <p:spPr>
          <a:xfrm>
            <a:off x="1525567" y="1709928"/>
            <a:ext cx="4949865"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From the brief</a:t>
            </a:r>
          </a:p>
          <a:p>
            <a:pPr algn="l">
              <a:spcAft>
                <a:spcPts val="300"/>
              </a:spcAft>
            </a:pPr>
            <a:r>
              <a:rPr sz="1250" b="0">
                <a:solidFill>
                  <a:srgbClr val="6B6862"/>
                </a:solidFill>
                <a:latin typeface="Calibri"/>
              </a:rPr>
              <a:t>Price position, audience and sales goal, quoted from the research brief.</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FLAG</a:t>
            </a:r>
          </a:p>
          <a:p>
            <a:pPr algn="l">
              <a:spcAft>
                <a:spcPts val="300"/>
              </a:spcAft>
            </a:pPr>
            <a:r>
              <a:rPr sz="1250" b="0">
                <a:solidFill>
                  <a:srgbClr val="6B6862"/>
                </a:solidFill>
                <a:latin typeface="Calibri"/>
              </a:rPr>
              <a:t>Conflicting Instagram figures are flagged, not hidden — resolve each FLAG.</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numbers</a:t>
            </a:r>
          </a:p>
          <a:p>
            <a:pPr algn="l">
              <a:spcAft>
                <a:spcPts val="300"/>
              </a:spcAft>
            </a:pPr>
            <a:r>
              <a:rPr sz="1250" b="0">
                <a:solidFill>
                  <a:srgbClr val="6B6862"/>
                </a:solidFill>
                <a:latin typeface="Calibri"/>
              </a:rPr>
              <a:t>8,000 cans is S$28,000–31,200 at retail, below the S$60,000 spend.</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research and budget check, written into Gmail from the Drive files.</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SLIDES AND DOCS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Slides, Docs and Built-in Skills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Claude's own formats for the things a launch meeting needs.</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a:t>
            </a:r>
          </a:p>
          <a:p>
            <a:pPr algn="l">
              <a:spcAft>
                <a:spcPts val="300"/>
              </a:spcAft>
            </a:pPr>
            <a:r>
              <a:rPr sz="1150" b="0">
                <a:solidFill>
                  <a:srgbClr val="6B6862"/>
                </a:solidFill>
                <a:latin typeface="Calibri"/>
              </a:rPr>
              <a:t>A deck Claude builds and you edit in place — download as PowerPoint or PDF for the meeting.</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Docs</a:t>
            </a:r>
          </a:p>
          <a:p>
            <a:pPr algn="l">
              <a:spcAft>
                <a:spcPts val="300"/>
              </a:spcAft>
            </a:pPr>
            <a:r>
              <a:rPr sz="1150" b="0">
                <a:solidFill>
                  <a:srgbClr val="6B6862"/>
                </a:solidFill>
                <a:latin typeface="Calibri"/>
              </a:rPr>
              <a:t>A living document — a campaign brief, a plan — that you and Claude edit and comment on together.</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Dashboards</a:t>
            </a:r>
          </a:p>
          <a:p>
            <a:pPr algn="l">
              <a:spcAft>
                <a:spcPts val="300"/>
              </a:spcAft>
            </a:pPr>
            <a:r>
              <a:rPr sz="1150" b="0">
                <a:solidFill>
                  <a:srgbClr val="6B6862"/>
                </a:solidFill>
                <a:latin typeface="Calibri"/>
              </a:rPr>
              <a:t>A page of live numbers — the Live Artefact you build in Lab 3 is one.</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Built-in skills</a:t>
            </a:r>
          </a:p>
          <a:p>
            <a:pPr algn="l">
              <a:spcAft>
                <a:spcPts val="300"/>
              </a:spcAft>
            </a:pPr>
            <a:r>
              <a:rPr sz="1150" b="0">
                <a:solidFill>
                  <a:srgbClr val="6B6862"/>
                </a:solidFill>
                <a:latin typeface="Calibri"/>
              </a:rPr>
              <a:t>Claude's pptx, docx and xlsx skills load on their own when your request needs a file.</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You never name the skill. Ask for a deck or a document; Claude picks the format and the skill that builds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Produce a launch deck in Slides and a campaign brief in Docs from the project's research</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team meets on Friday and needs two things: a short deck for the room and a campaign brief everyone can work from. You ask the project for both. Claude builds the deck in Slides and the brief in Docs, choosing its built-in skills on its own, using the numbers from your research and dashboard. You check every figure, then download the deck as PowerPoint.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eight-slide launch deck in Slides (downloaded as .pptx) and a campaign brief in Docs.</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Slides, Docs, built-in skills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05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follow the brand guidelines for anything customer-facing.</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kit, for the name, tagline, price and claims.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lumo-research-brief.docx from Lab 2; save the downloaded .pptx here.</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launch deck and campaign brief</a:t>
            </a:r>
          </a:p>
        </p:txBody>
      </p:sp>
      <p:sp>
        <p:nvSpPr>
          <p:cNvPr id="5" name="Rectangle 4"/>
          <p:cNvSpPr/>
          <p:nvPr/>
        </p:nvSpPr>
        <p:spPr>
          <a:xfrm>
            <a:off x="548640" y="1828800"/>
            <a:ext cx="11064240" cy="3459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59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our research brief, the Market Insights dashboard and the</a:t>
            </a:r>
          </a:p>
          <a:p>
            <a:pPr algn="l">
              <a:spcAft>
                <a:spcPts val="200"/>
              </a:spcAft>
            </a:pPr>
            <a:r>
              <a:rPr sz="1250" b="0">
                <a:solidFill>
                  <a:srgbClr val="21201C"/>
                </a:solidFill>
                <a:latin typeface="Calibri"/>
              </a:rPr>
              <a:t>brand kit, create two things for Friday's launch meeting.</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A launch deck in Slides, eight slides:</a:t>
            </a:r>
          </a:p>
          <a:p>
            <a:pPr algn="l">
              <a:spcAft>
                <a:spcPts val="200"/>
              </a:spcAft>
            </a:pPr>
            <a:r>
              <a:rPr sz="1250" b="0">
                <a:solidFill>
                  <a:srgbClr val="21201C"/>
                </a:solidFill>
                <a:latin typeface="Calibri"/>
              </a:rPr>
              <a:t>   1 Title - Lumo Cold Kopi: Kopi, Chilled Right</a:t>
            </a:r>
          </a:p>
          <a:p>
            <a:pPr algn="l">
              <a:spcAft>
                <a:spcPts val="200"/>
              </a:spcAft>
            </a:pPr>
            <a:r>
              <a:rPr sz="1250" b="0">
                <a:solidFill>
                  <a:srgbClr val="21201C"/>
                </a:solidFill>
                <a:latin typeface="Calibri"/>
              </a:rPr>
              <a:t>   2 The opportunity - the three survey numbers that matter most</a:t>
            </a:r>
          </a:p>
          <a:p>
            <a:pPr algn="l">
              <a:spcAft>
                <a:spcPts val="200"/>
              </a:spcAft>
            </a:pPr>
            <a:r>
              <a:rPr sz="1250" b="0">
                <a:solidFill>
                  <a:srgbClr val="21201C"/>
                </a:solidFill>
                <a:latin typeface="Calibri"/>
              </a:rPr>
              <a:t>   3 Who we are for - 25-34s in Singapore, with the evidence</a:t>
            </a:r>
          </a:p>
          <a:p>
            <a:pPr algn="l">
              <a:spcAft>
                <a:spcPts val="200"/>
              </a:spcAft>
            </a:pPr>
            <a:r>
              <a:rPr sz="1250" b="0">
                <a:solidFill>
                  <a:srgbClr val="21201C"/>
                </a:solidFill>
                <a:latin typeface="Calibri"/>
              </a:rPr>
              <a:t>   4 Competitors - a price ladder chart with Lumo highlighted</a:t>
            </a:r>
          </a:p>
          <a:p>
            <a:pPr algn="l">
              <a:spcAft>
                <a:spcPts val="200"/>
              </a:spcAft>
            </a:pPr>
            <a:r>
              <a:rPr sz="1250" b="0">
                <a:solidFill>
                  <a:srgbClr val="21201C"/>
                </a:solidFill>
                <a:latin typeface="Calibri"/>
              </a:rPr>
              <a:t>   5 Where they find us - a discovery channel chart</a:t>
            </a:r>
          </a:p>
          <a:p>
            <a:pPr algn="l">
              <a:spcAft>
                <a:spcPts val="200"/>
              </a:spcAft>
            </a:pPr>
            <a:r>
              <a:rPr sz="1250" b="0">
                <a:solidFill>
                  <a:srgbClr val="21201C"/>
                </a:solidFill>
                <a:latin typeface="Calibri"/>
              </a:rPr>
              <a:t>   6 The campaign - message, channels and dates</a:t>
            </a:r>
          </a:p>
          <a:p>
            <a:pPr algn="l">
              <a:spcAft>
                <a:spcPts val="200"/>
              </a:spcAft>
            </a:pPr>
            <a:r>
              <a:rPr sz="1250" b="0">
                <a:solidFill>
                  <a:srgbClr val="21201C"/>
                </a:solidFill>
                <a:latin typeface="Calibri"/>
              </a:rPr>
              <a:t>   7 Budget - the S$60,000 split, noting the two open questions</a:t>
            </a:r>
          </a:p>
          <a:p>
            <a:pPr algn="l">
              <a:spcAft>
                <a:spcPts val="200"/>
              </a:spcAft>
            </a:pPr>
            <a:r>
              <a:rPr sz="1250" b="0">
                <a:solidFill>
                  <a:srgbClr val="21201C"/>
                </a:solidFill>
                <a:latin typeface="Calibri"/>
              </a:rPr>
              <a:t>   8 Next steps and owners</a:t>
            </a:r>
          </a:p>
        </p:txBody>
      </p:sp>
      <p:sp>
        <p:nvSpPr>
          <p:cNvPr id="9" name="TextBox 8"/>
          <p:cNvSpPr txBox="1"/>
          <p:nvPr/>
        </p:nvSpPr>
        <p:spPr>
          <a:xfrm>
            <a:off x="628650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Use the Lumo brand colours. Real charts, not pictures of charts.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2. A campaign brief in Docs: objective, audience, key message,</a:t>
            </a:r>
          </a:p>
          <a:p>
            <a:pPr algn="l">
              <a:spcAft>
                <a:spcPts val="200"/>
              </a:spcAft>
            </a:pPr>
            <a:r>
              <a:rPr sz="1250" b="0">
                <a:solidFill>
                  <a:srgbClr val="21201C"/>
                </a:solidFill>
                <a:latin typeface="Calibri"/>
              </a:rPr>
              <a:t>   proof points, channels, budget, timeline, KPIs, and a "claims</a:t>
            </a:r>
          </a:p>
          <a:p>
            <a:pPr algn="l">
              <a:spcAft>
                <a:spcPts val="200"/>
              </a:spcAft>
            </a:pPr>
            <a:r>
              <a:rPr sz="1250" b="0">
                <a:solidFill>
                  <a:srgbClr val="21201C"/>
                </a:solidFill>
                <a:latin typeface="Calibri"/>
              </a:rPr>
              <a:t>   we must not make" section.</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Every number must come from the research brief or the dashboard.</a:t>
            </a:r>
          </a:p>
          <a:p>
            <a:pPr algn="l">
              <a:spcAft>
                <a:spcPts val="200"/>
              </a:spcAft>
            </a:pPr>
            <a:r>
              <a:rPr sz="1250" b="0">
                <a:solidFill>
                  <a:srgbClr val="21201C"/>
                </a:solidFill>
                <a:latin typeface="Calibri"/>
              </a:rPr>
              <a:t>List the source of each number at the end of the brief.</a:t>
            </a:r>
          </a:p>
        </p:txBody>
      </p:sp>
      <p:sp>
        <p:nvSpPr>
          <p:cNvPr id="10" name="Rectangle 9"/>
          <p:cNvSpPr/>
          <p:nvPr/>
        </p:nvSpPr>
        <p:spPr>
          <a:xfrm>
            <a:off x="6080760" y="2395728"/>
            <a:ext cx="9144" cy="26822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626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You do not name a skill. Ask for a deck and a document; Claude picks the format and the built-in skill.</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deck when it appears and page through all eight slides.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2 and slide 4 against your research.</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7.</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campaign brief in Docs and read the "claims we must not make" section.</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to each, for example: Shorten slide 6 to three bullets.</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deck as PowerPoint and open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deck has eight slides in the Lumo colours, with real charts for the price ladder and the discovery channels, the survey figures 62%, 74% and 34%, and a budget slide that shows S$60,000 with the Instagram and Influencers lines marked as open questions. The campaign brief in Docs has all nine sections, including "claims we must not make", and lists a source for every number. The deck opens in PowerPoint with its charts intact.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Are Documented on Three Layers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layer reaches Claude at a different moment — which is why the description matters most.</a:t>
            </a:r>
          </a:p>
        </p:txBody>
      </p:sp>
      <p:sp>
        <p:nvSpPr>
          <p:cNvPr id="6" name="TextBox 5"/>
          <p:cNvSpPr txBox="1"/>
          <p:nvPr/>
        </p:nvSpPr>
        <p:spPr>
          <a:xfrm>
            <a:off x="548640" y="2286000"/>
            <a:ext cx="603504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Layers</a:t>
            </a:r>
          </a:p>
        </p:txBody>
      </p:sp>
      <p:sp>
        <p:nvSpPr>
          <p:cNvPr id="7" name="TextBox 6"/>
          <p:cNvSpPr txBox="1"/>
          <p:nvPr/>
        </p:nvSpPr>
        <p:spPr>
          <a:xfrm>
            <a:off x="7315200" y="2286000"/>
            <a:ext cx="429768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When Claude sees them</a:t>
            </a:r>
          </a:p>
        </p:txBody>
      </p:sp>
      <p:sp>
        <p:nvSpPr>
          <p:cNvPr id="8" name="Rectangle 7"/>
          <p:cNvSpPr/>
          <p:nvPr/>
        </p:nvSpPr>
        <p:spPr>
          <a:xfrm>
            <a:off x="1188720" y="2670048"/>
            <a:ext cx="539496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816352"/>
            <a:ext cx="484632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Metadata</a:t>
            </a:r>
          </a:p>
        </p:txBody>
      </p:sp>
      <p:sp>
        <p:nvSpPr>
          <p:cNvPr id="10" name="TextBox 9"/>
          <p:cNvSpPr txBox="1"/>
          <p:nvPr/>
        </p:nvSpPr>
        <p:spPr>
          <a:xfrm>
            <a:off x="1463040" y="3182112"/>
            <a:ext cx="484632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Skill name and description.</a:t>
            </a:r>
          </a:p>
        </p:txBody>
      </p:sp>
      <p:sp>
        <p:nvSpPr>
          <p:cNvPr id="11" name="Rectangle 10"/>
          <p:cNvSpPr/>
          <p:nvPr/>
        </p:nvSpPr>
        <p:spPr>
          <a:xfrm>
            <a:off x="644652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4536"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2552"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58584"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98704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Always in context — this is all Claude sees until the skill is triggered.</a:t>
            </a:r>
          </a:p>
        </p:txBody>
      </p:sp>
      <p:sp>
        <p:nvSpPr>
          <p:cNvPr id="18" name="Rectangle 17"/>
          <p:cNvSpPr/>
          <p:nvPr/>
        </p:nvSpPr>
        <p:spPr>
          <a:xfrm>
            <a:off x="868680" y="3797808"/>
            <a:ext cx="571500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944112"/>
            <a:ext cx="516636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Instructions</a:t>
            </a:r>
          </a:p>
        </p:txBody>
      </p:sp>
      <p:sp>
        <p:nvSpPr>
          <p:cNvPr id="20" name="TextBox 19"/>
          <p:cNvSpPr txBox="1"/>
          <p:nvPr/>
        </p:nvSpPr>
        <p:spPr>
          <a:xfrm>
            <a:off x="1143000" y="4309872"/>
            <a:ext cx="516636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The step-by-step workflow, written in a SKILL.md.</a:t>
            </a:r>
          </a:p>
        </p:txBody>
      </p:sp>
      <p:sp>
        <p:nvSpPr>
          <p:cNvPr id="21" name="Rectangle 20"/>
          <p:cNvSpPr/>
          <p:nvPr/>
        </p:nvSpPr>
        <p:spPr>
          <a:xfrm>
            <a:off x="644652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4536"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02552"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0568"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58584"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8660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11480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when the skill is triggered.</a:t>
            </a:r>
          </a:p>
        </p:txBody>
      </p:sp>
      <p:sp>
        <p:nvSpPr>
          <p:cNvPr id="28" name="Rectangle 27"/>
          <p:cNvSpPr/>
          <p:nvPr/>
        </p:nvSpPr>
        <p:spPr>
          <a:xfrm>
            <a:off x="548640" y="4925568"/>
            <a:ext cx="603504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1872"/>
            <a:ext cx="548640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Resources</a:t>
            </a:r>
          </a:p>
        </p:txBody>
      </p:sp>
      <p:sp>
        <p:nvSpPr>
          <p:cNvPr id="30" name="TextBox 29"/>
          <p:cNvSpPr txBox="1"/>
          <p:nvPr/>
        </p:nvSpPr>
        <p:spPr>
          <a:xfrm>
            <a:off x="822960" y="5437632"/>
            <a:ext cx="548640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Supporting documents, templates and examples.</a:t>
            </a:r>
          </a:p>
        </p:txBody>
      </p:sp>
      <p:sp>
        <p:nvSpPr>
          <p:cNvPr id="31" name="Rectangle 30"/>
          <p:cNvSpPr/>
          <p:nvPr/>
        </p:nvSpPr>
        <p:spPr>
          <a:xfrm>
            <a:off x="644652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74536"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30568"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58584"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524256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only when the skill needs them.</a:t>
            </a:r>
          </a:p>
        </p:txBody>
      </p:sp>
      <p:sp>
        <p:nvSpPr>
          <p:cNvPr id="38" name="TextBox 3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9" name="TextBox 3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0" name="TextBox 3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Claude loads on demand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name</a:t>
            </a:r>
          </a:p>
          <a:p>
            <a:pPr algn="l">
              <a:spcAft>
                <a:spcPts val="300"/>
              </a:spcAft>
            </a:pPr>
            <a:r>
              <a:rPr sz="1150" b="0">
                <a:solidFill>
                  <a:srgbClr val="6B6862"/>
                </a:solidFill>
                <a:latin typeface="Calibri"/>
              </a:rPr>
              <a:t>A short identifier such as lumo-brand-voice.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description</a:t>
            </a:r>
          </a:p>
          <a:p>
            <a:pPr algn="l">
              <a:spcAft>
                <a:spcPts val="300"/>
              </a:spcAft>
            </a:pPr>
            <a:r>
              <a:rPr sz="1150" b="0">
                <a:solidFill>
                  <a:srgbClr val="6B6862"/>
                </a:solidFill>
                <a:latin typeface="Calibri"/>
              </a:rPr>
              <a:t>What the skill does and WHEN to use it. Always in context, so this is what Claude matches against your request.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(SKILL.md)</a:t>
            </a:r>
          </a:p>
          <a:p>
            <a:pPr algn="l">
              <a:spcAft>
                <a:spcPts val="300"/>
              </a:spcAft>
            </a:pPr>
            <a:r>
              <a:rPr sz="1150" b="0">
                <a:solidFill>
                  <a:srgbClr val="6B6862"/>
                </a:solidFill>
                <a:latin typeface="Calibri"/>
              </a:rPr>
              <a:t>The routine itself: tone rules, words to avoid, hashtag rules, the checks to run.</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Resources</a:t>
            </a:r>
          </a:p>
          <a:p>
            <a:pPr algn="l">
              <a:spcAft>
                <a:spcPts val="300"/>
              </a:spcAft>
            </a:pPr>
            <a:r>
              <a:rPr sz="1150" b="0">
                <a:solidFill>
                  <a:srgbClr val="6B6862"/>
                </a:solidFill>
                <a:latin typeface="Calibri"/>
              </a:rPr>
              <a:t>Optional examples of on-brand and off-brand posts the instructions call on.</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Your Own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Do not write a skill from a blank page — do the work first, then capture it.</a:t>
            </a:r>
          </a:p>
        </p:txBody>
      </p:sp>
      <p:sp>
        <p:nvSpPr>
          <p:cNvPr id="6" name="Rectangle 5"/>
          <p:cNvSpPr/>
          <p:nvPr/>
        </p:nvSpPr>
        <p:spPr>
          <a:xfrm>
            <a:off x="54864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a:t>
            </a:r>
          </a:p>
        </p:txBody>
      </p:sp>
      <p:sp>
        <p:nvSpPr>
          <p:cNvPr id="11" name="TextBox 10"/>
          <p:cNvSpPr txBox="1"/>
          <p:nvPr/>
        </p:nvSpPr>
        <p:spPr>
          <a:xfrm>
            <a:off x="68580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Do the task together with Claude once, step by step.</a:t>
            </a:r>
          </a:p>
        </p:txBody>
      </p:sp>
      <p:sp>
        <p:nvSpPr>
          <p:cNvPr id="12" name="TextBox 11"/>
          <p:cNvSpPr txBox="1"/>
          <p:nvPr/>
        </p:nvSpPr>
        <p:spPr>
          <a:xfrm>
            <a:off x="31089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338328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352044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Verify</a:t>
            </a:r>
          </a:p>
        </p:txBody>
      </p:sp>
      <p:sp>
        <p:nvSpPr>
          <p:cNvPr id="18" name="TextBox 17"/>
          <p:cNvSpPr txBox="1"/>
          <p:nvPr/>
        </p:nvSpPr>
        <p:spPr>
          <a:xfrm>
            <a:off x="352044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Review and refine until the output is right.</a:t>
            </a:r>
          </a:p>
        </p:txBody>
      </p:sp>
      <p:sp>
        <p:nvSpPr>
          <p:cNvPr id="19" name="TextBox 18"/>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621792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80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635508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25" name="TextBox 24"/>
          <p:cNvSpPr txBox="1"/>
          <p:nvPr/>
        </p:nvSpPr>
        <p:spPr>
          <a:xfrm>
            <a:off x="635508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Turn it into a skill using the /skill-creator skill.</a:t>
            </a:r>
          </a:p>
        </p:txBody>
      </p:sp>
      <p:sp>
        <p:nvSpPr>
          <p:cNvPr id="26" name="TextBox 25"/>
          <p:cNvSpPr txBox="1"/>
          <p:nvPr/>
        </p:nvSpPr>
        <p:spPr>
          <a:xfrm>
            <a:off x="87782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905256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918972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Update</a:t>
            </a:r>
          </a:p>
        </p:txBody>
      </p:sp>
      <p:sp>
        <p:nvSpPr>
          <p:cNvPr id="32" name="TextBox 31"/>
          <p:cNvSpPr txBox="1"/>
          <p:nvPr/>
        </p:nvSpPr>
        <p:spPr>
          <a:xfrm>
            <a:off x="918972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Refine it later and save over it — Claude confirms before replacing.</a:t>
            </a:r>
          </a:p>
        </p:txBody>
      </p:sp>
      <p:sp>
        <p:nvSpPr>
          <p:cNvPr id="33" name="TextBox 32"/>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/skill-creator writes the SKILL.md for you, from the run you just verified.</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Pasting the brand guide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voice again in every chat.</a:t>
            </a:r>
          </a:p>
          <a:p>
            <a:pPr algn="l">
              <a:spcAft>
                <a:spcPts val="900"/>
              </a:spcAft>
            </a:pPr>
            <a:r>
              <a:rPr sz="1250" b="0">
                <a:solidFill>
                  <a:srgbClr val="21201C"/>
                </a:solidFill>
                <a:latin typeface="Calibri"/>
              </a:rPr>
              <a:t>•  Easy to forget a rule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Four channels drift into four voices.</a:t>
            </a:r>
          </a:p>
          <a:p>
            <a:pPr algn="l">
              <a:spcAft>
                <a:spcPts val="900"/>
              </a:spcAft>
            </a:pPr>
            <a:r>
              <a:rPr sz="1250" b="0">
                <a:solidFill>
                  <a:srgbClr val="21201C"/>
                </a:solidFill>
                <a:latin typeface="Calibri"/>
              </a:rPr>
              <a:t>•  Nothing to hand to a new joiner or agency.</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brand-voice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loaded by name.</a:t>
            </a:r>
          </a:p>
          <a:p>
            <a:pPr algn="l">
              <a:spcAft>
                <a:spcPts val="900"/>
              </a:spcAft>
            </a:pPr>
            <a:r>
              <a:rPr sz="1250" b="0">
                <a:solidFill>
                  <a:srgbClr val="21201C"/>
                </a:solidFill>
                <a:latin typeface="Calibri"/>
              </a:rPr>
              <a:t>•  Claude applies every rule, every time.</a:t>
            </a:r>
          </a:p>
          <a:p>
            <a:pPr algn="l">
              <a:spcAft>
                <a:spcPts val="900"/>
              </a:spcAft>
            </a:pPr>
            <a:r>
              <a:rPr sz="1250" b="0">
                <a:solidFill>
                  <a:srgbClr val="21201C"/>
                </a:solidFill>
                <a:latin typeface="Calibri"/>
              </a:rPr>
              <a:t>•  Every task in the project shares it.</a:t>
            </a:r>
          </a:p>
          <a:p>
            <a:pPr algn="l">
              <a:spcAft>
                <a:spcPts val="900"/>
              </a:spcAft>
            </a:pPr>
            <a:r>
              <a:rPr sz="1250" b="0">
                <a:solidFill>
                  <a:srgbClr val="21201C"/>
                </a:solidFill>
                <a:latin typeface="Calibri"/>
              </a:rPr>
              <a:t>•  Instagram and LinkedIn still sound like one brand.</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use — Drive, Gmail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returns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checks built in</a:t>
            </a:r>
          </a:p>
          <a:p>
            <a:pPr algn="l">
              <a:spcAft>
                <a:spcPts val="300"/>
              </a:spcAft>
            </a:pPr>
            <a:r>
              <a:rPr sz="1150" b="0">
                <a:solidFill>
                  <a:srgbClr val="6B6862"/>
                </a:solidFill>
                <a:latin typeface="Calibri"/>
              </a:rPr>
              <a:t>It checks claims, prices and hashtags before it hands the post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publishing anything still needs you.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Install a Published Skill</a:t>
            </a:r>
          </a:p>
        </p:txBody>
      </p:sp>
      <p:sp>
        <p:nvSpPr>
          <p:cNvPr id="5" name="Rectangle 4"/>
          <p:cNvSpPr/>
          <p:nvPr/>
        </p:nvSpPr>
        <p:spPr>
          <a:xfrm>
            <a:off x="2581969" y="1600200"/>
            <a:ext cx="6997582"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81969" y="1600200"/>
            <a:ext cx="6997582"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install-skill.png"/>
          <p:cNvPicPr>
            <a:picLocks noChangeAspect="1"/>
          </p:cNvPicPr>
          <p:nvPr/>
        </p:nvPicPr>
        <p:blipFill>
          <a:blip r:embed="rId2"/>
          <a:stretch>
            <a:fillRect/>
          </a:stretch>
        </p:blipFill>
        <p:spPr>
          <a:xfrm>
            <a:off x="2691697" y="1709928"/>
            <a:ext cx="6778126"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request</a:t>
            </a:r>
          </a:p>
          <a:p>
            <a:pPr algn="l">
              <a:spcAft>
                <a:spcPts val="300"/>
              </a:spcAft>
            </a:pPr>
            <a:r>
              <a:rPr sz="1250" b="0">
                <a:solidFill>
                  <a:srgbClr val="6B6862"/>
                </a:solidFill>
                <a:latin typeface="Calibri"/>
              </a:rPr>
              <a:t>'Install this skill in the project level', then the npx skills add command.</a:t>
            </a:r>
          </a:p>
        </p:txBody>
      </p:sp>
      <p:sp>
        <p:nvSpPr>
          <p:cNvPr id="11" name="Oval 10"/>
          <p:cNvSpPr/>
          <p:nvPr/>
        </p:nvSpPr>
        <p:spPr>
          <a:xfrm>
            <a:off x="43281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Project level</a:t>
            </a:r>
          </a:p>
          <a:p>
            <a:pPr algn="l">
              <a:spcAft>
                <a:spcPts val="300"/>
              </a:spcAft>
            </a:pPr>
            <a:r>
              <a:rPr sz="1250" b="0">
                <a:solidFill>
                  <a:srgbClr val="6B6862"/>
                </a:solidFill>
                <a:latin typeface="Calibri"/>
              </a:rPr>
              <a:t>The skill is available in this project, beside the brand-voice skill you write in Lab 6.</a:t>
            </a:r>
          </a:p>
        </p:txBody>
      </p:sp>
      <p:sp>
        <p:nvSpPr>
          <p:cNvPr id="14" name="Oval 13"/>
          <p:cNvSpPr/>
          <p:nvPr/>
        </p:nvSpPr>
        <p:spPr>
          <a:xfrm>
            <a:off x="81076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Check the source</a:t>
            </a:r>
          </a:p>
          <a:p>
            <a:pPr algn="l">
              <a:spcAft>
                <a:spcPts val="300"/>
              </a:spcAft>
            </a:pPr>
            <a:r>
              <a:rPr sz="1250" b="0">
                <a:solidFill>
                  <a:srgbClr val="6B6862"/>
                </a:solidFill>
                <a:latin typeface="Calibri"/>
              </a:rPr>
              <a:t>Read a third-party skill's SKILL.md first — it runs with your access.</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Ask Claude to install a skill from GitHub into the project.</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Rewrite content in the brand voice, verify it, and save the routine as a skill with /skill-creator</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Four channels and two weeks of posts are coming, and they all have to sound like Lumo. You rewrite five off-brand captions with Claude until they are right, then use /skill-creator to turn that verified routine into a lumo-brand-voice skill. From then on, every task in the project — and every colleague — loads the same voice by name.</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lumo-brand-voice Agent Skill, tested on a new caption.</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Agent Skills, /skill-creator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06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the never-say-healthy rule becomes a check inside the skill.</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lumo-brand-guidelines.md is the source the skill is written from.</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attach lumo-sample-captions.txt; the skill saves to Customize → Skills.</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400" b="0">
                <a:solidFill>
                  <a:srgbClr val="21201C"/>
                </a:solidFill>
                <a:latin typeface="Calibri"/>
              </a:rPr>
              <a:t>Rewrite the five captions in the attached file in the Lumo</a:t>
            </a:r>
          </a:p>
          <a:p>
            <a:pPr algn="l">
              <a:spcAft>
                <a:spcPts val="200"/>
              </a:spcAft>
            </a:pPr>
            <a:r>
              <a:rPr sz="1400" b="0">
                <a:solidFill>
                  <a:srgbClr val="21201C"/>
                </a:solidFill>
                <a:latin typeface="Calibri"/>
              </a:rPr>
              <a:t>brand voice, following lumo-brand-guidelines.md.</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For each caption, show:</a:t>
            </a:r>
          </a:p>
          <a:p>
            <a:pPr algn="l">
              <a:spcAft>
                <a:spcPts val="200"/>
              </a:spcAft>
            </a:pPr>
            <a:r>
              <a:rPr sz="1400" b="0">
                <a:solidFill>
                  <a:srgbClr val="21201C"/>
                </a:solidFill>
                <a:latin typeface="Calibri"/>
              </a:rPr>
              <a:t>- the original</a:t>
            </a:r>
          </a:p>
          <a:p>
            <a:pPr algn="l">
              <a:spcAft>
                <a:spcPts val="200"/>
              </a:spcAft>
            </a:pPr>
            <a:r>
              <a:rPr sz="1400" b="0">
                <a:solidFill>
                  <a:srgbClr val="21201C"/>
                </a:solidFill>
                <a:latin typeface="Calibri"/>
              </a:rPr>
              <a:t>- your rewrite</a:t>
            </a:r>
          </a:p>
          <a:p>
            <a:pPr algn="l">
              <a:spcAft>
                <a:spcPts val="200"/>
              </a:spcAft>
            </a:pPr>
            <a:r>
              <a:rPr sz="1400" b="0">
                <a:solidFill>
                  <a:srgbClr val="21201C"/>
                </a:solidFill>
                <a:latin typeface="Calibri"/>
              </a:rPr>
              <a:t>- every rule you applied, by name</a:t>
            </a:r>
          </a:p>
          <a:p>
            <a:pPr algn="l">
              <a:spcAft>
                <a:spcPts val="200"/>
              </a:spcAft>
            </a:pPr>
            <a:r>
              <a:rPr sz="1400" b="0">
                <a:solidFill>
                  <a:srgbClr val="21201C"/>
                </a:solidFill>
                <a:latin typeface="Calibri"/>
              </a:rPr>
              <a:t>- any claim you removed, and why</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Then run these checks on each rewrite and show the result:</a:t>
            </a:r>
          </a:p>
          <a:p>
            <a:pPr algn="l">
              <a:spcAft>
                <a:spcPts val="200"/>
              </a:spcAft>
            </a:pPr>
            <a:r>
              <a:rPr sz="1400" b="0">
                <a:solidFill>
                  <a:srgbClr val="21201C"/>
                </a:solidFill>
                <a:latin typeface="Calibri"/>
              </a:rPr>
              <a:t>price written as S$3.90; no "healthy" or medical claims; at</a:t>
            </a:r>
          </a:p>
          <a:p>
            <a:pPr algn="l">
              <a:spcAft>
                <a:spcPts val="200"/>
              </a:spcAft>
            </a:pPr>
            <a:r>
              <a:rPr sz="1400" b="0">
                <a:solidFill>
                  <a:srgbClr val="21201C"/>
                </a:solidFill>
                <a:latin typeface="Calibri"/>
              </a:rPr>
              <a:t>most one Singlish word; #LumoKopi present; no more than five</a:t>
            </a:r>
          </a:p>
          <a:p>
            <a:pPr algn="l">
              <a:spcAft>
                <a:spcPts val="200"/>
              </a:spcAft>
            </a:pPr>
            <a:r>
              <a:rPr sz="1400" b="0">
                <a:solidFill>
                  <a:srgbClr val="21201C"/>
                </a:solidFill>
                <a:latin typeface="Calibri"/>
              </a:rPr>
              <a:t>hashtags; ends with one clear call to action.</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Stop here. Refine the rewrites until they are right before you save anything.</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340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0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2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Create a skill called lumo-brand-voice from what we just did.</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Description: Use when writing or reviewing any customer-facing</a:t>
            </a:r>
          </a:p>
          <a:p>
            <a:pPr algn="l">
              <a:spcAft>
                <a:spcPts val="200"/>
              </a:spcAft>
            </a:pPr>
            <a:r>
              <a:rPr sz="1500" b="0">
                <a:solidFill>
                  <a:srgbClr val="21201C"/>
                </a:solidFill>
                <a:latin typeface="Calibri"/>
              </a:rPr>
              <a:t>Lumo Kopi content - social posts, captions, emails, video</a:t>
            </a:r>
          </a:p>
          <a:p>
            <a:pPr algn="l">
              <a:spcAft>
                <a:spcPts val="200"/>
              </a:spcAft>
            </a:pPr>
            <a:r>
              <a:rPr sz="1500" b="0">
                <a:solidFill>
                  <a:srgbClr val="21201C"/>
                </a:solidFill>
                <a:latin typeface="Calibri"/>
              </a:rPr>
              <a:t>scripts or ads.</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It should rewrite or draft content in the Lumo voice, apply the</a:t>
            </a:r>
          </a:p>
          <a:p>
            <a:pPr algn="l">
              <a:spcAft>
                <a:spcPts val="200"/>
              </a:spcAft>
            </a:pPr>
            <a:r>
              <a:rPr sz="1500" b="0">
                <a:solidFill>
                  <a:srgbClr val="21201C"/>
                </a:solidFill>
                <a:latin typeface="Calibri"/>
              </a:rPr>
              <a:t>brand rules, remove claims we cannot prove, and finish with the</a:t>
            </a:r>
          </a:p>
          <a:p>
            <a:pPr algn="l">
              <a:spcAft>
                <a:spcPts val="200"/>
              </a:spcAft>
            </a:pPr>
            <a:r>
              <a:rPr sz="1500" b="0">
                <a:solidFill>
                  <a:srgbClr val="21201C"/>
                </a:solidFill>
                <a:latin typeface="Calibri"/>
              </a:rPr>
              <a:t>same checklist of checks we used. Include two of today's</a:t>
            </a:r>
          </a:p>
          <a:p>
            <a:pPr algn="l">
              <a:spcAft>
                <a:spcPts val="200"/>
              </a:spcAft>
            </a:pPr>
            <a:r>
              <a:rPr sz="1500" b="0">
                <a:solidFill>
                  <a:srgbClr val="21201C"/>
                </a:solidFill>
                <a:latin typeface="Calibri"/>
              </a:rPr>
              <a:t>before-and-after examples as a resource.</a:t>
            </a:r>
          </a:p>
        </p:txBody>
      </p:sp>
      <p:sp>
        <p:nvSpPr>
          <p:cNvPr id="9" name="TextBox 8"/>
          <p:cNvSpPr txBox="1"/>
          <p:nvPr/>
        </p:nvSpPr>
        <p:spPr>
          <a:xfrm>
            <a:off x="548640" y="551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Type /skill-creator first, then paste the block.</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TEST</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Use lumo-brand-voice to write an Instagram caption announcing</a:t>
            </a:r>
          </a:p>
          <a:p>
            <a:pPr algn="l">
              <a:spcAft>
                <a:spcPts val="200"/>
              </a:spcAft>
            </a:pPr>
            <a:r>
              <a:rPr sz="1500" b="0">
                <a:solidFill>
                  <a:srgbClr val="21201C"/>
                </a:solidFill>
                <a:latin typeface="Calibri"/>
              </a:rPr>
              <a:t>that Lumo Cold Kopi 12-packs are available on Shopee from</a:t>
            </a:r>
          </a:p>
          <a:p>
            <a:pPr algn="l">
              <a:spcAft>
                <a:spcPts val="200"/>
              </a:spcAft>
            </a:pPr>
            <a:r>
              <a:rPr sz="1500" b="0">
                <a:solidFill>
                  <a:srgbClr val="21201C"/>
                </a:solidFill>
                <a:latin typeface="Calibri"/>
              </a:rPr>
              <a:t>1 December. It's super healthy and the best kopi in Singapore!</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Both claims in this prompt are traps — the skill must remove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lumo-sample-captions.txt and read the five captions.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file and send Block 1.</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each rewrite against the brand guidelines and refine until all five are right.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Type /skill-creator in the composer, then paste Block 2 and send.</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skill Claude proposes, especially its description, and approve it.</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Skills and find lumo-brand-voice.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task and send Block 3.</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caption: no "healthy", no "best kopi in Singapore", S$ prices, #LumoKopi present.</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lumo-brand-voice appears under Customize → Skills with a description that says when to use it. In a fresh task, Block 3 loaded the skill without being asked to find it, and the caption it returned drops "healthy" and "best kopi in Singapore", includes #LumoKopi, uses at most five hashtags and ends with one call to action, followed by the checklist results.</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vs. Plugins</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Plugin</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shareable setup for Claude</a:t>
            </a:r>
          </a:p>
        </p:txBody>
      </p:sp>
      <p:sp>
        <p:nvSpPr>
          <p:cNvPr id="9" name="Rectangle 8"/>
          <p:cNvSpPr/>
          <p:nvPr/>
        </p:nvSpPr>
        <p:spPr>
          <a:xfrm>
            <a:off x="14173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#2</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#3</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Tools</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What Claude</a:t>
            </a:r>
          </a:p>
          <a:p>
            <a:pPr algn="ctr">
              <a:spcAft>
                <a:spcPts val="200"/>
              </a:spcAft>
            </a:pPr>
            <a:r>
              <a:rPr sz="1200" b="0">
                <a:solidFill>
                  <a:srgbClr val="21201C"/>
                </a:solidFill>
                <a:latin typeface="Courier New"/>
              </a:rPr>
              <a:t>can access</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Agents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Specialist</a:t>
            </a:r>
          </a:p>
          <a:p>
            <a:pPr algn="ctr">
              <a:spcAft>
                <a:spcPts val="200"/>
              </a:spcAft>
            </a:pPr>
            <a:r>
              <a:rPr sz="1200" b="0">
                <a:solidFill>
                  <a:srgbClr val="21201C"/>
                </a:solidFill>
                <a:latin typeface="Courier New"/>
              </a:rPr>
              <a:t>helpers</a:t>
            </a:r>
          </a:p>
        </p:txBody>
      </p:sp>
      <p:sp>
        <p:nvSpPr>
          <p:cNvPr id="29" name="Rectangle 28"/>
          <p:cNvSpPr/>
          <p:nvPr/>
        </p:nvSpPr>
        <p:spPr>
          <a:xfrm>
            <a:off x="7818120" y="4398264"/>
            <a:ext cx="2926080" cy="996696"/>
          </a:xfrm>
          <a:prstGeom prst="rect">
            <a:avLst/>
          </a:prstGeom>
          <a:solidFill>
            <a:srgbClr val="F5C8B8"/>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Hooks</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Automated</a:t>
            </a:r>
          </a:p>
          <a:p>
            <a:pPr algn="ctr">
              <a:spcAft>
                <a:spcPts val="200"/>
              </a:spcAft>
            </a:pPr>
            <a:r>
              <a:rPr sz="1200" b="0">
                <a:solidFill>
                  <a:srgbClr val="21201C"/>
                </a:solidFill>
                <a:latin typeface="Courier New"/>
              </a:rPr>
              <a:t>actions</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skill is one routine. A plugin is the whole setup — install the Marketing plugin and you get every skill, command and tool it contains.</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Mods: Changing Claude Itself</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What a mod is</a:t>
            </a:r>
          </a:p>
          <a:p>
            <a:pPr algn="l">
              <a:spcAft>
                <a:spcPts val="300"/>
              </a:spcAft>
            </a:pPr>
            <a:r>
              <a:rPr sz="1150" b="0">
                <a:solidFill>
                  <a:srgbClr val="6B6862"/>
                </a:solidFill>
                <a:latin typeface="Calibri"/>
              </a:rPr>
              <a:t>A change to Claude's own interface or behaviour, rather than to the work it does.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panel or pane</a:t>
            </a:r>
          </a:p>
          <a:p>
            <a:pPr algn="l">
              <a:spcAft>
                <a:spcPts val="300"/>
              </a:spcAft>
            </a:pPr>
            <a:r>
              <a:rPr sz="1150" b="0">
                <a:solidFill>
                  <a:srgbClr val="6B6862"/>
                </a:solidFill>
                <a:latin typeface="Calibri"/>
              </a:rPr>
              <a:t>Something that stays beside the chat and updates — a running checklist, a campaign tracker.</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status line or toast</a:t>
            </a:r>
          </a:p>
          <a:p>
            <a:pPr algn="l">
              <a:spcAft>
                <a:spcPts val="300"/>
              </a:spcAft>
            </a:pPr>
            <a:r>
              <a:rPr sz="1150" b="0">
                <a:solidFill>
                  <a:srgbClr val="6B6862"/>
                </a:solidFill>
                <a:latin typeface="Calibri"/>
              </a:rPr>
              <a:t>A small always-visible signal, such as the active project or remaining usage.</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slash command</a:t>
            </a:r>
          </a:p>
          <a:p>
            <a:pPr algn="l">
              <a:spcAft>
                <a:spcPts val="300"/>
              </a:spcAft>
            </a:pPr>
            <a:r>
              <a:rPr sz="1150" b="0">
                <a:solidFill>
                  <a:srgbClr val="6B6862"/>
                </a:solidFill>
                <a:latin typeface="Calibri"/>
              </a:rPr>
              <a:t>Your own /command that starts a routine you use often.</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hook</a:t>
            </a:r>
          </a:p>
          <a:p>
            <a:pPr algn="l">
              <a:spcAft>
                <a:spcPts val="300"/>
              </a:spcAft>
            </a:pPr>
            <a:r>
              <a:rPr sz="1150" b="0">
                <a:solidFill>
                  <a:srgbClr val="6B6862"/>
                </a:solidFill>
                <a:latin typeface="Calibri"/>
              </a:rPr>
              <a:t>An action that runs automatically on an event — for example, before Claude sends anything.</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find them</a:t>
            </a:r>
          </a:p>
          <a:p>
            <a:pPr algn="l">
              <a:spcAft>
                <a:spcPts val="300"/>
              </a:spcAft>
            </a:pPr>
            <a:r>
              <a:rPr sz="1150" b="0">
                <a:solidFill>
                  <a:srgbClr val="6B6862"/>
                </a:solidFill>
                <a:latin typeface="Calibri"/>
              </a:rPr>
              <a:t>Under Customize, alongside Skills, Connectors and Plugins. Ask Claude to make one for you.</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 AND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 Plugin or Mod?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Three ways to extend Claude — and which one you reach for.</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Skill</a:t>
            </a:r>
          </a:p>
        </p:txBody>
      </p:sp>
      <p:sp>
        <p:nvSpPr>
          <p:cNvPr id="8" name="TextBox 7"/>
          <p:cNvSpPr txBox="1"/>
          <p:nvPr/>
        </p:nvSpPr>
        <p:spPr>
          <a:xfrm>
            <a:off x="5823284" y="2194560"/>
            <a:ext cx="227733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Plugin</a:t>
            </a:r>
          </a:p>
        </p:txBody>
      </p:sp>
      <p:sp>
        <p:nvSpPr>
          <p:cNvPr id="9" name="TextBox 8"/>
          <p:cNvSpPr txBox="1"/>
          <p:nvPr/>
        </p:nvSpPr>
        <p:spPr>
          <a:xfrm>
            <a:off x="8329221" y="2194560"/>
            <a:ext cx="300933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Mod</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Changes</a:t>
            </a:r>
          </a:p>
        </p:txBody>
      </p:sp>
      <p:sp>
        <p:nvSpPr>
          <p:cNvPr id="12" name="TextBox 11"/>
          <p:cNvSpPr txBox="1"/>
          <p:nvPr/>
        </p:nvSpPr>
        <p:spPr>
          <a:xfrm>
            <a:off x="3154680" y="2651760"/>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How a task is done</a:t>
            </a:r>
          </a:p>
        </p:txBody>
      </p:sp>
      <p:sp>
        <p:nvSpPr>
          <p:cNvPr id="13" name="TextBox 12"/>
          <p:cNvSpPr txBox="1"/>
          <p:nvPr/>
        </p:nvSpPr>
        <p:spPr>
          <a:xfrm>
            <a:off x="5823284" y="2651760"/>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whole toolkit</a:t>
            </a:r>
          </a:p>
        </p:txBody>
      </p:sp>
      <p:sp>
        <p:nvSpPr>
          <p:cNvPr id="14" name="TextBox 13"/>
          <p:cNvSpPr txBox="1"/>
          <p:nvPr/>
        </p:nvSpPr>
        <p:spPr>
          <a:xfrm>
            <a:off x="8329221" y="2651760"/>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Claude's own interface</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Contains</a:t>
            </a:r>
          </a:p>
        </p:txBody>
      </p:sp>
      <p:sp>
        <p:nvSpPr>
          <p:cNvPr id="17" name="TextBox 16"/>
          <p:cNvSpPr txBox="1"/>
          <p:nvPr/>
        </p:nvSpPr>
        <p:spPr>
          <a:xfrm>
            <a:off x="3154680" y="3387852"/>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SKILL.md + resources</a:t>
            </a:r>
          </a:p>
        </p:txBody>
      </p:sp>
      <p:sp>
        <p:nvSpPr>
          <p:cNvPr id="18" name="TextBox 17"/>
          <p:cNvSpPr txBox="1"/>
          <p:nvPr/>
        </p:nvSpPr>
        <p:spPr>
          <a:xfrm>
            <a:off x="5823284" y="3387852"/>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 tools, agents, hooks</a:t>
            </a:r>
          </a:p>
        </p:txBody>
      </p:sp>
      <p:sp>
        <p:nvSpPr>
          <p:cNvPr id="19" name="TextBox 18"/>
          <p:cNvSpPr txBox="1"/>
          <p:nvPr/>
        </p:nvSpPr>
        <p:spPr>
          <a:xfrm>
            <a:off x="8329221" y="3387852"/>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panel, command, hook or status line</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You get it by</a:t>
            </a:r>
          </a:p>
        </p:txBody>
      </p:sp>
      <p:sp>
        <p:nvSpPr>
          <p:cNvPr id="22" name="TextBox 21"/>
          <p:cNvSpPr txBox="1"/>
          <p:nvPr/>
        </p:nvSpPr>
        <p:spPr>
          <a:xfrm>
            <a:off x="3154680" y="4123944"/>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Writing it with /skill-creator</a:t>
            </a:r>
          </a:p>
        </p:txBody>
      </p:sp>
      <p:sp>
        <p:nvSpPr>
          <p:cNvPr id="23" name="TextBox 22"/>
          <p:cNvSpPr txBox="1"/>
          <p:nvPr/>
        </p:nvSpPr>
        <p:spPr>
          <a:xfrm>
            <a:off x="5823284" y="4123944"/>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Installing from Discover</a:t>
            </a:r>
          </a:p>
        </p:txBody>
      </p:sp>
      <p:sp>
        <p:nvSpPr>
          <p:cNvPr id="24" name="TextBox 23"/>
          <p:cNvSpPr txBox="1"/>
          <p:nvPr/>
        </p:nvSpPr>
        <p:spPr>
          <a:xfrm>
            <a:off x="8329221" y="4123944"/>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Asking Claude to make one</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860036"/>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7" name="TextBox 26"/>
          <p:cNvSpPr txBox="1"/>
          <p:nvPr/>
        </p:nvSpPr>
        <p:spPr>
          <a:xfrm>
            <a:off x="3154680" y="4860036"/>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lumo-brand-voice</a:t>
            </a:r>
          </a:p>
        </p:txBody>
      </p:sp>
      <p:sp>
        <p:nvSpPr>
          <p:cNvPr id="28" name="TextBox 27"/>
          <p:cNvSpPr txBox="1"/>
          <p:nvPr/>
        </p:nvSpPr>
        <p:spPr>
          <a:xfrm>
            <a:off x="5823284" y="4860036"/>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Marketing plugin</a:t>
            </a:r>
          </a:p>
        </p:txBody>
      </p:sp>
      <p:sp>
        <p:nvSpPr>
          <p:cNvPr id="29" name="TextBox 28"/>
          <p:cNvSpPr txBox="1"/>
          <p:nvPr/>
        </p:nvSpPr>
        <p:spPr>
          <a:xfrm>
            <a:off x="8329221" y="4860036"/>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Next Lumo post panel</a:t>
            </a:r>
          </a:p>
        </p:txBody>
      </p:sp>
      <p:sp>
        <p:nvSpPr>
          <p:cNvPr id="30" name="Rectangle 29"/>
          <p:cNvSpPr/>
          <p:nvPr/>
        </p:nvSpPr>
        <p:spPr>
          <a:xfrm>
            <a:off x="822960" y="559612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 and a Mod</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07</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Install a plugin, use its namespaced commands alongside your own skill, and build a mod that suggests the next social post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You wrote one skill yourself; now you install a toolkit somebody else packaged. Anthropic's Marketing plugin bundles several marketing skills behind namespaced commands. You install it, use /marketing:campaign-plan to stress-test the launch plan, and run /marketing:brand-review on the deck copy — then compare a plugin with the skill you wrote. Last, you build a mod of your own: a Next Lumo post panel beside the chat that suggests what to post next.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Marketing plugin installed, a campaign plan review, a brand review of the launch copy, and a Next Lumo post mod.</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plugins, mods, Customize</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07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plugin commands follow the same project rules.</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guidelines, for /marketing:brand-review.</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the research brief, campaign brief and deck; the Next Lumo post mod reads the folder.</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the mod suggests a post; nothing runs on a timer.</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PLAN</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/marketing:campaign-plan Review the Lumo Cold Kopi launch using</a:t>
            </a:r>
          </a:p>
          <a:p>
            <a:pPr algn="l">
              <a:spcAft>
                <a:spcPts val="200"/>
              </a:spcAft>
            </a:pPr>
            <a:r>
              <a:rPr sz="1500" b="0">
                <a:solidFill>
                  <a:srgbClr val="21201C"/>
                </a:solidFill>
                <a:latin typeface="Calibri"/>
              </a:rPr>
              <a:t>our campaign brief and research brief. Keep our objective,</a:t>
            </a:r>
          </a:p>
          <a:p>
            <a:pPr algn="l">
              <a:spcAft>
                <a:spcPts val="200"/>
              </a:spcAft>
            </a:pPr>
            <a:r>
              <a:rPr sz="1500" b="0">
                <a:solidFill>
                  <a:srgbClr val="21201C"/>
                </a:solidFill>
                <a:latin typeface="Calibri"/>
              </a:rPr>
              <a:t>audience, budget and dates. Tell me:</a:t>
            </a:r>
          </a:p>
          <a:p>
            <a:pPr algn="l">
              <a:spcAft>
                <a:spcPts val="200"/>
              </a:spcAft>
            </a:pPr>
            <a:r>
              <a:rPr sz="1500" b="0">
                <a:solidFill>
                  <a:srgbClr val="21201C"/>
                </a:solidFill>
                <a:latin typeface="Calibri"/>
              </a:rPr>
              <a:t>- what is missing from the plan,</a:t>
            </a:r>
          </a:p>
          <a:p>
            <a:pPr algn="l">
              <a:spcAft>
                <a:spcPts val="200"/>
              </a:spcAft>
            </a:pPr>
            <a:r>
              <a:rPr sz="1500" b="0">
                <a:solidFill>
                  <a:srgbClr val="21201C"/>
                </a:solidFill>
                <a:latin typeface="Calibri"/>
              </a:rPr>
              <a:t>- the three biggest risks to the 1 December launch,</a:t>
            </a:r>
          </a:p>
          <a:p>
            <a:pPr algn="l">
              <a:spcAft>
                <a:spcPts val="200"/>
              </a:spcAft>
            </a:pPr>
            <a:r>
              <a:rPr sz="1500" b="0">
                <a:solidFill>
                  <a:srgbClr val="21201C"/>
                </a:solidFill>
                <a:latin typeface="Calibri"/>
              </a:rPr>
              <a:t>- the KPIs you would track in the first two weeks, with targets.</a:t>
            </a:r>
          </a:p>
          <a:p>
            <a:pPr algn="l">
              <a:spcAft>
                <a:spcPts val="200"/>
              </a:spcAft>
            </a:pPr>
            <a:r>
              <a:rPr sz="1500" b="0">
                <a:solidFill>
                  <a:srgbClr val="21201C"/>
                </a:solidFill>
                <a:latin typeface="Calibri"/>
              </a:rPr>
              <a:t>Do not change the S$60,000 budget.</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Install the plugin first: Customize → Plugins → Browse → Marketing → Install.</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REVIEW</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/marketing:brand-review Review the copy on slides 1, 2 and 6 of</a:t>
            </a:r>
          </a:p>
          <a:p>
            <a:pPr algn="l">
              <a:spcAft>
                <a:spcPts val="200"/>
              </a:spcAft>
            </a:pPr>
            <a:r>
              <a:rPr sz="1500" b="0">
                <a:solidFill>
                  <a:srgbClr val="21201C"/>
                </a:solidFill>
                <a:latin typeface="Calibri"/>
              </a:rPr>
              <a:t>our launch deck against lumo-brand-guidelines.md. List each</a:t>
            </a:r>
          </a:p>
          <a:p>
            <a:pPr algn="l">
              <a:spcAft>
                <a:spcPts val="200"/>
              </a:spcAft>
            </a:pPr>
            <a:r>
              <a:rPr sz="1500" b="0">
                <a:solidFill>
                  <a:srgbClr val="21201C"/>
                </a:solidFill>
                <a:latin typeface="Calibri"/>
              </a:rPr>
              <a:t>change you would make and the rule behind it.</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 plugin reviews; your own skill holds the house rules.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118</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8</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MOD</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400" b="0">
                <a:solidFill>
                  <a:srgbClr val="21201C"/>
                </a:solidFill>
                <a:latin typeface="Calibri"/>
              </a:rPr>
              <a:t>Make me a mod: a panel called "Next Lumo post" that stays</a:t>
            </a:r>
          </a:p>
          <a:p>
            <a:pPr algn="l">
              <a:spcAft>
                <a:spcPts val="200"/>
              </a:spcAft>
            </a:pPr>
            <a:r>
              <a:rPr sz="1400" b="0">
                <a:solidFill>
                  <a:srgbClr val="21201C"/>
                </a:solidFill>
                <a:latin typeface="Calibri"/>
              </a:rPr>
              <a:t>beside the chat in this project.</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 If social-calendar.csv is in the project, show the next post</a:t>
            </a:r>
          </a:p>
          <a:p>
            <a:pPr algn="l">
              <a:spcAft>
                <a:spcPts val="200"/>
              </a:spcAft>
            </a:pPr>
            <a:r>
              <a:rPr sz="1400" b="0">
                <a:solidFill>
                  <a:srgbClr val="21201C"/>
                </a:solidFill>
                <a:latin typeface="Calibri"/>
              </a:rPr>
              <a:t>  due from today: date, platform, format, hook and call to action.</a:t>
            </a:r>
          </a:p>
          <a:p>
            <a:pPr algn="l">
              <a:spcAft>
                <a:spcPts val="200"/>
              </a:spcAft>
            </a:pPr>
            <a:r>
              <a:rPr sz="1400" b="0">
                <a:solidFill>
                  <a:srgbClr val="21201C"/>
                </a:solidFill>
                <a:latin typeface="Calibri"/>
              </a:rPr>
              <a:t>- If there is no calendar yet, suggest one next post instead:</a:t>
            </a:r>
          </a:p>
          <a:p>
            <a:pPr algn="l">
              <a:spcAft>
                <a:spcPts val="200"/>
              </a:spcAft>
            </a:pPr>
            <a:r>
              <a:rPr sz="1400" b="0">
                <a:solidFill>
                  <a:srgbClr val="21201C"/>
                </a:solidFill>
                <a:latin typeface="Calibri"/>
              </a:rPr>
              <a:t>  use the top content theme in lumo-research-brief.docx and the</a:t>
            </a:r>
          </a:p>
          <a:p>
            <a:pPr algn="l">
              <a:spcAft>
                <a:spcPts val="200"/>
              </a:spcAft>
            </a:pPr>
            <a:r>
              <a:rPr sz="1400" b="0">
                <a:solidFill>
                  <a:srgbClr val="21201C"/>
                </a:solidFill>
                <a:latin typeface="Calibri"/>
              </a:rPr>
              <a:t>  lumo-brand-voice skill, and say which platform and day suit it.</a:t>
            </a:r>
          </a:p>
          <a:p>
            <a:pPr algn="l">
              <a:spcAft>
                <a:spcPts val="200"/>
              </a:spcAft>
            </a:pPr>
            <a:r>
              <a:rPr sz="1400" b="0">
                <a:solidFill>
                  <a:srgbClr val="21201C"/>
                </a:solidFill>
                <a:latin typeface="Calibri"/>
              </a:rPr>
              <a:t>- Add a Refresh button and show when it last updated.</a:t>
            </a:r>
          </a:p>
          <a:p>
            <a:pPr algn="l">
              <a:spcAft>
                <a:spcPts val="200"/>
              </a:spcAft>
            </a:pPr>
            <a:r>
              <a:rPr sz="1400" b="0">
                <a:solidFill>
                  <a:srgbClr val="21201C"/>
                </a:solidFill>
                <a:latin typeface="Calibri"/>
              </a:rPr>
              <a:t>- It only suggests: never post, publish or send anything.</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Tell me what the mod will do and where it will appear before</a:t>
            </a:r>
          </a:p>
          <a:p>
            <a:pPr algn="l">
              <a:spcAft>
                <a:spcPts val="200"/>
              </a:spcAft>
            </a:pPr>
            <a:r>
              <a:rPr sz="1400" b="0">
                <a:solidFill>
                  <a:srgbClr val="21201C"/>
                </a:solidFill>
                <a:latin typeface="Calibri"/>
              </a:rPr>
              <a:t>you install it.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You make a mod by asking Claude. It only suggests — nothing is posted.</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119</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 and a Mod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Plugins and browse the available plugins.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Find the Marketing plugin, read what it contains, and click Install.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composer, type /marketing and look at the commands it offers.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1 to stress-test the plan with /marketing:campaign-plan.</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risks and KPIs it proposes, and check the budget is unchanged at S$60,000.</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to review the deck copy with /marketing:brand-review.</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and look at the Mods section.</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3 and read what the mod will do before you let Claude install it.</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Next Lumo post panel beside the chat and read its suggestion.</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120</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 and a Mod</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Marketing plugin is installed and its /marketing: commands appear in the composer. /marketing:campaign-plan returned the gaps, three launch risks and two-week KPIs with targets while keeping the S$60,000 budget and the 1 December date. /marketing:brand-review reviewed the deck copy. You can explain the difference between lumo-brand-voice (a skill you wrote), the Marketing plugin (a packaged bundle) and a mod (a change to Claude's interface). The Next Lumo post panel sits beside the chat and suggests one on-brand post — S$ prices, no health claim — without posting anything.</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121</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Connectors, Skills and Plugins</a:t>
            </a:r>
          </a:p>
        </p:txBody>
      </p:sp>
      <p:sp>
        <p:nvSpPr>
          <p:cNvPr id="5" name="Rectangle 4"/>
          <p:cNvSpPr/>
          <p:nvPr/>
        </p:nvSpPr>
        <p:spPr>
          <a:xfrm>
            <a:off x="548640" y="1783080"/>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04</a:t>
            </a:r>
          </a:p>
          <a:p>
            <a:pPr algn="l">
              <a:spcAft>
                <a:spcPts val="300"/>
              </a:spcAft>
            </a:pPr>
            <a:r>
              <a:rPr sz="1150" b="0">
                <a:solidFill>
                  <a:srgbClr val="6B6862"/>
                </a:solidFill>
                <a:latin typeface="Calibri"/>
              </a:rPr>
              <a:t>You can now connect Google Drive and Gmail, read campaign files from Drive and send an approved summary.</a:t>
            </a:r>
          </a:p>
        </p:txBody>
      </p:sp>
      <p:sp>
        <p:nvSpPr>
          <p:cNvPr id="10" name="Rectangle 9"/>
          <p:cNvSpPr/>
          <p:nvPr/>
        </p:nvSpPr>
        <p:spPr>
          <a:xfrm>
            <a:off x="548640" y="2852928"/>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2962656"/>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05</a:t>
            </a:r>
          </a:p>
          <a:p>
            <a:pPr algn="l">
              <a:spcAft>
                <a:spcPts val="300"/>
              </a:spcAft>
            </a:pPr>
            <a:r>
              <a:rPr sz="1150" b="0">
                <a:solidFill>
                  <a:srgbClr val="6B6862"/>
                </a:solidFill>
                <a:latin typeface="Calibri"/>
              </a:rPr>
              <a:t>You can now produce a launch deck in Slides and a campaign brief in Docs from the project's research.</a:t>
            </a:r>
          </a:p>
        </p:txBody>
      </p:sp>
      <p:sp>
        <p:nvSpPr>
          <p:cNvPr id="15" name="Rectangle 14"/>
          <p:cNvSpPr/>
          <p:nvPr/>
        </p:nvSpPr>
        <p:spPr>
          <a:xfrm>
            <a:off x="548640" y="3922776"/>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032504"/>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06</a:t>
            </a:r>
          </a:p>
          <a:p>
            <a:pPr algn="l">
              <a:spcAft>
                <a:spcPts val="300"/>
              </a:spcAft>
            </a:pPr>
            <a:r>
              <a:rPr sz="1150" b="0">
                <a:solidFill>
                  <a:srgbClr val="6B6862"/>
                </a:solidFill>
                <a:latin typeface="Calibri"/>
              </a:rPr>
              <a:t>You can now rewrite content in the brand voice, verify it, and save the routine as a skill with /skill-creator.</a:t>
            </a:r>
          </a:p>
        </p:txBody>
      </p:sp>
      <p:sp>
        <p:nvSpPr>
          <p:cNvPr id="20" name="Rectangle 19"/>
          <p:cNvSpPr/>
          <p:nvPr/>
        </p:nvSpPr>
        <p:spPr>
          <a:xfrm>
            <a:off x="548640" y="4992624"/>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1335024" y="5102352"/>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07</a:t>
            </a:r>
          </a:p>
          <a:p>
            <a:pPr algn="l">
              <a:spcAft>
                <a:spcPts val="300"/>
              </a:spcAft>
            </a:pPr>
            <a:r>
              <a:rPr sz="1150" b="0">
                <a:solidFill>
                  <a:srgbClr val="6B6862"/>
                </a:solidFill>
                <a:latin typeface="Calibri"/>
              </a:rPr>
              <a:t>You can now install a plugin, use its namespaced commands alongside your own skill, and build a mod that suggests the next social post.</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122</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Content Production and Scheduled Work</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One prompt, four platforms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Social post specs and brand checks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Script, storyboard, render: the video pipeline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Scheduled tasks and the memory file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123</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CONTENT PRODUCTION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Prompt, Four Platforms</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Brief once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prompt: the dates, the four platforms, the spec for each and the skill to use.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Draft by platform</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works through each platform's posts to its own spec.</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 the voice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brand-voice skill runs its checklist on every post.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 the calendar</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posts land in one dated calendar file in the project folder.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 and approve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check claims, prices and dates before anything is scheduled.</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One task with a precise spec per platform — the brand-voice skill keeps all four on one voice.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124</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SOCIAL SPECS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Each Platform Needs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platform's spec goes into the prompt as its brief.</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Instagram</a:t>
            </a:r>
          </a:p>
          <a:p>
            <a:pPr algn="l">
              <a:spcAft>
                <a:spcPts val="300"/>
              </a:spcAft>
            </a:pPr>
            <a:r>
              <a:rPr sz="1150" b="0">
                <a:solidFill>
                  <a:srgbClr val="6B6862"/>
                </a:solidFill>
                <a:latin typeface="Calibri"/>
              </a:rPr>
              <a:t>Carousel or Reel. Hook in the first line; caption up to 2,200 characters; 3–5 hashtags.</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TikTok</a:t>
            </a:r>
          </a:p>
          <a:p>
            <a:pPr algn="l">
              <a:spcAft>
                <a:spcPts val="300"/>
              </a:spcAft>
            </a:pPr>
            <a:r>
              <a:rPr sz="1150" b="0">
                <a:solidFill>
                  <a:srgbClr val="6B6862"/>
                </a:solidFill>
                <a:latin typeface="Calibri"/>
              </a:rPr>
              <a:t>9:16 video, 15–30 s. A hook in the first 2 seconds; on-screen text; one call to action.</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LinkedIn</a:t>
            </a:r>
          </a:p>
          <a:p>
            <a:pPr algn="l">
              <a:spcAft>
                <a:spcPts val="300"/>
              </a:spcAft>
            </a:pPr>
            <a:r>
              <a:rPr sz="1150" b="0">
                <a:solidFill>
                  <a:srgbClr val="6B6862"/>
                </a:solidFill>
                <a:latin typeface="Calibri"/>
              </a:rPr>
              <a:t>Founder or team voice; the story behind the product; no more than 3 hashtags.</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Facebook</a:t>
            </a:r>
          </a:p>
          <a:p>
            <a:pPr algn="l">
              <a:spcAft>
                <a:spcPts val="300"/>
              </a:spcAft>
            </a:pPr>
            <a:r>
              <a:rPr sz="1150" b="0">
                <a:solidFill>
                  <a:srgbClr val="6B6862"/>
                </a:solidFill>
                <a:latin typeface="Calibri"/>
              </a:rPr>
              <a:t>Community and offers; a clear link to buy; questions that invite comments.</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Every post loads lumo-brand-voice, so four formats still sound like one brand.</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125</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Marketing Responsibly with AI</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Fast production is only useful if every post is safe to publish.</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Claims you can prove</a:t>
            </a:r>
          </a:p>
          <a:p>
            <a:pPr algn="l">
              <a:spcAft>
                <a:spcPts val="300"/>
              </a:spcAft>
            </a:pPr>
            <a:r>
              <a:rPr sz="1150" b="0">
                <a:solidFill>
                  <a:srgbClr val="6B6862"/>
                </a:solidFill>
                <a:latin typeface="Calibri"/>
              </a:rPr>
              <a:t>“5 g sugar” is on the label. “Healthy” is a claim Lumo cannot substantiate — never use it.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Consent for email</a:t>
            </a:r>
          </a:p>
          <a:p>
            <a:pPr algn="l">
              <a:spcAft>
                <a:spcPts val="300"/>
              </a:spcAft>
            </a:pPr>
            <a:r>
              <a:rPr sz="1150" b="0">
                <a:solidFill>
                  <a:srgbClr val="6B6862"/>
                </a:solidFill>
                <a:latin typeface="Calibri"/>
              </a:rPr>
              <a:t>Email only people who opted in. Lab emails go to yourself, never to real customers.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No real likenesses</a:t>
            </a:r>
          </a:p>
          <a:p>
            <a:pPr algn="l">
              <a:spcAft>
                <a:spcPts val="300"/>
              </a:spcAft>
            </a:pPr>
            <a:r>
              <a:rPr sz="1150" b="0">
                <a:solidFill>
                  <a:srgbClr val="6B6862"/>
                </a:solidFill>
                <a:latin typeface="Calibri"/>
              </a:rPr>
              <a:t>Do not generate a real person, influencer or competitor logo into an ad.</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Disclose partnerships</a:t>
            </a:r>
          </a:p>
          <a:p>
            <a:pPr algn="l">
              <a:spcAft>
                <a:spcPts val="300"/>
              </a:spcAft>
            </a:pPr>
            <a:r>
              <a:rPr sz="1150" b="0">
                <a:solidFill>
                  <a:srgbClr val="6B6862"/>
                </a:solidFill>
                <a:latin typeface="Calibri"/>
              </a:rPr>
              <a:t>Influencer posts are labelled as paid partnerships.</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human publishes</a:t>
            </a:r>
          </a:p>
          <a:p>
            <a:pPr algn="l">
              <a:spcAft>
                <a:spcPts val="300"/>
              </a:spcAft>
            </a:pPr>
            <a:r>
              <a:rPr sz="1150" b="0">
                <a:solidFill>
                  <a:srgbClr val="6B6862"/>
                </a:solidFill>
                <a:latin typeface="Calibri"/>
              </a:rPr>
              <a:t>Claude drafts and schedules drafts; a person approves every public post.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source</a:t>
            </a:r>
          </a:p>
          <a:p>
            <a:pPr algn="l">
              <a:spcAft>
                <a:spcPts val="300"/>
              </a:spcAft>
            </a:pPr>
            <a:r>
              <a:rPr sz="1150" b="0">
                <a:solidFill>
                  <a:srgbClr val="6B6862"/>
                </a:solidFill>
                <a:latin typeface="Calibri"/>
              </a:rPr>
              <a:t>Keep the research files, so every number in a post can be traced back.</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126</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Content Production and Scheduled Work</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Specs per platform</a:t>
            </a:r>
          </a:p>
          <a:p>
            <a:pPr algn="l">
              <a:spcAft>
                <a:spcPts val="300"/>
              </a:spcAft>
            </a:pPr>
            <a:r>
              <a:rPr sz="1150" b="0">
                <a:solidFill>
                  <a:srgbClr val="6B6862"/>
                </a:solidFill>
                <a:latin typeface="Calibri"/>
              </a:rPr>
              <a:t>Instagram, TikTok, LinkedIn and Facebook each get their own spec in the prompt, so one task drafts all four well.</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 in every task</a:t>
            </a:r>
          </a:p>
          <a:p>
            <a:pPr algn="l">
              <a:spcAft>
                <a:spcPts val="300"/>
              </a:spcAft>
            </a:pPr>
            <a:r>
              <a:rPr sz="1150" b="0">
                <a:solidFill>
                  <a:srgbClr val="6B6862"/>
                </a:solidFill>
                <a:latin typeface="Calibri"/>
              </a:rPr>
              <a:t>Every task loads the same brand-voice skill, so four channels still sound like one brand.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Video as code</a:t>
            </a:r>
          </a:p>
          <a:p>
            <a:pPr algn="l">
              <a:spcAft>
                <a:spcPts val="300"/>
              </a:spcAft>
            </a:pPr>
            <a:r>
              <a:rPr sz="1150" b="0">
                <a:solidFill>
                  <a:srgbClr val="6B6862"/>
                </a:solidFill>
                <a:latin typeface="Calibri"/>
              </a:rPr>
              <a:t>Claude writes and runs the code that turns a storyboard and your images into an MP4.</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tasks</a:t>
            </a:r>
          </a:p>
          <a:p>
            <a:pPr algn="l">
              <a:spcAft>
                <a:spcPts val="300"/>
              </a:spcAft>
            </a:pPr>
            <a:r>
              <a:rPr sz="1150" b="0">
                <a:solidFill>
                  <a:srgbClr val="6B6862"/>
                </a:solidFill>
                <a:latin typeface="Calibri"/>
              </a:rPr>
              <a:t>A prompt that runs on a timetable — daily, weekly or monthly — inside the project, while you are away.</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stays human</a:t>
            </a:r>
          </a:p>
          <a:p>
            <a:pPr algn="l">
              <a:spcAft>
                <a:spcPts val="300"/>
              </a:spcAft>
            </a:pPr>
            <a:r>
              <a:rPr sz="1150" b="0">
                <a:solidFill>
                  <a:srgbClr val="6B6862"/>
                </a:solidFill>
                <a:latin typeface="Calibri"/>
              </a:rPr>
              <a:t>A scheduled task drafts and emails the post to you. Publishing is still your click.</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memory file</a:t>
            </a:r>
          </a:p>
          <a:p>
            <a:pPr algn="l">
              <a:spcAft>
                <a:spcPts val="300"/>
              </a:spcAft>
            </a:pPr>
            <a:r>
              <a:rPr sz="1150" b="0">
                <a:solidFill>
                  <a:srgbClr val="6B6862"/>
                </a:solidFill>
                <a:latin typeface="Calibri"/>
              </a:rPr>
              <a:t>A Markdown file in the project folder that records decisions, so every later task reads the same facts.</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127</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and Schedule Two Weeks of Social Posts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08</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Produce a two-week, four-platform social calendar using the brand-voice skill, and schedule the daily post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Launch fortnight needs ten posts across Instagram, TikTok, LinkedIn and Facebook. Each platform has its own format, so the prompt gives Claude a spec for each. It loads lumo-brand-voice, drafts every platform's posts to its spec, and saves one dated calendar. Once you have checked it, you create a scheduled task that emails you each day's post at 9:00am as a draft.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social-calendar.csv with ten dated posts across four platforms, lumo-social-posts.docx with the full copy, and a weekday 9:00am scheduled task that emails each day's post as a draft.</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in Cowork, Agent Skills, scheduled tasks,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128</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08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brand voice, S$ prices, and never publish without your approval.</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kit — every post is checked against its prices and claims.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Adds: social-calendar.csv and lumo-social-posts.docx, saved to the folder.</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NEW: Today's Lumo post, weekdays at 9:00am — emails you each day's post as a draft.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129</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CREATE</a:t>
            </a:r>
          </a:p>
        </p:txBody>
      </p:sp>
      <p:sp>
        <p:nvSpPr>
          <p:cNvPr id="5" name="Rectangle 4"/>
          <p:cNvSpPr/>
          <p:nvPr/>
        </p:nvSpPr>
        <p:spPr>
          <a:xfrm>
            <a:off x="548640" y="1828800"/>
            <a:ext cx="11064240" cy="32435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243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5577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Create the launch social calendar for Lumo Cold Kopi: ten posts,</a:t>
            </a:r>
          </a:p>
          <a:p>
            <a:pPr algn="l">
              <a:spcAft>
                <a:spcPts val="200"/>
              </a:spcAft>
            </a:pPr>
            <a:r>
              <a:rPr sz="1250" b="0">
                <a:solidFill>
                  <a:srgbClr val="21201C"/>
                </a:solidFill>
                <a:latin typeface="Calibri"/>
              </a:rPr>
              <a:t>one each weekday from Tuesday 1 December to Monday 14 December</a:t>
            </a:r>
          </a:p>
          <a:p>
            <a:pPr algn="l">
              <a:spcAft>
                <a:spcPts val="200"/>
              </a:spcAft>
            </a:pPr>
            <a:r>
              <a:rPr sz="1250" b="0">
                <a:solidFill>
                  <a:srgbClr val="21201C"/>
                </a:solidFill>
                <a:latin typeface="Calibri"/>
              </a:rPr>
              <a:t>2026, using social-calendar-template.csv for the columns.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Draft each platform's posts to its own spec:</a:t>
            </a:r>
          </a:p>
          <a:p>
            <a:pPr algn="l">
              <a:spcAft>
                <a:spcPts val="200"/>
              </a:spcAft>
            </a:pPr>
            <a:r>
              <a:rPr sz="1250" b="0">
                <a:solidFill>
                  <a:srgbClr val="21201C"/>
                </a:solidFill>
                <a:latin typeface="Calibri"/>
              </a:rPr>
              <a:t>- Instagram: 3 posts (carousel or Reel), caption with a hook in</a:t>
            </a:r>
          </a:p>
          <a:p>
            <a:pPr algn="l">
              <a:spcAft>
                <a:spcPts val="200"/>
              </a:spcAft>
            </a:pPr>
            <a:r>
              <a:rPr sz="1250" b="0">
                <a:solidFill>
                  <a:srgbClr val="21201C"/>
                </a:solidFill>
                <a:latin typeface="Calibri"/>
              </a:rPr>
              <a:t>  the first line, 3-5 hashtags.</a:t>
            </a:r>
          </a:p>
          <a:p>
            <a:pPr algn="l">
              <a:spcAft>
                <a:spcPts val="200"/>
              </a:spcAft>
            </a:pPr>
            <a:r>
              <a:rPr sz="1250" b="0">
                <a:solidFill>
                  <a:srgbClr val="21201C"/>
                </a:solidFill>
                <a:latin typeface="Calibri"/>
              </a:rPr>
              <a:t>- TikTok: 3 posts, each a 15-second video script with a hook in</a:t>
            </a:r>
          </a:p>
          <a:p>
            <a:pPr algn="l">
              <a:spcAft>
                <a:spcPts val="200"/>
              </a:spcAft>
            </a:pPr>
            <a:r>
              <a:rPr sz="1250" b="0">
                <a:solidFill>
                  <a:srgbClr val="21201C"/>
                </a:solidFill>
                <a:latin typeface="Calibri"/>
              </a:rPr>
              <a:t>  the first 2 seconds and on-screen text.</a:t>
            </a:r>
          </a:p>
          <a:p>
            <a:pPr algn="l">
              <a:spcAft>
                <a:spcPts val="200"/>
              </a:spcAft>
            </a:pPr>
            <a:r>
              <a:rPr sz="1250" b="0">
                <a:solidFill>
                  <a:srgbClr val="21201C"/>
                </a:solidFill>
                <a:latin typeface="Calibri"/>
              </a:rPr>
              <a:t>- LinkedIn: 2 posts in the founder's voice, the story behind the</a:t>
            </a:r>
          </a:p>
          <a:p>
            <a:pPr algn="l">
              <a:spcAft>
                <a:spcPts val="200"/>
              </a:spcAft>
            </a:pPr>
            <a:r>
              <a:rPr sz="1250" b="0">
                <a:solidFill>
                  <a:srgbClr val="21201C"/>
                </a:solidFill>
                <a:latin typeface="Calibri"/>
              </a:rPr>
              <a:t>  product, no more than 3 hashtags.</a:t>
            </a:r>
          </a:p>
        </p:txBody>
      </p:sp>
      <p:sp>
        <p:nvSpPr>
          <p:cNvPr id="9" name="TextBox 8"/>
          <p:cNvSpPr txBox="1"/>
          <p:nvPr/>
        </p:nvSpPr>
        <p:spPr>
          <a:xfrm>
            <a:off x="6286500" y="2359152"/>
            <a:ext cx="5006340" cy="25577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Facebook: 2 posts for community and the 12-pack offer.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Use the lumo-brand-voice skill for every post, and our top</a:t>
            </a:r>
          </a:p>
          <a:p>
            <a:pPr algn="l">
              <a:spcAft>
                <a:spcPts val="200"/>
              </a:spcAft>
            </a:pPr>
            <a:r>
              <a:rPr sz="1250" b="0">
                <a:solidFill>
                  <a:srgbClr val="21201C"/>
                </a:solidFill>
                <a:latin typeface="Calibri"/>
              </a:rPr>
              <a:t>content theme from the research. The 1 December launch-day</a:t>
            </a:r>
          </a:p>
          <a:p>
            <a:pPr algn="l">
              <a:spcAft>
                <a:spcPts val="200"/>
              </a:spcAft>
            </a:pPr>
            <a:r>
              <a:rPr sz="1250" b="0">
                <a:solidFill>
                  <a:srgbClr val="21201C"/>
                </a:solidFill>
                <a:latin typeface="Calibri"/>
              </a:rPr>
              <a:t>post is an Instagram Reel; TikTok follows on 2 December.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Then save them into social-calendar.csv (date, platform,</a:t>
            </a:r>
          </a:p>
          <a:p>
            <a:pPr algn="l">
              <a:spcAft>
                <a:spcPts val="200"/>
              </a:spcAft>
            </a:pPr>
            <a:r>
              <a:rPr sz="1250" b="0">
                <a:solidFill>
                  <a:srgbClr val="21201C"/>
                </a:solidFill>
                <a:latin typeface="Calibri"/>
              </a:rPr>
              <a:t>format, hook, copy, hashtags, visual idea, call to action) and</a:t>
            </a:r>
          </a:p>
          <a:p>
            <a:pPr algn="l">
              <a:spcAft>
                <a:spcPts val="200"/>
              </a:spcAft>
            </a:pPr>
            <a:r>
              <a:rPr sz="1250" b="0">
                <a:solidFill>
                  <a:srgbClr val="21201C"/>
                </a:solidFill>
                <a:latin typeface="Calibri"/>
              </a:rPr>
              <a:t>lumo-social-posts.docx with the full copy. Report the brand-voice</a:t>
            </a:r>
          </a:p>
          <a:p>
            <a:pPr algn="l">
              <a:spcAft>
                <a:spcPts val="200"/>
              </a:spcAft>
            </a:pPr>
            <a:r>
              <a:rPr sz="1250" b="0">
                <a:solidFill>
                  <a:srgbClr val="21201C"/>
                </a:solidFill>
                <a:latin typeface="Calibri"/>
              </a:rPr>
              <a:t>checklist result for every post, and list any post that failed.</a:t>
            </a:r>
          </a:p>
        </p:txBody>
      </p:sp>
      <p:sp>
        <p:nvSpPr>
          <p:cNvPr id="10" name="Rectangle 9"/>
          <p:cNvSpPr/>
          <p:nvPr/>
        </p:nvSpPr>
        <p:spPr>
          <a:xfrm>
            <a:off x="6080760" y="2395728"/>
            <a:ext cx="9144" cy="24663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3467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social-calendar-template.csv from the Lab 08 data folder.</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130</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 · STEP 8</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SCHEDULE</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INSTRUCTIONS — paste into the scheduled task dialog</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Take today's row from social-calendar.csv in the project folder,</a:t>
            </a:r>
          </a:p>
          <a:p>
            <a:pPr algn="l">
              <a:spcAft>
                <a:spcPts val="200"/>
              </a:spcAft>
            </a:pPr>
            <a:r>
              <a:rPr sz="1500" b="0">
                <a:solidFill>
                  <a:srgbClr val="21201C"/>
                </a:solidFill>
                <a:latin typeface="Calibri"/>
              </a:rPr>
              <a:t>polish the post with lumo-brand-voice, and check every price and</a:t>
            </a:r>
          </a:p>
          <a:p>
            <a:pPr algn="l">
              <a:spcAft>
                <a:spcPts val="200"/>
              </a:spcAft>
            </a:pPr>
            <a:r>
              <a:rPr sz="1500" b="0">
                <a:solidFill>
                  <a:srgbClr val="21201C"/>
                </a:solidFill>
                <a:latin typeface="Calibri"/>
              </a:rPr>
              <a:t>claim against the brand kit. Email it to &lt;YOUR EMAIL&gt; as a draft</a:t>
            </a:r>
          </a:p>
          <a:p>
            <a:pPr algn="l">
              <a:spcAft>
                <a:spcPts val="200"/>
              </a:spcAft>
            </a:pPr>
            <a:r>
              <a:rPr sz="1500" b="0">
                <a:solidFill>
                  <a:srgbClr val="21201C"/>
                </a:solidFill>
                <a:latin typeface="Calibri"/>
              </a:rPr>
              <a:t>with the subject "Today's Lumo post - &lt;date&gt;".</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Never publish anything and never post to social media. If there</a:t>
            </a:r>
          </a:p>
          <a:p>
            <a:pPr algn="l">
              <a:spcAft>
                <a:spcPts val="200"/>
              </a:spcAft>
            </a:pPr>
            <a:r>
              <a:rPr sz="1500" b="0">
                <a:solidFill>
                  <a:srgbClr val="21201C"/>
                </a:solidFill>
                <a:latin typeface="Calibri"/>
              </a:rPr>
              <a:t>is no row for today, email "No Lumo post scheduled today".</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Not the chat — the scheduled task's own Instructions field. Replace &lt;YOUR EMAIL&gt;.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131</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and Schedule Two Weeks of Social Posts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social-calendar-template.csv and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Claude work through the four platforms.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in the task's activity that Claude loaded lumo-brand-voice.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calendar arrives, count the rows and check the dates.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brand-voice checklist results.</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Spot-check three posts against the campaign brief's "claims we must not make".</a:t>
            </a:r>
          </a:p>
        </p:txBody>
      </p:sp>
      <p:sp>
        <p:nvSpPr>
          <p:cNvPr id="24" name="Oval 23"/>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lumo-social-posts.docx and confirm the copy matches the calendar.</a:t>
            </a:r>
          </a:p>
        </p:txBody>
      </p:sp>
      <p:sp>
        <p:nvSpPr>
          <p:cNvPr id="27" name="Oval 26"/>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Scheduled tasks from the sidebar (or the project's Scheduled panel), choose New task, then Set up manually.</a:t>
            </a:r>
          </a:p>
        </p:txBody>
      </p:sp>
      <p:sp>
        <p:nvSpPr>
          <p:cNvPr id="30" name="Oval 29"/>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Name it Today's Lumo post and paste Block 2 into Instructions, with your own email.</a:t>
            </a:r>
          </a:p>
        </p:txBody>
      </p:sp>
      <p:sp>
        <p:nvSpPr>
          <p:cNvPr id="33" name="Oval 32"/>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Pick the Lumo Cold Kopi Launch project, set Frequency to weekdays at 9:00am, check Permissions, and save.</a:t>
            </a:r>
          </a:p>
        </p:txBody>
      </p:sp>
      <p:sp>
        <p:nvSpPr>
          <p:cNvPr id="36" name="Oval 35"/>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the task appears under Scheduled with the right days and time, and use Run now if it is offered. Then open the Next Lumo post panel from Lab 7 and click Refresh.</a:t>
            </a:r>
          </a:p>
        </p:txBody>
      </p:sp>
      <p:sp>
        <p:nvSpPr>
          <p:cNvPr id="39" name="TextBox 3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0" name="TextBox 3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1" name="TextBox 4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132</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and Schedule Two Weeks of Social Posts</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social-calendar.csv has ten rows dated on the ten weekdays from 1 to 14 December 2026 — Instagram 3, TikTok 3, LinkedIn 2, Facebook 2 — with the 1 December launch post an Instagram Reel and TikTok on 2 December. Every post passed the lumo-brand-voice checklist, none uses "healthy", every price is written S$3.90 or S$42.00, and lumo-social-posts.docx carries the same copy. Today's Lumo post is listed under Scheduled for weekdays at 9:00am; it drafts and emails only, and nothing was published.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133</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Two Weeks of Posts</a:t>
            </a:r>
          </a:p>
        </p:txBody>
      </p:sp>
      <p:sp>
        <p:nvSpPr>
          <p:cNvPr id="5" name="Rectangle 4"/>
          <p:cNvSpPr/>
          <p:nvPr/>
        </p:nvSpPr>
        <p:spPr>
          <a:xfrm>
            <a:off x="1853646" y="1600200"/>
            <a:ext cx="4293708"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53646" y="1600200"/>
            <a:ext cx="4293708"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social-posts-grid.png"/>
          <p:cNvPicPr>
            <a:picLocks noChangeAspect="1"/>
          </p:cNvPicPr>
          <p:nvPr/>
        </p:nvPicPr>
        <p:blipFill>
          <a:blip r:embed="rId2"/>
          <a:stretch>
            <a:fillRect/>
          </a:stretch>
        </p:blipFill>
        <p:spPr>
          <a:xfrm>
            <a:off x="1963374" y="1709928"/>
            <a:ext cx="4074252"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One calendar</a:t>
            </a:r>
          </a:p>
          <a:p>
            <a:pPr algn="l">
              <a:spcAft>
                <a:spcPts val="300"/>
              </a:spcAft>
            </a:pPr>
            <a:r>
              <a:rPr sz="1250" b="0">
                <a:solidFill>
                  <a:srgbClr val="6B6862"/>
                </a:solidFill>
                <a:latin typeface="Calibri"/>
              </a:rPr>
              <a:t>Dated posts from 1 to 14 December across the four platforms.</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One voice</a:t>
            </a:r>
          </a:p>
          <a:p>
            <a:pPr algn="l">
              <a:spcAft>
                <a:spcPts val="300"/>
              </a:spcAft>
            </a:pPr>
            <a:r>
              <a:rPr sz="1250" b="0">
                <a:solidFill>
                  <a:srgbClr val="6B6862"/>
                </a:solidFill>
                <a:latin typeface="Calibri"/>
              </a:rPr>
              <a:t>The brand-voice skill keeps every hook and caption consistent.</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Review</a:t>
            </a:r>
          </a:p>
          <a:p>
            <a:pPr algn="l">
              <a:spcAft>
                <a:spcPts val="300"/>
              </a:spcAft>
            </a:pPr>
            <a:r>
              <a:rPr sz="1250" b="0">
                <a:solidFill>
                  <a:srgbClr val="6B6862"/>
                </a:solidFill>
                <a:latin typeface="Calibri"/>
              </a:rPr>
              <a:t>Expand or download any post; each is marked DRAFT, NOT PUBLISHED.</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Lab 8 posts laid out by date — every one a draft, not published.</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134</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Video Pipeline</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Script</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Five lines, three seconds each — hook, problem, product, proof, call to action.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Storyboard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frame per line: which image, which on-screen text, which motion.</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Render</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and runs code that animates your images and text into an MP4.</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Length, size 1080 × 1920, brand colours, every claim true, end card with the price.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timing or text changes in plain English and render again.</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video is code: a change is a re-render, not a re-edit.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135</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Launch Video Specs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the finished 15-second video must meet.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Format</a:t>
            </a:r>
          </a:p>
          <a:p>
            <a:pPr algn="l">
              <a:spcAft>
                <a:spcPts val="300"/>
              </a:spcAft>
            </a:pPr>
            <a:r>
              <a:rPr sz="1150" b="0">
                <a:solidFill>
                  <a:srgbClr val="6B6862"/>
                </a:solidFill>
                <a:latin typeface="Calibri"/>
              </a:rPr>
              <a:t>Vertical 9:16, 1080 × 1920 pixels, MP4 — fits Reels, TikTok and Shorts.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Length</a:t>
            </a:r>
          </a:p>
          <a:p>
            <a:pPr algn="l">
              <a:spcAft>
                <a:spcPts val="300"/>
              </a:spcAft>
            </a:pPr>
            <a:r>
              <a:rPr sz="1150" b="0">
                <a:solidFill>
                  <a:srgbClr val="6B6862"/>
                </a:solidFill>
                <a:latin typeface="Calibri"/>
              </a:rPr>
              <a:t>15 seconds: five scenes of three seconds each.</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Text</a:t>
            </a:r>
          </a:p>
          <a:p>
            <a:pPr algn="l">
              <a:spcAft>
                <a:spcPts val="300"/>
              </a:spcAft>
            </a:pPr>
            <a:r>
              <a:rPr sz="1150" b="0">
                <a:solidFill>
                  <a:srgbClr val="6B6862"/>
                </a:solidFill>
                <a:latin typeface="Calibri"/>
              </a:rPr>
              <a:t>Large, high-contrast captions — most people watch with the sound off.</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Brand</a:t>
            </a:r>
          </a:p>
          <a:p>
            <a:pPr algn="l">
              <a:spcAft>
                <a:spcPts val="300"/>
              </a:spcAft>
            </a:pPr>
            <a:r>
              <a:rPr sz="1150" b="0">
                <a:solidFill>
                  <a:srgbClr val="6B6862"/>
                </a:solidFill>
                <a:latin typeface="Calibri"/>
              </a:rPr>
              <a:t>Lumo colours and logo; the end card shows the price and the campaign hashtag.</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Assets</a:t>
            </a:r>
          </a:p>
          <a:p>
            <a:pPr algn="l">
              <a:spcAft>
                <a:spcPts val="300"/>
              </a:spcAft>
            </a:pPr>
            <a:r>
              <a:rPr sz="1150" b="0">
                <a:solidFill>
                  <a:srgbClr val="6B6862"/>
                </a:solidFill>
                <a:latin typeface="Calibri"/>
              </a:rPr>
              <a:t>Only the supplied product images — never a real person's likeness or a stock logo.</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Fallback</a:t>
            </a:r>
          </a:p>
          <a:p>
            <a:pPr algn="l">
              <a:spcAft>
                <a:spcPts val="300"/>
              </a:spcAft>
            </a:pPr>
            <a:r>
              <a:rPr sz="1150" b="0">
                <a:solidFill>
                  <a:srgbClr val="6B6862"/>
                </a:solidFill>
                <a:latin typeface="Calibri"/>
              </a:rPr>
              <a:t>No video tools in the session? Claude builds an animated HTML version to screen-record.</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136</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09</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Script, storyboard and render a vertical launch video from supplied brand assets</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TikTok and Instagram posts need a launch video. You give the project the supplied product images and logo; Claude first writes a five-scene script and storyboard with lumo-brand-voice, then writes and runs the code that animates the images and captions into a 15-second, 1080 × 1920 MP4. You check it frame by frame and ask for changes in plain English.</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lumo-launch-15s.mp4 (1080 × 1920, 15 seconds), with its script and storyboard.</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in Cowork, code execution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137</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09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brand voice for the script; nothing is published.</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kit, for the tagline, price and call to action.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Adds: attach the video assets; the script, storyboard and lumo-launch-15s.mp4 are saved here.</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138</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Script, storyboard and render the video</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Make a 15-second vertical launch video for Lumo Cold Kopi, using</a:t>
            </a:r>
          </a:p>
          <a:p>
            <a:pPr algn="l">
              <a:spcAft>
                <a:spcPts val="200"/>
              </a:spcAft>
            </a:pPr>
            <a:r>
              <a:rPr sz="1200" b="0">
                <a:solidFill>
                  <a:srgbClr val="21201C"/>
                </a:solidFill>
                <a:latin typeface="Calibri"/>
              </a:rPr>
              <a:t>only the five images in the attached video-assets folder.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Work in two stages:</a:t>
            </a:r>
          </a:p>
          <a:p>
            <a:pPr algn="l">
              <a:spcAft>
                <a:spcPts val="200"/>
              </a:spcAft>
            </a:pPr>
            <a:r>
              <a:rPr sz="1200" b="0">
                <a:solidFill>
                  <a:srgbClr val="21201C"/>
                </a:solidFill>
                <a:latin typeface="Calibri"/>
              </a:rPr>
              <a:t>Stage 1 - SCRIPT: with lumo-brand-voice, write five scenes of</a:t>
            </a:r>
          </a:p>
          <a:p>
            <a:pPr algn="l">
              <a:spcAft>
                <a:spcPts val="200"/>
              </a:spcAft>
            </a:pPr>
            <a:r>
              <a:rPr sz="1200" b="0">
                <a:solidFill>
                  <a:srgbClr val="21201C"/>
                </a:solidFill>
                <a:latin typeface="Calibri"/>
              </a:rPr>
              <a:t>  three seconds each: hook, problem, product, proof, call to action.</a:t>
            </a:r>
          </a:p>
          <a:p>
            <a:pPr algn="l">
              <a:spcAft>
                <a:spcPts val="200"/>
              </a:spcAft>
            </a:pPr>
            <a:r>
              <a:rPr sz="1200" b="0">
                <a:solidFill>
                  <a:srgbClr val="21201C"/>
                </a:solidFill>
                <a:latin typeface="Calibri"/>
              </a:rPr>
              <a:t>  For each scene give the image, the on-screen text (max 6 words)</a:t>
            </a:r>
          </a:p>
          <a:p>
            <a:pPr algn="l">
              <a:spcAft>
                <a:spcPts val="200"/>
              </a:spcAft>
            </a:pPr>
            <a:r>
              <a:rPr sz="1200" b="0">
                <a:solidFill>
                  <a:srgbClr val="21201C"/>
                </a:solidFill>
                <a:latin typeface="Calibri"/>
              </a:rPr>
              <a:t>  and the motion. Save it as lumo-video-storyboard.md.</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Stage 2 - RENDER: when the storyboard is ready, write and run</a:t>
            </a:r>
          </a:p>
          <a:p>
            <a:pPr algn="l">
              <a:spcAft>
                <a:spcPts val="200"/>
              </a:spcAft>
            </a:pPr>
            <a:r>
              <a:rPr sz="1200" b="0">
                <a:solidFill>
                  <a:srgbClr val="21201C"/>
                </a:solidFill>
                <a:latin typeface="Calibri"/>
              </a:rPr>
              <a:t>  code that renders it to lumo-launch-15s.mp4: 1080 x 1920, 30 fps,</a:t>
            </a:r>
          </a:p>
          <a:p>
            <a:pPr algn="l">
              <a:spcAft>
                <a:spcPts val="200"/>
              </a:spcAft>
            </a:pPr>
            <a:r>
              <a:rPr sz="1200" b="0">
                <a:solidFill>
                  <a:srgbClr val="21201C"/>
                </a:solidFill>
                <a:latin typeface="Calibri"/>
              </a:rPr>
              <a:t>  exactly 15 seconds, large high-contrast captions in the Lumo</a:t>
            </a:r>
          </a:p>
          <a:p>
            <a:pPr algn="l">
              <a:spcAft>
                <a:spcPts val="200"/>
              </a:spcAft>
            </a:pPr>
            <a:r>
              <a:rPr sz="1200" b="0">
                <a:solidFill>
                  <a:srgbClr val="21201C"/>
                </a:solidFill>
                <a:latin typeface="Calibri"/>
              </a:rPr>
              <a:t>  colours, a gentle zoom on each image, and an end card with the</a:t>
            </a:r>
          </a:p>
          <a:p>
            <a:pPr algn="l">
              <a:spcAft>
                <a:spcPts val="200"/>
              </a:spcAft>
            </a:pPr>
            <a:r>
              <a:rPr sz="1200" b="0">
                <a:solidFill>
                  <a:srgbClr val="21201C"/>
                </a:solidFill>
                <a:latin typeface="Calibri"/>
              </a:rPr>
              <a:t>  logo, "From S$3.90" and #KopiChilledRight.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If you cannot render video in this session, build the same thing</a:t>
            </a:r>
          </a:p>
          <a:p>
            <a:pPr algn="l">
              <a:spcAft>
                <a:spcPts val="200"/>
              </a:spcAft>
            </a:pPr>
            <a:r>
              <a:rPr sz="1200" b="0">
                <a:solidFill>
                  <a:srgbClr val="21201C"/>
                </a:solidFill>
                <a:latin typeface="Calibri"/>
              </a:rPr>
              <a:t>as an animated HTML page at 1080 x 1920 and tell me, so I can</a:t>
            </a:r>
          </a:p>
          <a:p>
            <a:pPr algn="l">
              <a:spcAft>
                <a:spcPts val="200"/>
              </a:spcAft>
            </a:pPr>
            <a:r>
              <a:rPr sz="1200" b="0">
                <a:solidFill>
                  <a:srgbClr val="21201C"/>
                </a:solidFill>
                <a:latin typeface="Calibri"/>
              </a:rPr>
              <a:t>screen-record it. Report the file's duration and size when done.</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whole video-assets folder. Use only the supplied images — never a real person's likeness or another brand's logo.</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139</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09 data/video-assets folder and look at the five images.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folder and send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storyboard when Stage 1 finishes.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video arrives, check the reported duration and size.</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Play it through, then scrub it frame by frame.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for example: Hold the end card for one second longer and shorten scene 2.</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If Claude built the HTML fallback instead, open it full screen and screen-record 15 seconds.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140</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2103120"/>
            <a:ext cx="1106424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24612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24028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lumo-launch-15s.mp4 is 1080 × 1920, 30 fps and 15 seconds long, uses only the supplied images, shows five scenes with captions of six words or fewer in the Lumo colours, and ends on a card with the logo, "From S$3.90" and #KopiChilledRight. lumo-video-storyboard.md sits beside it and matches what plays. No scene makes a health claim.</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141</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Scheduled Task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prompt the project runs on a timetable, while you are away.</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Name</a:t>
            </a:r>
          </a:p>
          <a:p>
            <a:pPr algn="l">
              <a:spcAft>
                <a:spcPts val="300"/>
              </a:spcAft>
            </a:pPr>
            <a:r>
              <a:rPr sz="1150" b="0">
                <a:solidFill>
                  <a:srgbClr val="6B6862"/>
                </a:solidFill>
                <a:latin typeface="Calibri"/>
              </a:rPr>
              <a:t>What the task is called in the Scheduled list — for example, Today's Lumo post.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Exactly what to do each run — written like a lab prompt, with the checks included.</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Project</a:t>
            </a:r>
          </a:p>
          <a:p>
            <a:pPr algn="l">
              <a:spcAft>
                <a:spcPts val="300"/>
              </a:spcAft>
            </a:pPr>
            <a:r>
              <a:rPr sz="1150" b="0">
                <a:solidFill>
                  <a:srgbClr val="6B6862"/>
                </a:solidFill>
                <a:latin typeface="Calibri"/>
              </a:rPr>
              <a:t>Pick the Lumo Cold Kopi Launch project, so the task reads its instructions, context and folder.</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Frequency</a:t>
            </a:r>
          </a:p>
          <a:p>
            <a:pPr algn="l">
              <a:spcAft>
                <a:spcPts val="300"/>
              </a:spcAft>
            </a:pPr>
            <a:r>
              <a:rPr sz="1150" b="0">
                <a:solidFill>
                  <a:srgbClr val="6B6862"/>
                </a:solidFill>
                <a:latin typeface="Calibri"/>
              </a:rPr>
              <a:t>Daily, weekdays, weekly or monthly. The default is Manual — change it.</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Permissions</a:t>
            </a:r>
          </a:p>
          <a:p>
            <a:pPr algn="l">
              <a:spcAft>
                <a:spcPts val="300"/>
              </a:spcAft>
            </a:pPr>
            <a:r>
              <a:rPr sz="1150" b="0">
                <a:solidFill>
                  <a:srgbClr val="6B6862"/>
                </a:solidFill>
                <a:latin typeface="Calibri"/>
              </a:rPr>
              <a:t>Defaults to Automatically approve: the task acts unattended, so it must only draft.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Require this computer</a:t>
            </a:r>
          </a:p>
          <a:p>
            <a:pPr algn="l">
              <a:spcAft>
                <a:spcPts val="300"/>
              </a:spcAft>
            </a:pPr>
            <a:r>
              <a:rPr sz="1150" b="0">
                <a:solidFill>
                  <a:srgbClr val="6B6862"/>
                </a:solidFill>
                <a:latin typeface="Calibri"/>
              </a:rPr>
              <a:t>On: runs only while your computer is awake, with your folders. Off: runs without them.</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142</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Scheduled Tasks for a Launch</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drafts for your approval — none publishes on its own.</a:t>
            </a:r>
          </a:p>
        </p:txBody>
      </p:sp>
      <p:sp>
        <p:nvSpPr>
          <p:cNvPr id="6" name="Rectangle 5"/>
          <p:cNvSpPr/>
          <p:nvPr/>
        </p:nvSpPr>
        <p:spPr>
          <a:xfrm>
            <a:off x="548640" y="2148840"/>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49326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9326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Daily post, weekdays 9:00am</a:t>
            </a:r>
          </a:p>
          <a:p>
            <a:pPr algn="l">
              <a:spcAft>
                <a:spcPts val="500"/>
              </a:spcAft>
            </a:pPr>
            <a:r>
              <a:rPr sz="1250" b="0">
                <a:solidFill>
                  <a:srgbClr val="6B6862"/>
                </a:solidFill>
                <a:latin typeface="Calibri"/>
              </a:rPr>
              <a:t>Take today's row from the social calendar, polish it with lumo-brand-voice and email it to me for approval.</a:t>
            </a:r>
          </a:p>
        </p:txBody>
      </p:sp>
      <p:sp>
        <p:nvSpPr>
          <p:cNvPr id="10" name="Rectangle 9"/>
          <p:cNvSpPr/>
          <p:nvPr/>
        </p:nvSpPr>
        <p:spPr>
          <a:xfrm>
            <a:off x="548640" y="3349752"/>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694176"/>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94176"/>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349752"/>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Weekly report, Mondays 8:00am</a:t>
            </a:r>
          </a:p>
          <a:p>
            <a:pPr algn="l">
              <a:spcAft>
                <a:spcPts val="500"/>
              </a:spcAft>
            </a:pPr>
            <a:r>
              <a:rPr sz="1250" b="0">
                <a:solidFill>
                  <a:srgbClr val="6B6862"/>
                </a:solidFill>
                <a:latin typeface="Calibri"/>
              </a:rPr>
              <a:t>Summarise last week's posts from the social calendar and anything new in the Lumo Launch Drive folder in five bullet points.</a:t>
            </a:r>
          </a:p>
        </p:txBody>
      </p:sp>
      <p:sp>
        <p:nvSpPr>
          <p:cNvPr id="14" name="Rectangle 13"/>
          <p:cNvSpPr/>
          <p:nvPr/>
        </p:nvSpPr>
        <p:spPr>
          <a:xfrm>
            <a:off x="548640" y="4550664"/>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89508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9508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4550664"/>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Monthly scan, 1st at 10:00am</a:t>
            </a:r>
          </a:p>
          <a:p>
            <a:pPr algn="l">
              <a:spcAft>
                <a:spcPts val="500"/>
              </a:spcAft>
            </a:pPr>
            <a:r>
              <a:rPr sz="1250" b="0">
                <a:solidFill>
                  <a:srgbClr val="6B6862"/>
                </a:solidFill>
                <a:latin typeface="Calibri"/>
              </a:rPr>
              <a:t>Check the six competitors for new products or price changes and update the research brief.</a:t>
            </a:r>
          </a:p>
        </p:txBody>
      </p:sp>
      <p:sp>
        <p:nvSpPr>
          <p:cNvPr id="18" name="TextBox 17"/>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Open Scheduled tasks from the sidebar (or the project's Scheduled panel), choose New task and Set up manually. A task with Permissions on Automatically approve must only draft.</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143</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Schedule the Weekly Report and Review the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10</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Schedule a weekly report beside the daily post, keep the project memory file current and review the project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 8 scheduled the daily post. The launch also needs a report every Monday, and nobody should have to remember it. You create it as a second scheduled task on the project, then do the housekeeping a real project needs: record a changed plan in the memory file, and review what the project now holds.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weekly-report scheduled task beside Lab 8's daily post, an updated memory file and a project review.</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in Cowork, scheduled tasks,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10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Reviews: which instructions are now out of date.</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Reviews: which context files the launch-date change affects.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Updates: lumo-project-memory.md records the 8 December Singapore launch.</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NEW: Weekly launch report, Mondays at 8:00am — beside Lab 8's daily post.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145</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WEEKLY REPORT TASK</a:t>
            </a:r>
          </a:p>
        </p:txBody>
      </p:sp>
      <p:sp>
        <p:nvSpPr>
          <p:cNvPr id="5" name="Rectangle 4"/>
          <p:cNvSpPr/>
          <p:nvPr/>
        </p:nvSpPr>
        <p:spPr>
          <a:xfrm>
            <a:off x="548640" y="1828800"/>
            <a:ext cx="11064240" cy="188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8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INSTRUCTIONS — paste into the scheduled task dialog</a:t>
            </a:r>
          </a:p>
        </p:txBody>
      </p:sp>
      <p:sp>
        <p:nvSpPr>
          <p:cNvPr id="8" name="TextBox 7"/>
          <p:cNvSpPr txBox="1"/>
          <p:nvPr/>
        </p:nvSpPr>
        <p:spPr>
          <a:xfrm>
            <a:off x="868680" y="2359152"/>
            <a:ext cx="10424160" cy="119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Summarise last week's posts from social-calendar.csv and anything</a:t>
            </a:r>
          </a:p>
          <a:p>
            <a:pPr algn="l">
              <a:spcAft>
                <a:spcPts val="200"/>
              </a:spcAft>
            </a:pPr>
            <a:r>
              <a:rPr sz="1500" b="0">
                <a:solidFill>
                  <a:srgbClr val="21201C"/>
                </a:solidFill>
                <a:latin typeface="Calibri"/>
              </a:rPr>
              <a:t>new in the Lumo Launch Drive folder in five bullet points, and</a:t>
            </a:r>
          </a:p>
          <a:p>
            <a:pPr algn="l">
              <a:spcAft>
                <a:spcPts val="200"/>
              </a:spcAft>
            </a:pPr>
            <a:r>
              <a:rPr sz="1500" b="0">
                <a:solidFill>
                  <a:srgbClr val="21201C"/>
                </a:solidFill>
                <a:latin typeface="Calibri"/>
              </a:rPr>
              <a:t>email the summary to &lt;YOUR EMAIL&gt;. Draft only - do not send</a:t>
            </a:r>
          </a:p>
          <a:p>
            <a:pPr algn="l">
              <a:spcAft>
                <a:spcPts val="200"/>
              </a:spcAft>
            </a:pPr>
            <a:r>
              <a:rPr sz="1500" b="0">
                <a:solidFill>
                  <a:srgbClr val="21201C"/>
                </a:solidFill>
                <a:latin typeface="Calibri"/>
              </a:rPr>
              <a:t>anything else.</a:t>
            </a:r>
          </a:p>
        </p:txBody>
      </p:sp>
      <p:sp>
        <p:nvSpPr>
          <p:cNvPr id="9" name="TextBox 8"/>
          <p:cNvSpPr txBox="1"/>
          <p:nvPr/>
        </p:nvSpPr>
        <p:spPr>
          <a:xfrm>
            <a:off x="548640" y="398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Mondays at 8:00am, beside Lab 8's daily post. Replace &lt;YOUR EMAIL&gt;.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146</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MEMORY</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Add this to lumo-project-memory.md: the Singapore launch has</a:t>
            </a:r>
          </a:p>
          <a:p>
            <a:pPr algn="l">
              <a:spcAft>
                <a:spcPts val="200"/>
              </a:spcAft>
            </a:pPr>
            <a:r>
              <a:rPr sz="1500" b="0">
                <a:solidFill>
                  <a:srgbClr val="21201C"/>
                </a:solidFill>
                <a:latin typeface="Calibri"/>
              </a:rPr>
              <a:t>moved from 1 December to 8 December 2026. Kuala Lumpur is</a:t>
            </a:r>
          </a:p>
          <a:p>
            <a:pPr algn="l">
              <a:spcAft>
                <a:spcPts val="200"/>
              </a:spcAft>
            </a:pPr>
            <a:r>
              <a:rPr sz="1500" b="0">
                <a:solidFill>
                  <a:srgbClr val="21201C"/>
                </a:solidFill>
                <a:latin typeface="Calibri"/>
              </a:rPr>
              <a:t>unchanged. Then tell me everything in the project folder and</a:t>
            </a:r>
          </a:p>
          <a:p>
            <a:pPr algn="l">
              <a:spcAft>
                <a:spcPts val="200"/>
              </a:spcAft>
            </a:pPr>
            <a:r>
              <a:rPr sz="1500" b="0">
                <a:solidFill>
                  <a:srgbClr val="21201C"/>
                </a:solidFill>
                <a:latin typeface="Calibri"/>
              </a:rPr>
              <a:t>scheduled tasks that depends on the launch date - posts, tasks,</a:t>
            </a:r>
          </a:p>
          <a:p>
            <a:pPr algn="l">
              <a:spcAft>
                <a:spcPts val="200"/>
              </a:spcAft>
            </a:pPr>
            <a:r>
              <a:rPr sz="1500" b="0">
                <a:solidFill>
                  <a:srgbClr val="21201C"/>
                </a:solidFill>
                <a:latin typeface="Calibri"/>
              </a:rPr>
              <a:t>the deck, the brief - and propose the changes. Do not make them yet.</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Then open the memory file yourself and check what it wrote.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147</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REVIEW</a:t>
            </a:r>
          </a:p>
        </p:txBody>
      </p:sp>
      <p:sp>
        <p:nvSpPr>
          <p:cNvPr id="5" name="Rectangle 4"/>
          <p:cNvSpPr/>
          <p:nvPr/>
        </p:nvSpPr>
        <p:spPr>
          <a:xfrm>
            <a:off x="548640" y="1828800"/>
            <a:ext cx="11064240" cy="188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8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19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Review this project for me: list every file in the project</a:t>
            </a:r>
          </a:p>
          <a:p>
            <a:pPr algn="l">
              <a:spcAft>
                <a:spcPts val="200"/>
              </a:spcAft>
            </a:pPr>
            <a:r>
              <a:rPr sz="1500" b="0">
                <a:solidFill>
                  <a:srgbClr val="21201C"/>
                </a:solidFill>
                <a:latin typeface="Calibri"/>
              </a:rPr>
              <a:t>folder, which lab produced it, and what it is for. Then tell me</a:t>
            </a:r>
          </a:p>
          <a:p>
            <a:pPr algn="l">
              <a:spcAft>
                <a:spcPts val="200"/>
              </a:spcAft>
            </a:pPr>
            <a:r>
              <a:rPr sz="1500" b="0">
                <a:solidFill>
                  <a:srgbClr val="21201C"/>
                </a:solidFill>
                <a:latin typeface="Calibri"/>
              </a:rPr>
              <a:t>which instructions, context files or memory-file lines are now</a:t>
            </a:r>
          </a:p>
          <a:p>
            <a:pPr algn="l">
              <a:spcAft>
                <a:spcPts val="200"/>
              </a:spcAft>
            </a:pPr>
            <a:r>
              <a:rPr sz="1500" b="0">
                <a:solidFill>
                  <a:srgbClr val="21201C"/>
                </a:solidFill>
                <a:latin typeface="Calibri"/>
              </a:rPr>
              <a:t>out of date.</a:t>
            </a:r>
          </a:p>
        </p:txBody>
      </p:sp>
      <p:sp>
        <p:nvSpPr>
          <p:cNvPr id="9" name="TextBox 8"/>
          <p:cNvSpPr txBox="1"/>
          <p:nvPr/>
        </p:nvSpPr>
        <p:spPr>
          <a:xfrm>
            <a:off x="548640" y="398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 project that can describe itself is one a colleague can pick up tomorrow.</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148</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Schedule the Weekly Report and Review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Scheduled tasks from the sidebar (or the project's Scheduled panel), choose New task, then Set up manually.</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Name it Weekly launch report and paste Block 1 into Instructions, with your own email.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Pick the Lumo Cold Kopi Launch project, set Frequency to weekly, Mondays at 8:00am, and save.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both tasks appear under Scheduled: Today's Lumo post and Weekly launch report.</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task in the project and send Block 2.</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lumo-project-memory.md and check the new launch-date line. Edit it if the wording is wrong.</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3 at the end of the lab.</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Settings → Usage and see how much of your plan today's labs used.</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149</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Schedule the Weekly Report and Review the Project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Two scheduled tasks are listed on the project — Today's Lumo post from Lab 8 on weekdays at 9:00am and Weekly launch report on Mondays at 8:00am — both drafting and emailing only, with nothing published. lumo-project-memory.md records the 8 December Singapore launch, Claude listed what depends on it, and the project review matches the files in your Lumo Launch folder.</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150</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Content Production and Scheduled Work</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08</a:t>
            </a:r>
          </a:p>
          <a:p>
            <a:pPr algn="l">
              <a:spcAft>
                <a:spcPts val="300"/>
              </a:spcAft>
            </a:pPr>
            <a:r>
              <a:rPr sz="1150" b="0">
                <a:solidFill>
                  <a:srgbClr val="6B6862"/>
                </a:solidFill>
                <a:latin typeface="Calibri"/>
              </a:rPr>
              <a:t>You can now produce a two-week, four-platform social calendar using the brand-voice skill, and schedule the daily post.</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09</a:t>
            </a:r>
          </a:p>
          <a:p>
            <a:pPr algn="l">
              <a:spcAft>
                <a:spcPts val="300"/>
              </a:spcAft>
            </a:pPr>
            <a:r>
              <a:rPr sz="1150" b="0">
                <a:solidFill>
                  <a:srgbClr val="6B6862"/>
                </a:solidFill>
                <a:latin typeface="Calibri"/>
              </a:rPr>
              <a:t>You can now script, storyboard and render a vertical launch video from supplied brand assets.</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10</a:t>
            </a:r>
          </a:p>
          <a:p>
            <a:pPr algn="l">
              <a:spcAft>
                <a:spcPts val="300"/>
              </a:spcAft>
            </a:pPr>
            <a:r>
              <a:rPr sz="1150" b="0">
                <a:solidFill>
                  <a:srgbClr val="6B6862"/>
                </a:solidFill>
                <a:latin typeface="Calibri"/>
              </a:rPr>
              <a:t>You can now schedule a weekly report beside the daily post, keep the project memory file current and review the project.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151</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152</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in Cowork with instructions, context, a working folder and a project memory file.</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parallel tasks</a:t>
            </a:r>
          </a:p>
          <a:p>
            <a:pPr algn="l">
              <a:spcAft>
                <a:spcPts val="300"/>
              </a:spcAft>
            </a:pPr>
            <a:r>
              <a:rPr sz="950" b="0">
                <a:solidFill>
                  <a:srgbClr val="6B6862"/>
                </a:solidFill>
                <a:latin typeface="Calibri"/>
              </a:rPr>
              <a:t>Run multi-subject market research as parallel tasks in one project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 and Gmail</a:t>
            </a:r>
          </a:p>
          <a:p>
            <a:pPr algn="l">
              <a:spcAft>
                <a:spcPts val="300"/>
              </a:spcAft>
            </a:pPr>
            <a:r>
              <a:rPr sz="950" b="0">
                <a:solidFill>
                  <a:srgbClr val="6B6862"/>
                </a:solidFill>
                <a:latin typeface="Calibri"/>
              </a:rPr>
              <a:t>Connect Google Drive and Gmail so Claude reads campaign files and sends an approved summary.</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Slides and Docs</a:t>
            </a:r>
          </a:p>
          <a:p>
            <a:pPr algn="l">
              <a:spcAft>
                <a:spcPts val="300"/>
              </a:spcAft>
            </a:pPr>
            <a:r>
              <a:rPr sz="950" b="0">
                <a:solidFill>
                  <a:srgbClr val="6B6862"/>
                </a:solidFill>
                <a:latin typeface="Calibri"/>
              </a:rPr>
              <a:t>Produce a launch deck and a campaign brief with Claude's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a:t>
            </a:r>
          </a:p>
          <a:p>
            <a:pPr algn="l">
              <a:spcAft>
                <a:spcPts val="300"/>
              </a:spcAft>
            </a:pPr>
            <a:r>
              <a:rPr sz="950" b="0">
                <a:solidFill>
                  <a:srgbClr val="6B6862"/>
                </a:solidFill>
                <a:latin typeface="Calibri"/>
              </a:rPr>
              <a:t>Create a two-week, multi-platform set of social media posts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and keep the project's instructions, context and memory file current, with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153</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Lumo data — never real customer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Drive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and the brief's numbers back against the source file.</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each drafted email and post in full; approve it only when the facts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customer.</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Draft-only schedules</a:t>
            </a:r>
          </a:p>
          <a:p>
            <a:pPr algn="l">
              <a:spcAft>
                <a:spcPts val="300"/>
              </a:spcAft>
            </a:pPr>
            <a:r>
              <a:rPr sz="1150" b="0">
                <a:solidFill>
                  <a:srgbClr val="6B6862"/>
                </a:solidFill>
                <a:latin typeface="Calibri"/>
              </a:rPr>
              <a:t>A scheduled task runs unattended — let it draft and email you, never publish.</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154</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real Project</a:t>
            </a:r>
          </a:p>
          <a:p>
            <a:pPr algn="l">
              <a:spcAft>
                <a:spcPts val="300"/>
              </a:spcAft>
            </a:pPr>
            <a:r>
              <a:rPr sz="1150" b="0">
                <a:solidFill>
                  <a:srgbClr val="6B6862"/>
                </a:solidFill>
                <a:latin typeface="Calibri"/>
              </a:rPr>
              <a:t>Give your next campaign a project with instructions, context and a folder.</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Split one job into tasks</a:t>
            </a:r>
          </a:p>
          <a:p>
            <a:pPr algn="l">
              <a:spcAft>
                <a:spcPts val="300"/>
              </a:spcAft>
            </a:pPr>
            <a:r>
              <a:rPr sz="1150" b="0">
                <a:solidFill>
                  <a:srgbClr val="6B6862"/>
                </a:solidFill>
                <a:latin typeface="Calibri"/>
              </a:rPr>
              <a:t>Next time you research competitors, give each one its own task.</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Capture your brand voice</a:t>
            </a:r>
          </a:p>
          <a:p>
            <a:pPr algn="l">
              <a:spcAft>
                <a:spcPts val="300"/>
              </a:spcAft>
            </a:pPr>
            <a:r>
              <a:rPr sz="1150" b="0">
                <a:solidFill>
                  <a:srgbClr val="6B6862"/>
                </a:solidFill>
                <a:latin typeface="Calibri"/>
              </a:rPr>
              <a:t>Turn your real brand guide into a skill your whole team shares.</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 one routine</a:t>
            </a:r>
          </a:p>
          <a:p>
            <a:pPr algn="l">
              <a:spcAft>
                <a:spcPts val="300"/>
              </a:spcAft>
            </a:pPr>
            <a:r>
              <a:rPr sz="1150" b="0">
                <a:solidFill>
                  <a:srgbClr val="6B6862"/>
                </a:solidFill>
                <a:latin typeface="Calibri"/>
              </a:rPr>
              <a:t>Pick the post or report you produce every week and schedule the draft.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Watch for the new Projects</a:t>
            </a:r>
          </a:p>
          <a:p>
            <a:pPr algn="l">
              <a:spcAft>
                <a:spcPts val="300"/>
              </a:spcAft>
            </a:pPr>
            <a:r>
              <a:rPr sz="1150" b="0">
                <a:solidFill>
                  <a:srgbClr val="6B6862"/>
                </a:solidFill>
                <a:latin typeface="Calibri"/>
              </a:rPr>
              <a:t>When your account gets the lead agent and threads, the Threads edition of this course shows the same labs on it.</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155</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launch project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Claude Project with instructions, context and a working folder, verified market research, a Live Artefact dashboard, a deck and brief, a brand-voice skill, two weeks of social posts, a launch video and the scheduled tasks that keep it all moving.</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156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Masterclass</dc:title>
  <dc:subject>C1382 · v5.2</dc:subject>
  <dc:creator>Tertiary Infotech Academy Pte Ltd</dc:creator>
  <cp:keywords/>
  <dc:description/>
  <cp:lastModifiedBy>Tertiary Infotech Academy Pte Ltd</cp:lastModifiedBy>
  <cp:revision>1</cp:revision>
  <dcterms:created xsi:type="dcterms:W3CDTF">2013-01-27T09:14:16Z</dcterms:created>
  <dcterms:modified xsi:type="dcterms:W3CDTF">2013-01-27T09:15:58Z</dcterms:modified>
  <cp:category/>
</cp:coreProperties>
</file>